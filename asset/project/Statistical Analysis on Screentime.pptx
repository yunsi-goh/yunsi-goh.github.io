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Lst>
  <p:sldSz cx="9144000" cy="5143500" type="screen16x9"/>
  <p:notesSz cx="6858000" cy="9144000"/>
  <p:embeddedFontLst>
    <p:embeddedFont>
      <p:font typeface="Fira Sans" panose="020B0503050000020004" pitchFamily="34" charset="0"/>
      <p:regular r:id="rId16"/>
      <p:bold r:id="rId17"/>
      <p:italic r:id="rId18"/>
      <p:boldItalic r:id="rId19"/>
    </p:embeddedFont>
    <p:embeddedFont>
      <p:font typeface="Fira Sans Extra Condensed Medium" panose="020B0604020202020204" charset="0"/>
      <p:regular r:id="rId20"/>
      <p:bold r:id="rId21"/>
      <p:italic r:id="rId22"/>
      <p:boldItalic r:id="rId23"/>
    </p:embeddedFont>
    <p:embeddedFont>
      <p:font typeface="Fira Sans Extra Condensed SemiBold" panose="020B0604020202020204" charset="0"/>
      <p:regular r:id="rId24"/>
      <p:bold r:id="rId25"/>
      <p:italic r:id="rId26"/>
      <p:boldItalic r:id="rId27"/>
    </p:embeddedFont>
    <p:embeddedFont>
      <p:font typeface="Fira Sans Light" panose="020B0403050000020004" pitchFamily="34" charset="0"/>
      <p:regular r:id="rId28"/>
      <p:bold r:id="rId29"/>
      <p:italic r:id="rId30"/>
      <p:boldItalic r:id="rId31"/>
    </p:embeddedFont>
    <p:embeddedFont>
      <p:font typeface="Fira Sans Medium" panose="020B0603050000020004" pitchFamily="34" charset="0"/>
      <p:regular r:id="rId32"/>
      <p:bold r:id="rId33"/>
      <p:italic r:id="rId34"/>
      <p:boldItalic r:id="rId35"/>
    </p:embeddedFont>
    <p:embeddedFont>
      <p:font typeface="Fira Sans SemiBold" panose="020B06030500000200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
          <p15:clr>
            <a:srgbClr val="EA4335"/>
          </p15:clr>
        </p15:guide>
        <p15:guide id="2" pos="288">
          <p15:clr>
            <a:srgbClr val="EA4335"/>
          </p15:clr>
        </p15:guide>
        <p15:guide id="3" pos="5472">
          <p15:clr>
            <a:srgbClr val="EA4335"/>
          </p15:clr>
        </p15:guide>
        <p15:guide id="4" orient="horz" pos="2984">
          <p15:clr>
            <a:srgbClr val="EA4335"/>
          </p15:clr>
        </p15:guide>
        <p15:guide id="5" orient="horz" pos="5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E0ACEC-6DD5-4071-AD2E-3A7A5FCB07E7}">
  <a:tblStyle styleId="{A1E0ACEC-6DD5-4071-AD2E-3A7A5FCB07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259"/>
        <p:guide pos="288"/>
        <p:guide pos="5472"/>
        <p:guide orient="horz" pos="2984"/>
        <p:guide orient="horz" pos="5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6951edaf8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6951edaf8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 everyone, first of all, I do apologize for not being able to join in person today. But hey let’s acknowledge the irony in which our project is focused on screen time, to which if not for recent developments I would probably not have been able to present like this today. We are truly in the age where we are growing up online together, and our team hopes that this would be a good time for all of us to reflect a little about the time we spend on screens and how it has been impacting our lives.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6951edaf8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6951edaf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were inspired by this CNA article earlier this year, in which MOH set out some guidelines for screen time for children. Notably, you can see that MOH set out some numerical guidelines, such as 1 hour or 2 hour limits, for children as they grow up. Today, we want to answer the question, should these guidelines on screen time be extended to youth and adults?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6951edaf8a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6951edaf8a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answer this question, we used a variety of datasets across different years and sources, including national surveys and Kaggle datasets. This is so we can get representation across the different age groups, and across different years as well.</a:t>
            </a:r>
            <a:endParaRPr/>
          </a:p>
          <a:p>
            <a:pPr marL="0" lvl="0" indent="0" algn="l" rtl="0">
              <a:spcBef>
                <a:spcPts val="0"/>
              </a:spcBef>
              <a:spcAft>
                <a:spcPts val="0"/>
              </a:spcAft>
              <a:buNone/>
            </a:pPr>
            <a:endParaRPr/>
          </a:p>
          <a:p>
            <a:pPr marL="0" lvl="0" indent="0" algn="l" rtl="0">
              <a:spcBef>
                <a:spcPts val="0"/>
              </a:spcBef>
              <a:spcAft>
                <a:spcPts val="0"/>
              </a:spcAft>
              <a:buNone/>
            </a:pPr>
            <a:r>
              <a:rPr lang="en"/>
              <a:t>As we worked on the problem over the last few weeks, we realised there are some interesting characteristics of the data, and we would like to highlight them here as a prelude to some of the techniques which we will later describe. First it would be to recognise that a distinction should be made between educational and recreational screen time, since 1 is more beneficial than the other. Also, we dealt with a lot of ordinal data, to which the techniques are not really covered in class. Next, there were several self-reported surveys which could introduce some bias.</a:t>
            </a:r>
            <a:endParaRPr/>
          </a:p>
          <a:p>
            <a:pPr marL="0" lvl="0" indent="0" algn="l" rtl="0">
              <a:spcBef>
                <a:spcPts val="0"/>
              </a:spcBef>
              <a:spcAft>
                <a:spcPts val="0"/>
              </a:spcAft>
              <a:buNone/>
            </a:pPr>
            <a:endParaRPr/>
          </a:p>
          <a:p>
            <a:pPr marL="0" lvl="0" indent="0" algn="l" rtl="0">
              <a:spcBef>
                <a:spcPts val="0"/>
              </a:spcBef>
              <a:spcAft>
                <a:spcPts val="0"/>
              </a:spcAft>
              <a:buNone/>
            </a:pPr>
            <a:r>
              <a:rPr lang="en"/>
              <a:t>With that being said, I’ll pass on to Yun Si who will take us through the reality and urgency of addressing this problem.</a:t>
            </a: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a7b8b10c6_2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6a7b8b10c6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t>As Zexel has mentioned, screen time policies mostly target children, be it the one rolled out by MOH, the strict regulations imposed in China, or the parental control apps in play store. But are children the only ones at risk? We performed a chi-square test on U.S. data and the p-value of 0 indicates that the screen time of adults / youths are different from children’s. The post-hoc standardized residual test on the right here shows that the number of adults/youths spending more than 3 hours on screens daily is higher than expected. So, while we're worried about the kids, we should probably be worried about ourselves too.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6a699c913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6a699c913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a:t>And it seems like the screen time problem is not just a recent trend. Here, we compare U.S. youth social media usage in 2017, 2019, and 2021. As our data are ordinal categories, we used a Mann-Whitney U-test, which is a non-parametric equivalent of T-test that tests on ranks rather than absolute values. From resulting p-values and the bar chart, we concluded that screen time has already been going up since 2017, but the pandemic triggered a massive acceleration between 2019 and 2021. And with the AI boom in the late 2019s, we expect these trends to continue accelerating if nothing was done.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6a6b677dd5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6a6b677dd5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t>So why should we care about all this screen time? I’m sure everyone already knows that too much screen time has an adverse effect on our physical health, behaviours, as well as social relationships. However, today, we will be focusing on something more insidious, mental health. There are strong research links between screen time and mental health. In recent years, mental health has become such a big topic that organizations have come up with validated scales to measure it more accurately. Furthermore, the pandemic has brought mental health struggles of youths in Singapore into the spotlight. Next, Ken will further examine the negative effects of screen time on mental health.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6a61c0afa5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6a61c0afa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a61c0afa5_1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a61c0afa5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a7421ff54_3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a7421ff54_3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a:solidFill>
                  <a:schemeClr val="dk1"/>
                </a:solidFill>
              </a:rPr>
              <a:t>This slide compares the impact of screen time on children and adults using regression models.</a:t>
            </a:r>
            <a:endParaRPr sz="1300">
              <a:solidFill>
                <a:schemeClr val="dk1"/>
              </a:solidFill>
            </a:endParaRPr>
          </a:p>
          <a:p>
            <a:pPr marL="457200" lvl="0" indent="-228600" algn="l" rtl="0">
              <a:lnSpc>
                <a:spcPct val="115000"/>
              </a:lnSpc>
              <a:spcBef>
                <a:spcPts val="0"/>
              </a:spcBef>
              <a:spcAft>
                <a:spcPts val="0"/>
              </a:spcAft>
              <a:buClr>
                <a:schemeClr val="dk1"/>
              </a:buClr>
              <a:buSzPts val="1100"/>
              <a:buFont typeface="Arial"/>
              <a:buNone/>
            </a:pPr>
            <a:r>
              <a:rPr lang="en" sz="1300">
                <a:solidFill>
                  <a:schemeClr val="dk1"/>
                </a:solidFill>
              </a:rPr>
              <a:t>·</a:t>
            </a:r>
            <a:r>
              <a:rPr lang="en" sz="700">
                <a:solidFill>
                  <a:schemeClr val="dk1"/>
                </a:solidFill>
                <a:latin typeface="Times New Roman"/>
                <a:ea typeface="Times New Roman"/>
                <a:cs typeface="Times New Roman"/>
                <a:sym typeface="Times New Roman"/>
              </a:rPr>
              <a:t>  	</a:t>
            </a:r>
            <a:r>
              <a:rPr lang="en" sz="1300" b="1">
                <a:solidFill>
                  <a:schemeClr val="dk1"/>
                </a:solidFill>
              </a:rPr>
              <a:t>For children</a:t>
            </a:r>
            <a:r>
              <a:rPr lang="en" sz="1300">
                <a:solidFill>
                  <a:schemeClr val="dk1"/>
                </a:solidFill>
              </a:rPr>
              <a:t>, both recreational and educational screen time increases with age, but recreational screen time grows much faster (as shown in the line chart and OLS(Ordinary Least Squares) regression results with high R-squared value); Meanwhile, a higher coefficient for recreational screen time also prove it(0.4135 vs 0.1442).</a:t>
            </a:r>
            <a:endParaRPr sz="1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rPr>
              <a:t> </a:t>
            </a:r>
            <a:endParaRPr sz="1300">
              <a:solidFill>
                <a:schemeClr val="dk1"/>
              </a:solidFill>
            </a:endParaRPr>
          </a:p>
          <a:p>
            <a:pPr marL="457200" lvl="0" indent="-228600" algn="l" rtl="0">
              <a:lnSpc>
                <a:spcPct val="115000"/>
              </a:lnSpc>
              <a:spcBef>
                <a:spcPts val="0"/>
              </a:spcBef>
              <a:spcAft>
                <a:spcPts val="0"/>
              </a:spcAft>
              <a:buClr>
                <a:schemeClr val="dk1"/>
              </a:buClr>
              <a:buSzPts val="1100"/>
              <a:buFont typeface="Arial"/>
              <a:buNone/>
            </a:pPr>
            <a:r>
              <a:rPr lang="en" sz="1300">
                <a:solidFill>
                  <a:schemeClr val="dk1"/>
                </a:solidFill>
              </a:rPr>
              <a:t>·</a:t>
            </a:r>
            <a:r>
              <a:rPr lang="en" sz="700">
                <a:solidFill>
                  <a:schemeClr val="dk1"/>
                </a:solidFill>
                <a:latin typeface="Times New Roman"/>
                <a:ea typeface="Times New Roman"/>
                <a:cs typeface="Times New Roman"/>
                <a:sym typeface="Times New Roman"/>
              </a:rPr>
              <a:t>  	</a:t>
            </a:r>
            <a:r>
              <a:rPr lang="en" sz="1300" b="1">
                <a:solidFill>
                  <a:schemeClr val="dk1"/>
                </a:solidFill>
              </a:rPr>
              <a:t>For adults</a:t>
            </a:r>
            <a:r>
              <a:rPr lang="en" sz="1300">
                <a:solidFill>
                  <a:schemeClr val="dk1"/>
                </a:solidFill>
              </a:rPr>
              <a:t>,  since these values(STRESSFL, RISKLIFE, and TAKELIFE) are Likert-style scales, we consider them as ordered values, and use ordered regression.</a:t>
            </a:r>
            <a:r>
              <a:rPr lang="en" sz="1300">
                <a:solidFill>
                  <a:schemeClr val="dk1"/>
                </a:solidFill>
                <a:latin typeface="MS Gothic"/>
                <a:ea typeface="MS Gothic"/>
                <a:cs typeface="MS Gothic"/>
                <a:sym typeface="MS Gothic"/>
              </a:rPr>
              <a:t> </a:t>
            </a:r>
            <a:r>
              <a:rPr lang="en" sz="1300">
                <a:solidFill>
                  <a:schemeClr val="dk1"/>
                </a:solidFill>
              </a:rPr>
              <a:t>Ordered logistic regression reveals that increased social media use is significantly linked to higher stress, risk-taking, and reduced life satisfaction, but the low pseudo R-squared and coefficient values suggest weak explanatory power. A possible reason is that these values are likert-style scales with small values(1-5). However, if we use the Mann-Whitney U test to evaluate, their p-values are significant (e.g., 1.157e-19, one point one five seven times ten to the minus nineteen, is far below 0.001), which indicates that the screen time usage level has a strong association with mental risk behavior or attitudes.</a:t>
            </a:r>
            <a:endParaRPr sz="1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rPr>
              <a:t> </a:t>
            </a:r>
            <a:endParaRPr sz="1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b="1">
                <a:solidFill>
                  <a:schemeClr val="dk1"/>
                </a:solidFill>
              </a:rPr>
              <a:t>For conclusion：</a:t>
            </a:r>
            <a:endParaRPr sz="13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rPr>
              <a:t>Childhood is likely crucial for building healthy habits - so the government policies are proactive rather than reactive.</a:t>
            </a:r>
            <a:endParaRPr sz="1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rPr>
              <a:t> </a:t>
            </a:r>
            <a:endParaRPr sz="1300">
              <a:solidFill>
                <a:schemeClr val="dk1"/>
              </a:solidFill>
            </a:endParaRPr>
          </a:p>
          <a:p>
            <a:pPr marL="0" lvl="0" indent="0" algn="l" rtl="0">
              <a:lnSpc>
                <a:spcPct val="115000"/>
              </a:lnSpc>
              <a:spcBef>
                <a:spcPts val="0"/>
              </a:spcBef>
              <a:spcAft>
                <a:spcPts val="0"/>
              </a:spcAft>
              <a:buNone/>
            </a:pPr>
            <a:r>
              <a:rPr lang="en" sz="1300">
                <a:solidFill>
                  <a:schemeClr val="dk1"/>
                </a:solidFill>
              </a:rPr>
              <a:t>Given the limited practical ability to regulate adult screen time, policies should prioritize early intervention and general digital well-being. In addition, the regression's lack of explanatory power suggests that a more holistic approach is required for adults.</a:t>
            </a:r>
            <a:endParaRPr sz="10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6ab0af2a4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6ab0af2a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6a7b8b10c6_1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6a7b8b10c6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6a5339bb8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6a5339bb8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6a699c91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6a699c91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finish.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3347825"/>
            <a:ext cx="3537900" cy="1801800"/>
          </a:xfrm>
          <a:prstGeom prst="rect">
            <a:avLst/>
          </a:prstGeom>
          <a:solidFill>
            <a:srgbClr val="7AC6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55;p13"/>
          <p:cNvSpPr/>
          <p:nvPr/>
        </p:nvSpPr>
        <p:spPr>
          <a:xfrm>
            <a:off x="0" y="1607950"/>
            <a:ext cx="3537900" cy="1740000"/>
          </a:xfrm>
          <a:prstGeom prst="rect">
            <a:avLst/>
          </a:prstGeom>
          <a:solidFill>
            <a:srgbClr val="F2A36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 name="Google Shape;56;p13"/>
          <p:cNvSpPr/>
          <p:nvPr/>
        </p:nvSpPr>
        <p:spPr>
          <a:xfrm>
            <a:off x="0" y="-6150"/>
            <a:ext cx="3537900" cy="1654200"/>
          </a:xfrm>
          <a:prstGeom prst="rect">
            <a:avLst/>
          </a:prstGeom>
          <a:solidFill>
            <a:srgbClr val="CECE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Google Shape;57;p13"/>
          <p:cNvSpPr txBox="1"/>
          <p:nvPr/>
        </p:nvSpPr>
        <p:spPr>
          <a:xfrm>
            <a:off x="3975900" y="800100"/>
            <a:ext cx="4710900" cy="183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5000">
                <a:solidFill>
                  <a:srgbClr val="434343"/>
                </a:solidFill>
                <a:latin typeface="Fira Sans Extra Condensed SemiBold"/>
                <a:ea typeface="Fira Sans Extra Condensed SemiBold"/>
                <a:cs typeface="Fira Sans Extra Condensed SemiBold"/>
                <a:sym typeface="Fira Sans Extra Condensed SemiBold"/>
              </a:rPr>
              <a:t>Growing up Online</a:t>
            </a:r>
            <a:endParaRPr sz="5000">
              <a:solidFill>
                <a:srgbClr val="434343"/>
              </a:solidFill>
              <a:latin typeface="Fira Sans Extra Condensed SemiBold"/>
              <a:ea typeface="Fira Sans Extra Condensed SemiBold"/>
              <a:cs typeface="Fira Sans Extra Condensed SemiBold"/>
              <a:sym typeface="Fira Sans Extra Condensed SemiBold"/>
            </a:endParaRPr>
          </a:p>
          <a:p>
            <a:pPr marL="0" lvl="0" indent="0" algn="ctr" rtl="0">
              <a:lnSpc>
                <a:spcPct val="100000"/>
              </a:lnSpc>
              <a:spcBef>
                <a:spcPts val="0"/>
              </a:spcBef>
              <a:spcAft>
                <a:spcPts val="0"/>
              </a:spcAft>
              <a:buNone/>
            </a:pPr>
            <a:endParaRPr sz="1600">
              <a:solidFill>
                <a:srgbClr val="434343"/>
              </a:solidFill>
              <a:latin typeface="Fira Sans"/>
              <a:ea typeface="Fira Sans"/>
              <a:cs typeface="Fira Sans"/>
              <a:sym typeface="Fira Sans"/>
            </a:endParaRPr>
          </a:p>
          <a:p>
            <a:pPr marL="0" lvl="0" indent="0" algn="ctr" rtl="0">
              <a:lnSpc>
                <a:spcPct val="100000"/>
              </a:lnSpc>
              <a:spcBef>
                <a:spcPts val="0"/>
              </a:spcBef>
              <a:spcAft>
                <a:spcPts val="0"/>
              </a:spcAft>
              <a:buNone/>
            </a:pPr>
            <a:r>
              <a:rPr lang="en" sz="1800">
                <a:solidFill>
                  <a:srgbClr val="434343"/>
                </a:solidFill>
                <a:latin typeface="Fira Sans"/>
                <a:ea typeface="Fira Sans"/>
                <a:cs typeface="Fira Sans"/>
                <a:sym typeface="Fira Sans"/>
              </a:rPr>
              <a:t>Rethinking Screen Time Guidelines for a Connected Singapore</a:t>
            </a:r>
            <a:endParaRPr sz="5200">
              <a:solidFill>
                <a:srgbClr val="434343"/>
              </a:solidFill>
              <a:latin typeface="Fira Sans Extra Condensed SemiBold"/>
              <a:ea typeface="Fira Sans Extra Condensed SemiBold"/>
              <a:cs typeface="Fira Sans Extra Condensed SemiBold"/>
              <a:sym typeface="Fira Sans Extra Condensed SemiBold"/>
            </a:endParaRPr>
          </a:p>
        </p:txBody>
      </p:sp>
      <p:pic>
        <p:nvPicPr>
          <p:cNvPr id="58" name="Google Shape;58;p13"/>
          <p:cNvPicPr preferRelativeResize="0"/>
          <p:nvPr/>
        </p:nvPicPr>
        <p:blipFill rotWithShape="1">
          <a:blip r:embed="rId3">
            <a:alphaModFix/>
          </a:blip>
          <a:srcRect b="14478"/>
          <a:stretch/>
        </p:blipFill>
        <p:spPr>
          <a:xfrm>
            <a:off x="129175" y="83213"/>
            <a:ext cx="3263499" cy="1524325"/>
          </a:xfrm>
          <a:prstGeom prst="rect">
            <a:avLst/>
          </a:prstGeom>
          <a:noFill/>
          <a:ln>
            <a:noFill/>
          </a:ln>
        </p:spPr>
      </p:pic>
      <p:pic>
        <p:nvPicPr>
          <p:cNvPr id="59" name="Google Shape;59;p13"/>
          <p:cNvPicPr preferRelativeResize="0"/>
          <p:nvPr/>
        </p:nvPicPr>
        <p:blipFill rotWithShape="1">
          <a:blip r:embed="rId4">
            <a:alphaModFix/>
          </a:blip>
          <a:srcRect l="5598"/>
          <a:stretch/>
        </p:blipFill>
        <p:spPr>
          <a:xfrm flipH="1">
            <a:off x="129175" y="1679163"/>
            <a:ext cx="3263500" cy="1613575"/>
          </a:xfrm>
          <a:prstGeom prst="rect">
            <a:avLst/>
          </a:prstGeom>
          <a:noFill/>
          <a:ln>
            <a:noFill/>
          </a:ln>
        </p:spPr>
      </p:pic>
      <p:pic>
        <p:nvPicPr>
          <p:cNvPr id="60" name="Google Shape;60;p13"/>
          <p:cNvPicPr preferRelativeResize="0"/>
          <p:nvPr/>
        </p:nvPicPr>
        <p:blipFill rotWithShape="1">
          <a:blip r:embed="rId5">
            <a:alphaModFix/>
          </a:blip>
          <a:srcRect b="10730"/>
          <a:stretch/>
        </p:blipFill>
        <p:spPr>
          <a:xfrm>
            <a:off x="129175" y="3409650"/>
            <a:ext cx="3263501" cy="1654051"/>
          </a:xfrm>
          <a:prstGeom prst="rect">
            <a:avLst/>
          </a:prstGeom>
          <a:noFill/>
          <a:ln>
            <a:noFill/>
          </a:ln>
        </p:spPr>
      </p:pic>
      <p:sp>
        <p:nvSpPr>
          <p:cNvPr id="61" name="Google Shape;61;p13"/>
          <p:cNvSpPr txBox="1"/>
          <p:nvPr/>
        </p:nvSpPr>
        <p:spPr>
          <a:xfrm>
            <a:off x="6677225" y="3039875"/>
            <a:ext cx="1938600" cy="17400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endParaRPr lang="en-US" sz="1600"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endParaRPr sz="1600"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r>
              <a:rPr lang="en" dirty="0">
                <a:solidFill>
                  <a:srgbClr val="434343"/>
                </a:solidFill>
                <a:latin typeface="Fira Sans"/>
                <a:ea typeface="Fira Sans"/>
                <a:cs typeface="Fira Sans"/>
                <a:sym typeface="Fira Sans"/>
              </a:rPr>
              <a:t>Goh Yun Si </a:t>
            </a:r>
            <a:endParaRPr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r>
              <a:rPr lang="en" dirty="0">
                <a:solidFill>
                  <a:srgbClr val="434343"/>
                </a:solidFill>
                <a:latin typeface="Fira Sans"/>
                <a:ea typeface="Fira Sans"/>
                <a:cs typeface="Fira Sans"/>
                <a:sym typeface="Fira Sans"/>
              </a:rPr>
              <a:t>Zexel Nicholas Lew </a:t>
            </a:r>
            <a:endParaRPr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r>
              <a:rPr lang="en" dirty="0">
                <a:solidFill>
                  <a:srgbClr val="434343"/>
                </a:solidFill>
                <a:latin typeface="Fira Sans"/>
                <a:ea typeface="Fira Sans"/>
                <a:cs typeface="Fira Sans"/>
                <a:sym typeface="Fira Sans"/>
              </a:rPr>
              <a:t>Li Du </a:t>
            </a:r>
            <a:endParaRPr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r>
              <a:rPr lang="en" dirty="0">
                <a:solidFill>
                  <a:srgbClr val="434343"/>
                </a:solidFill>
                <a:latin typeface="Fira Sans"/>
                <a:ea typeface="Fira Sans"/>
                <a:cs typeface="Fira Sans"/>
                <a:sym typeface="Fira Sans"/>
              </a:rPr>
              <a:t>Gabriel Manuel Sidik </a:t>
            </a:r>
            <a:endParaRPr dirty="0">
              <a:solidFill>
                <a:srgbClr val="434343"/>
              </a:solidFill>
              <a:latin typeface="Fira Sans"/>
              <a:ea typeface="Fira Sans"/>
              <a:cs typeface="Fira Sans"/>
              <a:sym typeface="Fira Sans"/>
            </a:endParaRPr>
          </a:p>
          <a:p>
            <a:pPr marL="0" lvl="0" indent="0" algn="r" rtl="0">
              <a:lnSpc>
                <a:spcPct val="100000"/>
              </a:lnSpc>
              <a:spcBef>
                <a:spcPts val="0"/>
              </a:spcBef>
              <a:spcAft>
                <a:spcPts val="0"/>
              </a:spcAft>
              <a:buNone/>
            </a:pPr>
            <a:r>
              <a:rPr lang="en" dirty="0">
                <a:solidFill>
                  <a:srgbClr val="434343"/>
                </a:solidFill>
                <a:latin typeface="Fira Sans"/>
                <a:ea typeface="Fira Sans"/>
                <a:cs typeface="Fira Sans"/>
                <a:sym typeface="Fira Sans"/>
              </a:rPr>
              <a:t>Xiong Yu </a:t>
            </a:r>
            <a:endParaRPr dirty="0">
              <a:solidFill>
                <a:srgbClr val="434343"/>
              </a:solidFill>
              <a:latin typeface="Fira Sans"/>
              <a:ea typeface="Fira Sans"/>
              <a:cs typeface="Fira Sans"/>
              <a:sym typeface="Fira Sans"/>
            </a:endParaRPr>
          </a:p>
        </p:txBody>
      </p:sp>
      <p:grpSp>
        <p:nvGrpSpPr>
          <p:cNvPr id="62" name="Google Shape;62;p13"/>
          <p:cNvGrpSpPr/>
          <p:nvPr/>
        </p:nvGrpSpPr>
        <p:grpSpPr>
          <a:xfrm>
            <a:off x="4446538" y="3263887"/>
            <a:ext cx="1744473" cy="1291995"/>
            <a:chOff x="2523825" y="1354400"/>
            <a:chExt cx="4476450" cy="3155825"/>
          </a:xfrm>
        </p:grpSpPr>
        <p:sp>
          <p:nvSpPr>
            <p:cNvPr id="63" name="Google Shape;63;p13"/>
            <p:cNvSpPr/>
            <p:nvPr/>
          </p:nvSpPr>
          <p:spPr>
            <a:xfrm>
              <a:off x="5135725" y="2136600"/>
              <a:ext cx="424400" cy="668250"/>
            </a:xfrm>
            <a:custGeom>
              <a:avLst/>
              <a:gdLst/>
              <a:ahLst/>
              <a:cxnLst/>
              <a:rect l="l" t="t" r="r" b="b"/>
              <a:pathLst>
                <a:path w="16976" h="26730" extrusionOk="0">
                  <a:moveTo>
                    <a:pt x="159" y="1"/>
                  </a:moveTo>
                  <a:cubicBezTo>
                    <a:pt x="96" y="1"/>
                    <a:pt x="1" y="64"/>
                    <a:pt x="1" y="159"/>
                  </a:cubicBezTo>
                  <a:lnTo>
                    <a:pt x="1" y="16500"/>
                  </a:lnTo>
                  <a:cubicBezTo>
                    <a:pt x="1" y="16564"/>
                    <a:pt x="33" y="16595"/>
                    <a:pt x="64" y="16627"/>
                  </a:cubicBezTo>
                  <a:lnTo>
                    <a:pt x="10103" y="26698"/>
                  </a:lnTo>
                  <a:cubicBezTo>
                    <a:pt x="10135" y="26730"/>
                    <a:pt x="10198" y="26730"/>
                    <a:pt x="10230" y="26730"/>
                  </a:cubicBezTo>
                  <a:lnTo>
                    <a:pt x="16817" y="26730"/>
                  </a:lnTo>
                  <a:cubicBezTo>
                    <a:pt x="16912" y="26730"/>
                    <a:pt x="16975" y="26666"/>
                    <a:pt x="16975" y="26571"/>
                  </a:cubicBezTo>
                  <a:cubicBezTo>
                    <a:pt x="16975" y="26476"/>
                    <a:pt x="16880" y="26413"/>
                    <a:pt x="16817" y="26413"/>
                  </a:cubicBezTo>
                  <a:lnTo>
                    <a:pt x="10293" y="26413"/>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p:nvPr/>
          </p:nvSpPr>
          <p:spPr>
            <a:xfrm>
              <a:off x="5908450" y="1686925"/>
              <a:ext cx="424400" cy="544725"/>
            </a:xfrm>
            <a:custGeom>
              <a:avLst/>
              <a:gdLst/>
              <a:ahLst/>
              <a:cxnLst/>
              <a:rect l="l" t="t" r="r" b="b"/>
              <a:pathLst>
                <a:path w="16976" h="21789" extrusionOk="0">
                  <a:moveTo>
                    <a:pt x="16817" y="0"/>
                  </a:moveTo>
                  <a:cubicBezTo>
                    <a:pt x="16722" y="0"/>
                    <a:pt x="16627" y="63"/>
                    <a:pt x="16627" y="158"/>
                  </a:cubicBezTo>
                  <a:lnTo>
                    <a:pt x="16627" y="11496"/>
                  </a:lnTo>
                  <a:lnTo>
                    <a:pt x="6683" y="21440"/>
                  </a:lnTo>
                  <a:lnTo>
                    <a:pt x="191" y="21440"/>
                  </a:lnTo>
                  <a:cubicBezTo>
                    <a:pt x="96" y="21440"/>
                    <a:pt x="1" y="21535"/>
                    <a:pt x="1" y="21598"/>
                  </a:cubicBezTo>
                  <a:cubicBezTo>
                    <a:pt x="1" y="21693"/>
                    <a:pt x="64" y="21788"/>
                    <a:pt x="159" y="21788"/>
                  </a:cubicBezTo>
                  <a:lnTo>
                    <a:pt x="6746" y="21788"/>
                  </a:lnTo>
                  <a:cubicBezTo>
                    <a:pt x="6778" y="21788"/>
                    <a:pt x="6841" y="21757"/>
                    <a:pt x="6873" y="21725"/>
                  </a:cubicBezTo>
                  <a:lnTo>
                    <a:pt x="16912" y="11686"/>
                  </a:lnTo>
                  <a:cubicBezTo>
                    <a:pt x="16944" y="11654"/>
                    <a:pt x="16975" y="11591"/>
                    <a:pt x="16975" y="11559"/>
                  </a:cubicBezTo>
                  <a:lnTo>
                    <a:pt x="16975" y="158"/>
                  </a:lnTo>
                  <a:cubicBezTo>
                    <a:pt x="16975" y="63"/>
                    <a:pt x="16880" y="0"/>
                    <a:pt x="1681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5649575" y="1566175"/>
              <a:ext cx="265250" cy="530875"/>
            </a:xfrm>
            <a:custGeom>
              <a:avLst/>
              <a:gdLst/>
              <a:ahLst/>
              <a:cxnLst/>
              <a:rect l="l" t="t" r="r" b="b"/>
              <a:pathLst>
                <a:path w="10610" h="21235" extrusionOk="0">
                  <a:moveTo>
                    <a:pt x="174" y="1"/>
                  </a:moveTo>
                  <a:cubicBezTo>
                    <a:pt x="135" y="1"/>
                    <a:pt x="95" y="16"/>
                    <a:pt x="63" y="48"/>
                  </a:cubicBezTo>
                  <a:cubicBezTo>
                    <a:pt x="0" y="111"/>
                    <a:pt x="0" y="206"/>
                    <a:pt x="63" y="270"/>
                  </a:cubicBezTo>
                  <a:lnTo>
                    <a:pt x="10293" y="10499"/>
                  </a:lnTo>
                  <a:lnTo>
                    <a:pt x="10293" y="21076"/>
                  </a:lnTo>
                  <a:cubicBezTo>
                    <a:pt x="10293" y="21171"/>
                    <a:pt x="10356" y="21235"/>
                    <a:pt x="10451" y="21235"/>
                  </a:cubicBezTo>
                  <a:cubicBezTo>
                    <a:pt x="10546" y="21235"/>
                    <a:pt x="10609" y="21171"/>
                    <a:pt x="10609" y="21076"/>
                  </a:cubicBezTo>
                  <a:lnTo>
                    <a:pt x="10609" y="10435"/>
                  </a:lnTo>
                  <a:cubicBezTo>
                    <a:pt x="10609" y="10404"/>
                    <a:pt x="10609" y="10340"/>
                    <a:pt x="10578" y="10309"/>
                  </a:cubicBezTo>
                  <a:lnTo>
                    <a:pt x="285" y="48"/>
                  </a:lnTo>
                  <a:cubicBezTo>
                    <a:pt x="253" y="16"/>
                    <a:pt x="214" y="1"/>
                    <a:pt x="17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5423925" y="1354400"/>
              <a:ext cx="266825" cy="266825"/>
            </a:xfrm>
            <a:custGeom>
              <a:avLst/>
              <a:gdLst/>
              <a:ahLst/>
              <a:cxnLst/>
              <a:rect l="l" t="t" r="r" b="b"/>
              <a:pathLst>
                <a:path w="10673" h="10673" extrusionOk="0">
                  <a:moveTo>
                    <a:pt x="5352" y="317"/>
                  </a:moveTo>
                  <a:cubicBezTo>
                    <a:pt x="8108" y="317"/>
                    <a:pt x="10356" y="2565"/>
                    <a:pt x="10356" y="5320"/>
                  </a:cubicBezTo>
                  <a:cubicBezTo>
                    <a:pt x="10356" y="8076"/>
                    <a:pt x="8108" y="10324"/>
                    <a:pt x="5352" y="10324"/>
                  </a:cubicBezTo>
                  <a:cubicBezTo>
                    <a:pt x="2597" y="10324"/>
                    <a:pt x="349" y="8076"/>
                    <a:pt x="349" y="5320"/>
                  </a:cubicBezTo>
                  <a:cubicBezTo>
                    <a:pt x="349" y="2565"/>
                    <a:pt x="2597" y="317"/>
                    <a:pt x="5352" y="317"/>
                  </a:cubicBezTo>
                  <a:close/>
                  <a:moveTo>
                    <a:pt x="5352" y="0"/>
                  </a:moveTo>
                  <a:cubicBezTo>
                    <a:pt x="2407" y="0"/>
                    <a:pt x="0" y="2375"/>
                    <a:pt x="0" y="5320"/>
                  </a:cubicBezTo>
                  <a:cubicBezTo>
                    <a:pt x="0" y="8266"/>
                    <a:pt x="2407" y="10673"/>
                    <a:pt x="5352" y="10673"/>
                  </a:cubicBezTo>
                  <a:cubicBezTo>
                    <a:pt x="8298" y="10673"/>
                    <a:pt x="10673" y="8266"/>
                    <a:pt x="10673" y="5320"/>
                  </a:cubicBezTo>
                  <a:cubicBezTo>
                    <a:pt x="10673" y="2375"/>
                    <a:pt x="8298" y="0"/>
                    <a:pt x="53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5454000" y="1392975"/>
              <a:ext cx="206675" cy="188875"/>
            </a:xfrm>
            <a:custGeom>
              <a:avLst/>
              <a:gdLst/>
              <a:ahLst/>
              <a:cxnLst/>
              <a:rect l="l" t="t" r="r" b="b"/>
              <a:pathLst>
                <a:path w="8267" h="7555" extrusionOk="0">
                  <a:moveTo>
                    <a:pt x="4134" y="1"/>
                  </a:moveTo>
                  <a:cubicBezTo>
                    <a:pt x="3168" y="1"/>
                    <a:pt x="2202" y="373"/>
                    <a:pt x="1458" y="1117"/>
                  </a:cubicBezTo>
                  <a:cubicBezTo>
                    <a:pt x="1" y="2574"/>
                    <a:pt x="1" y="4981"/>
                    <a:pt x="1458" y="6438"/>
                  </a:cubicBezTo>
                  <a:cubicBezTo>
                    <a:pt x="2202" y="7182"/>
                    <a:pt x="3168" y="7554"/>
                    <a:pt x="4134" y="7554"/>
                  </a:cubicBezTo>
                  <a:cubicBezTo>
                    <a:pt x="5100" y="7554"/>
                    <a:pt x="6065" y="7182"/>
                    <a:pt x="6810" y="6438"/>
                  </a:cubicBezTo>
                  <a:cubicBezTo>
                    <a:pt x="8266" y="4981"/>
                    <a:pt x="8266" y="2574"/>
                    <a:pt x="6810" y="1117"/>
                  </a:cubicBezTo>
                  <a:cubicBezTo>
                    <a:pt x="6065" y="373"/>
                    <a:pt x="5100" y="1"/>
                    <a:pt x="413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2750250" y="4349475"/>
              <a:ext cx="4052875" cy="160750"/>
            </a:xfrm>
            <a:custGeom>
              <a:avLst/>
              <a:gdLst/>
              <a:ahLst/>
              <a:cxnLst/>
              <a:rect l="l" t="t" r="r" b="b"/>
              <a:pathLst>
                <a:path w="162115" h="6430" extrusionOk="0">
                  <a:moveTo>
                    <a:pt x="81074" y="1"/>
                  </a:moveTo>
                  <a:cubicBezTo>
                    <a:pt x="36294" y="1"/>
                    <a:pt x="1" y="1426"/>
                    <a:pt x="1" y="3199"/>
                  </a:cubicBezTo>
                  <a:cubicBezTo>
                    <a:pt x="1" y="5004"/>
                    <a:pt x="36294" y="6429"/>
                    <a:pt x="81074" y="6429"/>
                  </a:cubicBezTo>
                  <a:cubicBezTo>
                    <a:pt x="125822" y="6429"/>
                    <a:pt x="162115" y="5004"/>
                    <a:pt x="162115" y="3199"/>
                  </a:cubicBezTo>
                  <a:cubicBezTo>
                    <a:pt x="162115" y="1426"/>
                    <a:pt x="125822" y="1"/>
                    <a:pt x="81074"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2523825" y="3132600"/>
              <a:ext cx="443400" cy="216175"/>
            </a:xfrm>
            <a:custGeom>
              <a:avLst/>
              <a:gdLst/>
              <a:ahLst/>
              <a:cxnLst/>
              <a:rect l="l" t="t" r="r" b="b"/>
              <a:pathLst>
                <a:path w="17736" h="8647" extrusionOk="0">
                  <a:moveTo>
                    <a:pt x="2756" y="0"/>
                  </a:moveTo>
                  <a:cubicBezTo>
                    <a:pt x="1236" y="0"/>
                    <a:pt x="1" y="1236"/>
                    <a:pt x="1" y="2756"/>
                  </a:cubicBezTo>
                  <a:lnTo>
                    <a:pt x="1" y="5891"/>
                  </a:lnTo>
                  <a:cubicBezTo>
                    <a:pt x="1" y="7411"/>
                    <a:pt x="1236" y="8646"/>
                    <a:pt x="2756" y="8646"/>
                  </a:cubicBezTo>
                  <a:lnTo>
                    <a:pt x="14980" y="8646"/>
                  </a:lnTo>
                  <a:cubicBezTo>
                    <a:pt x="16500" y="8646"/>
                    <a:pt x="17735" y="7411"/>
                    <a:pt x="17735" y="5891"/>
                  </a:cubicBezTo>
                  <a:lnTo>
                    <a:pt x="17735" y="2756"/>
                  </a:lnTo>
                  <a:cubicBezTo>
                    <a:pt x="17735" y="1236"/>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p:nvPr/>
          </p:nvSpPr>
          <p:spPr>
            <a:xfrm>
              <a:off x="2632300" y="3202275"/>
              <a:ext cx="124325" cy="24575"/>
            </a:xfrm>
            <a:custGeom>
              <a:avLst/>
              <a:gdLst/>
              <a:ahLst/>
              <a:cxnLst/>
              <a:rect l="l" t="t" r="r" b="b"/>
              <a:pathLst>
                <a:path w="4973" h="983" extrusionOk="0">
                  <a:moveTo>
                    <a:pt x="507" y="0"/>
                  </a:moveTo>
                  <a:cubicBezTo>
                    <a:pt x="222" y="0"/>
                    <a:pt x="0" y="222"/>
                    <a:pt x="0" y="475"/>
                  </a:cubicBezTo>
                  <a:cubicBezTo>
                    <a:pt x="0" y="760"/>
                    <a:pt x="222" y="982"/>
                    <a:pt x="507" y="982"/>
                  </a:cubicBezTo>
                  <a:lnTo>
                    <a:pt x="4466" y="982"/>
                  </a:lnTo>
                  <a:cubicBezTo>
                    <a:pt x="4751" y="982"/>
                    <a:pt x="4972" y="760"/>
                    <a:pt x="4972" y="475"/>
                  </a:cubicBezTo>
                  <a:cubicBezTo>
                    <a:pt x="4972" y="222"/>
                    <a:pt x="4751" y="0"/>
                    <a:pt x="44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2788275" y="3202275"/>
              <a:ext cx="68900" cy="24575"/>
            </a:xfrm>
            <a:custGeom>
              <a:avLst/>
              <a:gdLst/>
              <a:ahLst/>
              <a:cxnLst/>
              <a:rect l="l" t="t" r="r" b="b"/>
              <a:pathLst>
                <a:path w="2756" h="983" extrusionOk="0">
                  <a:moveTo>
                    <a:pt x="507" y="0"/>
                  </a:moveTo>
                  <a:cubicBezTo>
                    <a:pt x="222" y="0"/>
                    <a:pt x="0" y="222"/>
                    <a:pt x="0" y="475"/>
                  </a:cubicBezTo>
                  <a:cubicBezTo>
                    <a:pt x="0" y="760"/>
                    <a:pt x="222" y="982"/>
                    <a:pt x="507" y="982"/>
                  </a:cubicBezTo>
                  <a:lnTo>
                    <a:pt x="2249" y="982"/>
                  </a:lnTo>
                  <a:cubicBezTo>
                    <a:pt x="2534" y="982"/>
                    <a:pt x="2755" y="760"/>
                    <a:pt x="2755" y="475"/>
                  </a:cubicBezTo>
                  <a:cubicBezTo>
                    <a:pt x="2755" y="222"/>
                    <a:pt x="2502" y="0"/>
                    <a:pt x="22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2703550" y="3253725"/>
              <a:ext cx="153625" cy="25375"/>
            </a:xfrm>
            <a:custGeom>
              <a:avLst/>
              <a:gdLst/>
              <a:ahLst/>
              <a:cxnLst/>
              <a:rect l="l" t="t" r="r" b="b"/>
              <a:pathLst>
                <a:path w="6145" h="1015" extrusionOk="0">
                  <a:moveTo>
                    <a:pt x="507" y="1"/>
                  </a:moveTo>
                  <a:cubicBezTo>
                    <a:pt x="222" y="1"/>
                    <a:pt x="0" y="222"/>
                    <a:pt x="0" y="507"/>
                  </a:cubicBezTo>
                  <a:cubicBezTo>
                    <a:pt x="0" y="793"/>
                    <a:pt x="222" y="1014"/>
                    <a:pt x="507" y="1014"/>
                  </a:cubicBezTo>
                  <a:lnTo>
                    <a:pt x="5638" y="1014"/>
                  </a:lnTo>
                  <a:cubicBezTo>
                    <a:pt x="5923" y="1014"/>
                    <a:pt x="6144" y="793"/>
                    <a:pt x="6113" y="507"/>
                  </a:cubicBezTo>
                  <a:cubicBezTo>
                    <a:pt x="6113" y="222"/>
                    <a:pt x="5891" y="1"/>
                    <a:pt x="56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5697075" y="2062200"/>
              <a:ext cx="443375" cy="215375"/>
            </a:xfrm>
            <a:custGeom>
              <a:avLst/>
              <a:gdLst/>
              <a:ahLst/>
              <a:cxnLst/>
              <a:rect l="l" t="t" r="r" b="b"/>
              <a:pathLst>
                <a:path w="17735" h="8615" extrusionOk="0">
                  <a:moveTo>
                    <a:pt x="2724" y="0"/>
                  </a:moveTo>
                  <a:cubicBezTo>
                    <a:pt x="1204" y="0"/>
                    <a:pt x="0" y="1204"/>
                    <a:pt x="0" y="2724"/>
                  </a:cubicBezTo>
                  <a:lnTo>
                    <a:pt x="0" y="5859"/>
                  </a:lnTo>
                  <a:cubicBezTo>
                    <a:pt x="0" y="7379"/>
                    <a:pt x="1204" y="8614"/>
                    <a:pt x="2724" y="8614"/>
                  </a:cubicBezTo>
                  <a:lnTo>
                    <a:pt x="14980" y="8614"/>
                  </a:lnTo>
                  <a:cubicBezTo>
                    <a:pt x="16500" y="8614"/>
                    <a:pt x="17735" y="7379"/>
                    <a:pt x="17735" y="5859"/>
                  </a:cubicBezTo>
                  <a:lnTo>
                    <a:pt x="17735" y="2724"/>
                  </a:lnTo>
                  <a:cubicBezTo>
                    <a:pt x="17735" y="1204"/>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5754075" y="2127100"/>
              <a:ext cx="99775" cy="25375"/>
            </a:xfrm>
            <a:custGeom>
              <a:avLst/>
              <a:gdLst/>
              <a:ahLst/>
              <a:cxnLst/>
              <a:rect l="l" t="t" r="r" b="b"/>
              <a:pathLst>
                <a:path w="3991" h="1015" extrusionOk="0">
                  <a:moveTo>
                    <a:pt x="507" y="1"/>
                  </a:moveTo>
                  <a:cubicBezTo>
                    <a:pt x="254" y="1"/>
                    <a:pt x="0" y="254"/>
                    <a:pt x="0" y="508"/>
                  </a:cubicBezTo>
                  <a:cubicBezTo>
                    <a:pt x="0" y="793"/>
                    <a:pt x="254" y="1014"/>
                    <a:pt x="507" y="1014"/>
                  </a:cubicBezTo>
                  <a:lnTo>
                    <a:pt x="3516" y="1014"/>
                  </a:lnTo>
                  <a:cubicBezTo>
                    <a:pt x="3769" y="1014"/>
                    <a:pt x="3991" y="793"/>
                    <a:pt x="3991" y="508"/>
                  </a:cubicBezTo>
                  <a:cubicBezTo>
                    <a:pt x="3991" y="254"/>
                    <a:pt x="3769" y="1"/>
                    <a:pt x="35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5879175" y="2127100"/>
              <a:ext cx="63350" cy="25375"/>
            </a:xfrm>
            <a:custGeom>
              <a:avLst/>
              <a:gdLst/>
              <a:ahLst/>
              <a:cxnLst/>
              <a:rect l="l" t="t" r="r" b="b"/>
              <a:pathLst>
                <a:path w="2534" h="1015" extrusionOk="0">
                  <a:moveTo>
                    <a:pt x="507" y="1"/>
                  </a:moveTo>
                  <a:cubicBezTo>
                    <a:pt x="222" y="1"/>
                    <a:pt x="0" y="254"/>
                    <a:pt x="0" y="508"/>
                  </a:cubicBezTo>
                  <a:cubicBezTo>
                    <a:pt x="0" y="793"/>
                    <a:pt x="222" y="1014"/>
                    <a:pt x="507" y="1014"/>
                  </a:cubicBezTo>
                  <a:lnTo>
                    <a:pt x="2027" y="1014"/>
                  </a:lnTo>
                  <a:cubicBezTo>
                    <a:pt x="2312" y="1014"/>
                    <a:pt x="2534" y="793"/>
                    <a:pt x="2534" y="508"/>
                  </a:cubicBezTo>
                  <a:cubicBezTo>
                    <a:pt x="2534" y="254"/>
                    <a:pt x="2312" y="1"/>
                    <a:pt x="20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6028800" y="2127100"/>
              <a:ext cx="53875" cy="25375"/>
            </a:xfrm>
            <a:custGeom>
              <a:avLst/>
              <a:gdLst/>
              <a:ahLst/>
              <a:cxnLst/>
              <a:rect l="l" t="t" r="r" b="b"/>
              <a:pathLst>
                <a:path w="2155" h="1015" extrusionOk="0">
                  <a:moveTo>
                    <a:pt x="507" y="1"/>
                  </a:moveTo>
                  <a:cubicBezTo>
                    <a:pt x="222" y="1"/>
                    <a:pt x="1" y="254"/>
                    <a:pt x="1" y="508"/>
                  </a:cubicBezTo>
                  <a:cubicBezTo>
                    <a:pt x="1" y="793"/>
                    <a:pt x="222" y="1014"/>
                    <a:pt x="507" y="1014"/>
                  </a:cubicBezTo>
                  <a:lnTo>
                    <a:pt x="1647" y="1014"/>
                  </a:lnTo>
                  <a:cubicBezTo>
                    <a:pt x="1932" y="1014"/>
                    <a:pt x="2154" y="793"/>
                    <a:pt x="2154" y="508"/>
                  </a:cubicBezTo>
                  <a:cubicBezTo>
                    <a:pt x="2154" y="254"/>
                    <a:pt x="1932" y="1"/>
                    <a:pt x="16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5879175" y="2186500"/>
              <a:ext cx="136200" cy="25350"/>
            </a:xfrm>
            <a:custGeom>
              <a:avLst/>
              <a:gdLst/>
              <a:ahLst/>
              <a:cxnLst/>
              <a:rect l="l" t="t" r="r" b="b"/>
              <a:pathLst>
                <a:path w="5448" h="1014" extrusionOk="0">
                  <a:moveTo>
                    <a:pt x="507" y="0"/>
                  </a:moveTo>
                  <a:cubicBezTo>
                    <a:pt x="222" y="0"/>
                    <a:pt x="0" y="253"/>
                    <a:pt x="0" y="507"/>
                  </a:cubicBezTo>
                  <a:cubicBezTo>
                    <a:pt x="0" y="792"/>
                    <a:pt x="222" y="1014"/>
                    <a:pt x="507" y="1014"/>
                  </a:cubicBezTo>
                  <a:lnTo>
                    <a:pt x="4972" y="1014"/>
                  </a:lnTo>
                  <a:cubicBezTo>
                    <a:pt x="5226" y="1014"/>
                    <a:pt x="5447" y="792"/>
                    <a:pt x="5447" y="507"/>
                  </a:cubicBezTo>
                  <a:cubicBezTo>
                    <a:pt x="5447" y="253"/>
                    <a:pt x="5226" y="0"/>
                    <a:pt x="49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3475475" y="2363050"/>
              <a:ext cx="443400" cy="215375"/>
            </a:xfrm>
            <a:custGeom>
              <a:avLst/>
              <a:gdLst/>
              <a:ahLst/>
              <a:cxnLst/>
              <a:rect l="l" t="t" r="r" b="b"/>
              <a:pathLst>
                <a:path w="17736" h="8615" extrusionOk="0">
                  <a:moveTo>
                    <a:pt x="2756" y="0"/>
                  </a:moveTo>
                  <a:cubicBezTo>
                    <a:pt x="1236" y="0"/>
                    <a:pt x="1" y="1204"/>
                    <a:pt x="1" y="2724"/>
                  </a:cubicBezTo>
                  <a:lnTo>
                    <a:pt x="1" y="5859"/>
                  </a:lnTo>
                  <a:cubicBezTo>
                    <a:pt x="1" y="7379"/>
                    <a:pt x="1236" y="8614"/>
                    <a:pt x="2756" y="8614"/>
                  </a:cubicBezTo>
                  <a:lnTo>
                    <a:pt x="15012" y="8614"/>
                  </a:lnTo>
                  <a:cubicBezTo>
                    <a:pt x="16532" y="8614"/>
                    <a:pt x="17736" y="7379"/>
                    <a:pt x="17736" y="5859"/>
                  </a:cubicBezTo>
                  <a:lnTo>
                    <a:pt x="17736" y="2724"/>
                  </a:lnTo>
                  <a:cubicBezTo>
                    <a:pt x="17736" y="1204"/>
                    <a:pt x="16532" y="0"/>
                    <a:pt x="15012"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3568125" y="2419250"/>
              <a:ext cx="64150" cy="25375"/>
            </a:xfrm>
            <a:custGeom>
              <a:avLst/>
              <a:gdLst/>
              <a:ahLst/>
              <a:cxnLst/>
              <a:rect l="l" t="t" r="r" b="b"/>
              <a:pathLst>
                <a:path w="2566" h="1015" extrusionOk="0">
                  <a:moveTo>
                    <a:pt x="507" y="1"/>
                  </a:moveTo>
                  <a:cubicBezTo>
                    <a:pt x="222" y="1"/>
                    <a:pt x="0" y="222"/>
                    <a:pt x="0" y="507"/>
                  </a:cubicBezTo>
                  <a:cubicBezTo>
                    <a:pt x="0" y="792"/>
                    <a:pt x="222" y="1014"/>
                    <a:pt x="507" y="1014"/>
                  </a:cubicBezTo>
                  <a:lnTo>
                    <a:pt x="2059" y="1014"/>
                  </a:lnTo>
                  <a:cubicBezTo>
                    <a:pt x="2344" y="1014"/>
                    <a:pt x="2565" y="792"/>
                    <a:pt x="2565" y="507"/>
                  </a:cubicBezTo>
                  <a:cubicBezTo>
                    <a:pt x="2565" y="222"/>
                    <a:pt x="2344" y="1"/>
                    <a:pt x="20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p:nvPr/>
          </p:nvSpPr>
          <p:spPr>
            <a:xfrm>
              <a:off x="3671050" y="2419250"/>
              <a:ext cx="45925" cy="25375"/>
            </a:xfrm>
            <a:custGeom>
              <a:avLst/>
              <a:gdLst/>
              <a:ahLst/>
              <a:cxnLst/>
              <a:rect l="l" t="t" r="r" b="b"/>
              <a:pathLst>
                <a:path w="1837" h="1015" extrusionOk="0">
                  <a:moveTo>
                    <a:pt x="475" y="1"/>
                  </a:moveTo>
                  <a:cubicBezTo>
                    <a:pt x="222" y="1"/>
                    <a:pt x="0" y="222"/>
                    <a:pt x="0" y="507"/>
                  </a:cubicBezTo>
                  <a:cubicBezTo>
                    <a:pt x="0" y="792"/>
                    <a:pt x="222" y="1014"/>
                    <a:pt x="475" y="1014"/>
                  </a:cubicBezTo>
                  <a:lnTo>
                    <a:pt x="1362" y="1014"/>
                  </a:lnTo>
                  <a:cubicBezTo>
                    <a:pt x="1615" y="1014"/>
                    <a:pt x="1837" y="792"/>
                    <a:pt x="1837" y="507"/>
                  </a:cubicBezTo>
                  <a:cubicBezTo>
                    <a:pt x="1837" y="222"/>
                    <a:pt x="1615" y="1"/>
                    <a:pt x="13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3663125" y="2476250"/>
              <a:ext cx="119575" cy="25375"/>
            </a:xfrm>
            <a:custGeom>
              <a:avLst/>
              <a:gdLst/>
              <a:ahLst/>
              <a:cxnLst/>
              <a:rect l="l" t="t" r="r" b="b"/>
              <a:pathLst>
                <a:path w="4783" h="1015" extrusionOk="0">
                  <a:moveTo>
                    <a:pt x="507" y="1"/>
                  </a:moveTo>
                  <a:cubicBezTo>
                    <a:pt x="222" y="1"/>
                    <a:pt x="0" y="223"/>
                    <a:pt x="0" y="508"/>
                  </a:cubicBezTo>
                  <a:cubicBezTo>
                    <a:pt x="0" y="761"/>
                    <a:pt x="222" y="1014"/>
                    <a:pt x="507" y="1014"/>
                  </a:cubicBezTo>
                  <a:lnTo>
                    <a:pt x="4276" y="1014"/>
                  </a:lnTo>
                  <a:cubicBezTo>
                    <a:pt x="4561" y="1014"/>
                    <a:pt x="4782" y="793"/>
                    <a:pt x="4782" y="508"/>
                  </a:cubicBezTo>
                  <a:cubicBezTo>
                    <a:pt x="4782" y="223"/>
                    <a:pt x="4561" y="1"/>
                    <a:pt x="4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3815925" y="2476250"/>
              <a:ext cx="52275" cy="25375"/>
            </a:xfrm>
            <a:custGeom>
              <a:avLst/>
              <a:gdLst/>
              <a:ahLst/>
              <a:cxnLst/>
              <a:rect l="l" t="t" r="r" b="b"/>
              <a:pathLst>
                <a:path w="2091" h="1015" extrusionOk="0">
                  <a:moveTo>
                    <a:pt x="476" y="1"/>
                  </a:moveTo>
                  <a:cubicBezTo>
                    <a:pt x="222" y="1"/>
                    <a:pt x="1" y="223"/>
                    <a:pt x="1" y="508"/>
                  </a:cubicBezTo>
                  <a:cubicBezTo>
                    <a:pt x="1" y="761"/>
                    <a:pt x="222" y="1014"/>
                    <a:pt x="476" y="1014"/>
                  </a:cubicBezTo>
                  <a:lnTo>
                    <a:pt x="1584" y="1014"/>
                  </a:lnTo>
                  <a:cubicBezTo>
                    <a:pt x="1869" y="1014"/>
                    <a:pt x="2091" y="793"/>
                    <a:pt x="2091" y="508"/>
                  </a:cubicBezTo>
                  <a:cubicBezTo>
                    <a:pt x="2091" y="223"/>
                    <a:pt x="1869" y="1"/>
                    <a:pt x="15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3"/>
            <p:cNvSpPr/>
            <p:nvPr/>
          </p:nvSpPr>
          <p:spPr>
            <a:xfrm>
              <a:off x="5309925" y="2437475"/>
              <a:ext cx="1383150" cy="1963475"/>
            </a:xfrm>
            <a:custGeom>
              <a:avLst/>
              <a:gdLst/>
              <a:ahLst/>
              <a:cxnLst/>
              <a:rect l="l" t="t" r="r" b="b"/>
              <a:pathLst>
                <a:path w="55326" h="78539" extrusionOk="0">
                  <a:moveTo>
                    <a:pt x="4339" y="0"/>
                  </a:moveTo>
                  <a:cubicBezTo>
                    <a:pt x="1964" y="0"/>
                    <a:pt x="0" y="1932"/>
                    <a:pt x="0" y="4339"/>
                  </a:cubicBezTo>
                  <a:lnTo>
                    <a:pt x="0" y="74169"/>
                  </a:lnTo>
                  <a:cubicBezTo>
                    <a:pt x="0" y="76576"/>
                    <a:pt x="1964" y="78539"/>
                    <a:pt x="4339" y="78539"/>
                  </a:cubicBezTo>
                  <a:lnTo>
                    <a:pt x="50987" y="78539"/>
                  </a:lnTo>
                  <a:cubicBezTo>
                    <a:pt x="53394" y="78539"/>
                    <a:pt x="55326" y="76576"/>
                    <a:pt x="55326" y="74169"/>
                  </a:cubicBezTo>
                  <a:lnTo>
                    <a:pt x="55326" y="4339"/>
                  </a:lnTo>
                  <a:cubicBezTo>
                    <a:pt x="55326" y="1932"/>
                    <a:pt x="53394" y="0"/>
                    <a:pt x="5098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5408875" y="2618775"/>
              <a:ext cx="1170200" cy="1618300"/>
            </a:xfrm>
            <a:custGeom>
              <a:avLst/>
              <a:gdLst/>
              <a:ahLst/>
              <a:cxnLst/>
              <a:rect l="l" t="t" r="r" b="b"/>
              <a:pathLst>
                <a:path w="46808" h="64732" extrusionOk="0">
                  <a:moveTo>
                    <a:pt x="1" y="0"/>
                  </a:moveTo>
                  <a:lnTo>
                    <a:pt x="1" y="64732"/>
                  </a:lnTo>
                  <a:lnTo>
                    <a:pt x="46808" y="64732"/>
                  </a:lnTo>
                  <a:lnTo>
                    <a:pt x="468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5484100" y="2655975"/>
              <a:ext cx="1052225" cy="1524900"/>
            </a:xfrm>
            <a:custGeom>
              <a:avLst/>
              <a:gdLst/>
              <a:ahLst/>
              <a:cxnLst/>
              <a:rect l="l" t="t" r="r" b="b"/>
              <a:pathLst>
                <a:path w="42089" h="60996" extrusionOk="0">
                  <a:moveTo>
                    <a:pt x="41708" y="317"/>
                  </a:moveTo>
                  <a:lnTo>
                    <a:pt x="41708" y="60647"/>
                  </a:lnTo>
                  <a:lnTo>
                    <a:pt x="349" y="60647"/>
                  </a:lnTo>
                  <a:lnTo>
                    <a:pt x="349" y="317"/>
                  </a:lnTo>
                  <a:close/>
                  <a:moveTo>
                    <a:pt x="0" y="1"/>
                  </a:moveTo>
                  <a:lnTo>
                    <a:pt x="0" y="60995"/>
                  </a:lnTo>
                  <a:lnTo>
                    <a:pt x="42088" y="60995"/>
                  </a:lnTo>
                  <a:lnTo>
                    <a:pt x="42088"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5488050" y="3919575"/>
              <a:ext cx="1043525" cy="8725"/>
            </a:xfrm>
            <a:custGeom>
              <a:avLst/>
              <a:gdLst/>
              <a:ahLst/>
              <a:cxnLst/>
              <a:rect l="l" t="t" r="r" b="b"/>
              <a:pathLst>
                <a:path w="41741" h="349" extrusionOk="0">
                  <a:moveTo>
                    <a:pt x="1" y="0"/>
                  </a:moveTo>
                  <a:lnTo>
                    <a:pt x="1" y="349"/>
                  </a:lnTo>
                  <a:lnTo>
                    <a:pt x="41740" y="349"/>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5488050" y="3667000"/>
              <a:ext cx="1043525" cy="7950"/>
            </a:xfrm>
            <a:custGeom>
              <a:avLst/>
              <a:gdLst/>
              <a:ahLst/>
              <a:cxnLst/>
              <a:rect l="l" t="t" r="r" b="b"/>
              <a:pathLst>
                <a:path w="41741" h="318" extrusionOk="0">
                  <a:moveTo>
                    <a:pt x="1" y="1"/>
                  </a:moveTo>
                  <a:lnTo>
                    <a:pt x="1" y="318"/>
                  </a:lnTo>
                  <a:lnTo>
                    <a:pt x="41740" y="318"/>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5488050" y="3413650"/>
              <a:ext cx="1043525" cy="8750"/>
            </a:xfrm>
            <a:custGeom>
              <a:avLst/>
              <a:gdLst/>
              <a:ahLst/>
              <a:cxnLst/>
              <a:rect l="l" t="t" r="r" b="b"/>
              <a:pathLst>
                <a:path w="41741" h="350"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5488050" y="3161100"/>
              <a:ext cx="1043525" cy="8725"/>
            </a:xfrm>
            <a:custGeom>
              <a:avLst/>
              <a:gdLst/>
              <a:ahLst/>
              <a:cxnLst/>
              <a:rect l="l" t="t" r="r" b="b"/>
              <a:pathLst>
                <a:path w="41741" h="349"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5488050" y="2908550"/>
              <a:ext cx="1043525" cy="7925"/>
            </a:xfrm>
            <a:custGeom>
              <a:avLst/>
              <a:gdLst/>
              <a:ahLst/>
              <a:cxnLst/>
              <a:rect l="l" t="t" r="r" b="b"/>
              <a:pathLst>
                <a:path w="41741" h="317" extrusionOk="0">
                  <a:moveTo>
                    <a:pt x="1" y="0"/>
                  </a:moveTo>
                  <a:lnTo>
                    <a:pt x="1" y="317"/>
                  </a:lnTo>
                  <a:lnTo>
                    <a:pt x="41740" y="317"/>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635340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p:nvPr/>
          </p:nvSpPr>
          <p:spPr>
            <a:xfrm>
              <a:off x="617922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6005850" y="2659950"/>
              <a:ext cx="8725" cy="1516950"/>
            </a:xfrm>
            <a:custGeom>
              <a:avLst/>
              <a:gdLst/>
              <a:ahLst/>
              <a:cxnLst/>
              <a:rect l="l" t="t" r="r" b="b"/>
              <a:pathLst>
                <a:path w="349" h="60678" extrusionOk="0">
                  <a:moveTo>
                    <a:pt x="0" y="0"/>
                  </a:moveTo>
                  <a:lnTo>
                    <a:pt x="0"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a:off x="583165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565747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5665400" y="3611600"/>
              <a:ext cx="104525" cy="212200"/>
            </a:xfrm>
            <a:custGeom>
              <a:avLst/>
              <a:gdLst/>
              <a:ahLst/>
              <a:cxnLst/>
              <a:rect l="l" t="t" r="r" b="b"/>
              <a:pathLst>
                <a:path w="4181" h="8488" extrusionOk="0">
                  <a:moveTo>
                    <a:pt x="0" y="0"/>
                  </a:moveTo>
                  <a:lnTo>
                    <a:pt x="0" y="8487"/>
                  </a:lnTo>
                  <a:lnTo>
                    <a:pt x="4181" y="8487"/>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5814250" y="3442950"/>
              <a:ext cx="104525" cy="380850"/>
            </a:xfrm>
            <a:custGeom>
              <a:avLst/>
              <a:gdLst/>
              <a:ahLst/>
              <a:cxnLst/>
              <a:rect l="l" t="t" r="r" b="b"/>
              <a:pathLst>
                <a:path w="4181" h="15234" extrusionOk="0">
                  <a:moveTo>
                    <a:pt x="0" y="1"/>
                  </a:moveTo>
                  <a:lnTo>
                    <a:pt x="0" y="15233"/>
                  </a:lnTo>
                  <a:lnTo>
                    <a:pt x="4181" y="15233"/>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5962300" y="3735900"/>
              <a:ext cx="104525" cy="87900"/>
            </a:xfrm>
            <a:custGeom>
              <a:avLst/>
              <a:gdLst/>
              <a:ahLst/>
              <a:cxnLst/>
              <a:rect l="l" t="t" r="r" b="b"/>
              <a:pathLst>
                <a:path w="4181" h="3516" extrusionOk="0">
                  <a:moveTo>
                    <a:pt x="0" y="0"/>
                  </a:moveTo>
                  <a:lnTo>
                    <a:pt x="0" y="3515"/>
                  </a:lnTo>
                  <a:lnTo>
                    <a:pt x="4181" y="3515"/>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a:off x="6110350" y="3544300"/>
              <a:ext cx="104525" cy="279500"/>
            </a:xfrm>
            <a:custGeom>
              <a:avLst/>
              <a:gdLst/>
              <a:ahLst/>
              <a:cxnLst/>
              <a:rect l="l" t="t" r="r" b="b"/>
              <a:pathLst>
                <a:path w="4181" h="11180" extrusionOk="0">
                  <a:moveTo>
                    <a:pt x="0" y="0"/>
                  </a:moveTo>
                  <a:lnTo>
                    <a:pt x="0" y="11179"/>
                  </a:lnTo>
                  <a:lnTo>
                    <a:pt x="4181" y="11179"/>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6259200" y="3648800"/>
              <a:ext cx="104525" cy="175000"/>
            </a:xfrm>
            <a:custGeom>
              <a:avLst/>
              <a:gdLst/>
              <a:ahLst/>
              <a:cxnLst/>
              <a:rect l="l" t="t" r="r" b="b"/>
              <a:pathLst>
                <a:path w="4181" h="7000" extrusionOk="0">
                  <a:moveTo>
                    <a:pt x="0" y="1"/>
                  </a:moveTo>
                  <a:lnTo>
                    <a:pt x="0" y="6999"/>
                  </a:lnTo>
                  <a:lnTo>
                    <a:pt x="4181" y="6999"/>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a:off x="6089775" y="3891850"/>
              <a:ext cx="138575" cy="24575"/>
            </a:xfrm>
            <a:custGeom>
              <a:avLst/>
              <a:gdLst/>
              <a:ahLst/>
              <a:cxnLst/>
              <a:rect l="l" t="t" r="r" b="b"/>
              <a:pathLst>
                <a:path w="5543" h="983" extrusionOk="0">
                  <a:moveTo>
                    <a:pt x="507" y="1"/>
                  </a:moveTo>
                  <a:cubicBezTo>
                    <a:pt x="222" y="1"/>
                    <a:pt x="0" y="223"/>
                    <a:pt x="0" y="508"/>
                  </a:cubicBezTo>
                  <a:cubicBezTo>
                    <a:pt x="0" y="761"/>
                    <a:pt x="222" y="983"/>
                    <a:pt x="507" y="983"/>
                  </a:cubicBezTo>
                  <a:lnTo>
                    <a:pt x="5035" y="983"/>
                  </a:lnTo>
                  <a:cubicBezTo>
                    <a:pt x="5289" y="983"/>
                    <a:pt x="5542" y="761"/>
                    <a:pt x="5542" y="508"/>
                  </a:cubicBezTo>
                  <a:cubicBezTo>
                    <a:pt x="5542" y="223"/>
                    <a:pt x="5289" y="1"/>
                    <a:pt x="503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6324125" y="3891850"/>
              <a:ext cx="53050" cy="24575"/>
            </a:xfrm>
            <a:custGeom>
              <a:avLst/>
              <a:gdLst/>
              <a:ahLst/>
              <a:cxnLst/>
              <a:rect l="l" t="t" r="r" b="b"/>
              <a:pathLst>
                <a:path w="2122" h="983" extrusionOk="0">
                  <a:moveTo>
                    <a:pt x="507" y="1"/>
                  </a:moveTo>
                  <a:cubicBezTo>
                    <a:pt x="222" y="1"/>
                    <a:pt x="0" y="223"/>
                    <a:pt x="0" y="508"/>
                  </a:cubicBezTo>
                  <a:cubicBezTo>
                    <a:pt x="0" y="761"/>
                    <a:pt x="222" y="983"/>
                    <a:pt x="507" y="983"/>
                  </a:cubicBezTo>
                  <a:lnTo>
                    <a:pt x="1615" y="983"/>
                  </a:lnTo>
                  <a:cubicBezTo>
                    <a:pt x="1900" y="983"/>
                    <a:pt x="2122" y="761"/>
                    <a:pt x="2122" y="508"/>
                  </a:cubicBezTo>
                  <a:cubicBezTo>
                    <a:pt x="2122" y="223"/>
                    <a:pt x="1900" y="1"/>
                    <a:pt x="16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6146775" y="3936200"/>
              <a:ext cx="60200" cy="25350"/>
            </a:xfrm>
            <a:custGeom>
              <a:avLst/>
              <a:gdLst/>
              <a:ahLst/>
              <a:cxnLst/>
              <a:rect l="l" t="t" r="r" b="b"/>
              <a:pathLst>
                <a:path w="2408" h="1014" extrusionOk="0">
                  <a:moveTo>
                    <a:pt x="475" y="0"/>
                  </a:moveTo>
                  <a:cubicBezTo>
                    <a:pt x="222" y="0"/>
                    <a:pt x="0" y="222"/>
                    <a:pt x="0" y="507"/>
                  </a:cubicBezTo>
                  <a:cubicBezTo>
                    <a:pt x="0" y="792"/>
                    <a:pt x="222" y="1014"/>
                    <a:pt x="475" y="1014"/>
                  </a:cubicBezTo>
                  <a:lnTo>
                    <a:pt x="1900" y="1014"/>
                  </a:lnTo>
                  <a:cubicBezTo>
                    <a:pt x="2185" y="1014"/>
                    <a:pt x="2407" y="792"/>
                    <a:pt x="2407" y="507"/>
                  </a:cubicBezTo>
                  <a:cubicBezTo>
                    <a:pt x="2407" y="222"/>
                    <a:pt x="2185" y="0"/>
                    <a:pt x="190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a:off x="6243350" y="3936200"/>
              <a:ext cx="106125" cy="25350"/>
            </a:xfrm>
            <a:custGeom>
              <a:avLst/>
              <a:gdLst/>
              <a:ahLst/>
              <a:cxnLst/>
              <a:rect l="l" t="t" r="r" b="b"/>
              <a:pathLst>
                <a:path w="4245" h="1014" extrusionOk="0">
                  <a:moveTo>
                    <a:pt x="508" y="0"/>
                  </a:moveTo>
                  <a:cubicBezTo>
                    <a:pt x="223" y="0"/>
                    <a:pt x="1" y="222"/>
                    <a:pt x="1" y="507"/>
                  </a:cubicBezTo>
                  <a:cubicBezTo>
                    <a:pt x="1" y="792"/>
                    <a:pt x="223" y="1014"/>
                    <a:pt x="508" y="1014"/>
                  </a:cubicBezTo>
                  <a:lnTo>
                    <a:pt x="3738" y="1014"/>
                  </a:lnTo>
                  <a:cubicBezTo>
                    <a:pt x="3991" y="1014"/>
                    <a:pt x="4245" y="792"/>
                    <a:pt x="4245" y="507"/>
                  </a:cubicBezTo>
                  <a:cubicBezTo>
                    <a:pt x="4245" y="222"/>
                    <a:pt x="4023" y="0"/>
                    <a:pt x="3738"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6271850" y="3225225"/>
              <a:ext cx="137800" cy="25375"/>
            </a:xfrm>
            <a:custGeom>
              <a:avLst/>
              <a:gdLst/>
              <a:ahLst/>
              <a:cxnLst/>
              <a:rect l="l" t="t" r="r" b="b"/>
              <a:pathLst>
                <a:path w="5512" h="1015" extrusionOk="0">
                  <a:moveTo>
                    <a:pt x="508" y="1"/>
                  </a:moveTo>
                  <a:cubicBezTo>
                    <a:pt x="223" y="1"/>
                    <a:pt x="1" y="254"/>
                    <a:pt x="1" y="507"/>
                  </a:cubicBezTo>
                  <a:cubicBezTo>
                    <a:pt x="1" y="792"/>
                    <a:pt x="223" y="1014"/>
                    <a:pt x="508" y="1014"/>
                  </a:cubicBezTo>
                  <a:lnTo>
                    <a:pt x="5005" y="1014"/>
                  </a:lnTo>
                  <a:cubicBezTo>
                    <a:pt x="5290" y="1014"/>
                    <a:pt x="5511" y="792"/>
                    <a:pt x="5511" y="507"/>
                  </a:cubicBezTo>
                  <a:cubicBezTo>
                    <a:pt x="5511" y="254"/>
                    <a:pt x="5290" y="1"/>
                    <a:pt x="500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6328075" y="3270350"/>
              <a:ext cx="60975" cy="25375"/>
            </a:xfrm>
            <a:custGeom>
              <a:avLst/>
              <a:gdLst/>
              <a:ahLst/>
              <a:cxnLst/>
              <a:rect l="l" t="t" r="r" b="b"/>
              <a:pathLst>
                <a:path w="2439" h="1015" extrusionOk="0">
                  <a:moveTo>
                    <a:pt x="507" y="1"/>
                  </a:moveTo>
                  <a:cubicBezTo>
                    <a:pt x="222" y="1"/>
                    <a:pt x="0" y="223"/>
                    <a:pt x="0" y="508"/>
                  </a:cubicBezTo>
                  <a:cubicBezTo>
                    <a:pt x="0" y="793"/>
                    <a:pt x="222" y="1014"/>
                    <a:pt x="507" y="1014"/>
                  </a:cubicBezTo>
                  <a:lnTo>
                    <a:pt x="1932" y="1014"/>
                  </a:lnTo>
                  <a:cubicBezTo>
                    <a:pt x="2186" y="1014"/>
                    <a:pt x="2439" y="793"/>
                    <a:pt x="2439" y="508"/>
                  </a:cubicBezTo>
                  <a:cubicBezTo>
                    <a:pt x="2439" y="223"/>
                    <a:pt x="2186" y="1"/>
                    <a:pt x="193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p:nvPr/>
          </p:nvSpPr>
          <p:spPr>
            <a:xfrm>
              <a:off x="5649575" y="3891850"/>
              <a:ext cx="113225" cy="24575"/>
            </a:xfrm>
            <a:custGeom>
              <a:avLst/>
              <a:gdLst/>
              <a:ahLst/>
              <a:cxnLst/>
              <a:rect l="l" t="t" r="r" b="b"/>
              <a:pathLst>
                <a:path w="4529" h="983" extrusionOk="0">
                  <a:moveTo>
                    <a:pt x="507" y="1"/>
                  </a:moveTo>
                  <a:cubicBezTo>
                    <a:pt x="222" y="1"/>
                    <a:pt x="0" y="223"/>
                    <a:pt x="0" y="508"/>
                  </a:cubicBezTo>
                  <a:cubicBezTo>
                    <a:pt x="0" y="761"/>
                    <a:pt x="222" y="983"/>
                    <a:pt x="507" y="983"/>
                  </a:cubicBezTo>
                  <a:lnTo>
                    <a:pt x="4022" y="983"/>
                  </a:lnTo>
                  <a:cubicBezTo>
                    <a:pt x="4307" y="983"/>
                    <a:pt x="4529" y="761"/>
                    <a:pt x="4529" y="508"/>
                  </a:cubicBezTo>
                  <a:cubicBezTo>
                    <a:pt x="4529" y="223"/>
                    <a:pt x="4307" y="1"/>
                    <a:pt x="402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3"/>
            <p:cNvSpPr/>
            <p:nvPr/>
          </p:nvSpPr>
          <p:spPr>
            <a:xfrm>
              <a:off x="5794450" y="3891850"/>
              <a:ext cx="58625" cy="24575"/>
            </a:xfrm>
            <a:custGeom>
              <a:avLst/>
              <a:gdLst/>
              <a:ahLst/>
              <a:cxnLst/>
              <a:rect l="l" t="t" r="r" b="b"/>
              <a:pathLst>
                <a:path w="2345" h="983" extrusionOk="0">
                  <a:moveTo>
                    <a:pt x="507" y="1"/>
                  </a:moveTo>
                  <a:cubicBezTo>
                    <a:pt x="222" y="1"/>
                    <a:pt x="1" y="223"/>
                    <a:pt x="1" y="508"/>
                  </a:cubicBezTo>
                  <a:cubicBezTo>
                    <a:pt x="1" y="761"/>
                    <a:pt x="222" y="983"/>
                    <a:pt x="507" y="983"/>
                  </a:cubicBezTo>
                  <a:lnTo>
                    <a:pt x="1837" y="983"/>
                  </a:lnTo>
                  <a:cubicBezTo>
                    <a:pt x="2122" y="983"/>
                    <a:pt x="2344" y="761"/>
                    <a:pt x="2344" y="508"/>
                  </a:cubicBezTo>
                  <a:cubicBezTo>
                    <a:pt x="2344" y="223"/>
                    <a:pt x="2122" y="1"/>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5746150" y="3936200"/>
              <a:ext cx="121950" cy="25350"/>
            </a:xfrm>
            <a:custGeom>
              <a:avLst/>
              <a:gdLst/>
              <a:ahLst/>
              <a:cxnLst/>
              <a:rect l="l" t="t" r="r" b="b"/>
              <a:pathLst>
                <a:path w="4878" h="1014" extrusionOk="0">
                  <a:moveTo>
                    <a:pt x="476" y="0"/>
                  </a:moveTo>
                  <a:cubicBezTo>
                    <a:pt x="222" y="0"/>
                    <a:pt x="1" y="222"/>
                    <a:pt x="1" y="507"/>
                  </a:cubicBezTo>
                  <a:cubicBezTo>
                    <a:pt x="1" y="792"/>
                    <a:pt x="222" y="1014"/>
                    <a:pt x="476" y="1014"/>
                  </a:cubicBezTo>
                  <a:lnTo>
                    <a:pt x="4403" y="1014"/>
                  </a:lnTo>
                  <a:cubicBezTo>
                    <a:pt x="4656" y="1014"/>
                    <a:pt x="4878" y="792"/>
                    <a:pt x="4878" y="507"/>
                  </a:cubicBezTo>
                  <a:cubicBezTo>
                    <a:pt x="4878" y="222"/>
                    <a:pt x="4656" y="0"/>
                    <a:pt x="440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3"/>
            <p:cNvSpPr/>
            <p:nvPr/>
          </p:nvSpPr>
          <p:spPr>
            <a:xfrm>
              <a:off x="5552175" y="2762075"/>
              <a:ext cx="113250" cy="24575"/>
            </a:xfrm>
            <a:custGeom>
              <a:avLst/>
              <a:gdLst/>
              <a:ahLst/>
              <a:cxnLst/>
              <a:rect l="l" t="t" r="r" b="b"/>
              <a:pathLst>
                <a:path w="4530" h="983" extrusionOk="0">
                  <a:moveTo>
                    <a:pt x="507" y="0"/>
                  </a:moveTo>
                  <a:cubicBezTo>
                    <a:pt x="222" y="0"/>
                    <a:pt x="1" y="222"/>
                    <a:pt x="1" y="475"/>
                  </a:cubicBezTo>
                  <a:cubicBezTo>
                    <a:pt x="1" y="760"/>
                    <a:pt x="222" y="982"/>
                    <a:pt x="507" y="982"/>
                  </a:cubicBezTo>
                  <a:lnTo>
                    <a:pt x="4023" y="982"/>
                  </a:lnTo>
                  <a:cubicBezTo>
                    <a:pt x="4276" y="982"/>
                    <a:pt x="4529" y="760"/>
                    <a:pt x="4529" y="475"/>
                  </a:cubicBezTo>
                  <a:cubicBezTo>
                    <a:pt x="4529" y="222"/>
                    <a:pt x="4276" y="0"/>
                    <a:pt x="402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p:nvPr/>
          </p:nvSpPr>
          <p:spPr>
            <a:xfrm>
              <a:off x="5697075" y="2762075"/>
              <a:ext cx="58600" cy="24575"/>
            </a:xfrm>
            <a:custGeom>
              <a:avLst/>
              <a:gdLst/>
              <a:ahLst/>
              <a:cxnLst/>
              <a:rect l="l" t="t" r="r" b="b"/>
              <a:pathLst>
                <a:path w="2344" h="983" extrusionOk="0">
                  <a:moveTo>
                    <a:pt x="507" y="0"/>
                  </a:moveTo>
                  <a:cubicBezTo>
                    <a:pt x="222" y="0"/>
                    <a:pt x="0" y="222"/>
                    <a:pt x="0" y="475"/>
                  </a:cubicBezTo>
                  <a:cubicBezTo>
                    <a:pt x="0" y="760"/>
                    <a:pt x="222" y="982"/>
                    <a:pt x="507" y="982"/>
                  </a:cubicBezTo>
                  <a:lnTo>
                    <a:pt x="1837" y="982"/>
                  </a:lnTo>
                  <a:cubicBezTo>
                    <a:pt x="2122" y="982"/>
                    <a:pt x="2344" y="760"/>
                    <a:pt x="2344" y="475"/>
                  </a:cubicBezTo>
                  <a:cubicBezTo>
                    <a:pt x="2344" y="222"/>
                    <a:pt x="2122" y="0"/>
                    <a:pt x="1837"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5647975" y="2806400"/>
              <a:ext cx="122750" cy="25375"/>
            </a:xfrm>
            <a:custGeom>
              <a:avLst/>
              <a:gdLst/>
              <a:ahLst/>
              <a:cxnLst/>
              <a:rect l="l" t="t" r="r" b="b"/>
              <a:pathLst>
                <a:path w="4910" h="1015" extrusionOk="0">
                  <a:moveTo>
                    <a:pt x="507" y="1"/>
                  </a:moveTo>
                  <a:cubicBezTo>
                    <a:pt x="222" y="1"/>
                    <a:pt x="1" y="223"/>
                    <a:pt x="1" y="508"/>
                  </a:cubicBezTo>
                  <a:cubicBezTo>
                    <a:pt x="1" y="761"/>
                    <a:pt x="222" y="1014"/>
                    <a:pt x="507" y="1014"/>
                  </a:cubicBezTo>
                  <a:lnTo>
                    <a:pt x="4403" y="1014"/>
                  </a:lnTo>
                  <a:cubicBezTo>
                    <a:pt x="4688" y="1014"/>
                    <a:pt x="4909" y="793"/>
                    <a:pt x="4909" y="508"/>
                  </a:cubicBezTo>
                  <a:cubicBezTo>
                    <a:pt x="4909" y="223"/>
                    <a:pt x="4688" y="1"/>
                    <a:pt x="440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5753275" y="2773150"/>
              <a:ext cx="547125" cy="547100"/>
            </a:xfrm>
            <a:custGeom>
              <a:avLst/>
              <a:gdLst/>
              <a:ahLst/>
              <a:cxnLst/>
              <a:rect l="l" t="t" r="r" b="b"/>
              <a:pathLst>
                <a:path w="21885" h="21884" extrusionOk="0">
                  <a:moveTo>
                    <a:pt x="10927" y="983"/>
                  </a:moveTo>
                  <a:cubicBezTo>
                    <a:pt x="16437" y="983"/>
                    <a:pt x="20902" y="5448"/>
                    <a:pt x="20871" y="10927"/>
                  </a:cubicBezTo>
                  <a:cubicBezTo>
                    <a:pt x="20871" y="16437"/>
                    <a:pt x="16437" y="20902"/>
                    <a:pt x="10927" y="20902"/>
                  </a:cubicBezTo>
                  <a:cubicBezTo>
                    <a:pt x="5448" y="20902"/>
                    <a:pt x="982" y="16437"/>
                    <a:pt x="982" y="10927"/>
                  </a:cubicBezTo>
                  <a:cubicBezTo>
                    <a:pt x="982" y="5448"/>
                    <a:pt x="5448" y="983"/>
                    <a:pt x="10927" y="983"/>
                  </a:cubicBezTo>
                  <a:close/>
                  <a:moveTo>
                    <a:pt x="10927" y="1"/>
                  </a:moveTo>
                  <a:cubicBezTo>
                    <a:pt x="4909" y="1"/>
                    <a:pt x="1" y="4909"/>
                    <a:pt x="1" y="10958"/>
                  </a:cubicBezTo>
                  <a:cubicBezTo>
                    <a:pt x="1" y="16975"/>
                    <a:pt x="4909" y="21884"/>
                    <a:pt x="10927" y="21884"/>
                  </a:cubicBezTo>
                  <a:cubicBezTo>
                    <a:pt x="16975" y="21884"/>
                    <a:pt x="21884" y="16975"/>
                    <a:pt x="21884" y="10958"/>
                  </a:cubicBezTo>
                  <a:cubicBezTo>
                    <a:pt x="21884" y="4909"/>
                    <a:pt x="16975" y="1"/>
                    <a:pt x="1092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6012975" y="2804200"/>
              <a:ext cx="202700" cy="448775"/>
            </a:xfrm>
            <a:custGeom>
              <a:avLst/>
              <a:gdLst/>
              <a:ahLst/>
              <a:cxnLst/>
              <a:rect l="l" t="t" r="r" b="b"/>
              <a:pathLst>
                <a:path w="8108" h="17951" extrusionOk="0">
                  <a:moveTo>
                    <a:pt x="5510" y="0"/>
                  </a:moveTo>
                  <a:cubicBezTo>
                    <a:pt x="5335" y="0"/>
                    <a:pt x="5155" y="93"/>
                    <a:pt x="5067" y="247"/>
                  </a:cubicBezTo>
                  <a:lnTo>
                    <a:pt x="95" y="9463"/>
                  </a:lnTo>
                  <a:cubicBezTo>
                    <a:pt x="0" y="9653"/>
                    <a:pt x="32" y="9875"/>
                    <a:pt x="190" y="10033"/>
                  </a:cubicBezTo>
                  <a:lnTo>
                    <a:pt x="7189" y="17792"/>
                  </a:lnTo>
                  <a:cubicBezTo>
                    <a:pt x="7284" y="17887"/>
                    <a:pt x="7411" y="17950"/>
                    <a:pt x="7569" y="17950"/>
                  </a:cubicBezTo>
                  <a:cubicBezTo>
                    <a:pt x="7664" y="17950"/>
                    <a:pt x="7791" y="17918"/>
                    <a:pt x="7886" y="17823"/>
                  </a:cubicBezTo>
                  <a:cubicBezTo>
                    <a:pt x="8107" y="17633"/>
                    <a:pt x="8107" y="17317"/>
                    <a:pt x="7917" y="17127"/>
                  </a:cubicBezTo>
                  <a:lnTo>
                    <a:pt x="1172" y="9621"/>
                  </a:lnTo>
                  <a:lnTo>
                    <a:pt x="5954" y="722"/>
                  </a:lnTo>
                  <a:cubicBezTo>
                    <a:pt x="6081" y="501"/>
                    <a:pt x="5986" y="184"/>
                    <a:pt x="5732" y="57"/>
                  </a:cubicBezTo>
                  <a:cubicBezTo>
                    <a:pt x="5665" y="18"/>
                    <a:pt x="5588" y="0"/>
                    <a:pt x="551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5752500" y="3033625"/>
              <a:ext cx="287400" cy="38025"/>
            </a:xfrm>
            <a:custGeom>
              <a:avLst/>
              <a:gdLst/>
              <a:ahLst/>
              <a:cxnLst/>
              <a:rect l="l" t="t" r="r" b="b"/>
              <a:pathLst>
                <a:path w="11496" h="1521" extrusionOk="0">
                  <a:moveTo>
                    <a:pt x="10958" y="1"/>
                  </a:moveTo>
                  <a:lnTo>
                    <a:pt x="507" y="508"/>
                  </a:lnTo>
                  <a:cubicBezTo>
                    <a:pt x="222" y="539"/>
                    <a:pt x="0" y="761"/>
                    <a:pt x="32" y="1046"/>
                  </a:cubicBezTo>
                  <a:cubicBezTo>
                    <a:pt x="32" y="1331"/>
                    <a:pt x="253" y="1521"/>
                    <a:pt x="507" y="1521"/>
                  </a:cubicBezTo>
                  <a:lnTo>
                    <a:pt x="538" y="1521"/>
                  </a:lnTo>
                  <a:lnTo>
                    <a:pt x="10989" y="1014"/>
                  </a:lnTo>
                  <a:cubicBezTo>
                    <a:pt x="11274" y="1014"/>
                    <a:pt x="11496" y="761"/>
                    <a:pt x="11464" y="476"/>
                  </a:cubicBezTo>
                  <a:cubicBezTo>
                    <a:pt x="11464" y="223"/>
                    <a:pt x="11211" y="1"/>
                    <a:pt x="1095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p:nvPr/>
          </p:nvSpPr>
          <p:spPr>
            <a:xfrm>
              <a:off x="5476175" y="4097700"/>
              <a:ext cx="1068075" cy="25375"/>
            </a:xfrm>
            <a:custGeom>
              <a:avLst/>
              <a:gdLst/>
              <a:ahLst/>
              <a:cxnLst/>
              <a:rect l="l" t="t" r="r" b="b"/>
              <a:pathLst>
                <a:path w="42723" h="1015" extrusionOk="0">
                  <a:moveTo>
                    <a:pt x="476" y="1"/>
                  </a:moveTo>
                  <a:cubicBezTo>
                    <a:pt x="222" y="1"/>
                    <a:pt x="1" y="223"/>
                    <a:pt x="1" y="508"/>
                  </a:cubicBezTo>
                  <a:cubicBezTo>
                    <a:pt x="1" y="793"/>
                    <a:pt x="222" y="1014"/>
                    <a:pt x="476" y="1014"/>
                  </a:cubicBezTo>
                  <a:lnTo>
                    <a:pt x="42215" y="1014"/>
                  </a:lnTo>
                  <a:cubicBezTo>
                    <a:pt x="42500" y="1014"/>
                    <a:pt x="42722" y="793"/>
                    <a:pt x="42722" y="508"/>
                  </a:cubicBezTo>
                  <a:cubicBezTo>
                    <a:pt x="42722" y="223"/>
                    <a:pt x="42500" y="1"/>
                    <a:pt x="422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6432575" y="2697950"/>
              <a:ext cx="70500" cy="69700"/>
            </a:xfrm>
            <a:custGeom>
              <a:avLst/>
              <a:gdLst/>
              <a:ahLst/>
              <a:cxnLst/>
              <a:rect l="l" t="t" r="r" b="b"/>
              <a:pathLst>
                <a:path w="2820" h="2788" extrusionOk="0">
                  <a:moveTo>
                    <a:pt x="2154" y="665"/>
                  </a:moveTo>
                  <a:lnTo>
                    <a:pt x="2154" y="2122"/>
                  </a:lnTo>
                  <a:lnTo>
                    <a:pt x="666" y="2122"/>
                  </a:lnTo>
                  <a:lnTo>
                    <a:pt x="666" y="665"/>
                  </a:lnTo>
                  <a:close/>
                  <a:moveTo>
                    <a:pt x="349" y="0"/>
                  </a:moveTo>
                  <a:cubicBezTo>
                    <a:pt x="159" y="0"/>
                    <a:pt x="1" y="127"/>
                    <a:pt x="1" y="317"/>
                  </a:cubicBezTo>
                  <a:lnTo>
                    <a:pt x="1" y="2470"/>
                  </a:lnTo>
                  <a:cubicBezTo>
                    <a:pt x="1" y="2629"/>
                    <a:pt x="159" y="2787"/>
                    <a:pt x="349" y="2787"/>
                  </a:cubicBezTo>
                  <a:lnTo>
                    <a:pt x="2471" y="2787"/>
                  </a:lnTo>
                  <a:cubicBezTo>
                    <a:pt x="2661" y="2787"/>
                    <a:pt x="2819" y="2629"/>
                    <a:pt x="2819" y="2470"/>
                  </a:cubicBezTo>
                  <a:lnTo>
                    <a:pt x="2819" y="317"/>
                  </a:lnTo>
                  <a:cubicBezTo>
                    <a:pt x="2819" y="127"/>
                    <a:pt x="2661" y="0"/>
                    <a:pt x="2471"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5565650" y="3215725"/>
              <a:ext cx="68100" cy="68125"/>
            </a:xfrm>
            <a:custGeom>
              <a:avLst/>
              <a:gdLst/>
              <a:ahLst/>
              <a:cxnLst/>
              <a:rect l="l" t="t" r="r" b="b"/>
              <a:pathLst>
                <a:path w="2724" h="2725" extrusionOk="0">
                  <a:moveTo>
                    <a:pt x="2027" y="666"/>
                  </a:moveTo>
                  <a:lnTo>
                    <a:pt x="2027" y="2059"/>
                  </a:lnTo>
                  <a:lnTo>
                    <a:pt x="665" y="2059"/>
                  </a:lnTo>
                  <a:lnTo>
                    <a:pt x="665" y="666"/>
                  </a:lnTo>
                  <a:close/>
                  <a:moveTo>
                    <a:pt x="317" y="1"/>
                  </a:moveTo>
                  <a:cubicBezTo>
                    <a:pt x="127" y="1"/>
                    <a:pt x="0" y="159"/>
                    <a:pt x="0" y="349"/>
                  </a:cubicBezTo>
                  <a:lnTo>
                    <a:pt x="0" y="2408"/>
                  </a:lnTo>
                  <a:cubicBezTo>
                    <a:pt x="0" y="2566"/>
                    <a:pt x="127" y="2724"/>
                    <a:pt x="317" y="2724"/>
                  </a:cubicBezTo>
                  <a:lnTo>
                    <a:pt x="2375" y="2724"/>
                  </a:lnTo>
                  <a:cubicBezTo>
                    <a:pt x="2565" y="2724"/>
                    <a:pt x="2724" y="2566"/>
                    <a:pt x="2692" y="2408"/>
                  </a:cubicBezTo>
                  <a:lnTo>
                    <a:pt x="2692" y="349"/>
                  </a:lnTo>
                  <a:cubicBezTo>
                    <a:pt x="2692" y="159"/>
                    <a:pt x="2565" y="1"/>
                    <a:pt x="237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6265525" y="3410500"/>
              <a:ext cx="182125" cy="75225"/>
            </a:xfrm>
            <a:custGeom>
              <a:avLst/>
              <a:gdLst/>
              <a:ahLst/>
              <a:cxnLst/>
              <a:rect l="l" t="t" r="r" b="b"/>
              <a:pathLst>
                <a:path w="7285" h="3009" extrusionOk="0">
                  <a:moveTo>
                    <a:pt x="6619" y="665"/>
                  </a:moveTo>
                  <a:lnTo>
                    <a:pt x="6619" y="2344"/>
                  </a:lnTo>
                  <a:lnTo>
                    <a:pt x="666" y="2344"/>
                  </a:lnTo>
                  <a:lnTo>
                    <a:pt x="666" y="665"/>
                  </a:lnTo>
                  <a:close/>
                  <a:moveTo>
                    <a:pt x="349" y="0"/>
                  </a:moveTo>
                  <a:cubicBezTo>
                    <a:pt x="159" y="0"/>
                    <a:pt x="1" y="159"/>
                    <a:pt x="1" y="349"/>
                  </a:cubicBezTo>
                  <a:lnTo>
                    <a:pt x="1" y="2660"/>
                  </a:lnTo>
                  <a:cubicBezTo>
                    <a:pt x="1" y="2850"/>
                    <a:pt x="159" y="3009"/>
                    <a:pt x="349" y="3009"/>
                  </a:cubicBezTo>
                  <a:lnTo>
                    <a:pt x="6936" y="3009"/>
                  </a:lnTo>
                  <a:cubicBezTo>
                    <a:pt x="7126" y="3009"/>
                    <a:pt x="7285" y="2850"/>
                    <a:pt x="7285" y="2660"/>
                  </a:cubicBezTo>
                  <a:lnTo>
                    <a:pt x="7285" y="349"/>
                  </a:lnTo>
                  <a:cubicBezTo>
                    <a:pt x="7285" y="159"/>
                    <a:pt x="7126" y="0"/>
                    <a:pt x="6936"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5517350" y="4004275"/>
              <a:ext cx="148875" cy="74450"/>
            </a:xfrm>
            <a:custGeom>
              <a:avLst/>
              <a:gdLst/>
              <a:ahLst/>
              <a:cxnLst/>
              <a:rect l="l" t="t" r="r" b="b"/>
              <a:pathLst>
                <a:path w="5955" h="2978" extrusionOk="0">
                  <a:moveTo>
                    <a:pt x="5289" y="666"/>
                  </a:moveTo>
                  <a:lnTo>
                    <a:pt x="5289" y="2313"/>
                  </a:lnTo>
                  <a:lnTo>
                    <a:pt x="665" y="2313"/>
                  </a:lnTo>
                  <a:lnTo>
                    <a:pt x="665" y="666"/>
                  </a:lnTo>
                  <a:close/>
                  <a:moveTo>
                    <a:pt x="349" y="1"/>
                  </a:moveTo>
                  <a:cubicBezTo>
                    <a:pt x="159" y="1"/>
                    <a:pt x="0" y="128"/>
                    <a:pt x="0" y="318"/>
                  </a:cubicBezTo>
                  <a:lnTo>
                    <a:pt x="0" y="2629"/>
                  </a:lnTo>
                  <a:cubicBezTo>
                    <a:pt x="0" y="2819"/>
                    <a:pt x="159" y="2978"/>
                    <a:pt x="349" y="2978"/>
                  </a:cubicBezTo>
                  <a:lnTo>
                    <a:pt x="5606" y="2978"/>
                  </a:lnTo>
                  <a:cubicBezTo>
                    <a:pt x="5796" y="2978"/>
                    <a:pt x="5954" y="2819"/>
                    <a:pt x="5954" y="2629"/>
                  </a:cubicBezTo>
                  <a:lnTo>
                    <a:pt x="5954" y="318"/>
                  </a:lnTo>
                  <a:cubicBezTo>
                    <a:pt x="5954" y="128"/>
                    <a:pt x="5796" y="1"/>
                    <a:pt x="560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5697850" y="4004275"/>
              <a:ext cx="87125" cy="74450"/>
            </a:xfrm>
            <a:custGeom>
              <a:avLst/>
              <a:gdLst/>
              <a:ahLst/>
              <a:cxnLst/>
              <a:rect l="l" t="t" r="r" b="b"/>
              <a:pathLst>
                <a:path w="3485" h="2978" extrusionOk="0">
                  <a:moveTo>
                    <a:pt x="2819" y="666"/>
                  </a:moveTo>
                  <a:lnTo>
                    <a:pt x="2819" y="2313"/>
                  </a:lnTo>
                  <a:lnTo>
                    <a:pt x="666" y="2313"/>
                  </a:lnTo>
                  <a:lnTo>
                    <a:pt x="666" y="666"/>
                  </a:lnTo>
                  <a:close/>
                  <a:moveTo>
                    <a:pt x="318" y="1"/>
                  </a:moveTo>
                  <a:cubicBezTo>
                    <a:pt x="159" y="1"/>
                    <a:pt x="1" y="128"/>
                    <a:pt x="1" y="318"/>
                  </a:cubicBezTo>
                  <a:lnTo>
                    <a:pt x="1" y="2629"/>
                  </a:lnTo>
                  <a:cubicBezTo>
                    <a:pt x="1" y="2819"/>
                    <a:pt x="159" y="2978"/>
                    <a:pt x="318" y="2978"/>
                  </a:cubicBezTo>
                  <a:lnTo>
                    <a:pt x="3136" y="2978"/>
                  </a:lnTo>
                  <a:cubicBezTo>
                    <a:pt x="3326" y="2978"/>
                    <a:pt x="3484" y="2819"/>
                    <a:pt x="3484" y="2629"/>
                  </a:cubicBezTo>
                  <a:lnTo>
                    <a:pt x="3484" y="318"/>
                  </a:lnTo>
                  <a:cubicBezTo>
                    <a:pt x="3484" y="128"/>
                    <a:pt x="3326" y="1"/>
                    <a:pt x="313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6430200" y="4004275"/>
              <a:ext cx="57825" cy="57050"/>
            </a:xfrm>
            <a:custGeom>
              <a:avLst/>
              <a:gdLst/>
              <a:ahLst/>
              <a:cxnLst/>
              <a:rect l="l" t="t" r="r" b="b"/>
              <a:pathLst>
                <a:path w="2313" h="2282" extrusionOk="0">
                  <a:moveTo>
                    <a:pt x="1648" y="666"/>
                  </a:moveTo>
                  <a:lnTo>
                    <a:pt x="1648" y="1616"/>
                  </a:lnTo>
                  <a:lnTo>
                    <a:pt x="698" y="1616"/>
                  </a:lnTo>
                  <a:lnTo>
                    <a:pt x="698" y="666"/>
                  </a:lnTo>
                  <a:close/>
                  <a:moveTo>
                    <a:pt x="349" y="1"/>
                  </a:moveTo>
                  <a:cubicBezTo>
                    <a:pt x="159" y="1"/>
                    <a:pt x="1" y="128"/>
                    <a:pt x="1" y="318"/>
                  </a:cubicBezTo>
                  <a:lnTo>
                    <a:pt x="1" y="1964"/>
                  </a:lnTo>
                  <a:cubicBezTo>
                    <a:pt x="1" y="2123"/>
                    <a:pt x="159" y="2281"/>
                    <a:pt x="349" y="2281"/>
                  </a:cubicBezTo>
                  <a:lnTo>
                    <a:pt x="1964" y="2281"/>
                  </a:lnTo>
                  <a:cubicBezTo>
                    <a:pt x="2154" y="2281"/>
                    <a:pt x="2313" y="2123"/>
                    <a:pt x="2313" y="1964"/>
                  </a:cubicBezTo>
                  <a:lnTo>
                    <a:pt x="2313" y="318"/>
                  </a:lnTo>
                  <a:cubicBezTo>
                    <a:pt x="2313" y="128"/>
                    <a:pt x="2154" y="1"/>
                    <a:pt x="1964"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p:nvPr/>
          </p:nvSpPr>
          <p:spPr>
            <a:xfrm>
              <a:off x="3492900" y="3838025"/>
              <a:ext cx="2062475" cy="228050"/>
            </a:xfrm>
            <a:custGeom>
              <a:avLst/>
              <a:gdLst/>
              <a:ahLst/>
              <a:cxnLst/>
              <a:rect l="l" t="t" r="r" b="b"/>
              <a:pathLst>
                <a:path w="82499" h="9122" extrusionOk="0">
                  <a:moveTo>
                    <a:pt x="1" y="0"/>
                  </a:moveTo>
                  <a:lnTo>
                    <a:pt x="1" y="5004"/>
                  </a:lnTo>
                  <a:cubicBezTo>
                    <a:pt x="1" y="7284"/>
                    <a:pt x="1837" y="9121"/>
                    <a:pt x="4118" y="9121"/>
                  </a:cubicBezTo>
                  <a:lnTo>
                    <a:pt x="78350" y="9121"/>
                  </a:lnTo>
                  <a:cubicBezTo>
                    <a:pt x="80630" y="9121"/>
                    <a:pt x="82498" y="7284"/>
                    <a:pt x="82498" y="5004"/>
                  </a:cubicBezTo>
                  <a:lnTo>
                    <a:pt x="82498"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3"/>
            <p:cNvSpPr/>
            <p:nvPr/>
          </p:nvSpPr>
          <p:spPr>
            <a:xfrm>
              <a:off x="3492900" y="2784250"/>
              <a:ext cx="2061675" cy="1053800"/>
            </a:xfrm>
            <a:custGeom>
              <a:avLst/>
              <a:gdLst/>
              <a:ahLst/>
              <a:cxnLst/>
              <a:rect l="l" t="t" r="r" b="b"/>
              <a:pathLst>
                <a:path w="82467" h="42152" extrusionOk="0">
                  <a:moveTo>
                    <a:pt x="4118" y="0"/>
                  </a:moveTo>
                  <a:cubicBezTo>
                    <a:pt x="1837" y="0"/>
                    <a:pt x="1" y="1837"/>
                    <a:pt x="1" y="4117"/>
                  </a:cubicBezTo>
                  <a:lnTo>
                    <a:pt x="1" y="42151"/>
                  </a:lnTo>
                  <a:lnTo>
                    <a:pt x="82467" y="42151"/>
                  </a:lnTo>
                  <a:lnTo>
                    <a:pt x="82467" y="4117"/>
                  </a:lnTo>
                  <a:cubicBezTo>
                    <a:pt x="82467" y="1837"/>
                    <a:pt x="80630" y="0"/>
                    <a:pt x="7835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p:nvPr/>
          </p:nvSpPr>
          <p:spPr>
            <a:xfrm>
              <a:off x="4313125" y="4066050"/>
              <a:ext cx="437850" cy="106900"/>
            </a:xfrm>
            <a:custGeom>
              <a:avLst/>
              <a:gdLst/>
              <a:ahLst/>
              <a:cxnLst/>
              <a:rect l="l" t="t" r="r" b="b"/>
              <a:pathLst>
                <a:path w="17514" h="4276" extrusionOk="0">
                  <a:moveTo>
                    <a:pt x="1" y="0"/>
                  </a:moveTo>
                  <a:lnTo>
                    <a:pt x="8425" y="2059"/>
                  </a:lnTo>
                  <a:lnTo>
                    <a:pt x="17514" y="4275"/>
                  </a:lnTo>
                  <a:cubicBezTo>
                    <a:pt x="17102" y="3040"/>
                    <a:pt x="16849" y="1647"/>
                    <a:pt x="1684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p:nvPr/>
          </p:nvSpPr>
          <p:spPr>
            <a:xfrm>
              <a:off x="4103325" y="4066050"/>
              <a:ext cx="841625" cy="291375"/>
            </a:xfrm>
            <a:custGeom>
              <a:avLst/>
              <a:gdLst/>
              <a:ahLst/>
              <a:cxnLst/>
              <a:rect l="l" t="t" r="r" b="b"/>
              <a:pathLst>
                <a:path w="33665" h="11655" extrusionOk="0">
                  <a:moveTo>
                    <a:pt x="8393" y="0"/>
                  </a:moveTo>
                  <a:cubicBezTo>
                    <a:pt x="8393" y="9596"/>
                    <a:pt x="0" y="11654"/>
                    <a:pt x="0" y="11654"/>
                  </a:cubicBezTo>
                  <a:lnTo>
                    <a:pt x="33665" y="11654"/>
                  </a:lnTo>
                  <a:cubicBezTo>
                    <a:pt x="33665" y="11654"/>
                    <a:pt x="27869" y="10229"/>
                    <a:pt x="25906" y="4275"/>
                  </a:cubicBezTo>
                  <a:lnTo>
                    <a:pt x="16817" y="2059"/>
                  </a:lnTo>
                  <a:lnTo>
                    <a:pt x="8393"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4098575" y="4344725"/>
              <a:ext cx="850325" cy="71275"/>
            </a:xfrm>
            <a:custGeom>
              <a:avLst/>
              <a:gdLst/>
              <a:ahLst/>
              <a:cxnLst/>
              <a:rect l="l" t="t" r="r" b="b"/>
              <a:pathLst>
                <a:path w="34013" h="2851" extrusionOk="0">
                  <a:moveTo>
                    <a:pt x="1045" y="1"/>
                  </a:moveTo>
                  <a:cubicBezTo>
                    <a:pt x="475" y="1"/>
                    <a:pt x="0" y="476"/>
                    <a:pt x="0" y="1046"/>
                  </a:cubicBezTo>
                  <a:lnTo>
                    <a:pt x="0" y="1806"/>
                  </a:lnTo>
                  <a:cubicBezTo>
                    <a:pt x="0" y="2376"/>
                    <a:pt x="475" y="2851"/>
                    <a:pt x="1045" y="2851"/>
                  </a:cubicBezTo>
                  <a:lnTo>
                    <a:pt x="32968" y="2851"/>
                  </a:lnTo>
                  <a:cubicBezTo>
                    <a:pt x="33538" y="2851"/>
                    <a:pt x="34013" y="2376"/>
                    <a:pt x="34013" y="1806"/>
                  </a:cubicBezTo>
                  <a:lnTo>
                    <a:pt x="34013" y="1046"/>
                  </a:lnTo>
                  <a:cubicBezTo>
                    <a:pt x="34013" y="476"/>
                    <a:pt x="33538" y="1"/>
                    <a:pt x="329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2780350" y="3284150"/>
              <a:ext cx="666650" cy="397925"/>
            </a:xfrm>
            <a:custGeom>
              <a:avLst/>
              <a:gdLst/>
              <a:ahLst/>
              <a:cxnLst/>
              <a:rect l="l" t="t" r="r" b="b"/>
              <a:pathLst>
                <a:path w="26666" h="15917" extrusionOk="0">
                  <a:moveTo>
                    <a:pt x="23392" y="0"/>
                  </a:moveTo>
                  <a:cubicBezTo>
                    <a:pt x="23034" y="0"/>
                    <a:pt x="22670" y="78"/>
                    <a:pt x="22327" y="241"/>
                  </a:cubicBezTo>
                  <a:lnTo>
                    <a:pt x="1711" y="10470"/>
                  </a:lnTo>
                  <a:cubicBezTo>
                    <a:pt x="507" y="11040"/>
                    <a:pt x="0" y="12496"/>
                    <a:pt x="602" y="13700"/>
                  </a:cubicBezTo>
                  <a:lnTo>
                    <a:pt x="1711" y="15917"/>
                  </a:lnTo>
                  <a:lnTo>
                    <a:pt x="26666" y="3566"/>
                  </a:lnTo>
                  <a:lnTo>
                    <a:pt x="25589" y="1349"/>
                  </a:lnTo>
                  <a:cubicBezTo>
                    <a:pt x="25159" y="489"/>
                    <a:pt x="24292" y="0"/>
                    <a:pt x="2339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2823100" y="3373275"/>
              <a:ext cx="950100" cy="969100"/>
            </a:xfrm>
            <a:custGeom>
              <a:avLst/>
              <a:gdLst/>
              <a:ahLst/>
              <a:cxnLst/>
              <a:rect l="l" t="t" r="r" b="b"/>
              <a:pathLst>
                <a:path w="38004" h="38764" extrusionOk="0">
                  <a:moveTo>
                    <a:pt x="24956" y="1"/>
                  </a:moveTo>
                  <a:lnTo>
                    <a:pt x="1" y="12352"/>
                  </a:lnTo>
                  <a:lnTo>
                    <a:pt x="13048" y="38764"/>
                  </a:lnTo>
                  <a:lnTo>
                    <a:pt x="38003" y="26413"/>
                  </a:lnTo>
                  <a:lnTo>
                    <a:pt x="24956"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3149300" y="4032775"/>
              <a:ext cx="674575" cy="414925"/>
            </a:xfrm>
            <a:custGeom>
              <a:avLst/>
              <a:gdLst/>
              <a:ahLst/>
              <a:cxnLst/>
              <a:rect l="l" t="t" r="r" b="b"/>
              <a:pathLst>
                <a:path w="26983" h="16597" extrusionOk="0">
                  <a:moveTo>
                    <a:pt x="24987" y="1"/>
                  </a:moveTo>
                  <a:lnTo>
                    <a:pt x="0" y="12384"/>
                  </a:lnTo>
                  <a:lnTo>
                    <a:pt x="1425" y="15234"/>
                  </a:lnTo>
                  <a:cubicBezTo>
                    <a:pt x="1854" y="16092"/>
                    <a:pt x="2719" y="16596"/>
                    <a:pt x="3616" y="16596"/>
                  </a:cubicBezTo>
                  <a:cubicBezTo>
                    <a:pt x="3976" y="16596"/>
                    <a:pt x="4342" y="16515"/>
                    <a:pt x="4687" y="16342"/>
                  </a:cubicBezTo>
                  <a:lnTo>
                    <a:pt x="25304" y="6145"/>
                  </a:lnTo>
                  <a:cubicBezTo>
                    <a:pt x="26507" y="5543"/>
                    <a:pt x="26982" y="4086"/>
                    <a:pt x="26412" y="2883"/>
                  </a:cubicBezTo>
                  <a:lnTo>
                    <a:pt x="24987"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3"/>
            <p:cNvSpPr/>
            <p:nvPr/>
          </p:nvSpPr>
          <p:spPr>
            <a:xfrm>
              <a:off x="3043200" y="3436475"/>
              <a:ext cx="129075" cy="73150"/>
            </a:xfrm>
            <a:custGeom>
              <a:avLst/>
              <a:gdLst/>
              <a:ahLst/>
              <a:cxnLst/>
              <a:rect l="l" t="t" r="r" b="b"/>
              <a:pathLst>
                <a:path w="5163" h="2926" extrusionOk="0">
                  <a:moveTo>
                    <a:pt x="4691" y="1"/>
                  </a:moveTo>
                  <a:cubicBezTo>
                    <a:pt x="4636" y="1"/>
                    <a:pt x="4580" y="13"/>
                    <a:pt x="4529" y="38"/>
                  </a:cubicBezTo>
                  <a:lnTo>
                    <a:pt x="286" y="2160"/>
                  </a:lnTo>
                  <a:cubicBezTo>
                    <a:pt x="96" y="2255"/>
                    <a:pt x="1" y="2476"/>
                    <a:pt x="96" y="2698"/>
                  </a:cubicBezTo>
                  <a:cubicBezTo>
                    <a:pt x="165" y="2837"/>
                    <a:pt x="319" y="2925"/>
                    <a:pt x="472" y="2925"/>
                  </a:cubicBezTo>
                  <a:cubicBezTo>
                    <a:pt x="528" y="2925"/>
                    <a:pt x="583" y="2914"/>
                    <a:pt x="634" y="2888"/>
                  </a:cubicBezTo>
                  <a:lnTo>
                    <a:pt x="4878" y="766"/>
                  </a:lnTo>
                  <a:cubicBezTo>
                    <a:pt x="5099" y="671"/>
                    <a:pt x="5163" y="418"/>
                    <a:pt x="5068" y="228"/>
                  </a:cubicBezTo>
                  <a:cubicBezTo>
                    <a:pt x="4998" y="89"/>
                    <a:pt x="4844" y="1"/>
                    <a:pt x="4691" y="1"/>
                  </a:cubicBezTo>
                  <a:close/>
                </a:path>
              </a:pathLst>
            </a:custGeom>
            <a:solidFill>
              <a:srgbClr val="2524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p:nvPr/>
          </p:nvSpPr>
          <p:spPr>
            <a:xfrm>
              <a:off x="3424825" y="4200850"/>
              <a:ext cx="148075" cy="97975"/>
            </a:xfrm>
            <a:custGeom>
              <a:avLst/>
              <a:gdLst/>
              <a:ahLst/>
              <a:cxnLst/>
              <a:rect l="l" t="t" r="r" b="b"/>
              <a:pathLst>
                <a:path w="5923" h="3919" extrusionOk="0">
                  <a:moveTo>
                    <a:pt x="4624" y="340"/>
                  </a:moveTo>
                  <a:cubicBezTo>
                    <a:pt x="4909" y="340"/>
                    <a:pt x="5194" y="498"/>
                    <a:pt x="5352" y="783"/>
                  </a:cubicBezTo>
                  <a:cubicBezTo>
                    <a:pt x="5542" y="1195"/>
                    <a:pt x="5384" y="1670"/>
                    <a:pt x="4972" y="1860"/>
                  </a:cubicBezTo>
                  <a:lnTo>
                    <a:pt x="1678" y="3507"/>
                  </a:lnTo>
                  <a:cubicBezTo>
                    <a:pt x="1562" y="3561"/>
                    <a:pt x="1440" y="3587"/>
                    <a:pt x="1320" y="3587"/>
                  </a:cubicBezTo>
                  <a:cubicBezTo>
                    <a:pt x="1018" y="3587"/>
                    <a:pt x="729" y="3422"/>
                    <a:pt x="570" y="3127"/>
                  </a:cubicBezTo>
                  <a:cubicBezTo>
                    <a:pt x="380" y="2747"/>
                    <a:pt x="538" y="2240"/>
                    <a:pt x="950" y="2050"/>
                  </a:cubicBezTo>
                  <a:lnTo>
                    <a:pt x="4244" y="403"/>
                  </a:lnTo>
                  <a:cubicBezTo>
                    <a:pt x="4370" y="372"/>
                    <a:pt x="4497" y="340"/>
                    <a:pt x="4624" y="340"/>
                  </a:cubicBezTo>
                  <a:close/>
                  <a:moveTo>
                    <a:pt x="4614" y="0"/>
                  </a:moveTo>
                  <a:cubicBezTo>
                    <a:pt x="4448" y="0"/>
                    <a:pt x="4279" y="38"/>
                    <a:pt x="4117" y="118"/>
                  </a:cubicBezTo>
                  <a:lnTo>
                    <a:pt x="823" y="1765"/>
                  </a:lnTo>
                  <a:cubicBezTo>
                    <a:pt x="253" y="2019"/>
                    <a:pt x="0" y="2715"/>
                    <a:pt x="285" y="3285"/>
                  </a:cubicBezTo>
                  <a:cubicBezTo>
                    <a:pt x="475" y="3697"/>
                    <a:pt x="887" y="3919"/>
                    <a:pt x="1330" y="3919"/>
                  </a:cubicBezTo>
                  <a:cubicBezTo>
                    <a:pt x="1488" y="3919"/>
                    <a:pt x="1678" y="3887"/>
                    <a:pt x="1837" y="3792"/>
                  </a:cubicBezTo>
                  <a:lnTo>
                    <a:pt x="5130" y="2177"/>
                  </a:lnTo>
                  <a:cubicBezTo>
                    <a:pt x="5700" y="1892"/>
                    <a:pt x="5922" y="1195"/>
                    <a:pt x="5637" y="625"/>
                  </a:cubicBezTo>
                  <a:cubicBezTo>
                    <a:pt x="5433" y="239"/>
                    <a:pt x="5034" y="0"/>
                    <a:pt x="4614" y="0"/>
                  </a:cubicBezTo>
                  <a:close/>
                </a:path>
              </a:pathLst>
            </a:custGeom>
            <a:solidFill>
              <a:srgbClr val="2524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3085150" y="3823775"/>
              <a:ext cx="149675" cy="126700"/>
            </a:xfrm>
            <a:custGeom>
              <a:avLst/>
              <a:gdLst/>
              <a:ahLst/>
              <a:cxnLst/>
              <a:rect l="l" t="t" r="r" b="b"/>
              <a:pathLst>
                <a:path w="5987" h="5068" extrusionOk="0">
                  <a:moveTo>
                    <a:pt x="3770" y="0"/>
                  </a:moveTo>
                  <a:lnTo>
                    <a:pt x="1" y="3959"/>
                  </a:lnTo>
                  <a:lnTo>
                    <a:pt x="539" y="5067"/>
                  </a:lnTo>
                  <a:lnTo>
                    <a:pt x="5986" y="4497"/>
                  </a:lnTo>
                  <a:lnTo>
                    <a:pt x="5448" y="3389"/>
                  </a:lnTo>
                  <a:lnTo>
                    <a:pt x="1711" y="3801"/>
                  </a:lnTo>
                  <a:lnTo>
                    <a:pt x="4308" y="1109"/>
                  </a:lnTo>
                  <a:lnTo>
                    <a:pt x="3770"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3259350" y="3683625"/>
              <a:ext cx="58600" cy="311975"/>
            </a:xfrm>
            <a:custGeom>
              <a:avLst/>
              <a:gdLst/>
              <a:ahLst/>
              <a:cxnLst/>
              <a:rect l="l" t="t" r="r" b="b"/>
              <a:pathLst>
                <a:path w="2344" h="12479" extrusionOk="0">
                  <a:moveTo>
                    <a:pt x="1330" y="1"/>
                  </a:moveTo>
                  <a:lnTo>
                    <a:pt x="0" y="666"/>
                  </a:lnTo>
                  <a:lnTo>
                    <a:pt x="982" y="12479"/>
                  </a:lnTo>
                  <a:lnTo>
                    <a:pt x="2344" y="11813"/>
                  </a:lnTo>
                  <a:lnTo>
                    <a:pt x="1330" y="1"/>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3342475" y="3728775"/>
              <a:ext cx="149650" cy="126700"/>
            </a:xfrm>
            <a:custGeom>
              <a:avLst/>
              <a:gdLst/>
              <a:ahLst/>
              <a:cxnLst/>
              <a:rect l="l" t="t" r="r" b="b"/>
              <a:pathLst>
                <a:path w="5986" h="5068" extrusionOk="0">
                  <a:moveTo>
                    <a:pt x="5416" y="0"/>
                  </a:moveTo>
                  <a:lnTo>
                    <a:pt x="0" y="570"/>
                  </a:lnTo>
                  <a:lnTo>
                    <a:pt x="539" y="1710"/>
                  </a:lnTo>
                  <a:lnTo>
                    <a:pt x="4276" y="1267"/>
                  </a:lnTo>
                  <a:lnTo>
                    <a:pt x="1647" y="3959"/>
                  </a:lnTo>
                  <a:lnTo>
                    <a:pt x="2217" y="5067"/>
                  </a:lnTo>
                  <a:lnTo>
                    <a:pt x="5986" y="1109"/>
                  </a:lnTo>
                  <a:lnTo>
                    <a:pt x="5416"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3644925" y="3248200"/>
              <a:ext cx="1771100" cy="341250"/>
            </a:xfrm>
            <a:custGeom>
              <a:avLst/>
              <a:gdLst/>
              <a:ahLst/>
              <a:cxnLst/>
              <a:rect l="l" t="t" r="r" b="b"/>
              <a:pathLst>
                <a:path w="70844" h="13650" extrusionOk="0">
                  <a:moveTo>
                    <a:pt x="23340" y="0"/>
                  </a:moveTo>
                  <a:cubicBezTo>
                    <a:pt x="21123" y="0"/>
                    <a:pt x="19001" y="887"/>
                    <a:pt x="17418" y="2470"/>
                  </a:cubicBezTo>
                  <a:lnTo>
                    <a:pt x="9374" y="10483"/>
                  </a:lnTo>
                  <a:cubicBezTo>
                    <a:pt x="8012" y="11876"/>
                    <a:pt x="6144" y="12668"/>
                    <a:pt x="4180" y="12668"/>
                  </a:cubicBezTo>
                  <a:lnTo>
                    <a:pt x="0" y="12668"/>
                  </a:lnTo>
                  <a:lnTo>
                    <a:pt x="0" y="13649"/>
                  </a:lnTo>
                  <a:lnTo>
                    <a:pt x="4180" y="13649"/>
                  </a:lnTo>
                  <a:cubicBezTo>
                    <a:pt x="6429" y="13649"/>
                    <a:pt x="8519" y="12794"/>
                    <a:pt x="10102" y="11211"/>
                  </a:cubicBezTo>
                  <a:lnTo>
                    <a:pt x="18146" y="3167"/>
                  </a:lnTo>
                  <a:cubicBezTo>
                    <a:pt x="19571" y="1726"/>
                    <a:pt x="21456" y="1006"/>
                    <a:pt x="23344" y="1006"/>
                  </a:cubicBezTo>
                  <a:cubicBezTo>
                    <a:pt x="25232" y="1006"/>
                    <a:pt x="27125" y="1726"/>
                    <a:pt x="28566" y="3167"/>
                  </a:cubicBezTo>
                  <a:lnTo>
                    <a:pt x="32841" y="7474"/>
                  </a:lnTo>
                  <a:cubicBezTo>
                    <a:pt x="34424" y="9057"/>
                    <a:pt x="36546" y="9912"/>
                    <a:pt x="38763" y="9912"/>
                  </a:cubicBezTo>
                  <a:cubicBezTo>
                    <a:pt x="41011" y="9912"/>
                    <a:pt x="43102" y="9057"/>
                    <a:pt x="44685" y="7474"/>
                  </a:cubicBezTo>
                  <a:cubicBezTo>
                    <a:pt x="46079" y="6081"/>
                    <a:pt x="47947" y="5320"/>
                    <a:pt x="49910" y="5320"/>
                  </a:cubicBezTo>
                  <a:cubicBezTo>
                    <a:pt x="51874" y="5320"/>
                    <a:pt x="53711" y="6081"/>
                    <a:pt x="55104" y="7474"/>
                  </a:cubicBezTo>
                  <a:lnTo>
                    <a:pt x="55706" y="8076"/>
                  </a:lnTo>
                  <a:cubicBezTo>
                    <a:pt x="57337" y="9707"/>
                    <a:pt x="59482" y="10522"/>
                    <a:pt x="61628" y="10522"/>
                  </a:cubicBezTo>
                  <a:cubicBezTo>
                    <a:pt x="63774" y="10522"/>
                    <a:pt x="65919" y="9707"/>
                    <a:pt x="67550" y="8076"/>
                  </a:cubicBezTo>
                  <a:lnTo>
                    <a:pt x="70844" y="4782"/>
                  </a:lnTo>
                  <a:lnTo>
                    <a:pt x="70147" y="4054"/>
                  </a:lnTo>
                  <a:lnTo>
                    <a:pt x="66853" y="7379"/>
                  </a:lnTo>
                  <a:cubicBezTo>
                    <a:pt x="65412" y="8804"/>
                    <a:pt x="63528" y="9517"/>
                    <a:pt x="61644" y="9517"/>
                  </a:cubicBezTo>
                  <a:cubicBezTo>
                    <a:pt x="59760" y="9517"/>
                    <a:pt x="57875" y="8804"/>
                    <a:pt x="56434" y="7379"/>
                  </a:cubicBezTo>
                  <a:lnTo>
                    <a:pt x="55833" y="6746"/>
                  </a:lnTo>
                  <a:cubicBezTo>
                    <a:pt x="54249" y="5194"/>
                    <a:pt x="52127" y="4307"/>
                    <a:pt x="49910" y="4307"/>
                  </a:cubicBezTo>
                  <a:cubicBezTo>
                    <a:pt x="47662" y="4307"/>
                    <a:pt x="45572" y="5194"/>
                    <a:pt x="43988" y="6777"/>
                  </a:cubicBezTo>
                  <a:cubicBezTo>
                    <a:pt x="42547" y="8202"/>
                    <a:pt x="40663" y="8915"/>
                    <a:pt x="38779" y="8915"/>
                  </a:cubicBezTo>
                  <a:cubicBezTo>
                    <a:pt x="36894" y="8915"/>
                    <a:pt x="35010" y="8202"/>
                    <a:pt x="33569" y="6777"/>
                  </a:cubicBezTo>
                  <a:lnTo>
                    <a:pt x="29262" y="2470"/>
                  </a:lnTo>
                  <a:cubicBezTo>
                    <a:pt x="27679" y="887"/>
                    <a:pt x="25589" y="0"/>
                    <a:pt x="2334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4161125" y="3203850"/>
              <a:ext cx="114025" cy="114025"/>
            </a:xfrm>
            <a:custGeom>
              <a:avLst/>
              <a:gdLst/>
              <a:ahLst/>
              <a:cxnLst/>
              <a:rect l="l" t="t" r="r" b="b"/>
              <a:pathLst>
                <a:path w="4561" h="4561" extrusionOk="0">
                  <a:moveTo>
                    <a:pt x="2280" y="349"/>
                  </a:moveTo>
                  <a:cubicBezTo>
                    <a:pt x="3325" y="349"/>
                    <a:pt x="4212" y="1204"/>
                    <a:pt x="4212" y="2281"/>
                  </a:cubicBezTo>
                  <a:cubicBezTo>
                    <a:pt x="4212" y="3358"/>
                    <a:pt x="3325" y="4213"/>
                    <a:pt x="2280" y="4213"/>
                  </a:cubicBezTo>
                  <a:cubicBezTo>
                    <a:pt x="1204" y="4213"/>
                    <a:pt x="317" y="3358"/>
                    <a:pt x="317" y="2281"/>
                  </a:cubicBezTo>
                  <a:cubicBezTo>
                    <a:pt x="317" y="1204"/>
                    <a:pt x="1204" y="349"/>
                    <a:pt x="2280" y="349"/>
                  </a:cubicBezTo>
                  <a:close/>
                  <a:moveTo>
                    <a:pt x="2280" y="1"/>
                  </a:moveTo>
                  <a:cubicBezTo>
                    <a:pt x="1014" y="1"/>
                    <a:pt x="0" y="1014"/>
                    <a:pt x="0" y="2281"/>
                  </a:cubicBezTo>
                  <a:cubicBezTo>
                    <a:pt x="0" y="3548"/>
                    <a:pt x="1014" y="4561"/>
                    <a:pt x="2280" y="4561"/>
                  </a:cubicBezTo>
                  <a:cubicBezTo>
                    <a:pt x="3516" y="4561"/>
                    <a:pt x="4561" y="3548"/>
                    <a:pt x="4561" y="2281"/>
                  </a:cubicBezTo>
                  <a:cubicBezTo>
                    <a:pt x="4561" y="1014"/>
                    <a:pt x="3516" y="1"/>
                    <a:pt x="228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4571225" y="3445325"/>
              <a:ext cx="75250" cy="76025"/>
            </a:xfrm>
            <a:custGeom>
              <a:avLst/>
              <a:gdLst/>
              <a:ahLst/>
              <a:cxnLst/>
              <a:rect l="l" t="t" r="r" b="b"/>
              <a:pathLst>
                <a:path w="3010" h="3041" extrusionOk="0">
                  <a:moveTo>
                    <a:pt x="1489" y="349"/>
                  </a:moveTo>
                  <a:cubicBezTo>
                    <a:pt x="2154" y="349"/>
                    <a:pt x="2661" y="887"/>
                    <a:pt x="2661" y="1521"/>
                  </a:cubicBezTo>
                  <a:cubicBezTo>
                    <a:pt x="2661" y="2186"/>
                    <a:pt x="2154" y="2693"/>
                    <a:pt x="1489" y="2693"/>
                  </a:cubicBezTo>
                  <a:cubicBezTo>
                    <a:pt x="856" y="2693"/>
                    <a:pt x="318" y="2186"/>
                    <a:pt x="318" y="1521"/>
                  </a:cubicBezTo>
                  <a:cubicBezTo>
                    <a:pt x="318" y="887"/>
                    <a:pt x="856" y="349"/>
                    <a:pt x="1489" y="349"/>
                  </a:cubicBezTo>
                  <a:close/>
                  <a:moveTo>
                    <a:pt x="1489" y="1"/>
                  </a:moveTo>
                  <a:cubicBezTo>
                    <a:pt x="666" y="1"/>
                    <a:pt x="1" y="697"/>
                    <a:pt x="1" y="1521"/>
                  </a:cubicBezTo>
                  <a:cubicBezTo>
                    <a:pt x="1" y="2376"/>
                    <a:pt x="666" y="3041"/>
                    <a:pt x="1489" y="3041"/>
                  </a:cubicBezTo>
                  <a:cubicBezTo>
                    <a:pt x="2344" y="3041"/>
                    <a:pt x="3009" y="2376"/>
                    <a:pt x="3009" y="1521"/>
                  </a:cubicBezTo>
                  <a:cubicBezTo>
                    <a:pt x="3009" y="697"/>
                    <a:pt x="2344" y="1"/>
                    <a:pt x="1489"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5119100" y="3445325"/>
              <a:ext cx="105325" cy="105325"/>
            </a:xfrm>
            <a:custGeom>
              <a:avLst/>
              <a:gdLst/>
              <a:ahLst/>
              <a:cxnLst/>
              <a:rect l="l" t="t" r="r" b="b"/>
              <a:pathLst>
                <a:path w="4213" h="4213" extrusionOk="0">
                  <a:moveTo>
                    <a:pt x="2123" y="349"/>
                  </a:moveTo>
                  <a:cubicBezTo>
                    <a:pt x="3073" y="349"/>
                    <a:pt x="3864" y="1141"/>
                    <a:pt x="3864" y="2122"/>
                  </a:cubicBezTo>
                  <a:cubicBezTo>
                    <a:pt x="3864" y="3073"/>
                    <a:pt x="3073" y="3864"/>
                    <a:pt x="2123" y="3864"/>
                  </a:cubicBezTo>
                  <a:cubicBezTo>
                    <a:pt x="1141" y="3864"/>
                    <a:pt x="349" y="3073"/>
                    <a:pt x="349" y="2122"/>
                  </a:cubicBezTo>
                  <a:cubicBezTo>
                    <a:pt x="349" y="1141"/>
                    <a:pt x="1141" y="349"/>
                    <a:pt x="2123" y="349"/>
                  </a:cubicBezTo>
                  <a:close/>
                  <a:moveTo>
                    <a:pt x="2123" y="1"/>
                  </a:moveTo>
                  <a:cubicBezTo>
                    <a:pt x="951" y="1"/>
                    <a:pt x="1" y="951"/>
                    <a:pt x="1" y="2122"/>
                  </a:cubicBezTo>
                  <a:cubicBezTo>
                    <a:pt x="1" y="3263"/>
                    <a:pt x="951" y="4213"/>
                    <a:pt x="2123" y="4213"/>
                  </a:cubicBezTo>
                  <a:cubicBezTo>
                    <a:pt x="3263" y="4213"/>
                    <a:pt x="4213" y="3263"/>
                    <a:pt x="4213" y="2122"/>
                  </a:cubicBezTo>
                  <a:cubicBezTo>
                    <a:pt x="4213" y="951"/>
                    <a:pt x="3263" y="1"/>
                    <a:pt x="212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5355050" y="3305975"/>
              <a:ext cx="105325" cy="105325"/>
            </a:xfrm>
            <a:custGeom>
              <a:avLst/>
              <a:gdLst/>
              <a:ahLst/>
              <a:cxnLst/>
              <a:rect l="l" t="t" r="r" b="b"/>
              <a:pathLst>
                <a:path w="4213" h="4213" extrusionOk="0">
                  <a:moveTo>
                    <a:pt x="2090" y="349"/>
                  </a:moveTo>
                  <a:cubicBezTo>
                    <a:pt x="3072" y="349"/>
                    <a:pt x="3864" y="1141"/>
                    <a:pt x="3864" y="2123"/>
                  </a:cubicBezTo>
                  <a:cubicBezTo>
                    <a:pt x="3864" y="3073"/>
                    <a:pt x="3072" y="3865"/>
                    <a:pt x="2090" y="3865"/>
                  </a:cubicBezTo>
                  <a:cubicBezTo>
                    <a:pt x="1140" y="3865"/>
                    <a:pt x="349" y="3073"/>
                    <a:pt x="349" y="2091"/>
                  </a:cubicBezTo>
                  <a:cubicBezTo>
                    <a:pt x="349" y="1141"/>
                    <a:pt x="1140" y="349"/>
                    <a:pt x="2090" y="349"/>
                  </a:cubicBezTo>
                  <a:close/>
                  <a:moveTo>
                    <a:pt x="2090" y="1"/>
                  </a:moveTo>
                  <a:cubicBezTo>
                    <a:pt x="950" y="1"/>
                    <a:pt x="0" y="951"/>
                    <a:pt x="0" y="2123"/>
                  </a:cubicBezTo>
                  <a:cubicBezTo>
                    <a:pt x="0" y="3263"/>
                    <a:pt x="950" y="4213"/>
                    <a:pt x="2090" y="4213"/>
                  </a:cubicBezTo>
                  <a:cubicBezTo>
                    <a:pt x="3262" y="4213"/>
                    <a:pt x="4212" y="3263"/>
                    <a:pt x="4212" y="2123"/>
                  </a:cubicBezTo>
                  <a:cubicBezTo>
                    <a:pt x="4212" y="951"/>
                    <a:pt x="3262" y="1"/>
                    <a:pt x="209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5377200" y="3328150"/>
              <a:ext cx="61000" cy="61000"/>
            </a:xfrm>
            <a:custGeom>
              <a:avLst/>
              <a:gdLst/>
              <a:ahLst/>
              <a:cxnLst/>
              <a:rect l="l" t="t" r="r" b="b"/>
              <a:pathLst>
                <a:path w="2440" h="2440" extrusionOk="0">
                  <a:moveTo>
                    <a:pt x="1204" y="1"/>
                  </a:moveTo>
                  <a:cubicBezTo>
                    <a:pt x="539" y="1"/>
                    <a:pt x="1" y="539"/>
                    <a:pt x="1" y="1204"/>
                  </a:cubicBezTo>
                  <a:cubicBezTo>
                    <a:pt x="1" y="1901"/>
                    <a:pt x="539" y="2439"/>
                    <a:pt x="1204" y="2439"/>
                  </a:cubicBezTo>
                  <a:cubicBezTo>
                    <a:pt x="1869" y="2439"/>
                    <a:pt x="2439" y="1901"/>
                    <a:pt x="2439" y="1204"/>
                  </a:cubicBezTo>
                  <a:cubicBezTo>
                    <a:pt x="2439" y="539"/>
                    <a:pt x="1869" y="1"/>
                    <a:pt x="1204"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3592650" y="3524500"/>
              <a:ext cx="104550" cy="105325"/>
            </a:xfrm>
            <a:custGeom>
              <a:avLst/>
              <a:gdLst/>
              <a:ahLst/>
              <a:cxnLst/>
              <a:rect l="l" t="t" r="r" b="b"/>
              <a:pathLst>
                <a:path w="4182" h="4213" extrusionOk="0">
                  <a:moveTo>
                    <a:pt x="2091" y="349"/>
                  </a:moveTo>
                  <a:cubicBezTo>
                    <a:pt x="3073" y="349"/>
                    <a:pt x="3864" y="1109"/>
                    <a:pt x="3864" y="2091"/>
                  </a:cubicBezTo>
                  <a:cubicBezTo>
                    <a:pt x="3864" y="3072"/>
                    <a:pt x="3073" y="3864"/>
                    <a:pt x="2091" y="3864"/>
                  </a:cubicBezTo>
                  <a:cubicBezTo>
                    <a:pt x="1141" y="3864"/>
                    <a:pt x="349" y="3072"/>
                    <a:pt x="349" y="2091"/>
                  </a:cubicBezTo>
                  <a:cubicBezTo>
                    <a:pt x="349" y="1141"/>
                    <a:pt x="1109" y="349"/>
                    <a:pt x="2091" y="349"/>
                  </a:cubicBezTo>
                  <a:close/>
                  <a:moveTo>
                    <a:pt x="2091" y="1"/>
                  </a:moveTo>
                  <a:cubicBezTo>
                    <a:pt x="951" y="1"/>
                    <a:pt x="1" y="951"/>
                    <a:pt x="1" y="2091"/>
                  </a:cubicBezTo>
                  <a:cubicBezTo>
                    <a:pt x="1" y="3262"/>
                    <a:pt x="951" y="4213"/>
                    <a:pt x="2091" y="4213"/>
                  </a:cubicBezTo>
                  <a:cubicBezTo>
                    <a:pt x="3263" y="4213"/>
                    <a:pt x="4181" y="3262"/>
                    <a:pt x="4181" y="2091"/>
                  </a:cubicBezTo>
                  <a:cubicBezTo>
                    <a:pt x="4181" y="951"/>
                    <a:pt x="3263" y="1"/>
                    <a:pt x="209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a:off x="3614825" y="3546675"/>
              <a:ext cx="61000" cy="60975"/>
            </a:xfrm>
            <a:custGeom>
              <a:avLst/>
              <a:gdLst/>
              <a:ahLst/>
              <a:cxnLst/>
              <a:rect l="l" t="t" r="r" b="b"/>
              <a:pathLst>
                <a:path w="2440" h="2439" extrusionOk="0">
                  <a:moveTo>
                    <a:pt x="1204" y="0"/>
                  </a:moveTo>
                  <a:cubicBezTo>
                    <a:pt x="539" y="0"/>
                    <a:pt x="1" y="539"/>
                    <a:pt x="1" y="1204"/>
                  </a:cubicBezTo>
                  <a:cubicBezTo>
                    <a:pt x="1" y="1900"/>
                    <a:pt x="539" y="2439"/>
                    <a:pt x="1204" y="2439"/>
                  </a:cubicBezTo>
                  <a:cubicBezTo>
                    <a:pt x="1869" y="2439"/>
                    <a:pt x="2439" y="1900"/>
                    <a:pt x="2439" y="1204"/>
                  </a:cubicBezTo>
                  <a:cubicBezTo>
                    <a:pt x="2439" y="539"/>
                    <a:pt x="1869" y="0"/>
                    <a:pt x="1204"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4880000" y="2948925"/>
              <a:ext cx="173425" cy="24550"/>
            </a:xfrm>
            <a:custGeom>
              <a:avLst/>
              <a:gdLst/>
              <a:ahLst/>
              <a:cxnLst/>
              <a:rect l="l" t="t" r="r" b="b"/>
              <a:pathLst>
                <a:path w="6937" h="982" extrusionOk="0">
                  <a:moveTo>
                    <a:pt x="507" y="0"/>
                  </a:moveTo>
                  <a:cubicBezTo>
                    <a:pt x="222" y="0"/>
                    <a:pt x="1" y="222"/>
                    <a:pt x="1" y="507"/>
                  </a:cubicBezTo>
                  <a:cubicBezTo>
                    <a:pt x="1" y="760"/>
                    <a:pt x="222" y="982"/>
                    <a:pt x="507" y="982"/>
                  </a:cubicBezTo>
                  <a:lnTo>
                    <a:pt x="6430" y="982"/>
                  </a:lnTo>
                  <a:cubicBezTo>
                    <a:pt x="6715" y="982"/>
                    <a:pt x="6936" y="760"/>
                    <a:pt x="6936" y="507"/>
                  </a:cubicBezTo>
                  <a:cubicBezTo>
                    <a:pt x="6936" y="222"/>
                    <a:pt x="6715" y="0"/>
                    <a:pt x="643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5108025" y="2948925"/>
              <a:ext cx="81575" cy="24550"/>
            </a:xfrm>
            <a:custGeom>
              <a:avLst/>
              <a:gdLst/>
              <a:ahLst/>
              <a:cxnLst/>
              <a:rect l="l" t="t" r="r" b="b"/>
              <a:pathLst>
                <a:path w="3263" h="982" extrusionOk="0">
                  <a:moveTo>
                    <a:pt x="507" y="0"/>
                  </a:moveTo>
                  <a:cubicBezTo>
                    <a:pt x="222" y="0"/>
                    <a:pt x="0" y="222"/>
                    <a:pt x="0" y="507"/>
                  </a:cubicBezTo>
                  <a:cubicBezTo>
                    <a:pt x="0" y="760"/>
                    <a:pt x="222" y="982"/>
                    <a:pt x="507" y="982"/>
                  </a:cubicBezTo>
                  <a:lnTo>
                    <a:pt x="2756" y="982"/>
                  </a:lnTo>
                  <a:cubicBezTo>
                    <a:pt x="3041" y="982"/>
                    <a:pt x="3262" y="760"/>
                    <a:pt x="3262" y="507"/>
                  </a:cubicBezTo>
                  <a:cubicBezTo>
                    <a:pt x="3262" y="222"/>
                    <a:pt x="3041" y="0"/>
                    <a:pt x="2756"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5300425" y="2948925"/>
              <a:ext cx="58600" cy="24550"/>
            </a:xfrm>
            <a:custGeom>
              <a:avLst/>
              <a:gdLst/>
              <a:ahLst/>
              <a:cxnLst/>
              <a:rect l="l" t="t" r="r" b="b"/>
              <a:pathLst>
                <a:path w="2344" h="982" extrusionOk="0">
                  <a:moveTo>
                    <a:pt x="507" y="0"/>
                  </a:moveTo>
                  <a:cubicBezTo>
                    <a:pt x="222" y="0"/>
                    <a:pt x="0" y="222"/>
                    <a:pt x="0" y="507"/>
                  </a:cubicBezTo>
                  <a:cubicBezTo>
                    <a:pt x="0" y="760"/>
                    <a:pt x="222" y="982"/>
                    <a:pt x="507" y="982"/>
                  </a:cubicBezTo>
                  <a:lnTo>
                    <a:pt x="1837" y="982"/>
                  </a:lnTo>
                  <a:cubicBezTo>
                    <a:pt x="2122" y="982"/>
                    <a:pt x="2344" y="760"/>
                    <a:pt x="2344" y="507"/>
                  </a:cubicBezTo>
                  <a:cubicBezTo>
                    <a:pt x="2344" y="222"/>
                    <a:pt x="2122" y="0"/>
                    <a:pt x="183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5127025" y="3021750"/>
              <a:ext cx="197950" cy="25375"/>
            </a:xfrm>
            <a:custGeom>
              <a:avLst/>
              <a:gdLst/>
              <a:ahLst/>
              <a:cxnLst/>
              <a:rect l="l" t="t" r="r" b="b"/>
              <a:pathLst>
                <a:path w="7918" h="1015" extrusionOk="0">
                  <a:moveTo>
                    <a:pt x="507" y="1"/>
                  </a:moveTo>
                  <a:cubicBezTo>
                    <a:pt x="222" y="1"/>
                    <a:pt x="1" y="222"/>
                    <a:pt x="1" y="508"/>
                  </a:cubicBezTo>
                  <a:cubicBezTo>
                    <a:pt x="1" y="793"/>
                    <a:pt x="222" y="1014"/>
                    <a:pt x="507" y="1014"/>
                  </a:cubicBezTo>
                  <a:lnTo>
                    <a:pt x="7443" y="1014"/>
                  </a:lnTo>
                  <a:cubicBezTo>
                    <a:pt x="7696" y="1014"/>
                    <a:pt x="7918" y="793"/>
                    <a:pt x="7918" y="508"/>
                  </a:cubicBezTo>
                  <a:cubicBezTo>
                    <a:pt x="7918" y="222"/>
                    <a:pt x="7696" y="1"/>
                    <a:pt x="744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3979025" y="3617125"/>
              <a:ext cx="119575" cy="24575"/>
            </a:xfrm>
            <a:custGeom>
              <a:avLst/>
              <a:gdLst/>
              <a:ahLst/>
              <a:cxnLst/>
              <a:rect l="l" t="t" r="r" b="b"/>
              <a:pathLst>
                <a:path w="4783" h="983" extrusionOk="0">
                  <a:moveTo>
                    <a:pt x="507" y="1"/>
                  </a:moveTo>
                  <a:cubicBezTo>
                    <a:pt x="222" y="1"/>
                    <a:pt x="0" y="222"/>
                    <a:pt x="0" y="508"/>
                  </a:cubicBezTo>
                  <a:cubicBezTo>
                    <a:pt x="0" y="761"/>
                    <a:pt x="222" y="983"/>
                    <a:pt x="507" y="983"/>
                  </a:cubicBezTo>
                  <a:lnTo>
                    <a:pt x="4307" y="983"/>
                  </a:lnTo>
                  <a:cubicBezTo>
                    <a:pt x="4561" y="983"/>
                    <a:pt x="4782" y="761"/>
                    <a:pt x="4782" y="508"/>
                  </a:cubicBezTo>
                  <a:cubicBezTo>
                    <a:pt x="4782" y="222"/>
                    <a:pt x="4561" y="1"/>
                    <a:pt x="430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4148450" y="3617125"/>
              <a:ext cx="50700" cy="24575"/>
            </a:xfrm>
            <a:custGeom>
              <a:avLst/>
              <a:gdLst/>
              <a:ahLst/>
              <a:cxnLst/>
              <a:rect l="l" t="t" r="r" b="b"/>
              <a:pathLst>
                <a:path w="2028" h="983" extrusionOk="0">
                  <a:moveTo>
                    <a:pt x="507" y="1"/>
                  </a:moveTo>
                  <a:cubicBezTo>
                    <a:pt x="222" y="1"/>
                    <a:pt x="1" y="222"/>
                    <a:pt x="1" y="508"/>
                  </a:cubicBezTo>
                  <a:cubicBezTo>
                    <a:pt x="1" y="761"/>
                    <a:pt x="222" y="983"/>
                    <a:pt x="507" y="983"/>
                  </a:cubicBezTo>
                  <a:lnTo>
                    <a:pt x="1521" y="983"/>
                  </a:lnTo>
                  <a:cubicBezTo>
                    <a:pt x="1806" y="983"/>
                    <a:pt x="2027" y="761"/>
                    <a:pt x="2027" y="508"/>
                  </a:cubicBezTo>
                  <a:cubicBezTo>
                    <a:pt x="2027" y="222"/>
                    <a:pt x="1806" y="1"/>
                    <a:pt x="152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4750175" y="3617125"/>
              <a:ext cx="136975" cy="24575"/>
            </a:xfrm>
            <a:custGeom>
              <a:avLst/>
              <a:gdLst/>
              <a:ahLst/>
              <a:cxnLst/>
              <a:rect l="l" t="t" r="r" b="b"/>
              <a:pathLst>
                <a:path w="5479" h="983" extrusionOk="0">
                  <a:moveTo>
                    <a:pt x="475" y="1"/>
                  </a:moveTo>
                  <a:cubicBezTo>
                    <a:pt x="222" y="1"/>
                    <a:pt x="0" y="222"/>
                    <a:pt x="0" y="508"/>
                  </a:cubicBezTo>
                  <a:cubicBezTo>
                    <a:pt x="0" y="761"/>
                    <a:pt x="222" y="983"/>
                    <a:pt x="475" y="983"/>
                  </a:cubicBezTo>
                  <a:lnTo>
                    <a:pt x="4972" y="983"/>
                  </a:lnTo>
                  <a:cubicBezTo>
                    <a:pt x="5257" y="983"/>
                    <a:pt x="5479" y="761"/>
                    <a:pt x="5479" y="508"/>
                  </a:cubicBezTo>
                  <a:cubicBezTo>
                    <a:pt x="5479" y="222"/>
                    <a:pt x="5257" y="1"/>
                    <a:pt x="497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4933850" y="3617125"/>
              <a:ext cx="58600" cy="24575"/>
            </a:xfrm>
            <a:custGeom>
              <a:avLst/>
              <a:gdLst/>
              <a:ahLst/>
              <a:cxnLst/>
              <a:rect l="l" t="t" r="r" b="b"/>
              <a:pathLst>
                <a:path w="2344" h="983" extrusionOk="0">
                  <a:moveTo>
                    <a:pt x="507" y="1"/>
                  </a:moveTo>
                  <a:cubicBezTo>
                    <a:pt x="222" y="1"/>
                    <a:pt x="0" y="222"/>
                    <a:pt x="0" y="508"/>
                  </a:cubicBezTo>
                  <a:cubicBezTo>
                    <a:pt x="0" y="761"/>
                    <a:pt x="222" y="983"/>
                    <a:pt x="507" y="983"/>
                  </a:cubicBezTo>
                  <a:lnTo>
                    <a:pt x="1837" y="983"/>
                  </a:lnTo>
                  <a:cubicBezTo>
                    <a:pt x="2122" y="983"/>
                    <a:pt x="2344" y="761"/>
                    <a:pt x="2344" y="508"/>
                  </a:cubicBezTo>
                  <a:cubicBezTo>
                    <a:pt x="2344" y="222"/>
                    <a:pt x="2122" y="1"/>
                    <a:pt x="1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5163450" y="3617125"/>
              <a:ext cx="73650" cy="24575"/>
            </a:xfrm>
            <a:custGeom>
              <a:avLst/>
              <a:gdLst/>
              <a:ahLst/>
              <a:cxnLst/>
              <a:rect l="l" t="t" r="r" b="b"/>
              <a:pathLst>
                <a:path w="2946" h="983" extrusionOk="0">
                  <a:moveTo>
                    <a:pt x="507" y="1"/>
                  </a:moveTo>
                  <a:cubicBezTo>
                    <a:pt x="222" y="1"/>
                    <a:pt x="0" y="222"/>
                    <a:pt x="0" y="508"/>
                  </a:cubicBezTo>
                  <a:cubicBezTo>
                    <a:pt x="0" y="761"/>
                    <a:pt x="222" y="983"/>
                    <a:pt x="507" y="983"/>
                  </a:cubicBezTo>
                  <a:lnTo>
                    <a:pt x="2439" y="983"/>
                  </a:lnTo>
                  <a:cubicBezTo>
                    <a:pt x="2724" y="983"/>
                    <a:pt x="2946" y="761"/>
                    <a:pt x="2946" y="508"/>
                  </a:cubicBezTo>
                  <a:cubicBezTo>
                    <a:pt x="2946" y="222"/>
                    <a:pt x="2724" y="1"/>
                    <a:pt x="243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3676575" y="2937825"/>
              <a:ext cx="139375" cy="25375"/>
            </a:xfrm>
            <a:custGeom>
              <a:avLst/>
              <a:gdLst/>
              <a:ahLst/>
              <a:cxnLst/>
              <a:rect l="l" t="t" r="r" b="b"/>
              <a:pathLst>
                <a:path w="5575" h="1015" extrusionOk="0">
                  <a:moveTo>
                    <a:pt x="507" y="1"/>
                  </a:moveTo>
                  <a:cubicBezTo>
                    <a:pt x="222" y="1"/>
                    <a:pt x="1" y="254"/>
                    <a:pt x="1" y="508"/>
                  </a:cubicBezTo>
                  <a:cubicBezTo>
                    <a:pt x="1" y="793"/>
                    <a:pt x="222" y="1014"/>
                    <a:pt x="507" y="1014"/>
                  </a:cubicBezTo>
                  <a:lnTo>
                    <a:pt x="5068" y="1014"/>
                  </a:lnTo>
                  <a:cubicBezTo>
                    <a:pt x="5321" y="1014"/>
                    <a:pt x="5575" y="793"/>
                    <a:pt x="5543" y="508"/>
                  </a:cubicBezTo>
                  <a:cubicBezTo>
                    <a:pt x="5543" y="223"/>
                    <a:pt x="5321" y="1"/>
                    <a:pt x="5068"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3852350" y="2937825"/>
              <a:ext cx="68100" cy="25375"/>
            </a:xfrm>
            <a:custGeom>
              <a:avLst/>
              <a:gdLst/>
              <a:ahLst/>
              <a:cxnLst/>
              <a:rect l="l" t="t" r="r" b="b"/>
              <a:pathLst>
                <a:path w="2724" h="1015" extrusionOk="0">
                  <a:moveTo>
                    <a:pt x="507" y="1"/>
                  </a:moveTo>
                  <a:cubicBezTo>
                    <a:pt x="222" y="1"/>
                    <a:pt x="0" y="254"/>
                    <a:pt x="0" y="508"/>
                  </a:cubicBezTo>
                  <a:cubicBezTo>
                    <a:pt x="0" y="793"/>
                    <a:pt x="222" y="1014"/>
                    <a:pt x="507" y="1014"/>
                  </a:cubicBezTo>
                  <a:lnTo>
                    <a:pt x="2217" y="1014"/>
                  </a:lnTo>
                  <a:cubicBezTo>
                    <a:pt x="2502" y="1014"/>
                    <a:pt x="2724" y="793"/>
                    <a:pt x="2724" y="508"/>
                  </a:cubicBezTo>
                  <a:cubicBezTo>
                    <a:pt x="2724" y="223"/>
                    <a:pt x="2502" y="1"/>
                    <a:pt x="221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2966400" y="2846400"/>
              <a:ext cx="266050" cy="531650"/>
            </a:xfrm>
            <a:custGeom>
              <a:avLst/>
              <a:gdLst/>
              <a:ahLst/>
              <a:cxnLst/>
              <a:rect l="l" t="t" r="r" b="b"/>
              <a:pathLst>
                <a:path w="10642" h="21266" extrusionOk="0">
                  <a:moveTo>
                    <a:pt x="191" y="0"/>
                  </a:moveTo>
                  <a:cubicBezTo>
                    <a:pt x="143" y="0"/>
                    <a:pt x="96" y="16"/>
                    <a:pt x="64" y="48"/>
                  </a:cubicBezTo>
                  <a:cubicBezTo>
                    <a:pt x="1" y="111"/>
                    <a:pt x="1" y="238"/>
                    <a:pt x="64" y="301"/>
                  </a:cubicBezTo>
                  <a:lnTo>
                    <a:pt x="10293" y="10530"/>
                  </a:lnTo>
                  <a:lnTo>
                    <a:pt x="10293" y="21076"/>
                  </a:lnTo>
                  <a:cubicBezTo>
                    <a:pt x="10293" y="21171"/>
                    <a:pt x="10388" y="21266"/>
                    <a:pt x="10483" y="21266"/>
                  </a:cubicBezTo>
                  <a:cubicBezTo>
                    <a:pt x="10546" y="21266"/>
                    <a:pt x="10641" y="21171"/>
                    <a:pt x="10641" y="21076"/>
                  </a:cubicBezTo>
                  <a:lnTo>
                    <a:pt x="10641" y="10435"/>
                  </a:lnTo>
                  <a:cubicBezTo>
                    <a:pt x="10641" y="10403"/>
                    <a:pt x="10610" y="10372"/>
                    <a:pt x="10578" y="10340"/>
                  </a:cubicBezTo>
                  <a:lnTo>
                    <a:pt x="317" y="48"/>
                  </a:lnTo>
                  <a:cubicBezTo>
                    <a:pt x="286" y="16"/>
                    <a:pt x="238" y="0"/>
                    <a:pt x="19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2741550" y="2634600"/>
              <a:ext cx="266850" cy="266850"/>
            </a:xfrm>
            <a:custGeom>
              <a:avLst/>
              <a:gdLst/>
              <a:ahLst/>
              <a:cxnLst/>
              <a:rect l="l" t="t" r="r" b="b"/>
              <a:pathLst>
                <a:path w="10674" h="10674" extrusionOk="0">
                  <a:moveTo>
                    <a:pt x="5321" y="317"/>
                  </a:moveTo>
                  <a:cubicBezTo>
                    <a:pt x="8076" y="317"/>
                    <a:pt x="10325" y="2566"/>
                    <a:pt x="10325" y="5353"/>
                  </a:cubicBezTo>
                  <a:cubicBezTo>
                    <a:pt x="10325" y="8108"/>
                    <a:pt x="8076" y="10356"/>
                    <a:pt x="5321" y="10356"/>
                  </a:cubicBezTo>
                  <a:cubicBezTo>
                    <a:pt x="2566" y="10356"/>
                    <a:pt x="317" y="8108"/>
                    <a:pt x="317" y="5353"/>
                  </a:cubicBezTo>
                  <a:cubicBezTo>
                    <a:pt x="317" y="2566"/>
                    <a:pt x="2566" y="317"/>
                    <a:pt x="5321" y="317"/>
                  </a:cubicBezTo>
                  <a:close/>
                  <a:moveTo>
                    <a:pt x="5321" y="1"/>
                  </a:moveTo>
                  <a:cubicBezTo>
                    <a:pt x="2376" y="1"/>
                    <a:pt x="1" y="2408"/>
                    <a:pt x="1" y="5353"/>
                  </a:cubicBezTo>
                  <a:cubicBezTo>
                    <a:pt x="1" y="8298"/>
                    <a:pt x="2376" y="10673"/>
                    <a:pt x="5321" y="10673"/>
                  </a:cubicBezTo>
                  <a:cubicBezTo>
                    <a:pt x="8266" y="10673"/>
                    <a:pt x="10673" y="8298"/>
                    <a:pt x="10673" y="5353"/>
                  </a:cubicBezTo>
                  <a:cubicBezTo>
                    <a:pt x="10673" y="2408"/>
                    <a:pt x="8266" y="1"/>
                    <a:pt x="5321"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2770850" y="2673800"/>
              <a:ext cx="207450" cy="188450"/>
            </a:xfrm>
            <a:custGeom>
              <a:avLst/>
              <a:gdLst/>
              <a:ahLst/>
              <a:cxnLst/>
              <a:rect l="l" t="t" r="r" b="b"/>
              <a:pathLst>
                <a:path w="8298" h="7538" extrusionOk="0">
                  <a:moveTo>
                    <a:pt x="4161" y="0"/>
                  </a:moveTo>
                  <a:cubicBezTo>
                    <a:pt x="3199" y="0"/>
                    <a:pt x="2233" y="365"/>
                    <a:pt x="1489" y="1093"/>
                  </a:cubicBezTo>
                  <a:cubicBezTo>
                    <a:pt x="0" y="2581"/>
                    <a:pt x="0" y="4957"/>
                    <a:pt x="1489" y="6445"/>
                  </a:cubicBezTo>
                  <a:cubicBezTo>
                    <a:pt x="2233" y="7173"/>
                    <a:pt x="3199" y="7538"/>
                    <a:pt x="4161" y="7538"/>
                  </a:cubicBezTo>
                  <a:cubicBezTo>
                    <a:pt x="5123" y="7538"/>
                    <a:pt x="6081" y="7173"/>
                    <a:pt x="6809" y="6445"/>
                  </a:cubicBezTo>
                  <a:cubicBezTo>
                    <a:pt x="8298" y="4957"/>
                    <a:pt x="8298" y="2581"/>
                    <a:pt x="6809" y="1093"/>
                  </a:cubicBezTo>
                  <a:cubicBezTo>
                    <a:pt x="6081" y="365"/>
                    <a:pt x="5123" y="0"/>
                    <a:pt x="416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3700325" y="2547525"/>
              <a:ext cx="8750" cy="292150"/>
            </a:xfrm>
            <a:custGeom>
              <a:avLst/>
              <a:gdLst/>
              <a:ahLst/>
              <a:cxnLst/>
              <a:rect l="l" t="t" r="r" b="b"/>
              <a:pathLst>
                <a:path w="350" h="11686" extrusionOk="0">
                  <a:moveTo>
                    <a:pt x="191" y="0"/>
                  </a:moveTo>
                  <a:cubicBezTo>
                    <a:pt x="96" y="0"/>
                    <a:pt x="1" y="63"/>
                    <a:pt x="1" y="158"/>
                  </a:cubicBezTo>
                  <a:lnTo>
                    <a:pt x="1" y="11528"/>
                  </a:lnTo>
                  <a:cubicBezTo>
                    <a:pt x="1" y="11623"/>
                    <a:pt x="96" y="11686"/>
                    <a:pt x="191" y="11686"/>
                  </a:cubicBezTo>
                  <a:cubicBezTo>
                    <a:pt x="254" y="11686"/>
                    <a:pt x="349" y="11623"/>
                    <a:pt x="349" y="11528"/>
                  </a:cubicBezTo>
                  <a:lnTo>
                    <a:pt x="349" y="158"/>
                  </a:lnTo>
                  <a:cubicBezTo>
                    <a:pt x="349" y="63"/>
                    <a:pt x="254" y="0"/>
                    <a:pt x="191"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2598250" y="3306775"/>
              <a:ext cx="424400" cy="669025"/>
            </a:xfrm>
            <a:custGeom>
              <a:avLst/>
              <a:gdLst/>
              <a:ahLst/>
              <a:cxnLst/>
              <a:rect l="l" t="t" r="r" b="b"/>
              <a:pathLst>
                <a:path w="16976" h="26761" extrusionOk="0">
                  <a:moveTo>
                    <a:pt x="159" y="1"/>
                  </a:moveTo>
                  <a:cubicBezTo>
                    <a:pt x="64" y="1"/>
                    <a:pt x="0" y="64"/>
                    <a:pt x="0" y="159"/>
                  </a:cubicBezTo>
                  <a:lnTo>
                    <a:pt x="0" y="16532"/>
                  </a:lnTo>
                  <a:cubicBezTo>
                    <a:pt x="0" y="16563"/>
                    <a:pt x="32" y="16595"/>
                    <a:pt x="64" y="16627"/>
                  </a:cubicBezTo>
                  <a:lnTo>
                    <a:pt x="10103" y="26697"/>
                  </a:lnTo>
                  <a:cubicBezTo>
                    <a:pt x="10135" y="26729"/>
                    <a:pt x="10198" y="26761"/>
                    <a:pt x="10230" y="26761"/>
                  </a:cubicBezTo>
                  <a:lnTo>
                    <a:pt x="16817" y="26761"/>
                  </a:lnTo>
                  <a:cubicBezTo>
                    <a:pt x="16912" y="26761"/>
                    <a:pt x="16975" y="26666"/>
                    <a:pt x="16975" y="26571"/>
                  </a:cubicBezTo>
                  <a:cubicBezTo>
                    <a:pt x="16975" y="26476"/>
                    <a:pt x="16880" y="26412"/>
                    <a:pt x="16785" y="26412"/>
                  </a:cubicBezTo>
                  <a:lnTo>
                    <a:pt x="10293" y="26412"/>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5914000" y="2241900"/>
              <a:ext cx="8725" cy="249425"/>
            </a:xfrm>
            <a:custGeom>
              <a:avLst/>
              <a:gdLst/>
              <a:ahLst/>
              <a:cxnLst/>
              <a:rect l="l" t="t" r="r" b="b"/>
              <a:pathLst>
                <a:path w="349" h="9977" extrusionOk="0">
                  <a:moveTo>
                    <a:pt x="191" y="1"/>
                  </a:moveTo>
                  <a:cubicBezTo>
                    <a:pt x="96" y="1"/>
                    <a:pt x="1" y="96"/>
                    <a:pt x="1" y="191"/>
                  </a:cubicBezTo>
                  <a:lnTo>
                    <a:pt x="1" y="9787"/>
                  </a:lnTo>
                  <a:cubicBezTo>
                    <a:pt x="1" y="9882"/>
                    <a:pt x="96" y="9977"/>
                    <a:pt x="191" y="9977"/>
                  </a:cubicBezTo>
                  <a:cubicBezTo>
                    <a:pt x="286" y="9977"/>
                    <a:pt x="349" y="9882"/>
                    <a:pt x="349" y="9787"/>
                  </a:cubicBezTo>
                  <a:lnTo>
                    <a:pt x="349" y="191"/>
                  </a:lnTo>
                  <a:cubicBezTo>
                    <a:pt x="349" y="96"/>
                    <a:pt x="286" y="1"/>
                    <a:pt x="191"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4192800" y="2458050"/>
              <a:ext cx="240700" cy="240700"/>
            </a:xfrm>
            <a:custGeom>
              <a:avLst/>
              <a:gdLst/>
              <a:ahLst/>
              <a:cxnLst/>
              <a:rect l="l" t="t" r="r" b="b"/>
              <a:pathLst>
                <a:path w="9628" h="9628" extrusionOk="0">
                  <a:moveTo>
                    <a:pt x="4814" y="1014"/>
                  </a:moveTo>
                  <a:cubicBezTo>
                    <a:pt x="6936" y="1014"/>
                    <a:pt x="8646" y="2724"/>
                    <a:pt x="8646" y="4814"/>
                  </a:cubicBezTo>
                  <a:cubicBezTo>
                    <a:pt x="8646" y="6904"/>
                    <a:pt x="6936" y="8614"/>
                    <a:pt x="4814" y="8614"/>
                  </a:cubicBezTo>
                  <a:cubicBezTo>
                    <a:pt x="2724" y="8614"/>
                    <a:pt x="1013" y="6904"/>
                    <a:pt x="1013" y="4814"/>
                  </a:cubicBezTo>
                  <a:cubicBezTo>
                    <a:pt x="1013" y="2724"/>
                    <a:pt x="2724" y="1014"/>
                    <a:pt x="4814" y="1014"/>
                  </a:cubicBezTo>
                  <a:close/>
                  <a:moveTo>
                    <a:pt x="4814" y="1"/>
                  </a:moveTo>
                  <a:cubicBezTo>
                    <a:pt x="2185" y="1"/>
                    <a:pt x="0" y="2154"/>
                    <a:pt x="0" y="4814"/>
                  </a:cubicBezTo>
                  <a:cubicBezTo>
                    <a:pt x="0" y="7474"/>
                    <a:pt x="2185" y="9628"/>
                    <a:pt x="4814" y="9628"/>
                  </a:cubicBezTo>
                  <a:cubicBezTo>
                    <a:pt x="7474" y="9628"/>
                    <a:pt x="9627" y="7474"/>
                    <a:pt x="9627" y="4814"/>
                  </a:cubicBezTo>
                  <a:cubicBezTo>
                    <a:pt x="9627" y="2154"/>
                    <a:pt x="7474" y="1"/>
                    <a:pt x="481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4135000" y="1664750"/>
              <a:ext cx="438625" cy="438625"/>
            </a:xfrm>
            <a:custGeom>
              <a:avLst/>
              <a:gdLst/>
              <a:ahLst/>
              <a:cxnLst/>
              <a:rect l="l" t="t" r="r" b="b"/>
              <a:pathLst>
                <a:path w="17545" h="17545" extrusionOk="0">
                  <a:moveTo>
                    <a:pt x="8772" y="1362"/>
                  </a:moveTo>
                  <a:cubicBezTo>
                    <a:pt x="12858" y="1362"/>
                    <a:pt x="16183" y="4687"/>
                    <a:pt x="16183" y="8773"/>
                  </a:cubicBezTo>
                  <a:cubicBezTo>
                    <a:pt x="16183" y="12858"/>
                    <a:pt x="12858" y="16183"/>
                    <a:pt x="8772" y="16183"/>
                  </a:cubicBezTo>
                  <a:cubicBezTo>
                    <a:pt x="4687" y="16183"/>
                    <a:pt x="1362" y="12858"/>
                    <a:pt x="1362" y="8773"/>
                  </a:cubicBezTo>
                  <a:cubicBezTo>
                    <a:pt x="1362" y="4687"/>
                    <a:pt x="4687" y="1362"/>
                    <a:pt x="8772" y="1362"/>
                  </a:cubicBezTo>
                  <a:close/>
                  <a:moveTo>
                    <a:pt x="8772" y="0"/>
                  </a:moveTo>
                  <a:cubicBezTo>
                    <a:pt x="3959" y="0"/>
                    <a:pt x="0" y="3927"/>
                    <a:pt x="0" y="8773"/>
                  </a:cubicBezTo>
                  <a:cubicBezTo>
                    <a:pt x="0" y="13618"/>
                    <a:pt x="3959" y="17545"/>
                    <a:pt x="8772" y="17545"/>
                  </a:cubicBezTo>
                  <a:cubicBezTo>
                    <a:pt x="13618" y="17545"/>
                    <a:pt x="17545" y="13586"/>
                    <a:pt x="17545" y="8773"/>
                  </a:cubicBezTo>
                  <a:cubicBezTo>
                    <a:pt x="17545" y="3927"/>
                    <a:pt x="13618" y="0"/>
                    <a:pt x="877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3285475" y="2764450"/>
              <a:ext cx="172625" cy="172625"/>
            </a:xfrm>
            <a:custGeom>
              <a:avLst/>
              <a:gdLst/>
              <a:ahLst/>
              <a:cxnLst/>
              <a:rect l="l" t="t" r="r" b="b"/>
              <a:pathLst>
                <a:path w="6905" h="6905" extrusionOk="0">
                  <a:moveTo>
                    <a:pt x="3452" y="1014"/>
                  </a:moveTo>
                  <a:cubicBezTo>
                    <a:pt x="4814" y="1014"/>
                    <a:pt x="5891" y="2091"/>
                    <a:pt x="5891" y="3452"/>
                  </a:cubicBezTo>
                  <a:cubicBezTo>
                    <a:pt x="5891" y="4782"/>
                    <a:pt x="4782" y="5891"/>
                    <a:pt x="3452" y="5891"/>
                  </a:cubicBezTo>
                  <a:cubicBezTo>
                    <a:pt x="2090" y="5891"/>
                    <a:pt x="1014" y="4782"/>
                    <a:pt x="1014" y="3452"/>
                  </a:cubicBezTo>
                  <a:cubicBezTo>
                    <a:pt x="1014" y="2091"/>
                    <a:pt x="2122" y="1014"/>
                    <a:pt x="3452" y="1014"/>
                  </a:cubicBezTo>
                  <a:close/>
                  <a:moveTo>
                    <a:pt x="3452" y="0"/>
                  </a:moveTo>
                  <a:cubicBezTo>
                    <a:pt x="1552" y="0"/>
                    <a:pt x="0" y="1552"/>
                    <a:pt x="0" y="3452"/>
                  </a:cubicBezTo>
                  <a:cubicBezTo>
                    <a:pt x="0" y="5352"/>
                    <a:pt x="1552" y="6904"/>
                    <a:pt x="3452" y="6904"/>
                  </a:cubicBezTo>
                  <a:cubicBezTo>
                    <a:pt x="5352" y="6904"/>
                    <a:pt x="6904" y="5352"/>
                    <a:pt x="6904" y="3452"/>
                  </a:cubicBezTo>
                  <a:cubicBezTo>
                    <a:pt x="6904" y="1552"/>
                    <a:pt x="5352" y="0"/>
                    <a:pt x="34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3"/>
            <p:cNvSpPr/>
            <p:nvPr/>
          </p:nvSpPr>
          <p:spPr>
            <a:xfrm>
              <a:off x="5016975" y="1886425"/>
              <a:ext cx="254950" cy="254950"/>
            </a:xfrm>
            <a:custGeom>
              <a:avLst/>
              <a:gdLst/>
              <a:ahLst/>
              <a:cxnLst/>
              <a:rect l="l" t="t" r="r" b="b"/>
              <a:pathLst>
                <a:path w="10198" h="10198" extrusionOk="0">
                  <a:moveTo>
                    <a:pt x="5099" y="982"/>
                  </a:moveTo>
                  <a:cubicBezTo>
                    <a:pt x="7348" y="982"/>
                    <a:pt x="9185" y="2819"/>
                    <a:pt x="9185" y="5099"/>
                  </a:cubicBezTo>
                  <a:cubicBezTo>
                    <a:pt x="9185" y="7348"/>
                    <a:pt x="7348" y="9185"/>
                    <a:pt x="5099" y="9185"/>
                  </a:cubicBezTo>
                  <a:cubicBezTo>
                    <a:pt x="2851" y="9185"/>
                    <a:pt x="1014" y="7348"/>
                    <a:pt x="1014" y="5099"/>
                  </a:cubicBezTo>
                  <a:cubicBezTo>
                    <a:pt x="1014" y="2819"/>
                    <a:pt x="2851" y="982"/>
                    <a:pt x="5099" y="982"/>
                  </a:cubicBezTo>
                  <a:close/>
                  <a:moveTo>
                    <a:pt x="5099" y="1"/>
                  </a:moveTo>
                  <a:cubicBezTo>
                    <a:pt x="2281" y="1"/>
                    <a:pt x="1" y="2281"/>
                    <a:pt x="1" y="5099"/>
                  </a:cubicBezTo>
                  <a:cubicBezTo>
                    <a:pt x="1" y="7886"/>
                    <a:pt x="2281" y="10198"/>
                    <a:pt x="5099" y="10198"/>
                  </a:cubicBezTo>
                  <a:cubicBezTo>
                    <a:pt x="7918" y="10198"/>
                    <a:pt x="10198" y="7886"/>
                    <a:pt x="10198" y="5099"/>
                  </a:cubicBezTo>
                  <a:cubicBezTo>
                    <a:pt x="10198" y="2281"/>
                    <a:pt x="7918" y="1"/>
                    <a:pt x="509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3"/>
            <p:cNvSpPr/>
            <p:nvPr/>
          </p:nvSpPr>
          <p:spPr>
            <a:xfrm>
              <a:off x="6183975" y="1449400"/>
              <a:ext cx="254975" cy="254950"/>
            </a:xfrm>
            <a:custGeom>
              <a:avLst/>
              <a:gdLst/>
              <a:ahLst/>
              <a:cxnLst/>
              <a:rect l="l" t="t" r="r" b="b"/>
              <a:pathLst>
                <a:path w="10199" h="10198" extrusionOk="0">
                  <a:moveTo>
                    <a:pt x="5099" y="1014"/>
                  </a:moveTo>
                  <a:cubicBezTo>
                    <a:pt x="7348" y="1014"/>
                    <a:pt x="9185" y="2851"/>
                    <a:pt x="9185" y="5099"/>
                  </a:cubicBezTo>
                  <a:cubicBezTo>
                    <a:pt x="9185" y="7379"/>
                    <a:pt x="7348" y="9216"/>
                    <a:pt x="5099" y="9216"/>
                  </a:cubicBezTo>
                  <a:cubicBezTo>
                    <a:pt x="2819" y="9216"/>
                    <a:pt x="982" y="7379"/>
                    <a:pt x="982" y="5099"/>
                  </a:cubicBezTo>
                  <a:cubicBezTo>
                    <a:pt x="982" y="2851"/>
                    <a:pt x="2819" y="1014"/>
                    <a:pt x="5099" y="1014"/>
                  </a:cubicBezTo>
                  <a:close/>
                  <a:moveTo>
                    <a:pt x="5099" y="0"/>
                  </a:moveTo>
                  <a:cubicBezTo>
                    <a:pt x="2281" y="0"/>
                    <a:pt x="1" y="2312"/>
                    <a:pt x="1" y="5099"/>
                  </a:cubicBezTo>
                  <a:cubicBezTo>
                    <a:pt x="1" y="7918"/>
                    <a:pt x="2281" y="10198"/>
                    <a:pt x="5099" y="10198"/>
                  </a:cubicBezTo>
                  <a:cubicBezTo>
                    <a:pt x="7886" y="10198"/>
                    <a:pt x="10198" y="7918"/>
                    <a:pt x="10198" y="5099"/>
                  </a:cubicBezTo>
                  <a:cubicBezTo>
                    <a:pt x="10198" y="2312"/>
                    <a:pt x="7886" y="0"/>
                    <a:pt x="509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3"/>
            <p:cNvSpPr/>
            <p:nvPr/>
          </p:nvSpPr>
          <p:spPr>
            <a:xfrm>
              <a:off x="6605975" y="3315475"/>
              <a:ext cx="394300" cy="394325"/>
            </a:xfrm>
            <a:custGeom>
              <a:avLst/>
              <a:gdLst/>
              <a:ahLst/>
              <a:cxnLst/>
              <a:rect l="l" t="t" r="r" b="b"/>
              <a:pathLst>
                <a:path w="15772" h="15773" extrusionOk="0">
                  <a:moveTo>
                    <a:pt x="7886" y="1014"/>
                  </a:moveTo>
                  <a:cubicBezTo>
                    <a:pt x="11686" y="1014"/>
                    <a:pt x="14790" y="4118"/>
                    <a:pt x="14790" y="7887"/>
                  </a:cubicBezTo>
                  <a:cubicBezTo>
                    <a:pt x="14790" y="11687"/>
                    <a:pt x="11686" y="14790"/>
                    <a:pt x="7886" y="14790"/>
                  </a:cubicBezTo>
                  <a:cubicBezTo>
                    <a:pt x="4086" y="14790"/>
                    <a:pt x="1014" y="11687"/>
                    <a:pt x="1014" y="7887"/>
                  </a:cubicBezTo>
                  <a:cubicBezTo>
                    <a:pt x="1014" y="4118"/>
                    <a:pt x="4086" y="1014"/>
                    <a:pt x="7886" y="1014"/>
                  </a:cubicBezTo>
                  <a:close/>
                  <a:moveTo>
                    <a:pt x="7886" y="1"/>
                  </a:moveTo>
                  <a:cubicBezTo>
                    <a:pt x="3547" y="1"/>
                    <a:pt x="0" y="3548"/>
                    <a:pt x="0" y="7887"/>
                  </a:cubicBezTo>
                  <a:cubicBezTo>
                    <a:pt x="0" y="12257"/>
                    <a:pt x="3547" y="15772"/>
                    <a:pt x="7886" y="15772"/>
                  </a:cubicBezTo>
                  <a:cubicBezTo>
                    <a:pt x="12256" y="15772"/>
                    <a:pt x="15772" y="12257"/>
                    <a:pt x="15772" y="7887"/>
                  </a:cubicBezTo>
                  <a:cubicBezTo>
                    <a:pt x="15772" y="3548"/>
                    <a:pt x="12225" y="1"/>
                    <a:pt x="7886"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6647150" y="2157200"/>
              <a:ext cx="178150" cy="178150"/>
            </a:xfrm>
            <a:custGeom>
              <a:avLst/>
              <a:gdLst/>
              <a:ahLst/>
              <a:cxnLst/>
              <a:rect l="l" t="t" r="r" b="b"/>
              <a:pathLst>
                <a:path w="7126" h="7126" extrusionOk="0">
                  <a:moveTo>
                    <a:pt x="3579" y="1014"/>
                  </a:moveTo>
                  <a:cubicBezTo>
                    <a:pt x="4972" y="1014"/>
                    <a:pt x="6144" y="2154"/>
                    <a:pt x="6144" y="3579"/>
                  </a:cubicBezTo>
                  <a:cubicBezTo>
                    <a:pt x="6144" y="4972"/>
                    <a:pt x="4972" y="6112"/>
                    <a:pt x="3579" y="6112"/>
                  </a:cubicBezTo>
                  <a:cubicBezTo>
                    <a:pt x="2154" y="6112"/>
                    <a:pt x="1014" y="4972"/>
                    <a:pt x="1014" y="3579"/>
                  </a:cubicBezTo>
                  <a:cubicBezTo>
                    <a:pt x="1014" y="2154"/>
                    <a:pt x="2154" y="1014"/>
                    <a:pt x="3579" y="1014"/>
                  </a:cubicBezTo>
                  <a:close/>
                  <a:moveTo>
                    <a:pt x="3579" y="0"/>
                  </a:moveTo>
                  <a:cubicBezTo>
                    <a:pt x="1615" y="0"/>
                    <a:pt x="0" y="1615"/>
                    <a:pt x="0" y="3579"/>
                  </a:cubicBezTo>
                  <a:cubicBezTo>
                    <a:pt x="0" y="5542"/>
                    <a:pt x="1615" y="7126"/>
                    <a:pt x="3579" y="7126"/>
                  </a:cubicBezTo>
                  <a:cubicBezTo>
                    <a:pt x="5542" y="7126"/>
                    <a:pt x="7126" y="5542"/>
                    <a:pt x="7126" y="3579"/>
                  </a:cubicBezTo>
                  <a:cubicBezTo>
                    <a:pt x="7126" y="1615"/>
                    <a:pt x="5542" y="0"/>
                    <a:pt x="357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3"/>
            <p:cNvSpPr/>
            <p:nvPr/>
          </p:nvSpPr>
          <p:spPr>
            <a:xfrm>
              <a:off x="4713750" y="2228450"/>
              <a:ext cx="91850" cy="91075"/>
            </a:xfrm>
            <a:custGeom>
              <a:avLst/>
              <a:gdLst/>
              <a:ahLst/>
              <a:cxnLst/>
              <a:rect l="l" t="t" r="r" b="b"/>
              <a:pathLst>
                <a:path w="3674" h="3643" extrusionOk="0">
                  <a:moveTo>
                    <a:pt x="1837" y="982"/>
                  </a:moveTo>
                  <a:cubicBezTo>
                    <a:pt x="2280" y="982"/>
                    <a:pt x="2660" y="1362"/>
                    <a:pt x="2660" y="1806"/>
                  </a:cubicBezTo>
                  <a:cubicBezTo>
                    <a:pt x="2660" y="2281"/>
                    <a:pt x="2280" y="2661"/>
                    <a:pt x="1837" y="2661"/>
                  </a:cubicBezTo>
                  <a:cubicBezTo>
                    <a:pt x="1394" y="2661"/>
                    <a:pt x="1014" y="2281"/>
                    <a:pt x="1014" y="1806"/>
                  </a:cubicBezTo>
                  <a:cubicBezTo>
                    <a:pt x="1014" y="1362"/>
                    <a:pt x="1394" y="982"/>
                    <a:pt x="1837" y="982"/>
                  </a:cubicBezTo>
                  <a:close/>
                  <a:moveTo>
                    <a:pt x="1837" y="1"/>
                  </a:moveTo>
                  <a:cubicBezTo>
                    <a:pt x="824" y="1"/>
                    <a:pt x="0" y="824"/>
                    <a:pt x="0" y="1806"/>
                  </a:cubicBezTo>
                  <a:cubicBezTo>
                    <a:pt x="0" y="2819"/>
                    <a:pt x="824" y="3642"/>
                    <a:pt x="1837" y="3642"/>
                  </a:cubicBezTo>
                  <a:cubicBezTo>
                    <a:pt x="2850" y="3642"/>
                    <a:pt x="3674" y="2819"/>
                    <a:pt x="3674" y="1806"/>
                  </a:cubicBezTo>
                  <a:cubicBezTo>
                    <a:pt x="3674" y="824"/>
                    <a:pt x="2850" y="1"/>
                    <a:pt x="1837"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p:nvPr/>
          </p:nvSpPr>
          <p:spPr>
            <a:xfrm>
              <a:off x="3606900" y="2093075"/>
              <a:ext cx="152850" cy="153600"/>
            </a:xfrm>
            <a:custGeom>
              <a:avLst/>
              <a:gdLst/>
              <a:ahLst/>
              <a:cxnLst/>
              <a:rect l="l" t="t" r="r" b="b"/>
              <a:pathLst>
                <a:path w="6114" h="6144" extrusionOk="0">
                  <a:moveTo>
                    <a:pt x="3073" y="1014"/>
                  </a:moveTo>
                  <a:cubicBezTo>
                    <a:pt x="4181" y="1014"/>
                    <a:pt x="5131" y="1932"/>
                    <a:pt x="5131" y="3072"/>
                  </a:cubicBezTo>
                  <a:cubicBezTo>
                    <a:pt x="5131" y="4212"/>
                    <a:pt x="4181" y="5131"/>
                    <a:pt x="3073" y="5131"/>
                  </a:cubicBezTo>
                  <a:cubicBezTo>
                    <a:pt x="1933" y="5131"/>
                    <a:pt x="1014" y="4212"/>
                    <a:pt x="1014" y="3072"/>
                  </a:cubicBezTo>
                  <a:cubicBezTo>
                    <a:pt x="1014" y="1932"/>
                    <a:pt x="1933" y="1014"/>
                    <a:pt x="3073" y="1014"/>
                  </a:cubicBezTo>
                  <a:close/>
                  <a:moveTo>
                    <a:pt x="3073" y="0"/>
                  </a:moveTo>
                  <a:cubicBezTo>
                    <a:pt x="1363" y="0"/>
                    <a:pt x="1" y="1394"/>
                    <a:pt x="1" y="3072"/>
                  </a:cubicBezTo>
                  <a:cubicBezTo>
                    <a:pt x="1" y="4751"/>
                    <a:pt x="1363" y="6144"/>
                    <a:pt x="3073" y="6144"/>
                  </a:cubicBezTo>
                  <a:cubicBezTo>
                    <a:pt x="4751" y="6144"/>
                    <a:pt x="6113" y="4751"/>
                    <a:pt x="6113" y="3072"/>
                  </a:cubicBezTo>
                  <a:cubicBezTo>
                    <a:pt x="6113" y="1394"/>
                    <a:pt x="4751" y="0"/>
                    <a:pt x="307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4774700" y="1416150"/>
              <a:ext cx="152825" cy="152825"/>
            </a:xfrm>
            <a:custGeom>
              <a:avLst/>
              <a:gdLst/>
              <a:ahLst/>
              <a:cxnLst/>
              <a:rect l="l" t="t" r="r" b="b"/>
              <a:pathLst>
                <a:path w="6113" h="6113" extrusionOk="0">
                  <a:moveTo>
                    <a:pt x="3041" y="1014"/>
                  </a:moveTo>
                  <a:cubicBezTo>
                    <a:pt x="4181" y="1014"/>
                    <a:pt x="5099" y="1932"/>
                    <a:pt x="5099" y="3072"/>
                  </a:cubicBezTo>
                  <a:cubicBezTo>
                    <a:pt x="5099" y="4212"/>
                    <a:pt x="4181" y="5131"/>
                    <a:pt x="3041" y="5131"/>
                  </a:cubicBezTo>
                  <a:cubicBezTo>
                    <a:pt x="1901" y="5131"/>
                    <a:pt x="983" y="4212"/>
                    <a:pt x="983" y="3072"/>
                  </a:cubicBezTo>
                  <a:cubicBezTo>
                    <a:pt x="983" y="1932"/>
                    <a:pt x="1901" y="1014"/>
                    <a:pt x="3041" y="1014"/>
                  </a:cubicBezTo>
                  <a:close/>
                  <a:moveTo>
                    <a:pt x="3041" y="0"/>
                  </a:moveTo>
                  <a:cubicBezTo>
                    <a:pt x="1363" y="0"/>
                    <a:pt x="1" y="1394"/>
                    <a:pt x="1" y="3072"/>
                  </a:cubicBezTo>
                  <a:cubicBezTo>
                    <a:pt x="1" y="4751"/>
                    <a:pt x="1363" y="6112"/>
                    <a:pt x="3041" y="6112"/>
                  </a:cubicBezTo>
                  <a:cubicBezTo>
                    <a:pt x="4751" y="6112"/>
                    <a:pt x="6113" y="4751"/>
                    <a:pt x="6113" y="3072"/>
                  </a:cubicBezTo>
                  <a:cubicBezTo>
                    <a:pt x="6113" y="1394"/>
                    <a:pt x="4751" y="0"/>
                    <a:pt x="304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p:nvPr/>
          </p:nvSpPr>
          <p:spPr>
            <a:xfrm>
              <a:off x="2681375" y="4073950"/>
              <a:ext cx="197975" cy="197175"/>
            </a:xfrm>
            <a:custGeom>
              <a:avLst/>
              <a:gdLst/>
              <a:ahLst/>
              <a:cxnLst/>
              <a:rect l="l" t="t" r="r" b="b"/>
              <a:pathLst>
                <a:path w="7919" h="7887" extrusionOk="0">
                  <a:moveTo>
                    <a:pt x="3959" y="982"/>
                  </a:moveTo>
                  <a:cubicBezTo>
                    <a:pt x="5575" y="982"/>
                    <a:pt x="6905" y="2313"/>
                    <a:pt x="6905" y="3928"/>
                  </a:cubicBezTo>
                  <a:cubicBezTo>
                    <a:pt x="6905" y="5574"/>
                    <a:pt x="5575" y="6873"/>
                    <a:pt x="3959" y="6873"/>
                  </a:cubicBezTo>
                  <a:cubicBezTo>
                    <a:pt x="2344" y="6873"/>
                    <a:pt x="1014" y="5574"/>
                    <a:pt x="1014" y="3928"/>
                  </a:cubicBezTo>
                  <a:cubicBezTo>
                    <a:pt x="1014" y="2313"/>
                    <a:pt x="2344" y="982"/>
                    <a:pt x="3959" y="982"/>
                  </a:cubicBezTo>
                  <a:close/>
                  <a:moveTo>
                    <a:pt x="3959" y="1"/>
                  </a:moveTo>
                  <a:cubicBezTo>
                    <a:pt x="1774" y="1"/>
                    <a:pt x="1" y="1774"/>
                    <a:pt x="1" y="3928"/>
                  </a:cubicBezTo>
                  <a:cubicBezTo>
                    <a:pt x="1" y="6113"/>
                    <a:pt x="1774" y="7886"/>
                    <a:pt x="3959" y="7886"/>
                  </a:cubicBezTo>
                  <a:cubicBezTo>
                    <a:pt x="6145" y="7886"/>
                    <a:pt x="7886" y="6113"/>
                    <a:pt x="7918" y="3928"/>
                  </a:cubicBezTo>
                  <a:cubicBezTo>
                    <a:pt x="7918" y="1774"/>
                    <a:pt x="6145" y="1"/>
                    <a:pt x="395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595269F-1B00-433D-A82E-4290B98AFE00}"/>
              </a:ext>
            </a:extLst>
          </p:cNvPr>
          <p:cNvSpPr txBox="1"/>
          <p:nvPr/>
        </p:nvSpPr>
        <p:spPr>
          <a:xfrm>
            <a:off x="3465327" y="2701321"/>
            <a:ext cx="4572000" cy="338554"/>
          </a:xfrm>
          <a:prstGeom prst="rect">
            <a:avLst/>
          </a:prstGeom>
          <a:noFill/>
        </p:spPr>
        <p:txBody>
          <a:bodyPr wrap="square">
            <a:spAutoFit/>
          </a:bodyPr>
          <a:lstStyle/>
          <a:p>
            <a:pPr marL="0" lvl="0" indent="0" algn="r" rtl="0">
              <a:lnSpc>
                <a:spcPct val="100000"/>
              </a:lnSpc>
              <a:spcBef>
                <a:spcPts val="0"/>
              </a:spcBef>
              <a:spcAft>
                <a:spcPts val="0"/>
              </a:spcAft>
              <a:buNone/>
            </a:pPr>
            <a:r>
              <a:rPr lang="en-US" sz="1600" dirty="0">
                <a:solidFill>
                  <a:srgbClr val="434343"/>
                </a:solidFill>
                <a:latin typeface="Fira Sans Medium"/>
                <a:ea typeface="Fira Sans Medium"/>
                <a:cs typeface="Fira Sans Medium"/>
                <a:sym typeface="Fira Sans Medium"/>
              </a:rPr>
              <a:t>Statistical Thinking for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grpSp>
        <p:nvGrpSpPr>
          <p:cNvPr id="176" name="Google Shape;176;p14"/>
          <p:cNvGrpSpPr/>
          <p:nvPr/>
        </p:nvGrpSpPr>
        <p:grpSpPr>
          <a:xfrm>
            <a:off x="457200" y="402750"/>
            <a:ext cx="3372600" cy="4338000"/>
            <a:chOff x="5141550" y="398500"/>
            <a:chExt cx="3372600" cy="4338000"/>
          </a:xfrm>
        </p:grpSpPr>
        <p:sp>
          <p:nvSpPr>
            <p:cNvPr id="177" name="Google Shape;177;p14"/>
            <p:cNvSpPr/>
            <p:nvPr/>
          </p:nvSpPr>
          <p:spPr>
            <a:xfrm>
              <a:off x="5141550" y="398500"/>
              <a:ext cx="3372600" cy="4338000"/>
            </a:xfrm>
            <a:prstGeom prst="roundRect">
              <a:avLst>
                <a:gd name="adj" fmla="val 8646"/>
              </a:avLst>
            </a:prstGeom>
            <a:solidFill>
              <a:srgbClr val="22283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8" name="Google Shape;178;p14"/>
            <p:cNvPicPr preferRelativeResize="0"/>
            <p:nvPr/>
          </p:nvPicPr>
          <p:blipFill>
            <a:blip r:embed="rId3">
              <a:alphaModFix/>
            </a:blip>
            <a:stretch>
              <a:fillRect/>
            </a:stretch>
          </p:blipFill>
          <p:spPr>
            <a:xfrm>
              <a:off x="5441873" y="779270"/>
              <a:ext cx="2798075" cy="3584972"/>
            </a:xfrm>
            <a:prstGeom prst="rect">
              <a:avLst/>
            </a:prstGeom>
            <a:noFill/>
            <a:ln>
              <a:noFill/>
            </a:ln>
          </p:spPr>
        </p:pic>
        <p:sp>
          <p:nvSpPr>
            <p:cNvPr id="179" name="Google Shape;179;p14"/>
            <p:cNvSpPr/>
            <p:nvPr/>
          </p:nvSpPr>
          <p:spPr>
            <a:xfrm>
              <a:off x="6651575" y="581675"/>
              <a:ext cx="91500" cy="915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4"/>
            <p:cNvSpPr/>
            <p:nvPr/>
          </p:nvSpPr>
          <p:spPr>
            <a:xfrm>
              <a:off x="6880175" y="581675"/>
              <a:ext cx="91500" cy="915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14"/>
            <p:cNvSpPr/>
            <p:nvPr/>
          </p:nvSpPr>
          <p:spPr>
            <a:xfrm>
              <a:off x="6627013" y="4518950"/>
              <a:ext cx="427800" cy="91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82" name="Google Shape;182;p14"/>
          <p:cNvSpPr txBox="1"/>
          <p:nvPr/>
        </p:nvSpPr>
        <p:spPr>
          <a:xfrm>
            <a:off x="4274700" y="1297023"/>
            <a:ext cx="4412100" cy="13401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a:solidFill>
                  <a:srgbClr val="222831"/>
                </a:solidFill>
                <a:latin typeface="Fira Sans Medium"/>
                <a:ea typeface="Fira Sans Medium"/>
                <a:cs typeface="Fira Sans Medium"/>
                <a:sym typeface="Fira Sans Medium"/>
              </a:rPr>
              <a:t>Should Singapore’s guidelines on screen time for </a:t>
            </a:r>
            <a:r>
              <a:rPr lang="en" sz="1800">
                <a:solidFill>
                  <a:srgbClr val="A8A8A8"/>
                </a:solidFill>
                <a:latin typeface="Fira Sans Medium"/>
                <a:ea typeface="Fira Sans Medium"/>
                <a:cs typeface="Fira Sans Medium"/>
                <a:sym typeface="Fira Sans Medium"/>
              </a:rPr>
              <a:t>children </a:t>
            </a:r>
            <a:r>
              <a:rPr lang="en" sz="1800">
                <a:solidFill>
                  <a:srgbClr val="222831"/>
                </a:solidFill>
                <a:latin typeface="Fira Sans Medium"/>
                <a:ea typeface="Fira Sans Medium"/>
                <a:cs typeface="Fira Sans Medium"/>
                <a:sym typeface="Fira Sans Medium"/>
              </a:rPr>
              <a:t>be extended to </a:t>
            </a:r>
            <a:r>
              <a:rPr lang="en" sz="1800">
                <a:solidFill>
                  <a:srgbClr val="E97132"/>
                </a:solidFill>
                <a:latin typeface="Fira Sans Medium"/>
                <a:ea typeface="Fira Sans Medium"/>
                <a:cs typeface="Fira Sans Medium"/>
                <a:sym typeface="Fira Sans Medium"/>
              </a:rPr>
              <a:t>youth </a:t>
            </a:r>
            <a:r>
              <a:rPr lang="en" sz="1800">
                <a:solidFill>
                  <a:srgbClr val="222831"/>
                </a:solidFill>
                <a:latin typeface="Fira Sans Medium"/>
                <a:ea typeface="Fira Sans Medium"/>
                <a:cs typeface="Fira Sans Medium"/>
                <a:sym typeface="Fira Sans Medium"/>
              </a:rPr>
              <a:t>and </a:t>
            </a:r>
            <a:r>
              <a:rPr lang="en" sz="1800">
                <a:solidFill>
                  <a:srgbClr val="63A5CD"/>
                </a:solidFill>
                <a:latin typeface="Fira Sans Medium"/>
                <a:ea typeface="Fira Sans Medium"/>
                <a:cs typeface="Fira Sans Medium"/>
                <a:sym typeface="Fira Sans Medium"/>
              </a:rPr>
              <a:t>adults</a:t>
            </a:r>
            <a:r>
              <a:rPr lang="en" sz="1800">
                <a:solidFill>
                  <a:srgbClr val="222831"/>
                </a:solidFill>
                <a:latin typeface="Fira Sans Medium"/>
                <a:ea typeface="Fira Sans Medium"/>
                <a:cs typeface="Fira Sans Medium"/>
                <a:sym typeface="Fira Sans Medium"/>
              </a:rPr>
              <a:t>?</a:t>
            </a:r>
            <a:endParaRPr sz="1800">
              <a:solidFill>
                <a:srgbClr val="222831"/>
              </a:solidFill>
              <a:latin typeface="Fira Sans Medium"/>
              <a:ea typeface="Fira Sans Medium"/>
              <a:cs typeface="Fira Sans Medium"/>
              <a:sym typeface="Fira Sans Medium"/>
            </a:endParaRPr>
          </a:p>
        </p:txBody>
      </p:sp>
      <p:grpSp>
        <p:nvGrpSpPr>
          <p:cNvPr id="183" name="Google Shape;183;p14"/>
          <p:cNvGrpSpPr/>
          <p:nvPr/>
        </p:nvGrpSpPr>
        <p:grpSpPr>
          <a:xfrm>
            <a:off x="4240625" y="3722012"/>
            <a:ext cx="2161175" cy="739625"/>
            <a:chOff x="4226100" y="2857512"/>
            <a:chExt cx="2161175" cy="739625"/>
          </a:xfrm>
        </p:grpSpPr>
        <p:pic>
          <p:nvPicPr>
            <p:cNvPr id="184" name="Google Shape;184;p14"/>
            <p:cNvPicPr preferRelativeResize="0"/>
            <p:nvPr/>
          </p:nvPicPr>
          <p:blipFill>
            <a:blip r:embed="rId4">
              <a:alphaModFix/>
            </a:blip>
            <a:stretch>
              <a:fillRect/>
            </a:stretch>
          </p:blipFill>
          <p:spPr>
            <a:xfrm>
              <a:off x="4226100" y="2857512"/>
              <a:ext cx="739625" cy="739625"/>
            </a:xfrm>
            <a:prstGeom prst="rect">
              <a:avLst/>
            </a:prstGeom>
            <a:noFill/>
            <a:ln>
              <a:noFill/>
            </a:ln>
          </p:spPr>
        </p:pic>
        <p:sp>
          <p:nvSpPr>
            <p:cNvPr id="185" name="Google Shape;185;p14"/>
            <p:cNvSpPr txBox="1"/>
            <p:nvPr/>
          </p:nvSpPr>
          <p:spPr>
            <a:xfrm>
              <a:off x="4913375" y="2891913"/>
              <a:ext cx="1473900" cy="6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rgbClr val="E97132"/>
                  </a:solidFill>
                  <a:latin typeface="Fira Sans SemiBold"/>
                  <a:ea typeface="Fira Sans SemiBold"/>
                  <a:cs typeface="Fira Sans SemiBold"/>
                  <a:sym typeface="Fira Sans SemiBold"/>
                </a:rPr>
                <a:t>12-17</a:t>
              </a:r>
              <a:endParaRPr sz="2100">
                <a:solidFill>
                  <a:srgbClr val="E97132"/>
                </a:solidFill>
                <a:latin typeface="Fira Sans SemiBold"/>
                <a:ea typeface="Fira Sans SemiBold"/>
                <a:cs typeface="Fira Sans SemiBold"/>
                <a:sym typeface="Fira Sans SemiBold"/>
              </a:endParaRPr>
            </a:p>
            <a:p>
              <a:pPr marL="0" lvl="0" indent="0" algn="l" rtl="0">
                <a:spcBef>
                  <a:spcPts val="0"/>
                </a:spcBef>
                <a:spcAft>
                  <a:spcPts val="0"/>
                </a:spcAft>
                <a:buNone/>
              </a:pPr>
              <a:r>
                <a:rPr lang="en">
                  <a:solidFill>
                    <a:srgbClr val="E97132"/>
                  </a:solidFill>
                  <a:latin typeface="Fira Sans SemiBold"/>
                  <a:ea typeface="Fira Sans SemiBold"/>
                  <a:cs typeface="Fira Sans SemiBold"/>
                  <a:sym typeface="Fira Sans SemiBold"/>
                </a:rPr>
                <a:t>year old youths</a:t>
              </a:r>
              <a:endParaRPr>
                <a:solidFill>
                  <a:srgbClr val="E97132"/>
                </a:solidFill>
                <a:latin typeface="Fira Sans SemiBold"/>
                <a:ea typeface="Fira Sans SemiBold"/>
                <a:cs typeface="Fira Sans SemiBold"/>
                <a:sym typeface="Fira Sans SemiBold"/>
              </a:endParaRPr>
            </a:p>
          </p:txBody>
        </p:sp>
      </p:grpSp>
      <p:sp>
        <p:nvSpPr>
          <p:cNvPr id="186" name="Google Shape;186;p14"/>
          <p:cNvSpPr/>
          <p:nvPr/>
        </p:nvSpPr>
        <p:spPr>
          <a:xfrm>
            <a:off x="4633700" y="464700"/>
            <a:ext cx="3798300" cy="67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200">
                <a:solidFill>
                  <a:schemeClr val="dk1"/>
                </a:solidFill>
                <a:latin typeface="Fira Sans Extra Condensed Medium"/>
                <a:ea typeface="Fira Sans Extra Condensed Medium"/>
                <a:cs typeface="Fira Sans Extra Condensed Medium"/>
                <a:sym typeface="Fira Sans Extra Condensed Medium"/>
              </a:rPr>
              <a:t>Overall Concept</a:t>
            </a:r>
            <a:endParaRPr sz="3200">
              <a:solidFill>
                <a:schemeClr val="dk1"/>
              </a:solidFill>
              <a:latin typeface="Fira Sans Extra Condensed Medium"/>
              <a:ea typeface="Fira Sans Extra Condensed Medium"/>
              <a:cs typeface="Fira Sans Extra Condensed Medium"/>
              <a:sym typeface="Fira Sans Extra Condensed Medium"/>
            </a:endParaRPr>
          </a:p>
        </p:txBody>
      </p:sp>
      <p:grpSp>
        <p:nvGrpSpPr>
          <p:cNvPr id="187" name="Google Shape;187;p14"/>
          <p:cNvGrpSpPr/>
          <p:nvPr/>
        </p:nvGrpSpPr>
        <p:grpSpPr>
          <a:xfrm>
            <a:off x="6763050" y="3756400"/>
            <a:ext cx="2165475" cy="670800"/>
            <a:chOff x="6741250" y="2891913"/>
            <a:chExt cx="2165475" cy="670800"/>
          </a:xfrm>
        </p:grpSpPr>
        <p:sp>
          <p:nvSpPr>
            <p:cNvPr id="188" name="Google Shape;188;p14"/>
            <p:cNvSpPr txBox="1"/>
            <p:nvPr/>
          </p:nvSpPr>
          <p:spPr>
            <a:xfrm>
              <a:off x="7428625" y="2891913"/>
              <a:ext cx="1478100" cy="6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rgbClr val="63A5CD"/>
                  </a:solidFill>
                  <a:latin typeface="Fira Sans SemiBold"/>
                  <a:ea typeface="Fira Sans SemiBold"/>
                  <a:cs typeface="Fira Sans SemiBold"/>
                  <a:sym typeface="Fira Sans SemiBold"/>
                </a:rPr>
                <a:t>18+</a:t>
              </a:r>
              <a:endParaRPr sz="2100">
                <a:solidFill>
                  <a:srgbClr val="63A5CD"/>
                </a:solidFill>
                <a:latin typeface="Fira Sans SemiBold"/>
                <a:ea typeface="Fira Sans SemiBold"/>
                <a:cs typeface="Fira Sans SemiBold"/>
                <a:sym typeface="Fira Sans SemiBold"/>
              </a:endParaRPr>
            </a:p>
            <a:p>
              <a:pPr marL="0" lvl="0" indent="0" algn="l" rtl="0">
                <a:spcBef>
                  <a:spcPts val="0"/>
                </a:spcBef>
                <a:spcAft>
                  <a:spcPts val="0"/>
                </a:spcAft>
                <a:buNone/>
              </a:pPr>
              <a:r>
                <a:rPr lang="en">
                  <a:solidFill>
                    <a:srgbClr val="63A5CD"/>
                  </a:solidFill>
                  <a:latin typeface="Fira Sans SemiBold"/>
                  <a:ea typeface="Fira Sans SemiBold"/>
                  <a:cs typeface="Fira Sans SemiBold"/>
                  <a:sym typeface="Fira Sans SemiBold"/>
                </a:rPr>
                <a:t>year old adults</a:t>
              </a:r>
              <a:endParaRPr>
                <a:solidFill>
                  <a:srgbClr val="63A5CD"/>
                </a:solidFill>
                <a:latin typeface="Fira Sans SemiBold"/>
                <a:ea typeface="Fira Sans SemiBold"/>
                <a:cs typeface="Fira Sans SemiBold"/>
                <a:sym typeface="Fira Sans SemiBold"/>
              </a:endParaRPr>
            </a:p>
          </p:txBody>
        </p:sp>
        <p:pic>
          <p:nvPicPr>
            <p:cNvPr id="189" name="Google Shape;189;p14"/>
            <p:cNvPicPr preferRelativeResize="0"/>
            <p:nvPr/>
          </p:nvPicPr>
          <p:blipFill>
            <a:blip r:embed="rId5">
              <a:alphaModFix/>
            </a:blip>
            <a:stretch>
              <a:fillRect/>
            </a:stretch>
          </p:blipFill>
          <p:spPr>
            <a:xfrm>
              <a:off x="6741250" y="2967713"/>
              <a:ext cx="560575" cy="560575"/>
            </a:xfrm>
            <a:prstGeom prst="rect">
              <a:avLst/>
            </a:prstGeom>
            <a:noFill/>
            <a:ln>
              <a:noFill/>
            </a:ln>
          </p:spPr>
        </p:pic>
      </p:grpSp>
      <p:grpSp>
        <p:nvGrpSpPr>
          <p:cNvPr id="190" name="Google Shape;190;p14"/>
          <p:cNvGrpSpPr/>
          <p:nvPr/>
        </p:nvGrpSpPr>
        <p:grpSpPr>
          <a:xfrm>
            <a:off x="5555250" y="2637125"/>
            <a:ext cx="2340250" cy="670808"/>
            <a:chOff x="1018887" y="1155100"/>
            <a:chExt cx="2340250" cy="670808"/>
          </a:xfrm>
        </p:grpSpPr>
        <p:pic>
          <p:nvPicPr>
            <p:cNvPr id="191" name="Google Shape;191;p14"/>
            <p:cNvPicPr preferRelativeResize="0"/>
            <p:nvPr/>
          </p:nvPicPr>
          <p:blipFill>
            <a:blip r:embed="rId6">
              <a:alphaModFix/>
            </a:blip>
            <a:stretch>
              <a:fillRect/>
            </a:stretch>
          </p:blipFill>
          <p:spPr>
            <a:xfrm>
              <a:off x="1018887" y="1267376"/>
              <a:ext cx="560575" cy="558532"/>
            </a:xfrm>
            <a:prstGeom prst="rect">
              <a:avLst/>
            </a:prstGeom>
            <a:noFill/>
            <a:ln>
              <a:noFill/>
            </a:ln>
          </p:spPr>
        </p:pic>
        <p:sp>
          <p:nvSpPr>
            <p:cNvPr id="192" name="Google Shape;192;p14"/>
            <p:cNvSpPr txBox="1"/>
            <p:nvPr/>
          </p:nvSpPr>
          <p:spPr>
            <a:xfrm>
              <a:off x="1683038" y="1155100"/>
              <a:ext cx="1676100" cy="6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rgbClr val="A2A2A2"/>
                  </a:solidFill>
                  <a:latin typeface="Fira Sans SemiBold"/>
                  <a:ea typeface="Fira Sans SemiBold"/>
                  <a:cs typeface="Fira Sans SemiBold"/>
                  <a:sym typeface="Fira Sans SemiBold"/>
                </a:rPr>
                <a:t>0-11</a:t>
              </a:r>
              <a:endParaRPr sz="2100">
                <a:solidFill>
                  <a:srgbClr val="A2A2A2"/>
                </a:solidFill>
                <a:latin typeface="Fira Sans SemiBold"/>
                <a:ea typeface="Fira Sans SemiBold"/>
                <a:cs typeface="Fira Sans SemiBold"/>
                <a:sym typeface="Fira Sans SemiBold"/>
              </a:endParaRPr>
            </a:p>
            <a:p>
              <a:pPr marL="0" lvl="0" indent="0" algn="l" rtl="0">
                <a:spcBef>
                  <a:spcPts val="0"/>
                </a:spcBef>
                <a:spcAft>
                  <a:spcPts val="0"/>
                </a:spcAft>
                <a:buNone/>
              </a:pPr>
              <a:r>
                <a:rPr lang="en">
                  <a:solidFill>
                    <a:srgbClr val="A2A2A2"/>
                  </a:solidFill>
                  <a:latin typeface="Fira Sans SemiBold"/>
                  <a:ea typeface="Fira Sans SemiBold"/>
                  <a:cs typeface="Fira Sans SemiBold"/>
                  <a:sym typeface="Fira Sans SemiBold"/>
                </a:rPr>
                <a:t>year old children</a:t>
              </a:r>
              <a:endParaRPr>
                <a:solidFill>
                  <a:srgbClr val="A2A2A2"/>
                </a:solidFill>
                <a:latin typeface="Fira Sans SemiBold"/>
                <a:ea typeface="Fira Sans SemiBold"/>
                <a:cs typeface="Fira Sans SemiBold"/>
                <a:sym typeface="Fira Sans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5"/>
          <p:cNvSpPr/>
          <p:nvPr/>
        </p:nvSpPr>
        <p:spPr>
          <a:xfrm>
            <a:off x="2672850" y="239500"/>
            <a:ext cx="3798300" cy="67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200">
                <a:solidFill>
                  <a:schemeClr val="dk1"/>
                </a:solidFill>
                <a:latin typeface="Fira Sans Extra Condensed Medium"/>
                <a:ea typeface="Fira Sans Extra Condensed Medium"/>
                <a:cs typeface="Fira Sans Extra Condensed Medium"/>
                <a:sym typeface="Fira Sans Extra Condensed Medium"/>
              </a:rPr>
              <a:t>Data Sources</a:t>
            </a:r>
            <a:endParaRPr sz="3200">
              <a:solidFill>
                <a:schemeClr val="dk1"/>
              </a:solidFill>
              <a:latin typeface="Fira Sans Extra Condensed Medium"/>
              <a:ea typeface="Fira Sans Extra Condensed Medium"/>
              <a:cs typeface="Fira Sans Extra Condensed Medium"/>
              <a:sym typeface="Fira Sans Extra Condensed Medium"/>
            </a:endParaRPr>
          </a:p>
        </p:txBody>
      </p:sp>
      <p:grpSp>
        <p:nvGrpSpPr>
          <p:cNvPr id="198" name="Google Shape;198;p15"/>
          <p:cNvGrpSpPr/>
          <p:nvPr/>
        </p:nvGrpSpPr>
        <p:grpSpPr>
          <a:xfrm>
            <a:off x="268617" y="2763571"/>
            <a:ext cx="1852720" cy="619066"/>
            <a:chOff x="4173750" y="2857525"/>
            <a:chExt cx="2213525" cy="739625"/>
          </a:xfrm>
        </p:grpSpPr>
        <p:pic>
          <p:nvPicPr>
            <p:cNvPr id="199" name="Google Shape;199;p15"/>
            <p:cNvPicPr preferRelativeResize="0"/>
            <p:nvPr/>
          </p:nvPicPr>
          <p:blipFill>
            <a:blip r:embed="rId3">
              <a:alphaModFix/>
            </a:blip>
            <a:stretch>
              <a:fillRect/>
            </a:stretch>
          </p:blipFill>
          <p:spPr>
            <a:xfrm>
              <a:off x="4173750" y="2857525"/>
              <a:ext cx="739625" cy="739625"/>
            </a:xfrm>
            <a:prstGeom prst="rect">
              <a:avLst/>
            </a:prstGeom>
            <a:noFill/>
            <a:ln>
              <a:noFill/>
            </a:ln>
          </p:spPr>
        </p:pic>
        <p:sp>
          <p:nvSpPr>
            <p:cNvPr id="200" name="Google Shape;200;p15"/>
            <p:cNvSpPr txBox="1"/>
            <p:nvPr/>
          </p:nvSpPr>
          <p:spPr>
            <a:xfrm>
              <a:off x="4913375" y="2891913"/>
              <a:ext cx="1473900" cy="6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E97132"/>
                  </a:solidFill>
                  <a:latin typeface="Fira Sans SemiBold"/>
                  <a:ea typeface="Fira Sans SemiBold"/>
                  <a:cs typeface="Fira Sans SemiBold"/>
                  <a:sym typeface="Fira Sans SemiBold"/>
                </a:rPr>
                <a:t>12-17</a:t>
              </a:r>
              <a:endParaRPr sz="1800">
                <a:solidFill>
                  <a:srgbClr val="E97132"/>
                </a:solidFill>
                <a:latin typeface="Fira Sans SemiBold"/>
                <a:ea typeface="Fira Sans SemiBold"/>
                <a:cs typeface="Fira Sans SemiBold"/>
                <a:sym typeface="Fira Sans SemiBold"/>
              </a:endParaRPr>
            </a:p>
            <a:p>
              <a:pPr marL="0" lvl="0" indent="0" algn="l" rtl="0">
                <a:spcBef>
                  <a:spcPts val="0"/>
                </a:spcBef>
                <a:spcAft>
                  <a:spcPts val="0"/>
                </a:spcAft>
                <a:buNone/>
              </a:pPr>
              <a:r>
                <a:rPr lang="en" sz="1100">
                  <a:solidFill>
                    <a:srgbClr val="E97132"/>
                  </a:solidFill>
                  <a:latin typeface="Fira Sans SemiBold"/>
                  <a:ea typeface="Fira Sans SemiBold"/>
                  <a:cs typeface="Fira Sans SemiBold"/>
                  <a:sym typeface="Fira Sans SemiBold"/>
                </a:rPr>
                <a:t>year old youths</a:t>
              </a:r>
              <a:endParaRPr sz="1100">
                <a:solidFill>
                  <a:srgbClr val="E97132"/>
                </a:solidFill>
                <a:latin typeface="Fira Sans SemiBold"/>
                <a:ea typeface="Fira Sans SemiBold"/>
                <a:cs typeface="Fira Sans SemiBold"/>
                <a:sym typeface="Fira Sans SemiBold"/>
              </a:endParaRPr>
            </a:p>
          </p:txBody>
        </p:sp>
      </p:grpSp>
      <p:sp>
        <p:nvSpPr>
          <p:cNvPr id="201" name="Google Shape;201;p15"/>
          <p:cNvSpPr txBox="1"/>
          <p:nvPr/>
        </p:nvSpPr>
        <p:spPr>
          <a:xfrm>
            <a:off x="885768" y="3807681"/>
            <a:ext cx="1237200" cy="56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63A5CD"/>
                </a:solidFill>
                <a:latin typeface="Fira Sans SemiBold"/>
                <a:ea typeface="Fira Sans SemiBold"/>
                <a:cs typeface="Fira Sans SemiBold"/>
                <a:sym typeface="Fira Sans SemiBold"/>
              </a:rPr>
              <a:t>18+</a:t>
            </a:r>
            <a:endParaRPr sz="1800">
              <a:solidFill>
                <a:srgbClr val="63A5CD"/>
              </a:solidFill>
              <a:latin typeface="Fira Sans SemiBold"/>
              <a:ea typeface="Fira Sans SemiBold"/>
              <a:cs typeface="Fira Sans SemiBold"/>
              <a:sym typeface="Fira Sans SemiBold"/>
            </a:endParaRPr>
          </a:p>
          <a:p>
            <a:pPr marL="0" lvl="0" indent="0" algn="l" rtl="0">
              <a:spcBef>
                <a:spcPts val="0"/>
              </a:spcBef>
              <a:spcAft>
                <a:spcPts val="0"/>
              </a:spcAft>
              <a:buNone/>
            </a:pPr>
            <a:r>
              <a:rPr lang="en" sz="1100">
                <a:solidFill>
                  <a:srgbClr val="63A5CD"/>
                </a:solidFill>
                <a:latin typeface="Fira Sans SemiBold"/>
                <a:ea typeface="Fira Sans SemiBold"/>
                <a:cs typeface="Fira Sans SemiBold"/>
                <a:sym typeface="Fira Sans SemiBold"/>
              </a:rPr>
              <a:t>year old adults</a:t>
            </a:r>
            <a:endParaRPr sz="1100">
              <a:solidFill>
                <a:srgbClr val="63A5CD"/>
              </a:solidFill>
              <a:latin typeface="Fira Sans SemiBold"/>
              <a:ea typeface="Fira Sans SemiBold"/>
              <a:cs typeface="Fira Sans SemiBold"/>
              <a:sym typeface="Fira Sans SemiBold"/>
            </a:endParaRPr>
          </a:p>
        </p:txBody>
      </p:sp>
      <p:pic>
        <p:nvPicPr>
          <p:cNvPr id="202" name="Google Shape;202;p15"/>
          <p:cNvPicPr preferRelativeResize="0"/>
          <p:nvPr/>
        </p:nvPicPr>
        <p:blipFill>
          <a:blip r:embed="rId4">
            <a:alphaModFix/>
          </a:blip>
          <a:stretch>
            <a:fillRect/>
          </a:stretch>
        </p:blipFill>
        <p:spPr>
          <a:xfrm>
            <a:off x="310463" y="3871123"/>
            <a:ext cx="469178" cy="469179"/>
          </a:xfrm>
          <a:prstGeom prst="rect">
            <a:avLst/>
          </a:prstGeom>
          <a:noFill/>
          <a:ln>
            <a:noFill/>
          </a:ln>
        </p:spPr>
      </p:pic>
      <p:grpSp>
        <p:nvGrpSpPr>
          <p:cNvPr id="203" name="Google Shape;203;p15"/>
          <p:cNvGrpSpPr/>
          <p:nvPr/>
        </p:nvGrpSpPr>
        <p:grpSpPr>
          <a:xfrm>
            <a:off x="343661" y="1887634"/>
            <a:ext cx="1977036" cy="561460"/>
            <a:chOff x="815462" y="1404175"/>
            <a:chExt cx="2362050" cy="670800"/>
          </a:xfrm>
        </p:grpSpPr>
        <p:pic>
          <p:nvPicPr>
            <p:cNvPr id="204" name="Google Shape;204;p15"/>
            <p:cNvPicPr preferRelativeResize="0"/>
            <p:nvPr/>
          </p:nvPicPr>
          <p:blipFill>
            <a:blip r:embed="rId5">
              <a:alphaModFix/>
            </a:blip>
            <a:stretch>
              <a:fillRect/>
            </a:stretch>
          </p:blipFill>
          <p:spPr>
            <a:xfrm>
              <a:off x="815462" y="1460301"/>
              <a:ext cx="560575" cy="558532"/>
            </a:xfrm>
            <a:prstGeom prst="rect">
              <a:avLst/>
            </a:prstGeom>
            <a:noFill/>
            <a:ln>
              <a:noFill/>
            </a:ln>
          </p:spPr>
        </p:pic>
        <p:sp>
          <p:nvSpPr>
            <p:cNvPr id="205" name="Google Shape;205;p15"/>
            <p:cNvSpPr txBox="1"/>
            <p:nvPr/>
          </p:nvSpPr>
          <p:spPr>
            <a:xfrm>
              <a:off x="1501413" y="1404175"/>
              <a:ext cx="1676100" cy="6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A2A2A2"/>
                  </a:solidFill>
                  <a:latin typeface="Fira Sans SemiBold"/>
                  <a:ea typeface="Fira Sans SemiBold"/>
                  <a:cs typeface="Fira Sans SemiBold"/>
                  <a:sym typeface="Fira Sans SemiBold"/>
                </a:rPr>
                <a:t>0-11</a:t>
              </a:r>
              <a:endParaRPr sz="1800">
                <a:solidFill>
                  <a:srgbClr val="A2A2A2"/>
                </a:solidFill>
                <a:latin typeface="Fira Sans SemiBold"/>
                <a:ea typeface="Fira Sans SemiBold"/>
                <a:cs typeface="Fira Sans SemiBold"/>
                <a:sym typeface="Fira Sans SemiBold"/>
              </a:endParaRPr>
            </a:p>
            <a:p>
              <a:pPr marL="0" lvl="0" indent="0" algn="l" rtl="0">
                <a:spcBef>
                  <a:spcPts val="0"/>
                </a:spcBef>
                <a:spcAft>
                  <a:spcPts val="0"/>
                </a:spcAft>
                <a:buNone/>
              </a:pPr>
              <a:r>
                <a:rPr lang="en" sz="1100">
                  <a:solidFill>
                    <a:srgbClr val="A2A2A2"/>
                  </a:solidFill>
                  <a:latin typeface="Fira Sans SemiBold"/>
                  <a:ea typeface="Fira Sans SemiBold"/>
                  <a:cs typeface="Fira Sans SemiBold"/>
                  <a:sym typeface="Fira Sans SemiBold"/>
                </a:rPr>
                <a:t>year old children</a:t>
              </a:r>
              <a:endParaRPr sz="1100">
                <a:solidFill>
                  <a:srgbClr val="A2A2A2"/>
                </a:solidFill>
                <a:latin typeface="Fira Sans SemiBold"/>
                <a:ea typeface="Fira Sans SemiBold"/>
                <a:cs typeface="Fira Sans SemiBold"/>
                <a:sym typeface="Fira Sans SemiBold"/>
              </a:endParaRPr>
            </a:p>
          </p:txBody>
        </p:sp>
      </p:grpSp>
      <p:sp>
        <p:nvSpPr>
          <p:cNvPr id="206" name="Google Shape;206;p15"/>
          <p:cNvSpPr/>
          <p:nvPr/>
        </p:nvSpPr>
        <p:spPr>
          <a:xfrm>
            <a:off x="2249578" y="1840584"/>
            <a:ext cx="1237200" cy="561300"/>
          </a:xfrm>
          <a:prstGeom prst="rect">
            <a:avLst/>
          </a:prstGeom>
          <a:solidFill>
            <a:srgbClr val="CECE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Wong</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2020</a:t>
            </a:r>
            <a:endParaRPr sz="1200">
              <a:solidFill>
                <a:srgbClr val="434343"/>
              </a:solidFill>
              <a:latin typeface="Fira Sans"/>
              <a:ea typeface="Fira Sans"/>
              <a:cs typeface="Fira Sans"/>
              <a:sym typeface="Fira Sans"/>
            </a:endParaRPr>
          </a:p>
        </p:txBody>
      </p:sp>
      <p:sp>
        <p:nvSpPr>
          <p:cNvPr id="207" name="Google Shape;207;p15"/>
          <p:cNvSpPr/>
          <p:nvPr/>
        </p:nvSpPr>
        <p:spPr>
          <a:xfrm>
            <a:off x="2249578" y="2824138"/>
            <a:ext cx="1237200" cy="561300"/>
          </a:xfrm>
          <a:prstGeom prst="rect">
            <a:avLst/>
          </a:prstGeom>
          <a:solidFill>
            <a:schemeClr val="accen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YRBS</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2017, 2019, 2021</a:t>
            </a:r>
            <a:endParaRPr sz="1200">
              <a:solidFill>
                <a:srgbClr val="434343"/>
              </a:solidFill>
              <a:latin typeface="Fira Sans"/>
              <a:ea typeface="Fira Sans"/>
              <a:cs typeface="Fira Sans"/>
              <a:sym typeface="Fira Sans"/>
            </a:endParaRPr>
          </a:p>
        </p:txBody>
      </p:sp>
      <p:sp>
        <p:nvSpPr>
          <p:cNvPr id="208" name="Google Shape;208;p15"/>
          <p:cNvSpPr/>
          <p:nvPr/>
        </p:nvSpPr>
        <p:spPr>
          <a:xfrm>
            <a:off x="5088838" y="2827234"/>
            <a:ext cx="1237200" cy="561300"/>
          </a:xfrm>
          <a:prstGeom prst="rect">
            <a:avLst/>
          </a:prstGeom>
          <a:solidFill>
            <a:schemeClr val="accen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NHANES</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2021, 2023</a:t>
            </a:r>
            <a:endParaRPr sz="1200">
              <a:solidFill>
                <a:srgbClr val="434343"/>
              </a:solidFill>
              <a:latin typeface="Fira Sans"/>
              <a:ea typeface="Fira Sans"/>
              <a:cs typeface="Fira Sans"/>
              <a:sym typeface="Fira Sans"/>
            </a:endParaRPr>
          </a:p>
        </p:txBody>
      </p:sp>
      <p:sp>
        <p:nvSpPr>
          <p:cNvPr id="209" name="Google Shape;209;p15"/>
          <p:cNvSpPr/>
          <p:nvPr/>
        </p:nvSpPr>
        <p:spPr>
          <a:xfrm>
            <a:off x="3690488" y="2822914"/>
            <a:ext cx="1237200" cy="561300"/>
          </a:xfrm>
          <a:prstGeom prst="rect">
            <a:avLst/>
          </a:prstGeom>
          <a:solidFill>
            <a:srgbClr val="FFAB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Wong</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2020</a:t>
            </a:r>
            <a:endParaRPr sz="1200">
              <a:solidFill>
                <a:srgbClr val="434343"/>
              </a:solidFill>
              <a:latin typeface="Fira Sans"/>
              <a:ea typeface="Fira Sans"/>
              <a:cs typeface="Fira Sans"/>
              <a:sym typeface="Fira Sans"/>
            </a:endParaRPr>
          </a:p>
        </p:txBody>
      </p:sp>
      <p:sp>
        <p:nvSpPr>
          <p:cNvPr id="210" name="Google Shape;210;p15"/>
          <p:cNvSpPr/>
          <p:nvPr/>
        </p:nvSpPr>
        <p:spPr>
          <a:xfrm>
            <a:off x="3690488" y="3807692"/>
            <a:ext cx="1237200" cy="561300"/>
          </a:xfrm>
          <a:prstGeom prst="rect">
            <a:avLst/>
          </a:prstGeom>
          <a:solidFill>
            <a:srgbClr val="7AC6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GSS</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2024</a:t>
            </a:r>
            <a:endParaRPr sz="1200">
              <a:solidFill>
                <a:srgbClr val="434343"/>
              </a:solidFill>
              <a:latin typeface="Fira Sans"/>
              <a:ea typeface="Fira Sans"/>
              <a:cs typeface="Fira Sans"/>
              <a:sym typeface="Fira Sans"/>
            </a:endParaRPr>
          </a:p>
        </p:txBody>
      </p:sp>
      <p:sp>
        <p:nvSpPr>
          <p:cNvPr id="211" name="Google Shape;211;p15"/>
          <p:cNvSpPr/>
          <p:nvPr/>
        </p:nvSpPr>
        <p:spPr>
          <a:xfrm>
            <a:off x="2249578" y="3807692"/>
            <a:ext cx="1237200" cy="561300"/>
          </a:xfrm>
          <a:prstGeom prst="rect">
            <a:avLst/>
          </a:prstGeom>
          <a:solidFill>
            <a:srgbClr val="7AC6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Soundankar 2019-2024</a:t>
            </a:r>
            <a:endParaRPr sz="1200">
              <a:solidFill>
                <a:srgbClr val="434343"/>
              </a:solidFill>
              <a:latin typeface="Fira Sans"/>
              <a:ea typeface="Fira Sans"/>
              <a:cs typeface="Fira Sans"/>
              <a:sym typeface="Fira Sans"/>
            </a:endParaRPr>
          </a:p>
        </p:txBody>
      </p:sp>
      <p:sp>
        <p:nvSpPr>
          <p:cNvPr id="212" name="Google Shape;212;p15"/>
          <p:cNvSpPr/>
          <p:nvPr/>
        </p:nvSpPr>
        <p:spPr>
          <a:xfrm>
            <a:off x="3690488" y="1838125"/>
            <a:ext cx="1237200" cy="561300"/>
          </a:xfrm>
          <a:prstGeom prst="rect">
            <a:avLst/>
          </a:prstGeom>
          <a:solidFill>
            <a:srgbClr val="CECE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Kumar</a:t>
            </a:r>
            <a:endParaRPr sz="1200">
              <a:solidFill>
                <a:srgbClr val="434343"/>
              </a:solidFill>
              <a:latin typeface="Fira Sans"/>
              <a:ea typeface="Fira Sans"/>
              <a:cs typeface="Fira Sans"/>
              <a:sym typeface="Fira Sans"/>
            </a:endParaRPr>
          </a:p>
          <a:p>
            <a:pPr marL="0" lvl="0" indent="0" algn="ctr" rtl="0">
              <a:spcBef>
                <a:spcPts val="0"/>
              </a:spcBef>
              <a:spcAft>
                <a:spcPts val="0"/>
              </a:spcAft>
              <a:buNone/>
            </a:pPr>
            <a:r>
              <a:rPr lang="en" sz="1200">
                <a:solidFill>
                  <a:srgbClr val="434343"/>
                </a:solidFill>
                <a:latin typeface="Fira Sans"/>
                <a:ea typeface="Fira Sans"/>
                <a:cs typeface="Fira Sans"/>
                <a:sym typeface="Fira Sans"/>
              </a:rPr>
              <a:t>2025</a:t>
            </a:r>
            <a:endParaRPr sz="1200">
              <a:solidFill>
                <a:srgbClr val="434343"/>
              </a:solidFill>
              <a:latin typeface="Fira Sans"/>
              <a:ea typeface="Fira Sans"/>
              <a:cs typeface="Fira Sans"/>
              <a:sym typeface="Fira Sans"/>
            </a:endParaRPr>
          </a:p>
        </p:txBody>
      </p:sp>
      <p:sp>
        <p:nvSpPr>
          <p:cNvPr id="213" name="Google Shape;213;p15"/>
          <p:cNvSpPr txBox="1"/>
          <p:nvPr/>
        </p:nvSpPr>
        <p:spPr>
          <a:xfrm>
            <a:off x="6670450" y="1140700"/>
            <a:ext cx="2147100" cy="3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Fira Sans"/>
                <a:ea typeface="Fira Sans"/>
                <a:cs typeface="Fira Sans"/>
                <a:sym typeface="Fira Sans"/>
              </a:rPr>
              <a:t>Notable characteristics</a:t>
            </a:r>
            <a:endParaRPr b="1">
              <a:solidFill>
                <a:schemeClr val="dk2"/>
              </a:solidFill>
              <a:latin typeface="Fira Sans"/>
              <a:ea typeface="Fira Sans"/>
              <a:cs typeface="Fira Sans"/>
              <a:sym typeface="Fira Sans"/>
            </a:endParaRPr>
          </a:p>
        </p:txBody>
      </p:sp>
      <p:cxnSp>
        <p:nvCxnSpPr>
          <p:cNvPr id="214" name="Google Shape;214;p15"/>
          <p:cNvCxnSpPr/>
          <p:nvPr/>
        </p:nvCxnSpPr>
        <p:spPr>
          <a:xfrm>
            <a:off x="6486775" y="1827775"/>
            <a:ext cx="0" cy="2755500"/>
          </a:xfrm>
          <a:prstGeom prst="straightConnector1">
            <a:avLst/>
          </a:prstGeom>
          <a:noFill/>
          <a:ln w="9525" cap="flat" cmpd="sng">
            <a:solidFill>
              <a:schemeClr val="dk2"/>
            </a:solidFill>
            <a:prstDash val="solid"/>
            <a:round/>
            <a:headEnd type="none" w="med" len="med"/>
            <a:tailEnd type="none" w="med" len="med"/>
          </a:ln>
        </p:spPr>
      </p:cxnSp>
      <p:sp>
        <p:nvSpPr>
          <p:cNvPr id="215" name="Google Shape;215;p15"/>
          <p:cNvSpPr txBox="1"/>
          <p:nvPr/>
        </p:nvSpPr>
        <p:spPr>
          <a:xfrm>
            <a:off x="457200" y="1103950"/>
            <a:ext cx="5349600" cy="46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2"/>
                </a:solidFill>
                <a:latin typeface="Fira Sans"/>
                <a:ea typeface="Fira Sans"/>
                <a:cs typeface="Fira Sans"/>
                <a:sym typeface="Fira Sans"/>
              </a:rPr>
              <a:t>Variety of datasets across different years and sources</a:t>
            </a:r>
            <a:endParaRPr sz="1600" b="1">
              <a:solidFill>
                <a:schemeClr val="dk2"/>
              </a:solidFill>
              <a:latin typeface="Fira Sans"/>
              <a:ea typeface="Fira Sans"/>
              <a:cs typeface="Fira Sans"/>
              <a:sym typeface="Fira Sans"/>
            </a:endParaRPr>
          </a:p>
        </p:txBody>
      </p:sp>
      <p:sp>
        <p:nvSpPr>
          <p:cNvPr id="216" name="Google Shape;216;p15"/>
          <p:cNvSpPr/>
          <p:nvPr/>
        </p:nvSpPr>
        <p:spPr>
          <a:xfrm>
            <a:off x="6746332" y="1838125"/>
            <a:ext cx="1940400"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Educational vs Recreational screen time</a:t>
            </a:r>
            <a:endParaRPr sz="1200">
              <a:solidFill>
                <a:srgbClr val="434343"/>
              </a:solidFill>
              <a:latin typeface="Fira Sans"/>
              <a:ea typeface="Fira Sans"/>
              <a:cs typeface="Fira Sans"/>
              <a:sym typeface="Fira Sans"/>
            </a:endParaRPr>
          </a:p>
        </p:txBody>
      </p:sp>
      <p:sp>
        <p:nvSpPr>
          <p:cNvPr id="217" name="Google Shape;217;p15"/>
          <p:cNvSpPr/>
          <p:nvPr/>
        </p:nvSpPr>
        <p:spPr>
          <a:xfrm>
            <a:off x="6773807" y="2792450"/>
            <a:ext cx="1940400"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Ordinal Data</a:t>
            </a:r>
            <a:endParaRPr sz="1200">
              <a:solidFill>
                <a:srgbClr val="434343"/>
              </a:solidFill>
              <a:latin typeface="Fira Sans"/>
              <a:ea typeface="Fira Sans"/>
              <a:cs typeface="Fira Sans"/>
              <a:sym typeface="Fira Sans"/>
            </a:endParaRPr>
          </a:p>
        </p:txBody>
      </p:sp>
      <p:sp>
        <p:nvSpPr>
          <p:cNvPr id="218" name="Google Shape;218;p15"/>
          <p:cNvSpPr/>
          <p:nvPr/>
        </p:nvSpPr>
        <p:spPr>
          <a:xfrm>
            <a:off x="6773807" y="3825063"/>
            <a:ext cx="1940400"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34343"/>
                </a:solidFill>
                <a:latin typeface="Fira Sans"/>
                <a:ea typeface="Fira Sans"/>
                <a:cs typeface="Fira Sans"/>
                <a:sym typeface="Fira Sans"/>
              </a:rPr>
              <a:t>Self-Reported surveys</a:t>
            </a:r>
            <a:endParaRPr sz="1200">
              <a:solidFill>
                <a:srgbClr val="434343"/>
              </a:solidFill>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6"/>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Who’s really glued to the screen?</a:t>
            </a:r>
            <a:endParaRPr sz="2800">
              <a:latin typeface="Fira Sans Medium"/>
              <a:ea typeface="Fira Sans Medium"/>
              <a:cs typeface="Fira Sans Medium"/>
              <a:sym typeface="Fira Sans Medium"/>
            </a:endParaRPr>
          </a:p>
        </p:txBody>
      </p:sp>
      <p:grpSp>
        <p:nvGrpSpPr>
          <p:cNvPr id="224" name="Google Shape;224;p16"/>
          <p:cNvGrpSpPr/>
          <p:nvPr/>
        </p:nvGrpSpPr>
        <p:grpSpPr>
          <a:xfrm>
            <a:off x="1752600" y="1524362"/>
            <a:ext cx="2833725" cy="2053425"/>
            <a:chOff x="259250" y="1788200"/>
            <a:chExt cx="2833725" cy="2053425"/>
          </a:xfrm>
        </p:grpSpPr>
        <p:pic>
          <p:nvPicPr>
            <p:cNvPr id="225" name="Google Shape;225;p16"/>
            <p:cNvPicPr preferRelativeResize="0"/>
            <p:nvPr/>
          </p:nvPicPr>
          <p:blipFill>
            <a:blip r:embed="rId3">
              <a:alphaModFix/>
            </a:blip>
            <a:stretch>
              <a:fillRect/>
            </a:stretch>
          </p:blipFill>
          <p:spPr>
            <a:xfrm>
              <a:off x="259250" y="1788200"/>
              <a:ext cx="2833725" cy="2053425"/>
            </a:xfrm>
            <a:prstGeom prst="rect">
              <a:avLst/>
            </a:prstGeom>
            <a:noFill/>
            <a:ln>
              <a:noFill/>
            </a:ln>
          </p:spPr>
        </p:pic>
        <p:sp>
          <p:nvSpPr>
            <p:cNvPr id="226" name="Google Shape;226;p16"/>
            <p:cNvSpPr txBox="1"/>
            <p:nvPr/>
          </p:nvSpPr>
          <p:spPr>
            <a:xfrm>
              <a:off x="811404" y="2624151"/>
              <a:ext cx="4662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rgbClr val="277BB6"/>
                  </a:solidFill>
                </a:rPr>
                <a:t>5614</a:t>
              </a:r>
              <a:endParaRPr sz="1000" b="1">
                <a:solidFill>
                  <a:srgbClr val="277BB6"/>
                </a:solidFill>
              </a:endParaRPr>
            </a:p>
          </p:txBody>
        </p:sp>
        <p:sp>
          <p:nvSpPr>
            <p:cNvPr id="227" name="Google Shape;227;p16"/>
            <p:cNvSpPr txBox="1"/>
            <p:nvPr/>
          </p:nvSpPr>
          <p:spPr>
            <a:xfrm>
              <a:off x="1849501" y="2123325"/>
              <a:ext cx="671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rgbClr val="277BB6"/>
                  </a:solidFill>
                </a:rPr>
                <a:t>12001</a:t>
              </a:r>
              <a:endParaRPr sz="1000" b="1">
                <a:solidFill>
                  <a:srgbClr val="277BB6"/>
                </a:solidFill>
              </a:endParaRPr>
            </a:p>
          </p:txBody>
        </p:sp>
        <p:sp>
          <p:nvSpPr>
            <p:cNvPr id="228" name="Google Shape;228;p16"/>
            <p:cNvSpPr txBox="1"/>
            <p:nvPr/>
          </p:nvSpPr>
          <p:spPr>
            <a:xfrm>
              <a:off x="1178175" y="2169075"/>
              <a:ext cx="671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chemeClr val="accent1"/>
                  </a:solidFill>
                </a:rPr>
                <a:t>16363</a:t>
              </a:r>
              <a:endParaRPr sz="1000" b="1">
                <a:solidFill>
                  <a:schemeClr val="accent1"/>
                </a:solidFill>
              </a:endParaRPr>
            </a:p>
          </p:txBody>
        </p:sp>
        <p:sp>
          <p:nvSpPr>
            <p:cNvPr id="229" name="Google Shape;229;p16"/>
            <p:cNvSpPr txBox="1"/>
            <p:nvPr/>
          </p:nvSpPr>
          <p:spPr>
            <a:xfrm>
              <a:off x="2464101" y="2624151"/>
              <a:ext cx="4662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chemeClr val="accent1"/>
                  </a:solidFill>
                </a:rPr>
                <a:t>8358</a:t>
              </a:r>
              <a:endParaRPr sz="1000" b="1">
                <a:solidFill>
                  <a:schemeClr val="accent1"/>
                </a:solidFill>
              </a:endParaRPr>
            </a:p>
          </p:txBody>
        </p:sp>
      </p:grpSp>
      <p:pic>
        <p:nvPicPr>
          <p:cNvPr id="230" name="Google Shape;230;p16"/>
          <p:cNvPicPr preferRelativeResize="0"/>
          <p:nvPr/>
        </p:nvPicPr>
        <p:blipFill>
          <a:blip r:embed="rId4">
            <a:alphaModFix/>
          </a:blip>
          <a:stretch>
            <a:fillRect/>
          </a:stretch>
        </p:blipFill>
        <p:spPr>
          <a:xfrm>
            <a:off x="4786713" y="1635175"/>
            <a:ext cx="2552325" cy="1831800"/>
          </a:xfrm>
          <a:prstGeom prst="rect">
            <a:avLst/>
          </a:prstGeom>
          <a:noFill/>
          <a:ln>
            <a:noFill/>
          </a:ln>
        </p:spPr>
      </p:pic>
      <p:sp>
        <p:nvSpPr>
          <p:cNvPr id="231" name="Google Shape;231;p16"/>
          <p:cNvSpPr txBox="1"/>
          <p:nvPr/>
        </p:nvSpPr>
        <p:spPr>
          <a:xfrm>
            <a:off x="435750" y="4209438"/>
            <a:ext cx="82725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A </a:t>
            </a:r>
            <a:r>
              <a:rPr lang="en" b="1">
                <a:solidFill>
                  <a:schemeClr val="dk1"/>
                </a:solidFill>
                <a:latin typeface="Fira Sans"/>
                <a:ea typeface="Fira Sans"/>
                <a:cs typeface="Fira Sans"/>
                <a:sym typeface="Fira Sans"/>
              </a:rPr>
              <a:t>Chi-square test</a:t>
            </a:r>
            <a:r>
              <a:rPr lang="en">
                <a:solidFill>
                  <a:schemeClr val="dk1"/>
                </a:solidFill>
                <a:latin typeface="Fira Sans Light"/>
                <a:ea typeface="Fira Sans Light"/>
                <a:cs typeface="Fira Sans Light"/>
                <a:sym typeface="Fira Sans Light"/>
              </a:rPr>
              <a:t> shows a statistically significant difference (p-value = 0.0000 &lt; 0.05) in screen time between adults/youths &amp; children. A post-hoc standardized residuals test confirms that adults/youths spend more time on screens.</a:t>
            </a:r>
            <a:endParaRPr/>
          </a:p>
        </p:txBody>
      </p:sp>
      <p:sp>
        <p:nvSpPr>
          <p:cNvPr id="232" name="Google Shape;232;p16"/>
          <p:cNvSpPr txBox="1"/>
          <p:nvPr/>
        </p:nvSpPr>
        <p:spPr>
          <a:xfrm>
            <a:off x="435750" y="892675"/>
            <a:ext cx="829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While policies usually focus on children, a look at U.S. data reveals that </a:t>
            </a:r>
            <a:endParaRPr>
              <a:solidFill>
                <a:schemeClr val="dk1"/>
              </a:solidFill>
              <a:latin typeface="Fira Sans Light"/>
              <a:ea typeface="Fira Sans Light"/>
              <a:cs typeface="Fira Sans Light"/>
              <a:sym typeface="Fira Sans Light"/>
            </a:endParaRPr>
          </a:p>
          <a:p>
            <a:pPr marL="0" lvl="0" indent="0" algn="ctr" rtl="0">
              <a:spcBef>
                <a:spcPts val="0"/>
              </a:spcBef>
              <a:spcAft>
                <a:spcPts val="0"/>
              </a:spcAft>
              <a:buNone/>
            </a:pPr>
            <a:r>
              <a:rPr lang="en" b="1">
                <a:solidFill>
                  <a:schemeClr val="dk1"/>
                </a:solidFill>
                <a:latin typeface="Fira Sans"/>
                <a:ea typeface="Fira Sans"/>
                <a:cs typeface="Fira Sans"/>
                <a:sym typeface="Fira Sans"/>
              </a:rPr>
              <a:t>adults and youths spend more time on screens than children.</a:t>
            </a:r>
            <a:r>
              <a:rPr lang="en">
                <a:solidFill>
                  <a:schemeClr val="dk1"/>
                </a:solidFill>
                <a:latin typeface="Fira Sans Light"/>
                <a:ea typeface="Fira Sans Light"/>
                <a:cs typeface="Fira Sans Light"/>
                <a:sym typeface="Fira Sans Light"/>
              </a:rPr>
              <a:t> </a:t>
            </a:r>
            <a:endParaRPr/>
          </a:p>
        </p:txBody>
      </p:sp>
      <p:sp>
        <p:nvSpPr>
          <p:cNvPr id="233" name="Google Shape;233;p16"/>
          <p:cNvSpPr txBox="1"/>
          <p:nvPr/>
        </p:nvSpPr>
        <p:spPr>
          <a:xfrm>
            <a:off x="599925" y="3574813"/>
            <a:ext cx="7920000" cy="615600"/>
          </a:xfrm>
          <a:prstGeom prst="rect">
            <a:avLst/>
          </a:prstGeom>
          <a:solidFill>
            <a:srgbClr val="CECECE"/>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0</a:t>
            </a:r>
            <a:r>
              <a:rPr lang="en">
                <a:solidFill>
                  <a:schemeClr val="dk1"/>
                </a:solidFill>
                <a:latin typeface="Fira Sans Light"/>
                <a:ea typeface="Fira Sans Light"/>
                <a:cs typeface="Fira Sans Light"/>
                <a:sym typeface="Fira Sans Light"/>
              </a:rPr>
              <a:t>: Adults/youths screen time is the same as children screen time in US.</a:t>
            </a:r>
            <a:endParaRPr>
              <a:solidFill>
                <a:schemeClr val="dk1"/>
              </a:solidFill>
              <a:latin typeface="Fira Sans Light"/>
              <a:ea typeface="Fira Sans Light"/>
              <a:cs typeface="Fira Sans Light"/>
              <a:sym typeface="Fira Sans Light"/>
            </a:endParaRPr>
          </a:p>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1</a:t>
            </a:r>
            <a:r>
              <a:rPr lang="en">
                <a:solidFill>
                  <a:schemeClr val="dk1"/>
                </a:solidFill>
                <a:latin typeface="Fira Sans Light"/>
                <a:ea typeface="Fira Sans Light"/>
                <a:cs typeface="Fira Sans Light"/>
                <a:sym typeface="Fira Sans Light"/>
              </a:rPr>
              <a:t>: Adults/youths screen time is the different from children screen time in US.</a:t>
            </a:r>
            <a:endParaRPr>
              <a:solidFill>
                <a:schemeClr val="dk1"/>
              </a:solidFill>
              <a:latin typeface="Fira Sans Light"/>
              <a:ea typeface="Fira Sans Light"/>
              <a:cs typeface="Fira Sans Light"/>
              <a:sym typeface="Fira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7"/>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Is the digital surge a recent trend?</a:t>
            </a:r>
            <a:endParaRPr sz="2800">
              <a:latin typeface="Fira Sans Medium"/>
              <a:ea typeface="Fira Sans Medium"/>
              <a:cs typeface="Fira Sans Medium"/>
              <a:sym typeface="Fira Sans Medium"/>
            </a:endParaRPr>
          </a:p>
        </p:txBody>
      </p:sp>
      <p:sp>
        <p:nvSpPr>
          <p:cNvPr id="239" name="Google Shape;239;p17"/>
          <p:cNvSpPr txBox="1"/>
          <p:nvPr/>
        </p:nvSpPr>
        <p:spPr>
          <a:xfrm>
            <a:off x="435750" y="994375"/>
            <a:ext cx="829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U.S. youth social media use was already on the rise, </a:t>
            </a:r>
            <a:br>
              <a:rPr lang="en">
                <a:solidFill>
                  <a:schemeClr val="dk1"/>
                </a:solidFill>
                <a:latin typeface="Fira Sans Light"/>
                <a:ea typeface="Fira Sans Light"/>
                <a:cs typeface="Fira Sans Light"/>
                <a:sym typeface="Fira Sans Light"/>
              </a:rPr>
            </a:br>
            <a:r>
              <a:rPr lang="en">
                <a:solidFill>
                  <a:schemeClr val="dk1"/>
                </a:solidFill>
                <a:latin typeface="Fira Sans Light"/>
                <a:ea typeface="Fira Sans Light"/>
                <a:cs typeface="Fira Sans Light"/>
                <a:sym typeface="Fira Sans Light"/>
              </a:rPr>
              <a:t>but the </a:t>
            </a:r>
            <a:r>
              <a:rPr lang="en" b="1">
                <a:solidFill>
                  <a:schemeClr val="dk1"/>
                </a:solidFill>
                <a:latin typeface="Fira Sans"/>
                <a:ea typeface="Fira Sans"/>
                <a:cs typeface="Fira Sans"/>
                <a:sym typeface="Fira Sans"/>
              </a:rPr>
              <a:t>pandemic triggered a massive acceleration between 2019 and 2021.</a:t>
            </a:r>
            <a:endParaRPr b="1"/>
          </a:p>
        </p:txBody>
      </p:sp>
      <p:sp>
        <p:nvSpPr>
          <p:cNvPr id="240" name="Google Shape;240;p17"/>
          <p:cNvSpPr txBox="1"/>
          <p:nvPr/>
        </p:nvSpPr>
        <p:spPr>
          <a:xfrm>
            <a:off x="4747175" y="3860425"/>
            <a:ext cx="4091400" cy="1046700"/>
          </a:xfrm>
          <a:prstGeom prst="rect">
            <a:avLst/>
          </a:prstGeom>
          <a:solidFill>
            <a:srgbClr val="CECECE"/>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chemeClr val="dk1"/>
                </a:solidFill>
                <a:latin typeface="Fira Sans Light"/>
                <a:ea typeface="Fira Sans Light"/>
                <a:cs typeface="Fira Sans Light"/>
                <a:sym typeface="Fira Sans Light"/>
              </a:rPr>
              <a:t>A </a:t>
            </a:r>
            <a:r>
              <a:rPr lang="en" b="1">
                <a:solidFill>
                  <a:schemeClr val="dk1"/>
                </a:solidFill>
                <a:latin typeface="Fira Sans"/>
                <a:ea typeface="Fira Sans"/>
                <a:cs typeface="Fira Sans"/>
                <a:sym typeface="Fira Sans"/>
              </a:rPr>
              <a:t>Mann-Whitney U-test</a:t>
            </a:r>
            <a:r>
              <a:rPr lang="en">
                <a:solidFill>
                  <a:schemeClr val="dk1"/>
                </a:solidFill>
                <a:latin typeface="Fira Sans Light"/>
                <a:ea typeface="Fira Sans Light"/>
                <a:cs typeface="Fira Sans Light"/>
                <a:sym typeface="Fira Sans Light"/>
              </a:rPr>
              <a:t> showed an increase in youth social media usage from 2017 to 2019 (p-value = 0.0042 &lt; 0.05), and a significant surge in from 2019 to 2021 (p-value = 0.0000 &lt; 0.05).</a:t>
            </a:r>
            <a:endParaRPr/>
          </a:p>
        </p:txBody>
      </p:sp>
      <p:grpSp>
        <p:nvGrpSpPr>
          <p:cNvPr id="241" name="Google Shape;241;p17"/>
          <p:cNvGrpSpPr/>
          <p:nvPr/>
        </p:nvGrpSpPr>
        <p:grpSpPr>
          <a:xfrm>
            <a:off x="75663" y="1711675"/>
            <a:ext cx="4523026" cy="3205600"/>
            <a:chOff x="341288" y="1619150"/>
            <a:chExt cx="4523026" cy="3205600"/>
          </a:xfrm>
        </p:grpSpPr>
        <p:pic>
          <p:nvPicPr>
            <p:cNvPr id="242" name="Google Shape;242;p17" title="download.png"/>
            <p:cNvPicPr preferRelativeResize="0"/>
            <p:nvPr/>
          </p:nvPicPr>
          <p:blipFill rotWithShape="1">
            <a:blip r:embed="rId3">
              <a:alphaModFix/>
            </a:blip>
            <a:srcRect t="543" b="553"/>
            <a:stretch/>
          </p:blipFill>
          <p:spPr>
            <a:xfrm>
              <a:off x="341288" y="1949325"/>
              <a:ext cx="4523026" cy="2554425"/>
            </a:xfrm>
            <a:prstGeom prst="rect">
              <a:avLst/>
            </a:prstGeom>
            <a:noFill/>
            <a:ln>
              <a:noFill/>
            </a:ln>
          </p:spPr>
        </p:pic>
        <p:cxnSp>
          <p:nvCxnSpPr>
            <p:cNvPr id="243" name="Google Shape;243;p17"/>
            <p:cNvCxnSpPr/>
            <p:nvPr/>
          </p:nvCxnSpPr>
          <p:spPr>
            <a:xfrm flipH="1">
              <a:off x="2525650" y="1925725"/>
              <a:ext cx="10800" cy="2354400"/>
            </a:xfrm>
            <a:prstGeom prst="straightConnector1">
              <a:avLst/>
            </a:prstGeom>
            <a:noFill/>
            <a:ln w="19050" cap="flat" cmpd="sng">
              <a:solidFill>
                <a:srgbClr val="FF0000"/>
              </a:solidFill>
              <a:prstDash val="dash"/>
              <a:round/>
              <a:headEnd type="none" w="med" len="med"/>
              <a:tailEnd type="none" w="med" len="med"/>
            </a:ln>
          </p:spPr>
        </p:cxnSp>
        <p:sp>
          <p:nvSpPr>
            <p:cNvPr id="244" name="Google Shape;244;p17"/>
            <p:cNvSpPr txBox="1"/>
            <p:nvPr/>
          </p:nvSpPr>
          <p:spPr>
            <a:xfrm>
              <a:off x="1819375" y="1619150"/>
              <a:ext cx="1541100" cy="32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rgbClr val="D62A2A"/>
                  </a:solidFill>
                  <a:latin typeface="Fira Sans"/>
                  <a:ea typeface="Fira Sans"/>
                  <a:cs typeface="Fira Sans"/>
                  <a:sym typeface="Fira Sans"/>
                </a:rPr>
                <a:t>Covid-19 Pandemic</a:t>
              </a:r>
              <a:endParaRPr sz="1000" b="1">
                <a:solidFill>
                  <a:srgbClr val="D62A2A"/>
                </a:solidFill>
                <a:latin typeface="Fira Sans"/>
                <a:ea typeface="Fira Sans"/>
                <a:cs typeface="Fira Sans"/>
                <a:sym typeface="Fira Sans"/>
              </a:endParaRPr>
            </a:p>
          </p:txBody>
        </p:sp>
        <p:cxnSp>
          <p:nvCxnSpPr>
            <p:cNvPr id="245" name="Google Shape;245;p17"/>
            <p:cNvCxnSpPr>
              <a:stCxn id="242" idx="2"/>
            </p:cNvCxnSpPr>
            <p:nvPr/>
          </p:nvCxnSpPr>
          <p:spPr>
            <a:xfrm>
              <a:off x="2602800" y="4503750"/>
              <a:ext cx="888600" cy="0"/>
            </a:xfrm>
            <a:prstGeom prst="straightConnector1">
              <a:avLst/>
            </a:prstGeom>
            <a:noFill/>
            <a:ln w="9525" cap="flat" cmpd="sng">
              <a:solidFill>
                <a:srgbClr val="D62A2A"/>
              </a:solidFill>
              <a:prstDash val="solid"/>
              <a:round/>
              <a:headEnd type="none" w="med" len="med"/>
              <a:tailEnd type="triangle" w="med" len="med"/>
            </a:ln>
          </p:spPr>
        </p:cxnSp>
        <p:sp>
          <p:nvSpPr>
            <p:cNvPr id="246" name="Google Shape;246;p17"/>
            <p:cNvSpPr txBox="1"/>
            <p:nvPr/>
          </p:nvSpPr>
          <p:spPr>
            <a:xfrm>
              <a:off x="2276550" y="4503750"/>
              <a:ext cx="1541100" cy="32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rgbClr val="D62A2A"/>
                  </a:solidFill>
                  <a:latin typeface="Fira Sans"/>
                  <a:ea typeface="Fira Sans"/>
                  <a:cs typeface="Fira Sans"/>
                  <a:sym typeface="Fira Sans"/>
                </a:rPr>
                <a:t>AI Boom</a:t>
              </a:r>
              <a:endParaRPr sz="1000" b="1">
                <a:solidFill>
                  <a:srgbClr val="D62A2A"/>
                </a:solidFill>
                <a:latin typeface="Fira Sans"/>
                <a:ea typeface="Fira Sans"/>
                <a:cs typeface="Fira Sans"/>
                <a:sym typeface="Fira Sans"/>
              </a:endParaRPr>
            </a:p>
          </p:txBody>
        </p:sp>
      </p:grpSp>
      <p:sp>
        <p:nvSpPr>
          <p:cNvPr id="247" name="Google Shape;247;p17"/>
          <p:cNvSpPr txBox="1"/>
          <p:nvPr/>
        </p:nvSpPr>
        <p:spPr>
          <a:xfrm>
            <a:off x="4747175" y="1711675"/>
            <a:ext cx="4091400" cy="615600"/>
          </a:xfrm>
          <a:prstGeom prst="rect">
            <a:avLst/>
          </a:prstGeom>
          <a:solidFill>
            <a:srgbClr val="CECECE"/>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0</a:t>
            </a:r>
            <a:r>
              <a:rPr lang="en">
                <a:solidFill>
                  <a:schemeClr val="dk1"/>
                </a:solidFill>
                <a:latin typeface="Fira Sans Light"/>
                <a:ea typeface="Fira Sans Light"/>
                <a:cs typeface="Fira Sans Light"/>
                <a:sym typeface="Fira Sans Light"/>
              </a:rPr>
              <a:t>:  Screen time in 2017/2019 ≥ 2019/2021.</a:t>
            </a:r>
            <a:endParaRPr>
              <a:solidFill>
                <a:schemeClr val="dk1"/>
              </a:solidFill>
              <a:latin typeface="Fira Sans Light"/>
              <a:ea typeface="Fira Sans Light"/>
              <a:cs typeface="Fira Sans Light"/>
              <a:sym typeface="Fira Sans Light"/>
            </a:endParaRPr>
          </a:p>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1</a:t>
            </a:r>
            <a:r>
              <a:rPr lang="en">
                <a:solidFill>
                  <a:schemeClr val="dk1"/>
                </a:solidFill>
                <a:latin typeface="Fira Sans Light"/>
                <a:ea typeface="Fira Sans Light"/>
                <a:cs typeface="Fira Sans Light"/>
                <a:sym typeface="Fira Sans Light"/>
              </a:rPr>
              <a:t>: Screen time in 2017/2019 &lt; 2019/2021.</a:t>
            </a:r>
            <a:endParaRPr>
              <a:solidFill>
                <a:schemeClr val="dk1"/>
              </a:solidFill>
              <a:latin typeface="Fira Sans Light"/>
              <a:ea typeface="Fira Sans Light"/>
              <a:cs typeface="Fira Sans Light"/>
              <a:sym typeface="Fira Sans Light"/>
            </a:endParaRPr>
          </a:p>
        </p:txBody>
      </p:sp>
      <p:sp>
        <p:nvSpPr>
          <p:cNvPr id="248" name="Google Shape;248;p17"/>
          <p:cNvSpPr txBox="1"/>
          <p:nvPr/>
        </p:nvSpPr>
        <p:spPr>
          <a:xfrm>
            <a:off x="4747175" y="2462800"/>
            <a:ext cx="4091400" cy="1262100"/>
          </a:xfrm>
          <a:prstGeom prst="rect">
            <a:avLst/>
          </a:prstGeom>
          <a:solidFill>
            <a:srgbClr val="CECECE"/>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Mann-Whitney U-test is a non-parametric method that tests on rank rather than absolute values. It is suitable for ordinal data or when T-test assumptions are not met. However, it has less statistical power than T-test.</a:t>
            </a:r>
            <a:endParaRPr>
              <a:solidFill>
                <a:schemeClr val="dk1"/>
              </a:solidFill>
              <a:latin typeface="Fira Sans Light"/>
              <a:ea typeface="Fira Sans Light"/>
              <a:cs typeface="Fira Sans Light"/>
              <a:sym typeface="Fira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p:nvPr/>
        </p:nvSpPr>
        <p:spPr>
          <a:xfrm>
            <a:off x="717400" y="217650"/>
            <a:ext cx="7723500" cy="89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What negative effects are associated with increased screen time? </a:t>
            </a:r>
            <a:endParaRPr sz="2800">
              <a:latin typeface="Fira Sans Medium"/>
              <a:ea typeface="Fira Sans Medium"/>
              <a:cs typeface="Fira Sans Medium"/>
              <a:sym typeface="Fira Sans Medium"/>
            </a:endParaRPr>
          </a:p>
        </p:txBody>
      </p:sp>
      <p:pic>
        <p:nvPicPr>
          <p:cNvPr id="254" name="Google Shape;254;p18"/>
          <p:cNvPicPr preferRelativeResize="0"/>
          <p:nvPr/>
        </p:nvPicPr>
        <p:blipFill>
          <a:blip r:embed="rId3">
            <a:alphaModFix/>
          </a:blip>
          <a:stretch>
            <a:fillRect/>
          </a:stretch>
        </p:blipFill>
        <p:spPr>
          <a:xfrm>
            <a:off x="246400" y="1478750"/>
            <a:ext cx="684725" cy="684725"/>
          </a:xfrm>
          <a:prstGeom prst="rect">
            <a:avLst/>
          </a:prstGeom>
          <a:noFill/>
          <a:ln>
            <a:noFill/>
          </a:ln>
        </p:spPr>
      </p:pic>
      <p:pic>
        <p:nvPicPr>
          <p:cNvPr id="255" name="Google Shape;255;p18"/>
          <p:cNvPicPr preferRelativeResize="0"/>
          <p:nvPr/>
        </p:nvPicPr>
        <p:blipFill>
          <a:blip r:embed="rId4">
            <a:alphaModFix/>
          </a:blip>
          <a:stretch>
            <a:fillRect/>
          </a:stretch>
        </p:blipFill>
        <p:spPr>
          <a:xfrm>
            <a:off x="217850" y="2577275"/>
            <a:ext cx="741825" cy="741825"/>
          </a:xfrm>
          <a:prstGeom prst="rect">
            <a:avLst/>
          </a:prstGeom>
          <a:noFill/>
          <a:ln>
            <a:noFill/>
          </a:ln>
        </p:spPr>
      </p:pic>
      <p:pic>
        <p:nvPicPr>
          <p:cNvPr id="256" name="Google Shape;256;p18"/>
          <p:cNvPicPr preferRelativeResize="0"/>
          <p:nvPr/>
        </p:nvPicPr>
        <p:blipFill>
          <a:blip r:embed="rId5">
            <a:alphaModFix/>
          </a:blip>
          <a:stretch>
            <a:fillRect/>
          </a:stretch>
        </p:blipFill>
        <p:spPr>
          <a:xfrm>
            <a:off x="217841" y="3732891"/>
            <a:ext cx="741825" cy="741825"/>
          </a:xfrm>
          <a:prstGeom prst="rect">
            <a:avLst/>
          </a:prstGeom>
          <a:noFill/>
          <a:ln>
            <a:noFill/>
          </a:ln>
        </p:spPr>
      </p:pic>
      <p:sp>
        <p:nvSpPr>
          <p:cNvPr id="257" name="Google Shape;257;p18"/>
          <p:cNvSpPr txBox="1"/>
          <p:nvPr/>
        </p:nvSpPr>
        <p:spPr>
          <a:xfrm>
            <a:off x="1242175" y="1390163"/>
            <a:ext cx="3303600" cy="861900"/>
          </a:xfrm>
          <a:prstGeom prst="rect">
            <a:avLst/>
          </a:prstGeom>
          <a:solidFill>
            <a:srgbClr val="CECECE"/>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100" b="1">
                <a:solidFill>
                  <a:schemeClr val="dk1"/>
                </a:solidFill>
                <a:latin typeface="Fira Sans"/>
                <a:ea typeface="Fira Sans"/>
                <a:cs typeface="Fira Sans"/>
                <a:sym typeface="Fira Sans"/>
              </a:rPr>
              <a:t>Physical Effects</a:t>
            </a:r>
            <a:endParaRPr sz="1100" b="1">
              <a:solidFill>
                <a:schemeClr val="dk1"/>
              </a:solidFill>
              <a:latin typeface="Fira Sans"/>
              <a:ea typeface="Fira Sans"/>
              <a:cs typeface="Fira Sans"/>
              <a:sym typeface="Fira Sans"/>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Eye Strain &amp; Myopia</a:t>
            </a:r>
            <a:endParaRPr sz="1100">
              <a:solidFill>
                <a:schemeClr val="dk1"/>
              </a:solidFill>
              <a:latin typeface="Fira Sans Light"/>
              <a:ea typeface="Fira Sans Light"/>
              <a:cs typeface="Fira Sans Light"/>
              <a:sym typeface="Fira Sans Light"/>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Sedentary Behaviour - Obesity, Elevated BP</a:t>
            </a:r>
            <a:endParaRPr sz="1100">
              <a:solidFill>
                <a:schemeClr val="dk1"/>
              </a:solidFill>
              <a:latin typeface="Fira Sans Light"/>
              <a:ea typeface="Fira Sans Light"/>
              <a:cs typeface="Fira Sans Light"/>
              <a:sym typeface="Fira Sans Light"/>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Shorter, poorer quality of sleep</a:t>
            </a:r>
            <a:endParaRPr sz="1100">
              <a:solidFill>
                <a:schemeClr val="dk1"/>
              </a:solidFill>
              <a:latin typeface="Fira Sans Light"/>
              <a:ea typeface="Fira Sans Light"/>
              <a:cs typeface="Fira Sans Light"/>
              <a:sym typeface="Fira Sans Light"/>
            </a:endParaRPr>
          </a:p>
        </p:txBody>
      </p:sp>
      <p:sp>
        <p:nvSpPr>
          <p:cNvPr id="258" name="Google Shape;258;p18"/>
          <p:cNvSpPr txBox="1"/>
          <p:nvPr/>
        </p:nvSpPr>
        <p:spPr>
          <a:xfrm>
            <a:off x="1242163" y="2601838"/>
            <a:ext cx="3303600" cy="692700"/>
          </a:xfrm>
          <a:prstGeom prst="rect">
            <a:avLst/>
          </a:prstGeom>
          <a:solidFill>
            <a:srgbClr val="CECECE"/>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100" b="1">
                <a:solidFill>
                  <a:schemeClr val="dk1"/>
                </a:solidFill>
                <a:latin typeface="Fira Sans"/>
                <a:ea typeface="Fira Sans"/>
                <a:cs typeface="Fira Sans"/>
                <a:sym typeface="Fira Sans"/>
              </a:rPr>
              <a:t>Behavioural &amp; Social</a:t>
            </a:r>
            <a:endParaRPr sz="1100" b="1">
              <a:solidFill>
                <a:schemeClr val="dk1"/>
              </a:solidFill>
              <a:latin typeface="Fira Sans"/>
              <a:ea typeface="Fira Sans"/>
              <a:cs typeface="Fira Sans"/>
              <a:sym typeface="Fira Sans"/>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Impulsivity &amp; Aggression</a:t>
            </a:r>
            <a:endParaRPr sz="1100">
              <a:solidFill>
                <a:schemeClr val="dk1"/>
              </a:solidFill>
              <a:latin typeface="Fira Sans Light"/>
              <a:ea typeface="Fira Sans Light"/>
              <a:cs typeface="Fira Sans Light"/>
              <a:sym typeface="Fira Sans Light"/>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Social Media: Driven comparison, cyber bullying</a:t>
            </a:r>
            <a:endParaRPr sz="1100">
              <a:solidFill>
                <a:schemeClr val="dk1"/>
              </a:solidFill>
              <a:latin typeface="Fira Sans Light"/>
              <a:ea typeface="Fira Sans Light"/>
              <a:cs typeface="Fira Sans Light"/>
              <a:sym typeface="Fira Sans Light"/>
            </a:endParaRPr>
          </a:p>
        </p:txBody>
      </p:sp>
      <p:sp>
        <p:nvSpPr>
          <p:cNvPr id="259" name="Google Shape;259;p18"/>
          <p:cNvSpPr txBox="1"/>
          <p:nvPr/>
        </p:nvSpPr>
        <p:spPr>
          <a:xfrm>
            <a:off x="1242175" y="3757450"/>
            <a:ext cx="3303600" cy="692700"/>
          </a:xfrm>
          <a:prstGeom prst="rect">
            <a:avLst/>
          </a:prstGeom>
          <a:solidFill>
            <a:srgbClr val="CECECE"/>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100" b="1">
                <a:solidFill>
                  <a:schemeClr val="dk1"/>
                </a:solidFill>
                <a:latin typeface="Fira Sans"/>
                <a:ea typeface="Fira Sans"/>
                <a:cs typeface="Fira Sans"/>
                <a:sym typeface="Fira Sans"/>
              </a:rPr>
              <a:t>Family &amp; Social Fabric</a:t>
            </a:r>
            <a:endParaRPr sz="1100" b="1">
              <a:solidFill>
                <a:schemeClr val="dk1"/>
              </a:solidFill>
              <a:latin typeface="Fira Sans"/>
              <a:ea typeface="Fira Sans"/>
              <a:cs typeface="Fira Sans"/>
              <a:sym typeface="Fira Sans"/>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Fewer shared meals / conversations</a:t>
            </a:r>
            <a:endParaRPr sz="1100">
              <a:solidFill>
                <a:schemeClr val="dk1"/>
              </a:solidFill>
              <a:latin typeface="Fira Sans Light"/>
              <a:ea typeface="Fira Sans Light"/>
              <a:cs typeface="Fira Sans Light"/>
              <a:sym typeface="Fira Sans Light"/>
            </a:endParaRPr>
          </a:p>
          <a:p>
            <a:pPr marL="0" lvl="0" indent="0" algn="just" rtl="0">
              <a:spcBef>
                <a:spcPts val="0"/>
              </a:spcBef>
              <a:spcAft>
                <a:spcPts val="0"/>
              </a:spcAft>
              <a:buNone/>
            </a:pPr>
            <a:r>
              <a:rPr lang="en" sz="1100">
                <a:solidFill>
                  <a:schemeClr val="dk1"/>
                </a:solidFill>
                <a:latin typeface="Fira Sans Light"/>
                <a:ea typeface="Fira Sans Light"/>
                <a:cs typeface="Fira Sans Light"/>
                <a:sym typeface="Fira Sans Light"/>
              </a:rPr>
              <a:t>- Parent–child conflict over device limits</a:t>
            </a:r>
            <a:endParaRPr sz="1100">
              <a:solidFill>
                <a:schemeClr val="dk1"/>
              </a:solidFill>
              <a:latin typeface="Fira Sans Light"/>
              <a:ea typeface="Fira Sans Light"/>
              <a:cs typeface="Fira Sans Light"/>
              <a:sym typeface="Fira Sans Light"/>
            </a:endParaRPr>
          </a:p>
        </p:txBody>
      </p:sp>
      <p:sp>
        <p:nvSpPr>
          <p:cNvPr id="260" name="Google Shape;260;p18"/>
          <p:cNvSpPr txBox="1"/>
          <p:nvPr/>
        </p:nvSpPr>
        <p:spPr>
          <a:xfrm>
            <a:off x="5964825" y="1390175"/>
            <a:ext cx="2940300" cy="1108200"/>
          </a:xfrm>
          <a:prstGeom prst="rect">
            <a:avLst/>
          </a:prstGeom>
          <a:solidFill>
            <a:srgbClr val="0078AE"/>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Fira Sans"/>
                <a:ea typeface="Fira Sans"/>
                <a:cs typeface="Fira Sans"/>
                <a:sym typeface="Fira Sans"/>
              </a:rPr>
              <a:t>Our Focus: Mental Health</a:t>
            </a:r>
            <a:endParaRPr sz="1200" b="1">
              <a:solidFill>
                <a:schemeClr val="lt1"/>
              </a:solidFill>
              <a:latin typeface="Fira Sans"/>
              <a:ea typeface="Fira Sans"/>
              <a:cs typeface="Fira Sans"/>
              <a:sym typeface="Fira Sans"/>
            </a:endParaRPr>
          </a:p>
          <a:p>
            <a:pPr marL="0" lvl="0" indent="0" algn="l" rtl="0">
              <a:spcBef>
                <a:spcPts val="0"/>
              </a:spcBef>
              <a:spcAft>
                <a:spcPts val="0"/>
              </a:spcAft>
              <a:buNone/>
            </a:pPr>
            <a:r>
              <a:rPr lang="en" sz="1200" b="1">
                <a:solidFill>
                  <a:schemeClr val="lt1"/>
                </a:solidFill>
                <a:latin typeface="Fira Sans"/>
                <a:ea typeface="Fira Sans"/>
                <a:cs typeface="Fira Sans"/>
                <a:sym typeface="Fira Sans"/>
              </a:rPr>
              <a:t>→ Cognitive &amp; Psychological Effects</a:t>
            </a:r>
            <a:endParaRPr sz="1200" b="1">
              <a:solidFill>
                <a:schemeClr val="lt1"/>
              </a:solidFill>
              <a:latin typeface="Fira Sans"/>
              <a:ea typeface="Fira Sans"/>
              <a:cs typeface="Fira Sans"/>
              <a:sym typeface="Fira Sans"/>
            </a:endParaRPr>
          </a:p>
          <a:p>
            <a:pPr marL="0" lvl="0" indent="0" algn="l" rtl="0">
              <a:spcBef>
                <a:spcPts val="0"/>
              </a:spcBef>
              <a:spcAft>
                <a:spcPts val="0"/>
              </a:spcAft>
              <a:buNone/>
            </a:pPr>
            <a:r>
              <a:rPr lang="en" sz="1200" b="1">
                <a:solidFill>
                  <a:schemeClr val="lt1"/>
                </a:solidFill>
                <a:latin typeface="Fira Sans"/>
                <a:ea typeface="Fira Sans"/>
                <a:cs typeface="Fira Sans"/>
                <a:sym typeface="Fira Sans"/>
              </a:rPr>
              <a:t>- </a:t>
            </a:r>
            <a:r>
              <a:rPr lang="en" sz="1200">
                <a:solidFill>
                  <a:schemeClr val="lt1"/>
                </a:solidFill>
                <a:latin typeface="Fira Sans Light"/>
                <a:ea typeface="Fira Sans Light"/>
                <a:cs typeface="Fira Sans Light"/>
                <a:sym typeface="Fira Sans Light"/>
              </a:rPr>
              <a:t>Risk of Depression and Anxiety</a:t>
            </a:r>
            <a:endParaRPr sz="1200">
              <a:solidFill>
                <a:schemeClr val="lt1"/>
              </a:solidFill>
              <a:latin typeface="Fira Sans Light"/>
              <a:ea typeface="Fira Sans Light"/>
              <a:cs typeface="Fira Sans Light"/>
              <a:sym typeface="Fira Sans Light"/>
            </a:endParaRPr>
          </a:p>
          <a:p>
            <a:pPr marL="0" lvl="0" indent="0" algn="l" rtl="0">
              <a:spcBef>
                <a:spcPts val="0"/>
              </a:spcBef>
              <a:spcAft>
                <a:spcPts val="0"/>
              </a:spcAft>
              <a:buNone/>
            </a:pPr>
            <a:r>
              <a:rPr lang="en" sz="1200">
                <a:solidFill>
                  <a:schemeClr val="lt1"/>
                </a:solidFill>
                <a:latin typeface="Fira Sans Light"/>
                <a:ea typeface="Fira Sans Light"/>
                <a:cs typeface="Fira Sans Light"/>
                <a:sym typeface="Fira Sans Light"/>
              </a:rPr>
              <a:t>- Diminished attention span </a:t>
            </a:r>
            <a:endParaRPr sz="1200">
              <a:solidFill>
                <a:schemeClr val="lt1"/>
              </a:solidFill>
              <a:latin typeface="Fira Sans Light"/>
              <a:ea typeface="Fira Sans Light"/>
              <a:cs typeface="Fira Sans Light"/>
              <a:sym typeface="Fira Sans Light"/>
            </a:endParaRPr>
          </a:p>
          <a:p>
            <a:pPr marL="0" lvl="0" indent="0" algn="l" rtl="0">
              <a:spcBef>
                <a:spcPts val="0"/>
              </a:spcBef>
              <a:spcAft>
                <a:spcPts val="0"/>
              </a:spcAft>
              <a:buNone/>
            </a:pPr>
            <a:r>
              <a:rPr lang="en" sz="1200">
                <a:solidFill>
                  <a:schemeClr val="lt1"/>
                </a:solidFill>
                <a:latin typeface="Fira Sans Light"/>
                <a:ea typeface="Fira Sans Light"/>
                <a:cs typeface="Fira Sans Light"/>
                <a:sym typeface="Fira Sans Light"/>
              </a:rPr>
              <a:t>- Lower academic performance</a:t>
            </a:r>
            <a:endParaRPr sz="1200">
              <a:solidFill>
                <a:schemeClr val="lt1"/>
              </a:solidFill>
              <a:latin typeface="Fira Sans Light"/>
              <a:ea typeface="Fira Sans Light"/>
              <a:cs typeface="Fira Sans Light"/>
              <a:sym typeface="Fira Sans Light"/>
            </a:endParaRPr>
          </a:p>
        </p:txBody>
      </p:sp>
      <p:pic>
        <p:nvPicPr>
          <p:cNvPr id="261" name="Google Shape;261;p18"/>
          <p:cNvPicPr preferRelativeResize="0"/>
          <p:nvPr/>
        </p:nvPicPr>
        <p:blipFill>
          <a:blip r:embed="rId6">
            <a:alphaModFix/>
          </a:blip>
          <a:stretch>
            <a:fillRect/>
          </a:stretch>
        </p:blipFill>
        <p:spPr>
          <a:xfrm>
            <a:off x="4778624" y="1390150"/>
            <a:ext cx="1052725" cy="1056375"/>
          </a:xfrm>
          <a:prstGeom prst="rect">
            <a:avLst/>
          </a:prstGeom>
          <a:noFill/>
          <a:ln>
            <a:noFill/>
          </a:ln>
        </p:spPr>
      </p:pic>
      <p:sp>
        <p:nvSpPr>
          <p:cNvPr id="262" name="Google Shape;262;p18"/>
          <p:cNvSpPr/>
          <p:nvPr/>
        </p:nvSpPr>
        <p:spPr>
          <a:xfrm>
            <a:off x="4828275" y="2747525"/>
            <a:ext cx="4076700" cy="1642800"/>
          </a:xfrm>
          <a:prstGeom prst="rect">
            <a:avLst/>
          </a:prstGeom>
          <a:solidFill>
            <a:srgbClr val="FFAB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Why focus on Mental Health?</a:t>
            </a:r>
            <a:endParaRPr b="1">
              <a:solidFill>
                <a:schemeClr val="dk1"/>
              </a:solidFill>
              <a:latin typeface="Fira Sans"/>
              <a:ea typeface="Fira Sans"/>
              <a:cs typeface="Fira Sans"/>
              <a:sym typeface="Fira Sans"/>
            </a:endParaRPr>
          </a:p>
          <a:p>
            <a:pPr marL="0" lvl="0" indent="0" algn="l" rtl="0">
              <a:spcBef>
                <a:spcPts val="0"/>
              </a:spcBef>
              <a:spcAft>
                <a:spcPts val="0"/>
              </a:spcAft>
              <a:buNone/>
            </a:pPr>
            <a:endParaRPr b="1">
              <a:solidFill>
                <a:schemeClr val="dk1"/>
              </a:solidFill>
              <a:latin typeface="Fira Sans"/>
              <a:ea typeface="Fira Sans"/>
              <a:cs typeface="Fira Sans"/>
              <a:sym typeface="Fira Sans"/>
            </a:endParaRPr>
          </a:p>
          <a:p>
            <a:pPr marL="0" lvl="0" indent="0" algn="l" rtl="0">
              <a:spcBef>
                <a:spcPts val="0"/>
              </a:spcBef>
              <a:spcAft>
                <a:spcPts val="0"/>
              </a:spcAft>
              <a:buNone/>
            </a:pPr>
            <a:r>
              <a:rPr lang="en" sz="1200">
                <a:solidFill>
                  <a:schemeClr val="dk1"/>
                </a:solidFill>
                <a:latin typeface="Fira Sans"/>
                <a:ea typeface="Fira Sans"/>
                <a:cs typeface="Fira Sans"/>
                <a:sym typeface="Fira Sans"/>
              </a:rPr>
              <a:t>- Strongest evidence link with screen time in research</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r>
              <a:rPr lang="en" sz="1200">
                <a:solidFill>
                  <a:schemeClr val="dk1"/>
                </a:solidFill>
                <a:latin typeface="Fira Sans"/>
                <a:ea typeface="Fira Sans"/>
                <a:cs typeface="Fira Sans"/>
                <a:sym typeface="Fira Sans"/>
              </a:rPr>
              <a:t>- Measurable outcomes using validated scales (e.g. PHQ-9, WHO-5)</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r>
              <a:rPr lang="en" sz="1200">
                <a:solidFill>
                  <a:schemeClr val="dk1"/>
                </a:solidFill>
                <a:latin typeface="Fira Sans"/>
                <a:ea typeface="Fira Sans"/>
                <a:cs typeface="Fira Sans"/>
                <a:sym typeface="Fira Sans"/>
              </a:rPr>
              <a:t>- Local relevance: Rising youth anxiety &amp; depression post-pandemic</a:t>
            </a:r>
            <a:endParaRPr sz="1200">
              <a:solidFill>
                <a:schemeClr val="dk1"/>
              </a:solidFill>
              <a:latin typeface="Fira Sans"/>
              <a:ea typeface="Fira Sans"/>
              <a:cs typeface="Fira Sans"/>
              <a:sym typeface="Fir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p:nvPr/>
        </p:nvSpPr>
        <p:spPr>
          <a:xfrm>
            <a:off x="710238"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How does screen time affect children? </a:t>
            </a:r>
            <a:endParaRPr sz="2800">
              <a:solidFill>
                <a:srgbClr val="D62A2A"/>
              </a:solidFill>
              <a:latin typeface="Fira Sans Medium"/>
              <a:ea typeface="Fira Sans Medium"/>
              <a:cs typeface="Fira Sans Medium"/>
              <a:sym typeface="Fira Sans Medium"/>
            </a:endParaRPr>
          </a:p>
        </p:txBody>
      </p:sp>
      <p:grpSp>
        <p:nvGrpSpPr>
          <p:cNvPr id="268" name="Google Shape;268;p19"/>
          <p:cNvGrpSpPr/>
          <p:nvPr/>
        </p:nvGrpSpPr>
        <p:grpSpPr>
          <a:xfrm>
            <a:off x="6923476" y="2118323"/>
            <a:ext cx="1932777" cy="1584951"/>
            <a:chOff x="6474377" y="2092521"/>
            <a:chExt cx="2212427" cy="1814275"/>
          </a:xfrm>
        </p:grpSpPr>
        <p:sp>
          <p:nvSpPr>
            <p:cNvPr id="269" name="Google Shape;269;p19"/>
            <p:cNvSpPr/>
            <p:nvPr/>
          </p:nvSpPr>
          <p:spPr>
            <a:xfrm>
              <a:off x="6786411" y="2314122"/>
              <a:ext cx="1592674" cy="1592674"/>
            </a:xfrm>
            <a:custGeom>
              <a:avLst/>
              <a:gdLst/>
              <a:ahLst/>
              <a:cxnLst/>
              <a:rect l="l" t="t" r="r" b="b"/>
              <a:pathLst>
                <a:path w="46111" h="46111" extrusionOk="0">
                  <a:moveTo>
                    <a:pt x="23055" y="2439"/>
                  </a:moveTo>
                  <a:cubicBezTo>
                    <a:pt x="27616" y="2439"/>
                    <a:pt x="31828" y="3927"/>
                    <a:pt x="35248" y="6461"/>
                  </a:cubicBezTo>
                  <a:cubicBezTo>
                    <a:pt x="39428" y="9501"/>
                    <a:pt x="42405" y="14093"/>
                    <a:pt x="43355" y="19382"/>
                  </a:cubicBezTo>
                  <a:cubicBezTo>
                    <a:pt x="43577" y="20585"/>
                    <a:pt x="43672" y="21820"/>
                    <a:pt x="43672" y="23055"/>
                  </a:cubicBezTo>
                  <a:cubicBezTo>
                    <a:pt x="43672" y="34425"/>
                    <a:pt x="34425" y="43672"/>
                    <a:pt x="23055" y="43672"/>
                  </a:cubicBezTo>
                  <a:cubicBezTo>
                    <a:pt x="11686" y="43672"/>
                    <a:pt x="2439" y="34425"/>
                    <a:pt x="2439" y="23055"/>
                  </a:cubicBezTo>
                  <a:cubicBezTo>
                    <a:pt x="2439" y="18970"/>
                    <a:pt x="3642" y="15170"/>
                    <a:pt x="5701" y="11971"/>
                  </a:cubicBezTo>
                  <a:cubicBezTo>
                    <a:pt x="7158" y="9660"/>
                    <a:pt x="9089" y="7696"/>
                    <a:pt x="11338" y="6113"/>
                  </a:cubicBezTo>
                  <a:cubicBezTo>
                    <a:pt x="14663" y="3801"/>
                    <a:pt x="18717" y="2439"/>
                    <a:pt x="23055" y="2439"/>
                  </a:cubicBezTo>
                  <a:close/>
                  <a:moveTo>
                    <a:pt x="23055" y="1"/>
                  </a:moveTo>
                  <a:cubicBezTo>
                    <a:pt x="18115" y="1"/>
                    <a:pt x="13523" y="1584"/>
                    <a:pt x="9754" y="4244"/>
                  </a:cubicBezTo>
                  <a:cubicBezTo>
                    <a:pt x="7316" y="5986"/>
                    <a:pt x="5194" y="8203"/>
                    <a:pt x="3579" y="10736"/>
                  </a:cubicBezTo>
                  <a:cubicBezTo>
                    <a:pt x="1330" y="14315"/>
                    <a:pt x="0" y="18527"/>
                    <a:pt x="0" y="23055"/>
                  </a:cubicBezTo>
                  <a:cubicBezTo>
                    <a:pt x="0" y="35786"/>
                    <a:pt x="10356" y="46110"/>
                    <a:pt x="23055" y="46110"/>
                  </a:cubicBezTo>
                  <a:cubicBezTo>
                    <a:pt x="35786" y="46110"/>
                    <a:pt x="46110" y="35786"/>
                    <a:pt x="46110" y="23055"/>
                  </a:cubicBezTo>
                  <a:cubicBezTo>
                    <a:pt x="46110" y="21757"/>
                    <a:pt x="46015" y="20459"/>
                    <a:pt x="45794" y="19192"/>
                  </a:cubicBezTo>
                  <a:cubicBezTo>
                    <a:pt x="44780" y="13111"/>
                    <a:pt x="41360" y="7854"/>
                    <a:pt x="36546" y="4371"/>
                  </a:cubicBezTo>
                  <a:cubicBezTo>
                    <a:pt x="32746" y="1616"/>
                    <a:pt x="28091" y="1"/>
                    <a:pt x="23055" y="1"/>
                  </a:cubicBezTo>
                  <a:close/>
                </a:path>
              </a:pathLst>
            </a:custGeom>
            <a:solidFill>
              <a:srgbClr val="233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19"/>
            <p:cNvGrpSpPr/>
            <p:nvPr/>
          </p:nvGrpSpPr>
          <p:grpSpPr>
            <a:xfrm>
              <a:off x="7883964" y="2985283"/>
              <a:ext cx="802840" cy="743785"/>
              <a:chOff x="7785314" y="2635058"/>
              <a:chExt cx="802840" cy="743785"/>
            </a:xfrm>
          </p:grpSpPr>
          <p:sp>
            <p:nvSpPr>
              <p:cNvPr id="271" name="Google Shape;271;p19"/>
              <p:cNvSpPr/>
              <p:nvPr/>
            </p:nvSpPr>
            <p:spPr>
              <a:xfrm>
                <a:off x="7785314" y="2635058"/>
                <a:ext cx="802840" cy="743785"/>
              </a:xfrm>
              <a:custGeom>
                <a:avLst/>
                <a:gdLst/>
                <a:ahLst/>
                <a:cxnLst/>
                <a:rect l="l" t="t" r="r" b="b"/>
                <a:pathLst>
                  <a:path w="28155" h="26084" extrusionOk="0">
                    <a:moveTo>
                      <a:pt x="14012" y="0"/>
                    </a:moveTo>
                    <a:cubicBezTo>
                      <a:pt x="7813" y="0"/>
                      <a:pt x="2336" y="4461"/>
                      <a:pt x="1236" y="10782"/>
                    </a:cubicBezTo>
                    <a:cubicBezTo>
                      <a:pt x="1" y="17876"/>
                      <a:pt x="4719" y="24621"/>
                      <a:pt x="11813" y="25888"/>
                    </a:cubicBezTo>
                    <a:cubicBezTo>
                      <a:pt x="12570" y="26020"/>
                      <a:pt x="13322" y="26083"/>
                      <a:pt x="14065" y="26083"/>
                    </a:cubicBezTo>
                    <a:cubicBezTo>
                      <a:pt x="20289" y="26083"/>
                      <a:pt x="25816" y="21616"/>
                      <a:pt x="26919" y="15279"/>
                    </a:cubicBezTo>
                    <a:cubicBezTo>
                      <a:pt x="28154" y="8185"/>
                      <a:pt x="23404" y="1440"/>
                      <a:pt x="16310" y="205"/>
                    </a:cubicBezTo>
                    <a:cubicBezTo>
                      <a:pt x="15538" y="67"/>
                      <a:pt x="14770" y="0"/>
                      <a:pt x="14012"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951917" y="2821338"/>
                <a:ext cx="468845" cy="415378"/>
              </a:xfrm>
              <a:custGeom>
                <a:avLst/>
                <a:gdLst/>
                <a:ahLst/>
                <a:cxnLst/>
                <a:rect l="l" t="t" r="r" b="b"/>
                <a:pathLst>
                  <a:path w="19160" h="16975" extrusionOk="0">
                    <a:moveTo>
                      <a:pt x="6872" y="0"/>
                    </a:moveTo>
                    <a:cubicBezTo>
                      <a:pt x="6271" y="0"/>
                      <a:pt x="5732" y="349"/>
                      <a:pt x="5511" y="887"/>
                    </a:cubicBezTo>
                    <a:cubicBezTo>
                      <a:pt x="5257" y="665"/>
                      <a:pt x="4940" y="539"/>
                      <a:pt x="4592" y="539"/>
                    </a:cubicBezTo>
                    <a:cubicBezTo>
                      <a:pt x="3864" y="539"/>
                      <a:pt x="3294" y="1046"/>
                      <a:pt x="3135" y="1711"/>
                    </a:cubicBezTo>
                    <a:cubicBezTo>
                      <a:pt x="3072" y="1711"/>
                      <a:pt x="2977" y="1679"/>
                      <a:pt x="2914" y="1679"/>
                    </a:cubicBezTo>
                    <a:cubicBezTo>
                      <a:pt x="2090" y="1679"/>
                      <a:pt x="1425" y="2344"/>
                      <a:pt x="1425" y="3167"/>
                    </a:cubicBezTo>
                    <a:cubicBezTo>
                      <a:pt x="1425" y="3231"/>
                      <a:pt x="1425" y="3262"/>
                      <a:pt x="1457" y="3326"/>
                    </a:cubicBezTo>
                    <a:cubicBezTo>
                      <a:pt x="602" y="3706"/>
                      <a:pt x="0" y="4561"/>
                      <a:pt x="0" y="5542"/>
                    </a:cubicBezTo>
                    <a:cubicBezTo>
                      <a:pt x="0" y="6144"/>
                      <a:pt x="222" y="6683"/>
                      <a:pt x="570" y="7126"/>
                    </a:cubicBezTo>
                    <a:cubicBezTo>
                      <a:pt x="570" y="7221"/>
                      <a:pt x="538" y="7316"/>
                      <a:pt x="538" y="7411"/>
                    </a:cubicBezTo>
                    <a:cubicBezTo>
                      <a:pt x="538" y="8741"/>
                      <a:pt x="1615" y="9818"/>
                      <a:pt x="2945" y="9818"/>
                    </a:cubicBezTo>
                    <a:cubicBezTo>
                      <a:pt x="3262" y="9818"/>
                      <a:pt x="3547" y="9754"/>
                      <a:pt x="3800" y="9659"/>
                    </a:cubicBezTo>
                    <a:cubicBezTo>
                      <a:pt x="3895" y="10768"/>
                      <a:pt x="4814" y="11655"/>
                      <a:pt x="5954" y="11655"/>
                    </a:cubicBezTo>
                    <a:lnTo>
                      <a:pt x="6049" y="11655"/>
                    </a:lnTo>
                    <a:cubicBezTo>
                      <a:pt x="6461" y="12225"/>
                      <a:pt x="7094" y="12573"/>
                      <a:pt x="7822" y="12573"/>
                    </a:cubicBezTo>
                    <a:cubicBezTo>
                      <a:pt x="8234" y="12573"/>
                      <a:pt x="8646" y="12478"/>
                      <a:pt x="8962" y="12256"/>
                    </a:cubicBezTo>
                    <a:cubicBezTo>
                      <a:pt x="9089" y="12573"/>
                      <a:pt x="9247" y="12890"/>
                      <a:pt x="9501" y="13111"/>
                    </a:cubicBezTo>
                    <a:cubicBezTo>
                      <a:pt x="9849" y="13428"/>
                      <a:pt x="10293" y="13618"/>
                      <a:pt x="10799" y="13618"/>
                    </a:cubicBezTo>
                    <a:cubicBezTo>
                      <a:pt x="11148" y="14061"/>
                      <a:pt x="11686" y="14315"/>
                      <a:pt x="12319" y="14315"/>
                    </a:cubicBezTo>
                    <a:cubicBezTo>
                      <a:pt x="12604" y="14315"/>
                      <a:pt x="12858" y="14251"/>
                      <a:pt x="13111" y="14156"/>
                    </a:cubicBezTo>
                    <a:cubicBezTo>
                      <a:pt x="13364" y="14695"/>
                      <a:pt x="13618" y="15582"/>
                      <a:pt x="13459" y="16848"/>
                    </a:cubicBezTo>
                    <a:lnTo>
                      <a:pt x="14790" y="16975"/>
                    </a:lnTo>
                    <a:cubicBezTo>
                      <a:pt x="14790" y="16975"/>
                      <a:pt x="14853" y="15202"/>
                      <a:pt x="14631" y="13998"/>
                    </a:cubicBezTo>
                    <a:lnTo>
                      <a:pt x="14631" y="13998"/>
                    </a:lnTo>
                    <a:cubicBezTo>
                      <a:pt x="14790" y="14030"/>
                      <a:pt x="14948" y="14061"/>
                      <a:pt x="15106" y="14061"/>
                    </a:cubicBezTo>
                    <a:cubicBezTo>
                      <a:pt x="16183" y="14061"/>
                      <a:pt x="17070" y="13175"/>
                      <a:pt x="17070" y="12098"/>
                    </a:cubicBezTo>
                    <a:cubicBezTo>
                      <a:pt x="17070" y="11940"/>
                      <a:pt x="17038" y="11813"/>
                      <a:pt x="17006" y="11655"/>
                    </a:cubicBezTo>
                    <a:lnTo>
                      <a:pt x="17196" y="11655"/>
                    </a:lnTo>
                    <a:cubicBezTo>
                      <a:pt x="18273" y="11655"/>
                      <a:pt x="19160" y="10800"/>
                      <a:pt x="19160" y="9723"/>
                    </a:cubicBezTo>
                    <a:cubicBezTo>
                      <a:pt x="19160" y="9343"/>
                      <a:pt x="19065" y="9026"/>
                      <a:pt x="18875" y="8741"/>
                    </a:cubicBezTo>
                    <a:cubicBezTo>
                      <a:pt x="19065" y="8424"/>
                      <a:pt x="19160" y="8108"/>
                      <a:pt x="19160" y="7759"/>
                    </a:cubicBezTo>
                    <a:cubicBezTo>
                      <a:pt x="19160" y="7063"/>
                      <a:pt x="18812" y="6493"/>
                      <a:pt x="18305" y="6144"/>
                    </a:cubicBezTo>
                    <a:cubicBezTo>
                      <a:pt x="18178" y="5384"/>
                      <a:pt x="17608" y="4782"/>
                      <a:pt x="16880" y="4592"/>
                    </a:cubicBezTo>
                    <a:cubicBezTo>
                      <a:pt x="16911" y="4497"/>
                      <a:pt x="16911" y="4402"/>
                      <a:pt x="16911" y="4276"/>
                    </a:cubicBezTo>
                    <a:cubicBezTo>
                      <a:pt x="16911" y="3452"/>
                      <a:pt x="16405" y="2756"/>
                      <a:pt x="15676" y="2471"/>
                    </a:cubicBezTo>
                    <a:cubicBezTo>
                      <a:pt x="15486" y="2407"/>
                      <a:pt x="15328" y="2376"/>
                      <a:pt x="15138" y="2344"/>
                    </a:cubicBezTo>
                    <a:cubicBezTo>
                      <a:pt x="14853" y="1109"/>
                      <a:pt x="13744" y="190"/>
                      <a:pt x="12414" y="190"/>
                    </a:cubicBezTo>
                    <a:cubicBezTo>
                      <a:pt x="11686" y="190"/>
                      <a:pt x="11021" y="475"/>
                      <a:pt x="10546" y="919"/>
                    </a:cubicBezTo>
                    <a:cubicBezTo>
                      <a:pt x="10293" y="412"/>
                      <a:pt x="9786" y="64"/>
                      <a:pt x="9184" y="64"/>
                    </a:cubicBezTo>
                    <a:cubicBezTo>
                      <a:pt x="8741" y="64"/>
                      <a:pt x="8329" y="285"/>
                      <a:pt x="8044" y="634"/>
                    </a:cubicBezTo>
                    <a:cubicBezTo>
                      <a:pt x="7791" y="254"/>
                      <a:pt x="7347" y="0"/>
                      <a:pt x="6872" y="0"/>
                    </a:cubicBezTo>
                    <a:close/>
                  </a:path>
                </a:pathLst>
              </a:cu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8103806" y="2886430"/>
                <a:ext cx="90688" cy="89929"/>
              </a:xfrm>
              <a:custGeom>
                <a:avLst/>
                <a:gdLst/>
                <a:ahLst/>
                <a:cxnLst/>
                <a:rect l="l" t="t" r="r" b="b"/>
                <a:pathLst>
                  <a:path w="3706" h="3675" extrusionOk="0">
                    <a:moveTo>
                      <a:pt x="1837" y="1046"/>
                    </a:moveTo>
                    <a:cubicBezTo>
                      <a:pt x="2280" y="1046"/>
                      <a:pt x="2660" y="1394"/>
                      <a:pt x="2660" y="1837"/>
                    </a:cubicBezTo>
                    <a:cubicBezTo>
                      <a:pt x="2660" y="2281"/>
                      <a:pt x="2280" y="2661"/>
                      <a:pt x="1837" y="2661"/>
                    </a:cubicBezTo>
                    <a:cubicBezTo>
                      <a:pt x="1394" y="2661"/>
                      <a:pt x="1045" y="2281"/>
                      <a:pt x="1045" y="1837"/>
                    </a:cubicBezTo>
                    <a:cubicBezTo>
                      <a:pt x="1045" y="1394"/>
                      <a:pt x="1394" y="1046"/>
                      <a:pt x="1837" y="1046"/>
                    </a:cubicBezTo>
                    <a:close/>
                    <a:moveTo>
                      <a:pt x="1837" y="1"/>
                    </a:moveTo>
                    <a:cubicBezTo>
                      <a:pt x="824" y="1"/>
                      <a:pt x="0" y="824"/>
                      <a:pt x="0" y="1837"/>
                    </a:cubicBezTo>
                    <a:cubicBezTo>
                      <a:pt x="0" y="2851"/>
                      <a:pt x="824" y="3674"/>
                      <a:pt x="1837" y="3674"/>
                    </a:cubicBezTo>
                    <a:cubicBezTo>
                      <a:pt x="2882" y="3674"/>
                      <a:pt x="3706" y="2851"/>
                      <a:pt x="3706" y="1837"/>
                    </a:cubicBezTo>
                    <a:cubicBezTo>
                      <a:pt x="3706" y="824"/>
                      <a:pt x="2850" y="1"/>
                      <a:pt x="183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8141784" y="2874024"/>
                <a:ext cx="13973" cy="27162"/>
              </a:xfrm>
              <a:custGeom>
                <a:avLst/>
                <a:gdLst/>
                <a:ahLst/>
                <a:cxnLst/>
                <a:rect l="l" t="t" r="r" b="b"/>
                <a:pathLst>
                  <a:path w="571" h="1110" extrusionOk="0">
                    <a:moveTo>
                      <a:pt x="0" y="1"/>
                    </a:moveTo>
                    <a:lnTo>
                      <a:pt x="0" y="1109"/>
                    </a:lnTo>
                    <a:lnTo>
                      <a:pt x="570" y="1109"/>
                    </a:lnTo>
                    <a:lnTo>
                      <a:pt x="57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8113863" y="2877914"/>
                <a:ext cx="25596" cy="31029"/>
              </a:xfrm>
              <a:custGeom>
                <a:avLst/>
                <a:gdLst/>
                <a:ahLst/>
                <a:cxnLst/>
                <a:rect l="l" t="t" r="r" b="b"/>
                <a:pathLst>
                  <a:path w="1046" h="1268" extrusionOk="0">
                    <a:moveTo>
                      <a:pt x="508" y="0"/>
                    </a:moveTo>
                    <a:lnTo>
                      <a:pt x="1" y="317"/>
                    </a:lnTo>
                    <a:lnTo>
                      <a:pt x="539" y="1267"/>
                    </a:lnTo>
                    <a:lnTo>
                      <a:pt x="1046" y="950"/>
                    </a:lnTo>
                    <a:lnTo>
                      <a:pt x="508"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8095265" y="2896512"/>
                <a:ext cx="31029" cy="26379"/>
              </a:xfrm>
              <a:custGeom>
                <a:avLst/>
                <a:gdLst/>
                <a:ahLst/>
                <a:cxnLst/>
                <a:rect l="l" t="t" r="r" b="b"/>
                <a:pathLst>
                  <a:path w="1268" h="1078" extrusionOk="0">
                    <a:moveTo>
                      <a:pt x="318" y="0"/>
                    </a:moveTo>
                    <a:lnTo>
                      <a:pt x="1" y="539"/>
                    </a:lnTo>
                    <a:lnTo>
                      <a:pt x="951" y="1077"/>
                    </a:lnTo>
                    <a:lnTo>
                      <a:pt x="1268" y="570"/>
                    </a:lnTo>
                    <a:lnTo>
                      <a:pt x="318"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8091399" y="2924408"/>
                <a:ext cx="27138" cy="14756"/>
              </a:xfrm>
              <a:custGeom>
                <a:avLst/>
                <a:gdLst/>
                <a:ahLst/>
                <a:cxnLst/>
                <a:rect l="l" t="t" r="r" b="b"/>
                <a:pathLst>
                  <a:path w="1109" h="603" extrusionOk="0">
                    <a:moveTo>
                      <a:pt x="1" y="0"/>
                    </a:moveTo>
                    <a:lnTo>
                      <a:pt x="1" y="602"/>
                    </a:lnTo>
                    <a:lnTo>
                      <a:pt x="1109" y="602"/>
                    </a:lnTo>
                    <a:lnTo>
                      <a:pt x="110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8095265" y="2940681"/>
                <a:ext cx="31029" cy="26379"/>
              </a:xfrm>
              <a:custGeom>
                <a:avLst/>
                <a:gdLst/>
                <a:ahLst/>
                <a:cxnLst/>
                <a:rect l="l" t="t" r="r" b="b"/>
                <a:pathLst>
                  <a:path w="1268" h="1078" extrusionOk="0">
                    <a:moveTo>
                      <a:pt x="951" y="0"/>
                    </a:moveTo>
                    <a:lnTo>
                      <a:pt x="1" y="539"/>
                    </a:lnTo>
                    <a:lnTo>
                      <a:pt x="318" y="1077"/>
                    </a:lnTo>
                    <a:lnTo>
                      <a:pt x="1268" y="507"/>
                    </a:lnTo>
                    <a:lnTo>
                      <a:pt x="95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8113863" y="2953846"/>
                <a:ext cx="26379" cy="31029"/>
              </a:xfrm>
              <a:custGeom>
                <a:avLst/>
                <a:gdLst/>
                <a:ahLst/>
                <a:cxnLst/>
                <a:rect l="l" t="t" r="r" b="b"/>
                <a:pathLst>
                  <a:path w="1078" h="1268" extrusionOk="0">
                    <a:moveTo>
                      <a:pt x="571" y="1"/>
                    </a:moveTo>
                    <a:lnTo>
                      <a:pt x="1" y="983"/>
                    </a:lnTo>
                    <a:lnTo>
                      <a:pt x="539" y="1268"/>
                    </a:lnTo>
                    <a:lnTo>
                      <a:pt x="1078" y="318"/>
                    </a:lnTo>
                    <a:lnTo>
                      <a:pt x="571"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8141784" y="2961604"/>
                <a:ext cx="14731" cy="27138"/>
              </a:xfrm>
              <a:custGeom>
                <a:avLst/>
                <a:gdLst/>
                <a:ahLst/>
                <a:cxnLst/>
                <a:rect l="l" t="t" r="r" b="b"/>
                <a:pathLst>
                  <a:path w="602" h="1109" extrusionOk="0">
                    <a:moveTo>
                      <a:pt x="0" y="1"/>
                    </a:moveTo>
                    <a:lnTo>
                      <a:pt x="0" y="1109"/>
                    </a:lnTo>
                    <a:lnTo>
                      <a:pt x="602" y="1109"/>
                    </a:lnTo>
                    <a:lnTo>
                      <a:pt x="602"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8158057" y="2954630"/>
                <a:ext cx="26355" cy="30246"/>
              </a:xfrm>
              <a:custGeom>
                <a:avLst/>
                <a:gdLst/>
                <a:ahLst/>
                <a:cxnLst/>
                <a:rect l="l" t="t" r="r" b="b"/>
                <a:pathLst>
                  <a:path w="1077" h="1236" extrusionOk="0">
                    <a:moveTo>
                      <a:pt x="507" y="0"/>
                    </a:moveTo>
                    <a:lnTo>
                      <a:pt x="0" y="286"/>
                    </a:lnTo>
                    <a:lnTo>
                      <a:pt x="570" y="1236"/>
                    </a:lnTo>
                    <a:lnTo>
                      <a:pt x="1077" y="951"/>
                    </a:lnTo>
                    <a:lnTo>
                      <a:pt x="507"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8171222" y="2939898"/>
                <a:ext cx="31029" cy="26379"/>
              </a:xfrm>
              <a:custGeom>
                <a:avLst/>
                <a:gdLst/>
                <a:ahLst/>
                <a:cxnLst/>
                <a:rect l="l" t="t" r="r" b="b"/>
                <a:pathLst>
                  <a:path w="1268" h="1078" extrusionOk="0">
                    <a:moveTo>
                      <a:pt x="317" y="1"/>
                    </a:moveTo>
                    <a:lnTo>
                      <a:pt x="0" y="507"/>
                    </a:lnTo>
                    <a:lnTo>
                      <a:pt x="982" y="1078"/>
                    </a:lnTo>
                    <a:lnTo>
                      <a:pt x="1267" y="571"/>
                    </a:lnTo>
                    <a:lnTo>
                      <a:pt x="317"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8178979" y="2924408"/>
                <a:ext cx="27138" cy="13973"/>
              </a:xfrm>
              <a:custGeom>
                <a:avLst/>
                <a:gdLst/>
                <a:ahLst/>
                <a:cxnLst/>
                <a:rect l="l" t="t" r="r" b="b"/>
                <a:pathLst>
                  <a:path w="1109" h="571" extrusionOk="0">
                    <a:moveTo>
                      <a:pt x="0" y="0"/>
                    </a:moveTo>
                    <a:lnTo>
                      <a:pt x="0" y="570"/>
                    </a:lnTo>
                    <a:lnTo>
                      <a:pt x="1109" y="570"/>
                    </a:lnTo>
                    <a:lnTo>
                      <a:pt x="110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8171222" y="2895729"/>
                <a:ext cx="31029" cy="26379"/>
              </a:xfrm>
              <a:custGeom>
                <a:avLst/>
                <a:gdLst/>
                <a:ahLst/>
                <a:cxnLst/>
                <a:rect l="l" t="t" r="r" b="b"/>
                <a:pathLst>
                  <a:path w="1268" h="1078" extrusionOk="0">
                    <a:moveTo>
                      <a:pt x="982" y="1"/>
                    </a:moveTo>
                    <a:lnTo>
                      <a:pt x="0" y="571"/>
                    </a:lnTo>
                    <a:lnTo>
                      <a:pt x="317" y="1077"/>
                    </a:lnTo>
                    <a:lnTo>
                      <a:pt x="1267" y="539"/>
                    </a:lnTo>
                    <a:lnTo>
                      <a:pt x="982"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8157274" y="2877914"/>
                <a:ext cx="26379" cy="31029"/>
              </a:xfrm>
              <a:custGeom>
                <a:avLst/>
                <a:gdLst/>
                <a:ahLst/>
                <a:cxnLst/>
                <a:rect l="l" t="t" r="r" b="b"/>
                <a:pathLst>
                  <a:path w="1078" h="1268" extrusionOk="0">
                    <a:moveTo>
                      <a:pt x="570" y="0"/>
                    </a:moveTo>
                    <a:lnTo>
                      <a:pt x="0" y="950"/>
                    </a:lnTo>
                    <a:lnTo>
                      <a:pt x="539" y="1267"/>
                    </a:lnTo>
                    <a:lnTo>
                      <a:pt x="1077" y="317"/>
                    </a:lnTo>
                    <a:lnTo>
                      <a:pt x="57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8253370" y="2961604"/>
                <a:ext cx="61250" cy="61250"/>
              </a:xfrm>
              <a:custGeom>
                <a:avLst/>
                <a:gdLst/>
                <a:ahLst/>
                <a:cxnLst/>
                <a:rect l="l" t="t" r="r" b="b"/>
                <a:pathLst>
                  <a:path w="2503" h="2503" extrusionOk="0">
                    <a:moveTo>
                      <a:pt x="1267" y="697"/>
                    </a:moveTo>
                    <a:cubicBezTo>
                      <a:pt x="1552" y="697"/>
                      <a:pt x="1805" y="951"/>
                      <a:pt x="1805" y="1236"/>
                    </a:cubicBezTo>
                    <a:cubicBezTo>
                      <a:pt x="1805" y="1552"/>
                      <a:pt x="1552" y="1806"/>
                      <a:pt x="1267" y="1806"/>
                    </a:cubicBezTo>
                    <a:cubicBezTo>
                      <a:pt x="950" y="1806"/>
                      <a:pt x="697" y="1552"/>
                      <a:pt x="697" y="1236"/>
                    </a:cubicBezTo>
                    <a:cubicBezTo>
                      <a:pt x="697" y="951"/>
                      <a:pt x="950" y="697"/>
                      <a:pt x="1267" y="697"/>
                    </a:cubicBezTo>
                    <a:close/>
                    <a:moveTo>
                      <a:pt x="1267" y="1"/>
                    </a:moveTo>
                    <a:cubicBezTo>
                      <a:pt x="570" y="1"/>
                      <a:pt x="0" y="571"/>
                      <a:pt x="0" y="1236"/>
                    </a:cubicBezTo>
                    <a:cubicBezTo>
                      <a:pt x="0" y="1932"/>
                      <a:pt x="570" y="2502"/>
                      <a:pt x="1267" y="2502"/>
                    </a:cubicBezTo>
                    <a:cubicBezTo>
                      <a:pt x="1964" y="2502"/>
                      <a:pt x="2502" y="1932"/>
                      <a:pt x="2502" y="1236"/>
                    </a:cubicBezTo>
                    <a:cubicBezTo>
                      <a:pt x="2502" y="571"/>
                      <a:pt x="1964" y="1"/>
                      <a:pt x="126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8278941" y="2953088"/>
                <a:ext cx="10106" cy="18622"/>
              </a:xfrm>
              <a:custGeom>
                <a:avLst/>
                <a:gdLst/>
                <a:ahLst/>
                <a:cxnLst/>
                <a:rect l="l" t="t" r="r" b="b"/>
                <a:pathLst>
                  <a:path w="413" h="761" extrusionOk="0">
                    <a:moveTo>
                      <a:pt x="0" y="0"/>
                    </a:moveTo>
                    <a:lnTo>
                      <a:pt x="0" y="760"/>
                    </a:lnTo>
                    <a:lnTo>
                      <a:pt x="412" y="760"/>
                    </a:lnTo>
                    <a:lnTo>
                      <a:pt x="412"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8260344" y="2956171"/>
                <a:ext cx="17839" cy="20188"/>
              </a:xfrm>
              <a:custGeom>
                <a:avLst/>
                <a:gdLst/>
                <a:ahLst/>
                <a:cxnLst/>
                <a:rect l="l" t="t" r="r" b="b"/>
                <a:pathLst>
                  <a:path w="729" h="825" extrusionOk="0">
                    <a:moveTo>
                      <a:pt x="349" y="1"/>
                    </a:moveTo>
                    <a:lnTo>
                      <a:pt x="0" y="191"/>
                    </a:lnTo>
                    <a:lnTo>
                      <a:pt x="380" y="824"/>
                    </a:lnTo>
                    <a:lnTo>
                      <a:pt x="729" y="634"/>
                    </a:lnTo>
                    <a:lnTo>
                      <a:pt x="349"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8247937" y="2968578"/>
                <a:ext cx="20947" cy="17839"/>
              </a:xfrm>
              <a:custGeom>
                <a:avLst/>
                <a:gdLst/>
                <a:ahLst/>
                <a:cxnLst/>
                <a:rect l="l" t="t" r="r" b="b"/>
                <a:pathLst>
                  <a:path w="856" h="729" extrusionOk="0">
                    <a:moveTo>
                      <a:pt x="191" y="1"/>
                    </a:moveTo>
                    <a:lnTo>
                      <a:pt x="1" y="349"/>
                    </a:lnTo>
                    <a:lnTo>
                      <a:pt x="634" y="729"/>
                    </a:lnTo>
                    <a:lnTo>
                      <a:pt x="856" y="381"/>
                    </a:lnTo>
                    <a:lnTo>
                      <a:pt x="191"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8244854" y="2987175"/>
                <a:ext cx="18622" cy="10106"/>
              </a:xfrm>
              <a:custGeom>
                <a:avLst/>
                <a:gdLst/>
                <a:ahLst/>
                <a:cxnLst/>
                <a:rect l="l" t="t" r="r" b="b"/>
                <a:pathLst>
                  <a:path w="761" h="413" extrusionOk="0">
                    <a:moveTo>
                      <a:pt x="0" y="1"/>
                    </a:moveTo>
                    <a:lnTo>
                      <a:pt x="0" y="412"/>
                    </a:lnTo>
                    <a:lnTo>
                      <a:pt x="760" y="412"/>
                    </a:lnTo>
                    <a:lnTo>
                      <a:pt x="76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8247937" y="2998016"/>
                <a:ext cx="20947" cy="17864"/>
              </a:xfrm>
              <a:custGeom>
                <a:avLst/>
                <a:gdLst/>
                <a:ahLst/>
                <a:cxnLst/>
                <a:rect l="l" t="t" r="r" b="b"/>
                <a:pathLst>
                  <a:path w="856" h="730" extrusionOk="0">
                    <a:moveTo>
                      <a:pt x="666" y="1"/>
                    </a:moveTo>
                    <a:lnTo>
                      <a:pt x="1" y="381"/>
                    </a:lnTo>
                    <a:lnTo>
                      <a:pt x="222" y="729"/>
                    </a:lnTo>
                    <a:lnTo>
                      <a:pt x="856" y="381"/>
                    </a:lnTo>
                    <a:lnTo>
                      <a:pt x="666"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8260344" y="3007315"/>
                <a:ext cx="17839" cy="20971"/>
              </a:xfrm>
              <a:custGeom>
                <a:avLst/>
                <a:gdLst/>
                <a:ahLst/>
                <a:cxnLst/>
                <a:rect l="l" t="t" r="r" b="b"/>
                <a:pathLst>
                  <a:path w="729" h="857" extrusionOk="0">
                    <a:moveTo>
                      <a:pt x="380" y="1"/>
                    </a:moveTo>
                    <a:lnTo>
                      <a:pt x="0" y="666"/>
                    </a:lnTo>
                    <a:lnTo>
                      <a:pt x="349" y="856"/>
                    </a:lnTo>
                    <a:lnTo>
                      <a:pt x="729" y="223"/>
                    </a:lnTo>
                    <a:lnTo>
                      <a:pt x="38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8279724" y="3012747"/>
                <a:ext cx="9323" cy="18622"/>
              </a:xfrm>
              <a:custGeom>
                <a:avLst/>
                <a:gdLst/>
                <a:ahLst/>
                <a:cxnLst/>
                <a:rect l="l" t="t" r="r" b="b"/>
                <a:pathLst>
                  <a:path w="381" h="761" extrusionOk="0">
                    <a:moveTo>
                      <a:pt x="0" y="1"/>
                    </a:moveTo>
                    <a:lnTo>
                      <a:pt x="0" y="761"/>
                    </a:lnTo>
                    <a:lnTo>
                      <a:pt x="380" y="761"/>
                    </a:lnTo>
                    <a:lnTo>
                      <a:pt x="38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8289782" y="3007315"/>
                <a:ext cx="17864" cy="20971"/>
              </a:xfrm>
              <a:custGeom>
                <a:avLst/>
                <a:gdLst/>
                <a:ahLst/>
                <a:cxnLst/>
                <a:rect l="l" t="t" r="r" b="b"/>
                <a:pathLst>
                  <a:path w="730" h="857" extrusionOk="0">
                    <a:moveTo>
                      <a:pt x="349" y="1"/>
                    </a:moveTo>
                    <a:lnTo>
                      <a:pt x="1" y="223"/>
                    </a:lnTo>
                    <a:lnTo>
                      <a:pt x="381" y="856"/>
                    </a:lnTo>
                    <a:lnTo>
                      <a:pt x="729" y="666"/>
                    </a:lnTo>
                    <a:lnTo>
                      <a:pt x="349"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8299864" y="2998016"/>
                <a:ext cx="20947" cy="17864"/>
              </a:xfrm>
              <a:custGeom>
                <a:avLst/>
                <a:gdLst/>
                <a:ahLst/>
                <a:cxnLst/>
                <a:rect l="l" t="t" r="r" b="b"/>
                <a:pathLst>
                  <a:path w="856" h="730" extrusionOk="0">
                    <a:moveTo>
                      <a:pt x="191" y="1"/>
                    </a:moveTo>
                    <a:lnTo>
                      <a:pt x="1" y="349"/>
                    </a:lnTo>
                    <a:lnTo>
                      <a:pt x="634" y="729"/>
                    </a:lnTo>
                    <a:lnTo>
                      <a:pt x="856" y="381"/>
                    </a:lnTo>
                    <a:lnTo>
                      <a:pt x="191"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8304513" y="2987175"/>
                <a:ext cx="18622" cy="10106"/>
              </a:xfrm>
              <a:custGeom>
                <a:avLst/>
                <a:gdLst/>
                <a:ahLst/>
                <a:cxnLst/>
                <a:rect l="l" t="t" r="r" b="b"/>
                <a:pathLst>
                  <a:path w="761" h="413" extrusionOk="0">
                    <a:moveTo>
                      <a:pt x="1" y="1"/>
                    </a:moveTo>
                    <a:lnTo>
                      <a:pt x="1" y="412"/>
                    </a:lnTo>
                    <a:lnTo>
                      <a:pt x="761" y="412"/>
                    </a:lnTo>
                    <a:lnTo>
                      <a:pt x="761"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8299081" y="2968578"/>
                <a:ext cx="20947" cy="17080"/>
              </a:xfrm>
              <a:custGeom>
                <a:avLst/>
                <a:gdLst/>
                <a:ahLst/>
                <a:cxnLst/>
                <a:rect l="l" t="t" r="r" b="b"/>
                <a:pathLst>
                  <a:path w="856" h="698" extrusionOk="0">
                    <a:moveTo>
                      <a:pt x="666" y="1"/>
                    </a:moveTo>
                    <a:lnTo>
                      <a:pt x="1" y="349"/>
                    </a:lnTo>
                    <a:lnTo>
                      <a:pt x="223" y="697"/>
                    </a:lnTo>
                    <a:lnTo>
                      <a:pt x="856" y="349"/>
                    </a:lnTo>
                    <a:lnTo>
                      <a:pt x="666"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8289782" y="2955413"/>
                <a:ext cx="17864" cy="20947"/>
              </a:xfrm>
              <a:custGeom>
                <a:avLst/>
                <a:gdLst/>
                <a:ahLst/>
                <a:cxnLst/>
                <a:rect l="l" t="t" r="r" b="b"/>
                <a:pathLst>
                  <a:path w="730" h="856" extrusionOk="0">
                    <a:moveTo>
                      <a:pt x="381" y="0"/>
                    </a:moveTo>
                    <a:lnTo>
                      <a:pt x="1" y="665"/>
                    </a:lnTo>
                    <a:lnTo>
                      <a:pt x="349" y="855"/>
                    </a:lnTo>
                    <a:lnTo>
                      <a:pt x="729" y="222"/>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8158815" y="3015855"/>
                <a:ext cx="49626" cy="50385"/>
              </a:xfrm>
              <a:custGeom>
                <a:avLst/>
                <a:gdLst/>
                <a:ahLst/>
                <a:cxnLst/>
                <a:rect l="l" t="t" r="r" b="b"/>
                <a:pathLst>
                  <a:path w="2028" h="2059" extrusionOk="0">
                    <a:moveTo>
                      <a:pt x="1014" y="570"/>
                    </a:moveTo>
                    <a:cubicBezTo>
                      <a:pt x="1267" y="570"/>
                      <a:pt x="1458" y="792"/>
                      <a:pt x="1458" y="1014"/>
                    </a:cubicBezTo>
                    <a:cubicBezTo>
                      <a:pt x="1458" y="1267"/>
                      <a:pt x="1267" y="1489"/>
                      <a:pt x="1014" y="1489"/>
                    </a:cubicBezTo>
                    <a:cubicBezTo>
                      <a:pt x="761" y="1489"/>
                      <a:pt x="571" y="1267"/>
                      <a:pt x="571" y="1014"/>
                    </a:cubicBezTo>
                    <a:cubicBezTo>
                      <a:pt x="571" y="792"/>
                      <a:pt x="761" y="570"/>
                      <a:pt x="1014" y="570"/>
                    </a:cubicBezTo>
                    <a:close/>
                    <a:moveTo>
                      <a:pt x="1014" y="0"/>
                    </a:moveTo>
                    <a:cubicBezTo>
                      <a:pt x="444" y="0"/>
                      <a:pt x="1" y="475"/>
                      <a:pt x="1" y="1014"/>
                    </a:cubicBezTo>
                    <a:cubicBezTo>
                      <a:pt x="1" y="1584"/>
                      <a:pt x="444" y="2059"/>
                      <a:pt x="1014" y="2059"/>
                    </a:cubicBezTo>
                    <a:cubicBezTo>
                      <a:pt x="1584" y="2059"/>
                      <a:pt x="2028" y="1584"/>
                      <a:pt x="2028" y="1014"/>
                    </a:cubicBezTo>
                    <a:cubicBezTo>
                      <a:pt x="2028" y="475"/>
                      <a:pt x="1584" y="0"/>
                      <a:pt x="101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8179738" y="3009639"/>
                <a:ext cx="7782" cy="14756"/>
              </a:xfrm>
              <a:custGeom>
                <a:avLst/>
                <a:gdLst/>
                <a:ahLst/>
                <a:cxnLst/>
                <a:rect l="l" t="t" r="r" b="b"/>
                <a:pathLst>
                  <a:path w="318" h="603" extrusionOk="0">
                    <a:moveTo>
                      <a:pt x="1" y="1"/>
                    </a:moveTo>
                    <a:lnTo>
                      <a:pt x="1" y="603"/>
                    </a:lnTo>
                    <a:lnTo>
                      <a:pt x="317" y="603"/>
                    </a:lnTo>
                    <a:lnTo>
                      <a:pt x="317"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8164248" y="3011964"/>
                <a:ext cx="14756" cy="17080"/>
              </a:xfrm>
              <a:custGeom>
                <a:avLst/>
                <a:gdLst/>
                <a:ahLst/>
                <a:cxnLst/>
                <a:rect l="l" t="t" r="r" b="b"/>
                <a:pathLst>
                  <a:path w="603" h="698" extrusionOk="0">
                    <a:moveTo>
                      <a:pt x="285" y="1"/>
                    </a:moveTo>
                    <a:lnTo>
                      <a:pt x="0" y="159"/>
                    </a:lnTo>
                    <a:lnTo>
                      <a:pt x="317" y="698"/>
                    </a:lnTo>
                    <a:lnTo>
                      <a:pt x="602" y="508"/>
                    </a:lnTo>
                    <a:lnTo>
                      <a:pt x="285"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8154166" y="3021287"/>
                <a:ext cx="17080" cy="14731"/>
              </a:xfrm>
              <a:custGeom>
                <a:avLst/>
                <a:gdLst/>
                <a:ahLst/>
                <a:cxnLst/>
                <a:rect l="l" t="t" r="r" b="b"/>
                <a:pathLst>
                  <a:path w="698" h="602" extrusionOk="0">
                    <a:moveTo>
                      <a:pt x="159" y="0"/>
                    </a:moveTo>
                    <a:lnTo>
                      <a:pt x="1" y="285"/>
                    </a:lnTo>
                    <a:lnTo>
                      <a:pt x="539" y="602"/>
                    </a:lnTo>
                    <a:lnTo>
                      <a:pt x="697" y="317"/>
                    </a:lnTo>
                    <a:lnTo>
                      <a:pt x="15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8151841" y="3036777"/>
                <a:ext cx="15539" cy="8540"/>
              </a:xfrm>
              <a:custGeom>
                <a:avLst/>
                <a:gdLst/>
                <a:ahLst/>
                <a:cxnLst/>
                <a:rect l="l" t="t" r="r" b="b"/>
                <a:pathLst>
                  <a:path w="635" h="349" extrusionOk="0">
                    <a:moveTo>
                      <a:pt x="1" y="0"/>
                    </a:moveTo>
                    <a:lnTo>
                      <a:pt x="1" y="349"/>
                    </a:lnTo>
                    <a:lnTo>
                      <a:pt x="634" y="349"/>
                    </a:lnTo>
                    <a:lnTo>
                      <a:pt x="634"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8154166" y="3046076"/>
                <a:ext cx="17080" cy="14756"/>
              </a:xfrm>
              <a:custGeom>
                <a:avLst/>
                <a:gdLst/>
                <a:ahLst/>
                <a:cxnLst/>
                <a:rect l="l" t="t" r="r" b="b"/>
                <a:pathLst>
                  <a:path w="698" h="603" extrusionOk="0">
                    <a:moveTo>
                      <a:pt x="539" y="0"/>
                    </a:moveTo>
                    <a:lnTo>
                      <a:pt x="1" y="317"/>
                    </a:lnTo>
                    <a:lnTo>
                      <a:pt x="159" y="602"/>
                    </a:lnTo>
                    <a:lnTo>
                      <a:pt x="697" y="285"/>
                    </a:lnTo>
                    <a:lnTo>
                      <a:pt x="53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8164248" y="3053833"/>
                <a:ext cx="14756" cy="17056"/>
              </a:xfrm>
              <a:custGeom>
                <a:avLst/>
                <a:gdLst/>
                <a:ahLst/>
                <a:cxnLst/>
                <a:rect l="l" t="t" r="r" b="b"/>
                <a:pathLst>
                  <a:path w="603" h="697" extrusionOk="0">
                    <a:moveTo>
                      <a:pt x="317" y="0"/>
                    </a:moveTo>
                    <a:lnTo>
                      <a:pt x="0" y="507"/>
                    </a:lnTo>
                    <a:lnTo>
                      <a:pt x="285" y="697"/>
                    </a:lnTo>
                    <a:lnTo>
                      <a:pt x="602" y="158"/>
                    </a:lnTo>
                    <a:lnTo>
                      <a:pt x="317"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8179738" y="3057699"/>
                <a:ext cx="8565" cy="14756"/>
              </a:xfrm>
              <a:custGeom>
                <a:avLst/>
                <a:gdLst/>
                <a:ahLst/>
                <a:cxnLst/>
                <a:rect l="l" t="t" r="r" b="b"/>
                <a:pathLst>
                  <a:path w="350" h="603" extrusionOk="0">
                    <a:moveTo>
                      <a:pt x="1" y="0"/>
                    </a:moveTo>
                    <a:lnTo>
                      <a:pt x="1" y="602"/>
                    </a:lnTo>
                    <a:lnTo>
                      <a:pt x="349" y="602"/>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8189036" y="3053050"/>
                <a:ext cx="13973" cy="17080"/>
              </a:xfrm>
              <a:custGeom>
                <a:avLst/>
                <a:gdLst/>
                <a:ahLst/>
                <a:cxnLst/>
                <a:rect l="l" t="t" r="r" b="b"/>
                <a:pathLst>
                  <a:path w="571" h="698" extrusionOk="0">
                    <a:moveTo>
                      <a:pt x="286" y="0"/>
                    </a:moveTo>
                    <a:lnTo>
                      <a:pt x="1" y="159"/>
                    </a:lnTo>
                    <a:lnTo>
                      <a:pt x="286" y="697"/>
                    </a:lnTo>
                    <a:lnTo>
                      <a:pt x="571" y="539"/>
                    </a:lnTo>
                    <a:lnTo>
                      <a:pt x="286"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8196794" y="3045293"/>
                <a:ext cx="16297" cy="14756"/>
              </a:xfrm>
              <a:custGeom>
                <a:avLst/>
                <a:gdLst/>
                <a:ahLst/>
                <a:cxnLst/>
                <a:rect l="l" t="t" r="r" b="b"/>
                <a:pathLst>
                  <a:path w="666" h="603" extrusionOk="0">
                    <a:moveTo>
                      <a:pt x="159" y="1"/>
                    </a:moveTo>
                    <a:lnTo>
                      <a:pt x="1" y="286"/>
                    </a:lnTo>
                    <a:lnTo>
                      <a:pt x="507" y="602"/>
                    </a:lnTo>
                    <a:lnTo>
                      <a:pt x="666" y="317"/>
                    </a:lnTo>
                    <a:lnTo>
                      <a:pt x="159"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8200660" y="3036777"/>
                <a:ext cx="14756" cy="7782"/>
              </a:xfrm>
              <a:custGeom>
                <a:avLst/>
                <a:gdLst/>
                <a:ahLst/>
                <a:cxnLst/>
                <a:rect l="l" t="t" r="r" b="b"/>
                <a:pathLst>
                  <a:path w="603" h="318" extrusionOk="0">
                    <a:moveTo>
                      <a:pt x="1" y="0"/>
                    </a:moveTo>
                    <a:lnTo>
                      <a:pt x="1" y="317"/>
                    </a:lnTo>
                    <a:lnTo>
                      <a:pt x="603" y="317"/>
                    </a:lnTo>
                    <a:lnTo>
                      <a:pt x="603"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8196011" y="3021287"/>
                <a:ext cx="17080" cy="14731"/>
              </a:xfrm>
              <a:custGeom>
                <a:avLst/>
                <a:gdLst/>
                <a:ahLst/>
                <a:cxnLst/>
                <a:rect l="l" t="t" r="r" b="b"/>
                <a:pathLst>
                  <a:path w="698" h="602" extrusionOk="0">
                    <a:moveTo>
                      <a:pt x="539" y="0"/>
                    </a:moveTo>
                    <a:lnTo>
                      <a:pt x="1" y="317"/>
                    </a:lnTo>
                    <a:lnTo>
                      <a:pt x="159" y="602"/>
                    </a:lnTo>
                    <a:lnTo>
                      <a:pt x="698" y="285"/>
                    </a:lnTo>
                    <a:lnTo>
                      <a:pt x="53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8188278" y="3011205"/>
                <a:ext cx="14731" cy="17080"/>
              </a:xfrm>
              <a:custGeom>
                <a:avLst/>
                <a:gdLst/>
                <a:ahLst/>
                <a:cxnLst/>
                <a:rect l="l" t="t" r="r" b="b"/>
                <a:pathLst>
                  <a:path w="602" h="698" extrusionOk="0">
                    <a:moveTo>
                      <a:pt x="317" y="0"/>
                    </a:moveTo>
                    <a:lnTo>
                      <a:pt x="0" y="539"/>
                    </a:lnTo>
                    <a:lnTo>
                      <a:pt x="285" y="697"/>
                    </a:lnTo>
                    <a:lnTo>
                      <a:pt x="602" y="159"/>
                    </a:lnTo>
                    <a:lnTo>
                      <a:pt x="317"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8184387" y="2881781"/>
                <a:ext cx="236386" cy="354945"/>
              </a:xfrm>
              <a:custGeom>
                <a:avLst/>
                <a:gdLst/>
                <a:ahLst/>
                <a:cxnLst/>
                <a:rect l="l" t="t" r="r" b="b"/>
                <a:pathLst>
                  <a:path w="9660" h="14505" extrusionOk="0">
                    <a:moveTo>
                      <a:pt x="6145" y="1"/>
                    </a:moveTo>
                    <a:lnTo>
                      <a:pt x="6145" y="1"/>
                    </a:lnTo>
                    <a:cubicBezTo>
                      <a:pt x="6303" y="381"/>
                      <a:pt x="6398" y="761"/>
                      <a:pt x="6461" y="1172"/>
                    </a:cubicBezTo>
                    <a:cubicBezTo>
                      <a:pt x="6715" y="2819"/>
                      <a:pt x="6430" y="4593"/>
                      <a:pt x="5416" y="5891"/>
                    </a:cubicBezTo>
                    <a:cubicBezTo>
                      <a:pt x="3928" y="7791"/>
                      <a:pt x="1046" y="8520"/>
                      <a:pt x="1" y="10641"/>
                    </a:cubicBezTo>
                    <a:cubicBezTo>
                      <a:pt x="349" y="10958"/>
                      <a:pt x="793" y="11148"/>
                      <a:pt x="1299" y="11148"/>
                    </a:cubicBezTo>
                    <a:cubicBezTo>
                      <a:pt x="1648" y="11591"/>
                      <a:pt x="2186" y="11845"/>
                      <a:pt x="2819" y="11845"/>
                    </a:cubicBezTo>
                    <a:cubicBezTo>
                      <a:pt x="3104" y="11845"/>
                      <a:pt x="3358" y="11781"/>
                      <a:pt x="3611" y="11686"/>
                    </a:cubicBezTo>
                    <a:cubicBezTo>
                      <a:pt x="3864" y="12225"/>
                      <a:pt x="4118" y="13112"/>
                      <a:pt x="3959" y="14378"/>
                    </a:cubicBezTo>
                    <a:lnTo>
                      <a:pt x="5290" y="14505"/>
                    </a:lnTo>
                    <a:cubicBezTo>
                      <a:pt x="5290" y="14505"/>
                      <a:pt x="5353" y="12732"/>
                      <a:pt x="5131" y="11528"/>
                    </a:cubicBezTo>
                    <a:lnTo>
                      <a:pt x="5131" y="11528"/>
                    </a:lnTo>
                    <a:cubicBezTo>
                      <a:pt x="5290" y="11560"/>
                      <a:pt x="5448" y="11591"/>
                      <a:pt x="5606" y="11591"/>
                    </a:cubicBezTo>
                    <a:cubicBezTo>
                      <a:pt x="6683" y="11591"/>
                      <a:pt x="7570" y="10705"/>
                      <a:pt x="7570" y="9628"/>
                    </a:cubicBezTo>
                    <a:cubicBezTo>
                      <a:pt x="7570" y="9470"/>
                      <a:pt x="7538" y="9343"/>
                      <a:pt x="7506" y="9185"/>
                    </a:cubicBezTo>
                    <a:lnTo>
                      <a:pt x="7696" y="9185"/>
                    </a:lnTo>
                    <a:cubicBezTo>
                      <a:pt x="8773" y="9185"/>
                      <a:pt x="9660" y="8330"/>
                      <a:pt x="9660" y="7253"/>
                    </a:cubicBezTo>
                    <a:cubicBezTo>
                      <a:pt x="9660" y="6873"/>
                      <a:pt x="9565" y="6556"/>
                      <a:pt x="9375" y="6271"/>
                    </a:cubicBezTo>
                    <a:cubicBezTo>
                      <a:pt x="9565" y="5954"/>
                      <a:pt x="9660" y="5638"/>
                      <a:pt x="9660" y="5258"/>
                    </a:cubicBezTo>
                    <a:cubicBezTo>
                      <a:pt x="9660" y="4593"/>
                      <a:pt x="9312" y="3991"/>
                      <a:pt x="8805" y="3643"/>
                    </a:cubicBezTo>
                    <a:cubicBezTo>
                      <a:pt x="8678" y="2914"/>
                      <a:pt x="8108" y="2312"/>
                      <a:pt x="7380" y="2122"/>
                    </a:cubicBezTo>
                    <a:cubicBezTo>
                      <a:pt x="7411" y="2027"/>
                      <a:pt x="7411" y="1901"/>
                      <a:pt x="7411" y="1806"/>
                    </a:cubicBezTo>
                    <a:cubicBezTo>
                      <a:pt x="7411" y="982"/>
                      <a:pt x="6905" y="286"/>
                      <a:pt x="614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313;p19"/>
            <p:cNvGrpSpPr/>
            <p:nvPr/>
          </p:nvGrpSpPr>
          <p:grpSpPr>
            <a:xfrm>
              <a:off x="6474377" y="2985283"/>
              <a:ext cx="802840" cy="743785"/>
              <a:chOff x="6395052" y="2651721"/>
              <a:chExt cx="802840" cy="743785"/>
            </a:xfrm>
          </p:grpSpPr>
          <p:sp>
            <p:nvSpPr>
              <p:cNvPr id="314" name="Google Shape;314;p19"/>
              <p:cNvSpPr/>
              <p:nvPr/>
            </p:nvSpPr>
            <p:spPr>
              <a:xfrm>
                <a:off x="6395052" y="2651721"/>
                <a:ext cx="802840" cy="743785"/>
              </a:xfrm>
              <a:custGeom>
                <a:avLst/>
                <a:gdLst/>
                <a:ahLst/>
                <a:cxnLst/>
                <a:rect l="l" t="t" r="r" b="b"/>
                <a:pathLst>
                  <a:path w="28155" h="26084" extrusionOk="0">
                    <a:moveTo>
                      <a:pt x="14012" y="0"/>
                    </a:moveTo>
                    <a:cubicBezTo>
                      <a:pt x="7813" y="0"/>
                      <a:pt x="2336" y="4461"/>
                      <a:pt x="1236" y="10782"/>
                    </a:cubicBezTo>
                    <a:cubicBezTo>
                      <a:pt x="1" y="17876"/>
                      <a:pt x="4719" y="24621"/>
                      <a:pt x="11813" y="25888"/>
                    </a:cubicBezTo>
                    <a:cubicBezTo>
                      <a:pt x="12570" y="26020"/>
                      <a:pt x="13322" y="26083"/>
                      <a:pt x="14065" y="26083"/>
                    </a:cubicBezTo>
                    <a:cubicBezTo>
                      <a:pt x="20289" y="26083"/>
                      <a:pt x="25816" y="21616"/>
                      <a:pt x="26919" y="15279"/>
                    </a:cubicBezTo>
                    <a:cubicBezTo>
                      <a:pt x="28154" y="8185"/>
                      <a:pt x="23404" y="1440"/>
                      <a:pt x="16310" y="205"/>
                    </a:cubicBezTo>
                    <a:cubicBezTo>
                      <a:pt x="15538" y="67"/>
                      <a:pt x="14770" y="0"/>
                      <a:pt x="14012"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6702101" y="2878786"/>
                <a:ext cx="188741" cy="318798"/>
              </a:xfrm>
              <a:custGeom>
                <a:avLst/>
                <a:gdLst/>
                <a:ahLst/>
                <a:cxnLst/>
                <a:rect l="l" t="t" r="r" b="b"/>
                <a:pathLst>
                  <a:path w="6619" h="11180" extrusionOk="0">
                    <a:moveTo>
                      <a:pt x="4845" y="760"/>
                    </a:moveTo>
                    <a:cubicBezTo>
                      <a:pt x="5384" y="760"/>
                      <a:pt x="5859" y="1204"/>
                      <a:pt x="5859" y="1774"/>
                    </a:cubicBezTo>
                    <a:lnTo>
                      <a:pt x="5859" y="9406"/>
                    </a:lnTo>
                    <a:cubicBezTo>
                      <a:pt x="5859" y="9944"/>
                      <a:pt x="5384" y="10419"/>
                      <a:pt x="4845" y="10419"/>
                    </a:cubicBezTo>
                    <a:lnTo>
                      <a:pt x="1774" y="10419"/>
                    </a:lnTo>
                    <a:cubicBezTo>
                      <a:pt x="1235" y="10419"/>
                      <a:pt x="760" y="9944"/>
                      <a:pt x="760" y="9406"/>
                    </a:cubicBezTo>
                    <a:lnTo>
                      <a:pt x="760" y="1774"/>
                    </a:lnTo>
                    <a:cubicBezTo>
                      <a:pt x="760" y="1204"/>
                      <a:pt x="1204" y="760"/>
                      <a:pt x="1774" y="760"/>
                    </a:cubicBezTo>
                    <a:close/>
                    <a:moveTo>
                      <a:pt x="1774" y="0"/>
                    </a:moveTo>
                    <a:cubicBezTo>
                      <a:pt x="792" y="0"/>
                      <a:pt x="0" y="792"/>
                      <a:pt x="0" y="1774"/>
                    </a:cubicBezTo>
                    <a:lnTo>
                      <a:pt x="0" y="9374"/>
                    </a:lnTo>
                    <a:cubicBezTo>
                      <a:pt x="0" y="10356"/>
                      <a:pt x="792" y="11180"/>
                      <a:pt x="1774" y="11180"/>
                    </a:cubicBezTo>
                    <a:lnTo>
                      <a:pt x="4845" y="11180"/>
                    </a:lnTo>
                    <a:cubicBezTo>
                      <a:pt x="5827" y="11180"/>
                      <a:pt x="6619" y="10356"/>
                      <a:pt x="6619" y="9374"/>
                    </a:cubicBezTo>
                    <a:lnTo>
                      <a:pt x="6619" y="1774"/>
                    </a:lnTo>
                    <a:cubicBezTo>
                      <a:pt x="6619" y="792"/>
                      <a:pt x="5827" y="0"/>
                      <a:pt x="48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6705694" y="2922128"/>
                <a:ext cx="181555" cy="21700"/>
              </a:xfrm>
              <a:custGeom>
                <a:avLst/>
                <a:gdLst/>
                <a:ahLst/>
                <a:cxnLst/>
                <a:rect l="l" t="t" r="r" b="b"/>
                <a:pathLst>
                  <a:path w="6367" h="761" extrusionOk="0">
                    <a:moveTo>
                      <a:pt x="381" y="1"/>
                    </a:moveTo>
                    <a:cubicBezTo>
                      <a:pt x="191" y="1"/>
                      <a:pt x="1" y="159"/>
                      <a:pt x="1" y="381"/>
                    </a:cubicBezTo>
                    <a:cubicBezTo>
                      <a:pt x="1" y="602"/>
                      <a:pt x="191" y="761"/>
                      <a:pt x="381" y="761"/>
                    </a:cubicBezTo>
                    <a:lnTo>
                      <a:pt x="5986" y="761"/>
                    </a:lnTo>
                    <a:cubicBezTo>
                      <a:pt x="6176" y="761"/>
                      <a:pt x="6366" y="602"/>
                      <a:pt x="6366" y="381"/>
                    </a:cubicBezTo>
                    <a:cubicBezTo>
                      <a:pt x="6366" y="159"/>
                      <a:pt x="6176" y="1"/>
                      <a:pt x="59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6705694" y="3117171"/>
                <a:ext cx="181555" cy="21728"/>
              </a:xfrm>
              <a:custGeom>
                <a:avLst/>
                <a:gdLst/>
                <a:ahLst/>
                <a:cxnLst/>
                <a:rect l="l" t="t" r="r" b="b"/>
                <a:pathLst>
                  <a:path w="6367" h="762" extrusionOk="0">
                    <a:moveTo>
                      <a:pt x="381" y="1"/>
                    </a:moveTo>
                    <a:cubicBezTo>
                      <a:pt x="191" y="1"/>
                      <a:pt x="1" y="191"/>
                      <a:pt x="1" y="381"/>
                    </a:cubicBezTo>
                    <a:cubicBezTo>
                      <a:pt x="1" y="603"/>
                      <a:pt x="191" y="761"/>
                      <a:pt x="381" y="761"/>
                    </a:cubicBezTo>
                    <a:lnTo>
                      <a:pt x="5986" y="761"/>
                    </a:lnTo>
                    <a:cubicBezTo>
                      <a:pt x="6176" y="761"/>
                      <a:pt x="6366" y="603"/>
                      <a:pt x="6366" y="381"/>
                    </a:cubicBezTo>
                    <a:cubicBezTo>
                      <a:pt x="6366" y="191"/>
                      <a:pt x="6176" y="1"/>
                      <a:pt x="59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6785166" y="3146085"/>
                <a:ext cx="21700" cy="21700"/>
              </a:xfrm>
              <a:custGeom>
                <a:avLst/>
                <a:gdLst/>
                <a:ahLst/>
                <a:cxnLst/>
                <a:rect l="l" t="t" r="r" b="b"/>
                <a:pathLst>
                  <a:path w="761" h="761" extrusionOk="0">
                    <a:moveTo>
                      <a:pt x="381" y="0"/>
                    </a:moveTo>
                    <a:cubicBezTo>
                      <a:pt x="191" y="0"/>
                      <a:pt x="1" y="190"/>
                      <a:pt x="1" y="380"/>
                    </a:cubicBezTo>
                    <a:cubicBezTo>
                      <a:pt x="1" y="602"/>
                      <a:pt x="191" y="760"/>
                      <a:pt x="381" y="760"/>
                    </a:cubicBezTo>
                    <a:cubicBezTo>
                      <a:pt x="602" y="760"/>
                      <a:pt x="761" y="602"/>
                      <a:pt x="761" y="380"/>
                    </a:cubicBezTo>
                    <a:cubicBezTo>
                      <a:pt x="761" y="190"/>
                      <a:pt x="602" y="0"/>
                      <a:pt x="3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319;p19"/>
            <p:cNvGrpSpPr/>
            <p:nvPr/>
          </p:nvGrpSpPr>
          <p:grpSpPr>
            <a:xfrm>
              <a:off x="7181327" y="2092521"/>
              <a:ext cx="802840" cy="743785"/>
              <a:chOff x="6299527" y="1758958"/>
              <a:chExt cx="802840" cy="743785"/>
            </a:xfrm>
          </p:grpSpPr>
          <p:sp>
            <p:nvSpPr>
              <p:cNvPr id="320" name="Google Shape;320;p19"/>
              <p:cNvSpPr/>
              <p:nvPr/>
            </p:nvSpPr>
            <p:spPr>
              <a:xfrm>
                <a:off x="6299527" y="1758958"/>
                <a:ext cx="802840" cy="743785"/>
              </a:xfrm>
              <a:custGeom>
                <a:avLst/>
                <a:gdLst/>
                <a:ahLst/>
                <a:cxnLst/>
                <a:rect l="l" t="t" r="r" b="b"/>
                <a:pathLst>
                  <a:path w="28155" h="26084" extrusionOk="0">
                    <a:moveTo>
                      <a:pt x="14012" y="0"/>
                    </a:moveTo>
                    <a:cubicBezTo>
                      <a:pt x="7813" y="0"/>
                      <a:pt x="2336" y="4461"/>
                      <a:pt x="1236" y="10782"/>
                    </a:cubicBezTo>
                    <a:cubicBezTo>
                      <a:pt x="1" y="17876"/>
                      <a:pt x="4719" y="24621"/>
                      <a:pt x="11813" y="25888"/>
                    </a:cubicBezTo>
                    <a:cubicBezTo>
                      <a:pt x="12570" y="26020"/>
                      <a:pt x="13322" y="26083"/>
                      <a:pt x="14065" y="26083"/>
                    </a:cubicBezTo>
                    <a:cubicBezTo>
                      <a:pt x="20289" y="26083"/>
                      <a:pt x="25816" y="21616"/>
                      <a:pt x="26919" y="15279"/>
                    </a:cubicBezTo>
                    <a:cubicBezTo>
                      <a:pt x="28154" y="8185"/>
                      <a:pt x="23404" y="1440"/>
                      <a:pt x="16310" y="205"/>
                    </a:cubicBezTo>
                    <a:cubicBezTo>
                      <a:pt x="15538" y="67"/>
                      <a:pt x="14770" y="0"/>
                      <a:pt x="14012"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1" name="Google Shape;321;p19"/>
              <p:cNvPicPr preferRelativeResize="0"/>
              <p:nvPr/>
            </p:nvPicPr>
            <p:blipFill>
              <a:blip r:embed="rId3">
                <a:alphaModFix/>
              </a:blip>
              <a:stretch>
                <a:fillRect/>
              </a:stretch>
            </p:blipFill>
            <p:spPr>
              <a:xfrm>
                <a:off x="6472963" y="1903700"/>
                <a:ext cx="455970" cy="454301"/>
              </a:xfrm>
              <a:prstGeom prst="rect">
                <a:avLst/>
              </a:prstGeom>
              <a:noFill/>
              <a:ln>
                <a:noFill/>
              </a:ln>
            </p:spPr>
          </p:pic>
        </p:grpSp>
      </p:grpSp>
      <p:pic>
        <p:nvPicPr>
          <p:cNvPr id="322" name="Google Shape;322;p19"/>
          <p:cNvPicPr preferRelativeResize="0"/>
          <p:nvPr/>
        </p:nvPicPr>
        <p:blipFill>
          <a:blip r:embed="rId4">
            <a:alphaModFix/>
          </a:blip>
          <a:stretch>
            <a:fillRect/>
          </a:stretch>
        </p:blipFill>
        <p:spPr>
          <a:xfrm>
            <a:off x="3324197" y="1718225"/>
            <a:ext cx="3021253" cy="2168600"/>
          </a:xfrm>
          <a:prstGeom prst="rect">
            <a:avLst/>
          </a:prstGeom>
          <a:noFill/>
          <a:ln>
            <a:noFill/>
          </a:ln>
        </p:spPr>
      </p:pic>
      <p:sp>
        <p:nvSpPr>
          <p:cNvPr id="323" name="Google Shape;323;p19"/>
          <p:cNvSpPr txBox="1"/>
          <p:nvPr/>
        </p:nvSpPr>
        <p:spPr>
          <a:xfrm>
            <a:off x="424938" y="994375"/>
            <a:ext cx="829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Children with higher screen usage are more likely to require mental health treatment.</a:t>
            </a:r>
            <a:r>
              <a:rPr lang="en">
                <a:solidFill>
                  <a:schemeClr val="dk1"/>
                </a:solidFill>
                <a:latin typeface="Fira Sans Light"/>
                <a:ea typeface="Fira Sans Light"/>
                <a:cs typeface="Fira Sans Light"/>
                <a:sym typeface="Fira Sans Light"/>
              </a:rPr>
              <a:t> This reinforces the importance of existing guidelines for children's screen time.</a:t>
            </a:r>
            <a:endParaRPr b="1"/>
          </a:p>
        </p:txBody>
      </p:sp>
      <p:sp>
        <p:nvSpPr>
          <p:cNvPr id="324" name="Google Shape;324;p19"/>
          <p:cNvSpPr txBox="1"/>
          <p:nvPr/>
        </p:nvSpPr>
        <p:spPr>
          <a:xfrm>
            <a:off x="203450" y="4527900"/>
            <a:ext cx="88014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A </a:t>
            </a:r>
            <a:r>
              <a:rPr lang="en" b="1">
                <a:solidFill>
                  <a:schemeClr val="dk1"/>
                </a:solidFill>
                <a:latin typeface="Fira Sans"/>
                <a:ea typeface="Fira Sans"/>
                <a:cs typeface="Fira Sans"/>
                <a:sym typeface="Fira Sans"/>
              </a:rPr>
              <a:t>Mann-Whitney U-test</a:t>
            </a:r>
            <a:r>
              <a:rPr lang="en">
                <a:solidFill>
                  <a:schemeClr val="dk1"/>
                </a:solidFill>
                <a:latin typeface="Fira Sans Light"/>
                <a:ea typeface="Fira Sans Light"/>
                <a:cs typeface="Fira Sans Light"/>
                <a:sym typeface="Fira Sans Light"/>
              </a:rPr>
              <a:t> (p-value = 9×10^(-308) &lt;&lt;0.05) showed a extremely large significant difference of screen time between ‘children who need mental health treatment’ vs ‘children who don’t need treatment’.</a:t>
            </a:r>
            <a:endParaRPr>
              <a:solidFill>
                <a:schemeClr val="dk1"/>
              </a:solidFill>
              <a:latin typeface="Fira Sans Light"/>
              <a:ea typeface="Fira Sans Light"/>
              <a:cs typeface="Fira Sans Light"/>
              <a:sym typeface="Fira Sans Light"/>
            </a:endParaRPr>
          </a:p>
        </p:txBody>
      </p:sp>
      <p:graphicFrame>
        <p:nvGraphicFramePr>
          <p:cNvPr id="325" name="Google Shape;325;p19"/>
          <p:cNvGraphicFramePr/>
          <p:nvPr/>
        </p:nvGraphicFramePr>
        <p:xfrm>
          <a:off x="304725" y="1718225"/>
          <a:ext cx="2215250" cy="2168600"/>
        </p:xfrm>
        <a:graphic>
          <a:graphicData uri="http://schemas.openxmlformats.org/drawingml/2006/table">
            <a:tbl>
              <a:tblPr>
                <a:noFill/>
                <a:tableStyleId>{A1E0ACEC-6DD5-4071-AD2E-3A7A5FCB07E7}</a:tableStyleId>
              </a:tblPr>
              <a:tblGrid>
                <a:gridCol w="1288825">
                  <a:extLst>
                    <a:ext uri="{9D8B030D-6E8A-4147-A177-3AD203B41FA5}">
                      <a16:colId xmlns:a16="http://schemas.microsoft.com/office/drawing/2014/main" val="20000"/>
                    </a:ext>
                  </a:extLst>
                </a:gridCol>
                <a:gridCol w="926425">
                  <a:extLst>
                    <a:ext uri="{9D8B030D-6E8A-4147-A177-3AD203B41FA5}">
                      <a16:colId xmlns:a16="http://schemas.microsoft.com/office/drawing/2014/main" val="20001"/>
                    </a:ext>
                  </a:extLst>
                </a:gridCol>
              </a:tblGrid>
              <a:tr h="487150">
                <a:tc>
                  <a:txBody>
                    <a:bodyPr/>
                    <a:lstStyle/>
                    <a:p>
                      <a:pPr marL="0" lvl="0" indent="0" algn="ctr" rtl="0">
                        <a:spcBef>
                          <a:spcPts val="0"/>
                        </a:spcBef>
                        <a:spcAft>
                          <a:spcPts val="0"/>
                        </a:spcAft>
                        <a:buNone/>
                      </a:pPr>
                      <a:r>
                        <a:rPr lang="en" sz="1000" b="1">
                          <a:solidFill>
                            <a:schemeClr val="lt1"/>
                          </a:solidFill>
                          <a:latin typeface="Fira Sans"/>
                          <a:ea typeface="Fira Sans"/>
                          <a:cs typeface="Fira Sans"/>
                          <a:sym typeface="Fira Sans"/>
                        </a:rPr>
                        <a:t>Screen time</a:t>
                      </a:r>
                      <a:endParaRPr sz="1000" b="1">
                        <a:solidFill>
                          <a:schemeClr val="lt1"/>
                        </a:solidFill>
                        <a:latin typeface="Fira Sans"/>
                        <a:ea typeface="Fira Sans"/>
                        <a:cs typeface="Fira Sans"/>
                        <a:sym typeface="Fira Sans"/>
                      </a:endParaRPr>
                    </a:p>
                  </a:txBody>
                  <a:tcPr marL="91425" marR="91425" marT="91425" marB="91425" anchor="ctr">
                    <a:solidFill>
                      <a:srgbClr val="233544"/>
                    </a:solidFill>
                  </a:tcPr>
                </a:tc>
                <a:tc>
                  <a:txBody>
                    <a:bodyPr/>
                    <a:lstStyle/>
                    <a:p>
                      <a:pPr marL="0" lvl="0" indent="0" algn="ctr" rtl="0">
                        <a:spcBef>
                          <a:spcPts val="0"/>
                        </a:spcBef>
                        <a:spcAft>
                          <a:spcPts val="0"/>
                        </a:spcAft>
                        <a:buNone/>
                      </a:pPr>
                      <a:r>
                        <a:rPr lang="en" sz="1000" b="1">
                          <a:solidFill>
                            <a:schemeClr val="lt1"/>
                          </a:solidFill>
                          <a:latin typeface="Fira Sans"/>
                          <a:ea typeface="Fira Sans"/>
                          <a:cs typeface="Fira Sans"/>
                          <a:sym typeface="Fira Sans"/>
                        </a:rPr>
                        <a:t>Encoded screen time</a:t>
                      </a:r>
                      <a:endParaRPr sz="1000" b="1">
                        <a:solidFill>
                          <a:schemeClr val="lt1"/>
                        </a:solidFill>
                        <a:latin typeface="Fira Sans"/>
                        <a:ea typeface="Fira Sans"/>
                        <a:cs typeface="Fira Sans"/>
                        <a:sym typeface="Fira Sans"/>
                      </a:endParaRPr>
                    </a:p>
                  </a:txBody>
                  <a:tcPr marL="91425" marR="91425" marT="91425" marB="91425" anchor="ctr">
                    <a:solidFill>
                      <a:srgbClr val="233544"/>
                    </a:solidFill>
                  </a:tcPr>
                </a:tc>
                <a:extLst>
                  <a:ext uri="{0D108BD9-81ED-4DB2-BD59-A6C34878D82A}">
                    <a16:rowId xmlns:a16="http://schemas.microsoft.com/office/drawing/2014/main" val="10000"/>
                  </a:ext>
                </a:extLst>
              </a:tr>
              <a:tr h="337600">
                <a:tc>
                  <a:txBody>
                    <a:bodyPr/>
                    <a:lstStyle/>
                    <a:p>
                      <a:pPr marL="0" lvl="0" indent="0" algn="ctr" rtl="0">
                        <a:spcBef>
                          <a:spcPts val="0"/>
                        </a:spcBef>
                        <a:spcAft>
                          <a:spcPts val="0"/>
                        </a:spcAft>
                        <a:buNone/>
                      </a:pPr>
                      <a:r>
                        <a:rPr lang="en" sz="1000">
                          <a:latin typeface="Fira Sans"/>
                          <a:ea typeface="Fira Sans"/>
                          <a:cs typeface="Fira Sans"/>
                          <a:sym typeface="Fira Sans"/>
                        </a:rPr>
                        <a:t>Less than 1 hour</a:t>
                      </a:r>
                      <a:endParaRPr sz="1000">
                        <a:latin typeface="Fira Sans"/>
                        <a:ea typeface="Fira Sans"/>
                        <a:cs typeface="Fira Sans"/>
                        <a:sym typeface="Fira Sans"/>
                      </a:endParaRPr>
                    </a:p>
                  </a:txBody>
                  <a:tcPr marL="91425" marR="91425" marT="91425" marB="91425" anchor="ctr"/>
                </a:tc>
                <a:tc>
                  <a:txBody>
                    <a:bodyPr/>
                    <a:lstStyle/>
                    <a:p>
                      <a:pPr marL="0" lvl="0" indent="0" algn="ctr" rtl="0">
                        <a:spcBef>
                          <a:spcPts val="0"/>
                        </a:spcBef>
                        <a:spcAft>
                          <a:spcPts val="0"/>
                        </a:spcAft>
                        <a:buNone/>
                      </a:pPr>
                      <a:r>
                        <a:rPr lang="en" sz="1000">
                          <a:latin typeface="Fira Sans"/>
                          <a:ea typeface="Fira Sans"/>
                          <a:cs typeface="Fira Sans"/>
                          <a:sym typeface="Fira Sans"/>
                        </a:rPr>
                        <a:t>0</a:t>
                      </a:r>
                      <a:endParaRPr sz="1000">
                        <a:latin typeface="Fira Sans"/>
                        <a:ea typeface="Fira Sans"/>
                        <a:cs typeface="Fira Sans"/>
                        <a:sym typeface="Fira Sans"/>
                      </a:endParaRPr>
                    </a:p>
                  </a:txBody>
                  <a:tcPr marL="91425" marR="91425" marT="91425" marB="91425" anchor="ctr"/>
                </a:tc>
                <a:extLst>
                  <a:ext uri="{0D108BD9-81ED-4DB2-BD59-A6C34878D82A}">
                    <a16:rowId xmlns:a16="http://schemas.microsoft.com/office/drawing/2014/main" val="10001"/>
                  </a:ext>
                </a:extLst>
              </a:tr>
              <a:tr h="334925">
                <a:tc>
                  <a:txBody>
                    <a:bodyPr/>
                    <a:lstStyle/>
                    <a:p>
                      <a:pPr marL="0" lvl="0" indent="0" algn="ctr" rtl="0">
                        <a:spcBef>
                          <a:spcPts val="0"/>
                        </a:spcBef>
                        <a:spcAft>
                          <a:spcPts val="0"/>
                        </a:spcAft>
                        <a:buNone/>
                      </a:pPr>
                      <a:r>
                        <a:rPr lang="en" sz="1000">
                          <a:latin typeface="Fira Sans"/>
                          <a:ea typeface="Fira Sans"/>
                          <a:cs typeface="Fira Sans"/>
                          <a:sym typeface="Fira Sans"/>
                        </a:rPr>
                        <a:t>1 hour</a:t>
                      </a:r>
                      <a:endParaRPr sz="1000">
                        <a:latin typeface="Fira Sans"/>
                        <a:ea typeface="Fira Sans"/>
                        <a:cs typeface="Fira Sans"/>
                        <a:sym typeface="Fira Sans"/>
                      </a:endParaRPr>
                    </a:p>
                  </a:txBody>
                  <a:tcPr marL="91425" marR="91425" marT="91425" marB="91425" anchor="ctr"/>
                </a:tc>
                <a:tc>
                  <a:txBody>
                    <a:bodyPr/>
                    <a:lstStyle/>
                    <a:p>
                      <a:pPr marL="0" lvl="0" indent="0" algn="ctr" rtl="0">
                        <a:spcBef>
                          <a:spcPts val="0"/>
                        </a:spcBef>
                        <a:spcAft>
                          <a:spcPts val="0"/>
                        </a:spcAft>
                        <a:buNone/>
                      </a:pPr>
                      <a:r>
                        <a:rPr lang="en" sz="1000">
                          <a:latin typeface="Fira Sans"/>
                          <a:ea typeface="Fira Sans"/>
                          <a:cs typeface="Fira Sans"/>
                          <a:sym typeface="Fira Sans"/>
                        </a:rPr>
                        <a:t>1</a:t>
                      </a:r>
                      <a:endParaRPr sz="1000">
                        <a:latin typeface="Fira Sans"/>
                        <a:ea typeface="Fira Sans"/>
                        <a:cs typeface="Fira Sans"/>
                        <a:sym typeface="Fira Sans"/>
                      </a:endParaRPr>
                    </a:p>
                  </a:txBody>
                  <a:tcPr marL="91425" marR="91425" marT="91425" marB="91425" anchor="ctr"/>
                </a:tc>
                <a:extLst>
                  <a:ext uri="{0D108BD9-81ED-4DB2-BD59-A6C34878D82A}">
                    <a16:rowId xmlns:a16="http://schemas.microsoft.com/office/drawing/2014/main" val="10002"/>
                  </a:ext>
                </a:extLst>
              </a:tr>
              <a:tr h="334925">
                <a:tc>
                  <a:txBody>
                    <a:bodyPr/>
                    <a:lstStyle/>
                    <a:p>
                      <a:pPr marL="0" lvl="0" indent="0" algn="ctr" rtl="0">
                        <a:spcBef>
                          <a:spcPts val="0"/>
                        </a:spcBef>
                        <a:spcAft>
                          <a:spcPts val="0"/>
                        </a:spcAft>
                        <a:buNone/>
                      </a:pPr>
                      <a:r>
                        <a:rPr lang="en" sz="1000">
                          <a:latin typeface="Fira Sans"/>
                          <a:ea typeface="Fira Sans"/>
                          <a:cs typeface="Fira Sans"/>
                          <a:sym typeface="Fira Sans"/>
                        </a:rPr>
                        <a:t>2 hours</a:t>
                      </a:r>
                      <a:endParaRPr sz="1000">
                        <a:latin typeface="Fira Sans"/>
                        <a:ea typeface="Fira Sans"/>
                        <a:cs typeface="Fira Sans"/>
                        <a:sym typeface="Fira Sans"/>
                      </a:endParaRPr>
                    </a:p>
                  </a:txBody>
                  <a:tcPr marL="91425" marR="91425" marT="91425" marB="91425" anchor="ctr"/>
                </a:tc>
                <a:tc>
                  <a:txBody>
                    <a:bodyPr/>
                    <a:lstStyle/>
                    <a:p>
                      <a:pPr marL="0" lvl="0" indent="0" algn="ctr" rtl="0">
                        <a:spcBef>
                          <a:spcPts val="0"/>
                        </a:spcBef>
                        <a:spcAft>
                          <a:spcPts val="0"/>
                        </a:spcAft>
                        <a:buNone/>
                      </a:pPr>
                      <a:r>
                        <a:rPr lang="en" sz="1000">
                          <a:latin typeface="Fira Sans"/>
                          <a:ea typeface="Fira Sans"/>
                          <a:cs typeface="Fira Sans"/>
                          <a:sym typeface="Fira Sans"/>
                        </a:rPr>
                        <a:t>2</a:t>
                      </a:r>
                      <a:endParaRPr sz="1000">
                        <a:latin typeface="Fira Sans"/>
                        <a:ea typeface="Fira Sans"/>
                        <a:cs typeface="Fira Sans"/>
                        <a:sym typeface="Fira Sans"/>
                      </a:endParaRPr>
                    </a:p>
                  </a:txBody>
                  <a:tcPr marL="91425" marR="91425" marT="91425" marB="91425" anchor="ctr"/>
                </a:tc>
                <a:extLst>
                  <a:ext uri="{0D108BD9-81ED-4DB2-BD59-A6C34878D82A}">
                    <a16:rowId xmlns:a16="http://schemas.microsoft.com/office/drawing/2014/main" val="10003"/>
                  </a:ext>
                </a:extLst>
              </a:tr>
              <a:tr h="334925">
                <a:tc>
                  <a:txBody>
                    <a:bodyPr/>
                    <a:lstStyle/>
                    <a:p>
                      <a:pPr marL="0" lvl="0" indent="0" algn="ctr" rtl="0">
                        <a:spcBef>
                          <a:spcPts val="0"/>
                        </a:spcBef>
                        <a:spcAft>
                          <a:spcPts val="0"/>
                        </a:spcAft>
                        <a:buNone/>
                      </a:pPr>
                      <a:r>
                        <a:rPr lang="en" sz="1000">
                          <a:latin typeface="Fira Sans"/>
                          <a:ea typeface="Fira Sans"/>
                          <a:cs typeface="Fira Sans"/>
                          <a:sym typeface="Fira Sans"/>
                        </a:rPr>
                        <a:t>3 hours</a:t>
                      </a:r>
                      <a:endParaRPr sz="1000">
                        <a:latin typeface="Fira Sans"/>
                        <a:ea typeface="Fira Sans"/>
                        <a:cs typeface="Fira Sans"/>
                        <a:sym typeface="Fira Sans"/>
                      </a:endParaRPr>
                    </a:p>
                  </a:txBody>
                  <a:tcPr marL="91425" marR="91425" marT="91425" marB="91425" anchor="ctr"/>
                </a:tc>
                <a:tc>
                  <a:txBody>
                    <a:bodyPr/>
                    <a:lstStyle/>
                    <a:p>
                      <a:pPr marL="0" lvl="0" indent="0" algn="ctr" rtl="0">
                        <a:spcBef>
                          <a:spcPts val="0"/>
                        </a:spcBef>
                        <a:spcAft>
                          <a:spcPts val="0"/>
                        </a:spcAft>
                        <a:buNone/>
                      </a:pPr>
                      <a:r>
                        <a:rPr lang="en" sz="1000">
                          <a:latin typeface="Fira Sans"/>
                          <a:ea typeface="Fira Sans"/>
                          <a:cs typeface="Fira Sans"/>
                          <a:sym typeface="Fira Sans"/>
                        </a:rPr>
                        <a:t>3</a:t>
                      </a:r>
                      <a:endParaRPr sz="1000">
                        <a:latin typeface="Fira Sans"/>
                        <a:ea typeface="Fira Sans"/>
                        <a:cs typeface="Fira Sans"/>
                        <a:sym typeface="Fira Sans"/>
                      </a:endParaRPr>
                    </a:p>
                  </a:txBody>
                  <a:tcPr marL="91425" marR="91425" marT="91425" marB="91425" anchor="ctr"/>
                </a:tc>
                <a:extLst>
                  <a:ext uri="{0D108BD9-81ED-4DB2-BD59-A6C34878D82A}">
                    <a16:rowId xmlns:a16="http://schemas.microsoft.com/office/drawing/2014/main" val="10004"/>
                  </a:ext>
                </a:extLst>
              </a:tr>
              <a:tr h="337600">
                <a:tc>
                  <a:txBody>
                    <a:bodyPr/>
                    <a:lstStyle/>
                    <a:p>
                      <a:pPr marL="0" lvl="0" indent="0" algn="ctr" rtl="0">
                        <a:spcBef>
                          <a:spcPts val="0"/>
                        </a:spcBef>
                        <a:spcAft>
                          <a:spcPts val="0"/>
                        </a:spcAft>
                        <a:buNone/>
                      </a:pPr>
                      <a:r>
                        <a:rPr lang="en" sz="1000">
                          <a:latin typeface="Fira Sans"/>
                          <a:ea typeface="Fira Sans"/>
                          <a:cs typeface="Fira Sans"/>
                          <a:sym typeface="Fira Sans"/>
                        </a:rPr>
                        <a:t>4 or more hours</a:t>
                      </a:r>
                      <a:endParaRPr sz="1000">
                        <a:latin typeface="Fira Sans"/>
                        <a:ea typeface="Fira Sans"/>
                        <a:cs typeface="Fira Sans"/>
                        <a:sym typeface="Fira Sans"/>
                      </a:endParaRPr>
                    </a:p>
                  </a:txBody>
                  <a:tcPr marL="91425" marR="91425" marT="91425" marB="91425" anchor="ctr"/>
                </a:tc>
                <a:tc>
                  <a:txBody>
                    <a:bodyPr/>
                    <a:lstStyle/>
                    <a:p>
                      <a:pPr marL="0" lvl="0" indent="0" algn="ctr" rtl="0">
                        <a:spcBef>
                          <a:spcPts val="0"/>
                        </a:spcBef>
                        <a:spcAft>
                          <a:spcPts val="0"/>
                        </a:spcAft>
                        <a:buNone/>
                      </a:pPr>
                      <a:r>
                        <a:rPr lang="en" sz="1000">
                          <a:latin typeface="Fira Sans"/>
                          <a:ea typeface="Fira Sans"/>
                          <a:cs typeface="Fira Sans"/>
                          <a:sym typeface="Fira Sans"/>
                        </a:rPr>
                        <a:t>4</a:t>
                      </a:r>
                      <a:endParaRPr sz="1000">
                        <a:latin typeface="Fira Sans"/>
                        <a:ea typeface="Fira Sans"/>
                        <a:cs typeface="Fira Sans"/>
                        <a:sym typeface="Fira Sans"/>
                      </a:endParaRPr>
                    </a:p>
                  </a:txBody>
                  <a:tcPr marL="91425" marR="91425" marT="91425" marB="91425" anchor="ctr"/>
                </a:tc>
                <a:extLst>
                  <a:ext uri="{0D108BD9-81ED-4DB2-BD59-A6C34878D82A}">
                    <a16:rowId xmlns:a16="http://schemas.microsoft.com/office/drawing/2014/main" val="10005"/>
                  </a:ext>
                </a:extLst>
              </a:tr>
            </a:tbl>
          </a:graphicData>
        </a:graphic>
      </p:graphicFrame>
      <p:sp>
        <p:nvSpPr>
          <p:cNvPr id="326" name="Google Shape;326;p19"/>
          <p:cNvSpPr txBox="1"/>
          <p:nvPr/>
        </p:nvSpPr>
        <p:spPr>
          <a:xfrm>
            <a:off x="203450" y="3995075"/>
            <a:ext cx="8801400" cy="615600"/>
          </a:xfrm>
          <a:prstGeom prst="rect">
            <a:avLst/>
          </a:prstGeom>
          <a:solidFill>
            <a:srgbClr val="CECECE"/>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0</a:t>
            </a:r>
            <a:r>
              <a:rPr lang="en">
                <a:solidFill>
                  <a:schemeClr val="dk1"/>
                </a:solidFill>
                <a:latin typeface="Fira Sans Light"/>
                <a:ea typeface="Fira Sans Light"/>
                <a:cs typeface="Fira Sans Light"/>
                <a:sym typeface="Fira Sans Light"/>
              </a:rPr>
              <a:t>: Children who need mental health treatment and children who don’t have same level of screen time </a:t>
            </a:r>
            <a:endParaRPr>
              <a:solidFill>
                <a:schemeClr val="dk1"/>
              </a:solidFill>
              <a:latin typeface="Fira Sans Light"/>
              <a:ea typeface="Fira Sans Light"/>
              <a:cs typeface="Fira Sans Light"/>
              <a:sym typeface="Fira Sans Light"/>
            </a:endParaRPr>
          </a:p>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1</a:t>
            </a:r>
            <a:r>
              <a:rPr lang="en">
                <a:solidFill>
                  <a:schemeClr val="dk1"/>
                </a:solidFill>
                <a:latin typeface="Fira Sans Light"/>
                <a:ea typeface="Fira Sans Light"/>
                <a:cs typeface="Fira Sans Light"/>
                <a:sym typeface="Fira Sans Light"/>
              </a:rPr>
              <a:t>: Children who need mental health treatment have higher screen time than those who don’t need it</a:t>
            </a:r>
            <a:endParaRPr>
              <a:solidFill>
                <a:schemeClr val="dk1"/>
              </a:solidFill>
              <a:latin typeface="Fira Sans Light"/>
              <a:ea typeface="Fira Sans Light"/>
              <a:cs typeface="Fira Sans Light"/>
              <a:sym typeface="Fira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p:nvPr/>
        </p:nvSpPr>
        <p:spPr>
          <a:xfrm>
            <a:off x="710238"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What about adults? </a:t>
            </a:r>
            <a:endParaRPr sz="2800">
              <a:solidFill>
                <a:srgbClr val="D62A2A"/>
              </a:solidFill>
              <a:latin typeface="Fira Sans Medium"/>
              <a:ea typeface="Fira Sans Medium"/>
              <a:cs typeface="Fira Sans Medium"/>
              <a:sym typeface="Fira Sans Medium"/>
            </a:endParaRPr>
          </a:p>
        </p:txBody>
      </p:sp>
      <p:sp>
        <p:nvSpPr>
          <p:cNvPr id="332" name="Google Shape;332;p20"/>
          <p:cNvSpPr txBox="1"/>
          <p:nvPr/>
        </p:nvSpPr>
        <p:spPr>
          <a:xfrm>
            <a:off x="424938" y="994375"/>
            <a:ext cx="829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For adults, </a:t>
            </a:r>
            <a:r>
              <a:rPr lang="en" b="1">
                <a:solidFill>
                  <a:schemeClr val="dk1"/>
                </a:solidFill>
                <a:latin typeface="Fira Sans"/>
                <a:ea typeface="Fira Sans"/>
                <a:cs typeface="Fira Sans"/>
                <a:sym typeface="Fira Sans"/>
              </a:rPr>
              <a:t>no direct association were found between screen time and mental health</a:t>
            </a:r>
            <a:r>
              <a:rPr lang="en">
                <a:solidFill>
                  <a:schemeClr val="dk1"/>
                </a:solidFill>
                <a:latin typeface="Fira Sans Light"/>
                <a:ea typeface="Fira Sans Light"/>
                <a:cs typeface="Fira Sans Light"/>
                <a:sym typeface="Fira Sans Light"/>
              </a:rPr>
              <a:t>. Adult screen time could be more complex and affected by other factors (e.g work environment, physical health).</a:t>
            </a:r>
            <a:endParaRPr b="1"/>
          </a:p>
        </p:txBody>
      </p:sp>
      <p:sp>
        <p:nvSpPr>
          <p:cNvPr id="333" name="Google Shape;333;p20"/>
          <p:cNvSpPr txBox="1"/>
          <p:nvPr/>
        </p:nvSpPr>
        <p:spPr>
          <a:xfrm>
            <a:off x="424950" y="4320950"/>
            <a:ext cx="82941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Instead of ANOVA, we used</a:t>
            </a:r>
            <a:r>
              <a:rPr lang="en" b="1">
                <a:solidFill>
                  <a:schemeClr val="dk1"/>
                </a:solidFill>
                <a:latin typeface="Fira Sans"/>
                <a:ea typeface="Fira Sans"/>
                <a:cs typeface="Fira Sans"/>
                <a:sym typeface="Fira Sans"/>
              </a:rPr>
              <a:t> Kruskal Wallis H test</a:t>
            </a:r>
            <a:r>
              <a:rPr lang="en">
                <a:solidFill>
                  <a:schemeClr val="dk1"/>
                </a:solidFill>
                <a:latin typeface="Fira Sans Light"/>
                <a:ea typeface="Fira Sans Light"/>
                <a:cs typeface="Fira Sans Light"/>
                <a:sym typeface="Fira Sans Light"/>
              </a:rPr>
              <a:t>. The p-value is 0.405 for stress level, and 0.545 for mental health condition. Both are &gt;&gt; 0.05, hence, there is not enough evidence to show the evidence among different groups in mental health condition and stress level.</a:t>
            </a:r>
            <a:endParaRPr>
              <a:solidFill>
                <a:schemeClr val="dk1"/>
              </a:solidFill>
              <a:latin typeface="Fira Sans Light"/>
              <a:ea typeface="Fira Sans Light"/>
              <a:cs typeface="Fira Sans Light"/>
              <a:sym typeface="Fira Sans Light"/>
            </a:endParaRPr>
          </a:p>
        </p:txBody>
      </p:sp>
      <p:sp>
        <p:nvSpPr>
          <p:cNvPr id="334" name="Google Shape;334;p20"/>
          <p:cNvSpPr txBox="1"/>
          <p:nvPr/>
        </p:nvSpPr>
        <p:spPr>
          <a:xfrm>
            <a:off x="6127300" y="1595875"/>
            <a:ext cx="2823900" cy="20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latin typeface="Fira Sans"/>
                <a:ea typeface="Fira Sans"/>
                <a:cs typeface="Fira Sans"/>
                <a:sym typeface="Fira Sans"/>
              </a:rPr>
              <a:t>Assumptions check </a:t>
            </a:r>
            <a:endParaRPr sz="1600">
              <a:solidFill>
                <a:schemeClr val="dk2"/>
              </a:solidFill>
              <a:latin typeface="Fira Sans"/>
              <a:ea typeface="Fira Sans"/>
              <a:cs typeface="Fira Sans"/>
              <a:sym typeface="Fira Sans"/>
            </a:endParaRPr>
          </a:p>
          <a:p>
            <a:pPr marL="0" lvl="0" indent="0" algn="l" rtl="0">
              <a:spcBef>
                <a:spcPts val="0"/>
              </a:spcBef>
              <a:spcAft>
                <a:spcPts val="0"/>
              </a:spcAft>
              <a:buNone/>
            </a:pPr>
            <a:endParaRPr sz="1600">
              <a:solidFill>
                <a:schemeClr val="dk2"/>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300" b="1">
                <a:solidFill>
                  <a:schemeClr val="dk1"/>
                </a:solidFill>
                <a:latin typeface="Fira Sans"/>
                <a:ea typeface="Fira Sans"/>
                <a:cs typeface="Fira Sans"/>
                <a:sym typeface="Fira Sans"/>
              </a:rPr>
              <a:t>ANOVA key assumption_1</a:t>
            </a:r>
            <a:r>
              <a:rPr lang="en" sz="1300">
                <a:solidFill>
                  <a:schemeClr val="dk1"/>
                </a:solidFill>
                <a:latin typeface="Fira Sans"/>
                <a:ea typeface="Fira Sans"/>
                <a:cs typeface="Fira Sans"/>
                <a:sym typeface="Fira Sans"/>
              </a:rPr>
              <a:t>:</a:t>
            </a:r>
            <a:endParaRPr sz="1300">
              <a:solidFill>
                <a:schemeClr val="dk1"/>
              </a:solidFill>
              <a:latin typeface="Fira Sans"/>
              <a:ea typeface="Fira Sans"/>
              <a:cs typeface="Fira Sans"/>
              <a:sym typeface="Fira Sans"/>
            </a:endParaRPr>
          </a:p>
          <a:p>
            <a:pPr marL="0" lvl="0" indent="0" algn="l" rtl="0">
              <a:spcBef>
                <a:spcPts val="0"/>
              </a:spcBef>
              <a:spcAft>
                <a:spcPts val="0"/>
              </a:spcAft>
              <a:buNone/>
            </a:pPr>
            <a:r>
              <a:rPr lang="en" sz="1300">
                <a:solidFill>
                  <a:schemeClr val="dk1"/>
                </a:solidFill>
                <a:latin typeface="Fira Sans"/>
                <a:ea typeface="Fira Sans"/>
                <a:cs typeface="Fira Sans"/>
                <a:sym typeface="Fira Sans"/>
              </a:rPr>
              <a:t>Equal variance (Levene’s test)</a:t>
            </a:r>
            <a:endParaRPr sz="1300">
              <a:solidFill>
                <a:schemeClr val="dk1"/>
              </a:solidFill>
              <a:latin typeface="Fira Sans"/>
              <a:ea typeface="Fira Sans"/>
              <a:cs typeface="Fira Sans"/>
              <a:sym typeface="Fira Sans"/>
            </a:endParaRPr>
          </a:p>
          <a:p>
            <a:pPr marL="0" lvl="0" indent="0" algn="l" rtl="0">
              <a:spcBef>
                <a:spcPts val="0"/>
              </a:spcBef>
              <a:spcAft>
                <a:spcPts val="0"/>
              </a:spcAft>
              <a:buNone/>
            </a:pPr>
            <a:r>
              <a:rPr lang="en" sz="1300" b="1">
                <a:solidFill>
                  <a:schemeClr val="dk1"/>
                </a:solidFill>
                <a:latin typeface="Fira Sans"/>
                <a:ea typeface="Fira Sans"/>
                <a:cs typeface="Fira Sans"/>
                <a:sym typeface="Fira Sans"/>
              </a:rPr>
              <a:t>ANOVA key assumption_2</a:t>
            </a:r>
            <a:r>
              <a:rPr lang="en" sz="1300">
                <a:solidFill>
                  <a:schemeClr val="dk1"/>
                </a:solidFill>
                <a:latin typeface="Fira Sans"/>
                <a:ea typeface="Fira Sans"/>
                <a:cs typeface="Fira Sans"/>
                <a:sym typeface="Fira Sans"/>
              </a:rPr>
              <a:t>:</a:t>
            </a:r>
            <a:endParaRPr sz="1300">
              <a:solidFill>
                <a:schemeClr val="dk1"/>
              </a:solidFill>
              <a:latin typeface="Fira Sans"/>
              <a:ea typeface="Fira Sans"/>
              <a:cs typeface="Fira Sans"/>
              <a:sym typeface="Fira Sans"/>
            </a:endParaRPr>
          </a:p>
          <a:p>
            <a:pPr marL="0" lvl="0" indent="0" algn="l" rtl="0">
              <a:spcBef>
                <a:spcPts val="0"/>
              </a:spcBef>
              <a:spcAft>
                <a:spcPts val="0"/>
              </a:spcAft>
              <a:buNone/>
            </a:pPr>
            <a:r>
              <a:rPr lang="en" sz="1300">
                <a:solidFill>
                  <a:schemeClr val="dk1"/>
                </a:solidFill>
                <a:latin typeface="Fira Sans"/>
                <a:ea typeface="Fira Sans"/>
                <a:cs typeface="Fira Sans"/>
                <a:sym typeface="Fira Sans"/>
              </a:rPr>
              <a:t>Normal residuals (Shapiro's test)</a:t>
            </a:r>
            <a:endParaRPr sz="1300">
              <a:solidFill>
                <a:schemeClr val="dk1"/>
              </a:solidFill>
              <a:latin typeface="Fira Sans"/>
              <a:ea typeface="Fira Sans"/>
              <a:cs typeface="Fira Sans"/>
              <a:sym typeface="Fira Sans"/>
            </a:endParaRPr>
          </a:p>
          <a:p>
            <a:pPr marL="0" lvl="0" indent="0" algn="l" rtl="0">
              <a:spcBef>
                <a:spcPts val="0"/>
              </a:spcBef>
              <a:spcAft>
                <a:spcPts val="0"/>
              </a:spcAft>
              <a:buNone/>
            </a:pPr>
            <a:r>
              <a:rPr lang="en" sz="1300" b="1">
                <a:solidFill>
                  <a:schemeClr val="dk1"/>
                </a:solidFill>
                <a:latin typeface="Fira Sans"/>
                <a:ea typeface="Fira Sans"/>
                <a:cs typeface="Fira Sans"/>
                <a:sym typeface="Fira Sans"/>
              </a:rPr>
              <a:t>Both assumptions violated</a:t>
            </a:r>
            <a:r>
              <a:rPr lang="en" sz="1300">
                <a:solidFill>
                  <a:schemeClr val="dk1"/>
                </a:solidFill>
                <a:latin typeface="Fira Sans"/>
                <a:ea typeface="Fira Sans"/>
                <a:cs typeface="Fira Sans"/>
                <a:sym typeface="Fira Sans"/>
              </a:rPr>
              <a:t>→ </a:t>
            </a:r>
            <a:endParaRPr sz="1300">
              <a:solidFill>
                <a:schemeClr val="dk1"/>
              </a:solidFill>
              <a:latin typeface="Fira Sans"/>
              <a:ea typeface="Fira Sans"/>
              <a:cs typeface="Fira Sans"/>
              <a:sym typeface="Fira Sans"/>
            </a:endParaRPr>
          </a:p>
          <a:p>
            <a:pPr marL="0" lvl="0" indent="0" algn="l" rtl="0">
              <a:spcBef>
                <a:spcPts val="0"/>
              </a:spcBef>
              <a:spcAft>
                <a:spcPts val="0"/>
              </a:spcAft>
              <a:buNone/>
            </a:pPr>
            <a:r>
              <a:rPr lang="en" sz="1300">
                <a:solidFill>
                  <a:schemeClr val="dk1"/>
                </a:solidFill>
                <a:latin typeface="Fira Sans"/>
                <a:ea typeface="Fira Sans"/>
                <a:cs typeface="Fira Sans"/>
                <a:sym typeface="Fira Sans"/>
              </a:rPr>
              <a:t>Kruskal Wallis</a:t>
            </a:r>
            <a:endParaRPr sz="1300">
              <a:solidFill>
                <a:schemeClr val="dk1"/>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endParaRPr>
              <a:solidFill>
                <a:schemeClr val="dk1"/>
              </a:solidFill>
              <a:latin typeface="Fira Sans"/>
              <a:ea typeface="Fira Sans"/>
              <a:cs typeface="Fira Sans"/>
              <a:sym typeface="Fira Sans"/>
            </a:endParaRPr>
          </a:p>
        </p:txBody>
      </p:sp>
      <p:pic>
        <p:nvPicPr>
          <p:cNvPr id="335" name="Google Shape;335;p20"/>
          <p:cNvPicPr preferRelativeResize="0"/>
          <p:nvPr/>
        </p:nvPicPr>
        <p:blipFill>
          <a:blip r:embed="rId3">
            <a:alphaModFix/>
          </a:blip>
          <a:stretch>
            <a:fillRect/>
          </a:stretch>
        </p:blipFill>
        <p:spPr>
          <a:xfrm>
            <a:off x="424950" y="1594538"/>
            <a:ext cx="2495463" cy="1997262"/>
          </a:xfrm>
          <a:prstGeom prst="rect">
            <a:avLst/>
          </a:prstGeom>
          <a:noFill/>
          <a:ln>
            <a:noFill/>
          </a:ln>
        </p:spPr>
      </p:pic>
      <p:pic>
        <p:nvPicPr>
          <p:cNvPr id="336" name="Google Shape;336;p20"/>
          <p:cNvPicPr preferRelativeResize="0"/>
          <p:nvPr/>
        </p:nvPicPr>
        <p:blipFill>
          <a:blip r:embed="rId4">
            <a:alphaModFix/>
          </a:blip>
          <a:stretch>
            <a:fillRect/>
          </a:stretch>
        </p:blipFill>
        <p:spPr>
          <a:xfrm>
            <a:off x="3181966" y="1594538"/>
            <a:ext cx="2497682" cy="1997263"/>
          </a:xfrm>
          <a:prstGeom prst="rect">
            <a:avLst/>
          </a:prstGeom>
          <a:noFill/>
          <a:ln>
            <a:noFill/>
          </a:ln>
        </p:spPr>
      </p:pic>
      <p:sp>
        <p:nvSpPr>
          <p:cNvPr id="337" name="Google Shape;337;p20"/>
          <p:cNvSpPr txBox="1"/>
          <p:nvPr/>
        </p:nvSpPr>
        <p:spPr>
          <a:xfrm>
            <a:off x="163925" y="3705350"/>
            <a:ext cx="8852700" cy="615600"/>
          </a:xfrm>
          <a:prstGeom prst="rect">
            <a:avLst/>
          </a:prstGeom>
          <a:solidFill>
            <a:srgbClr val="CECECE"/>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0</a:t>
            </a:r>
            <a:r>
              <a:rPr lang="en">
                <a:solidFill>
                  <a:schemeClr val="dk1"/>
                </a:solidFill>
                <a:latin typeface="Fira Sans Light"/>
                <a:ea typeface="Fira Sans Light"/>
                <a:cs typeface="Fira Sans Light"/>
                <a:sym typeface="Fira Sans Light"/>
              </a:rPr>
              <a:t>: Screen time is not significantly different among different groups in both stress level and mental health</a:t>
            </a:r>
            <a:endParaRPr>
              <a:solidFill>
                <a:schemeClr val="dk1"/>
              </a:solidFill>
              <a:latin typeface="Fira Sans Light"/>
              <a:ea typeface="Fira Sans Light"/>
              <a:cs typeface="Fira Sans Light"/>
              <a:sym typeface="Fira Sans Light"/>
            </a:endParaRPr>
          </a:p>
          <a:p>
            <a:pPr marL="0" lvl="0" indent="0" algn="ctr"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1</a:t>
            </a:r>
            <a:r>
              <a:rPr lang="en">
                <a:solidFill>
                  <a:schemeClr val="dk1"/>
                </a:solidFill>
                <a:latin typeface="Fira Sans Light"/>
                <a:ea typeface="Fira Sans Light"/>
                <a:cs typeface="Fira Sans Light"/>
                <a:sym typeface="Fira Sans Light"/>
              </a:rPr>
              <a:t>: Screen time is significantly different among different groups in both stress level and mental health</a:t>
            </a:r>
            <a:endParaRPr>
              <a:solidFill>
                <a:schemeClr val="dk1"/>
              </a:solidFill>
              <a:latin typeface="Fira Sans Light"/>
              <a:ea typeface="Fira Sans Light"/>
              <a:cs typeface="Fira Sans Light"/>
              <a:sym typeface="Fira Sa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1"/>
          <p:cNvSpPr txBox="1"/>
          <p:nvPr/>
        </p:nvSpPr>
        <p:spPr>
          <a:xfrm>
            <a:off x="717400" y="2590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So… Are the existing guidelines justified?</a:t>
            </a:r>
            <a:endParaRPr sz="2800">
              <a:latin typeface="Fira Sans Medium"/>
              <a:ea typeface="Fira Sans Medium"/>
              <a:cs typeface="Fira Sans Medium"/>
              <a:sym typeface="Fira Sans Medium"/>
            </a:endParaRPr>
          </a:p>
        </p:txBody>
      </p:sp>
      <p:sp>
        <p:nvSpPr>
          <p:cNvPr id="343" name="Google Shape;343;p21"/>
          <p:cNvSpPr txBox="1"/>
          <p:nvPr/>
        </p:nvSpPr>
        <p:spPr>
          <a:xfrm>
            <a:off x="4572700" y="853200"/>
            <a:ext cx="4235100" cy="9684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latin typeface="Fira Sans Light"/>
                <a:ea typeface="Fira Sans Light"/>
                <a:cs typeface="Fira Sans Light"/>
                <a:sym typeface="Fira Sans Light"/>
              </a:rPr>
              <a:t>For adults, daily social media use is linked to </a:t>
            </a:r>
            <a:r>
              <a:rPr lang="en" sz="900" b="1">
                <a:solidFill>
                  <a:schemeClr val="dk1"/>
                </a:solidFill>
                <a:latin typeface="Fira Sans"/>
                <a:ea typeface="Fira Sans"/>
                <a:cs typeface="Fira Sans"/>
                <a:sym typeface="Fira Sans"/>
              </a:rPr>
              <a:t>stress and reduced mental well-being.</a:t>
            </a:r>
            <a:r>
              <a:rPr lang="en" sz="900">
                <a:solidFill>
                  <a:schemeClr val="dk1"/>
                </a:solidFill>
                <a:latin typeface="Fira Sans Light"/>
                <a:ea typeface="Fira Sans Light"/>
                <a:cs typeface="Fira Sans Light"/>
                <a:sym typeface="Fira Sans Light"/>
              </a:rPr>
              <a:t> </a:t>
            </a:r>
            <a:endParaRPr sz="900">
              <a:solidFill>
                <a:schemeClr val="dk1"/>
              </a:solidFill>
              <a:latin typeface="Fira Sans Light"/>
              <a:ea typeface="Fira Sans Light"/>
              <a:cs typeface="Fira Sans Light"/>
              <a:sym typeface="Fira Sans Light"/>
            </a:endParaRPr>
          </a:p>
          <a:p>
            <a:pPr marL="0" lvl="0" indent="0" algn="l" rtl="0">
              <a:spcBef>
                <a:spcPts val="0"/>
              </a:spcBef>
              <a:spcAft>
                <a:spcPts val="0"/>
              </a:spcAft>
              <a:buNone/>
            </a:pPr>
            <a:endParaRPr sz="900">
              <a:solidFill>
                <a:schemeClr val="dk1"/>
              </a:solidFill>
              <a:latin typeface="Fira Sans Light"/>
              <a:ea typeface="Fira Sans Light"/>
              <a:cs typeface="Fira Sans Light"/>
              <a:sym typeface="Fira Sans Light"/>
            </a:endParaRPr>
          </a:p>
          <a:p>
            <a:pPr marL="0" lvl="0" indent="0" algn="l" rtl="0">
              <a:spcBef>
                <a:spcPts val="0"/>
              </a:spcBef>
              <a:spcAft>
                <a:spcPts val="0"/>
              </a:spcAft>
              <a:buNone/>
            </a:pPr>
            <a:r>
              <a:rPr lang="en" sz="900">
                <a:solidFill>
                  <a:schemeClr val="dk1"/>
                </a:solidFill>
                <a:latin typeface="Fira Sans Light"/>
                <a:ea typeface="Fira Sans Light"/>
                <a:cs typeface="Fira Sans Light"/>
                <a:sym typeface="Fira Sans Light"/>
              </a:rPr>
              <a:t>Although feature coefficients are significant (&lt;0.05), the coefficient value is low, and so is the R squared value → The model only explains a small amount of variance.</a:t>
            </a:r>
            <a:endParaRPr sz="900">
              <a:solidFill>
                <a:schemeClr val="dk1"/>
              </a:solidFill>
              <a:latin typeface="Fira Sans Light"/>
              <a:ea typeface="Fira Sans Light"/>
              <a:cs typeface="Fira Sans Light"/>
              <a:sym typeface="Fira Sans Light"/>
            </a:endParaRPr>
          </a:p>
        </p:txBody>
      </p:sp>
      <p:grpSp>
        <p:nvGrpSpPr>
          <p:cNvPr id="344" name="Google Shape;344;p21"/>
          <p:cNvGrpSpPr/>
          <p:nvPr/>
        </p:nvGrpSpPr>
        <p:grpSpPr>
          <a:xfrm>
            <a:off x="141425" y="853200"/>
            <a:ext cx="4144800" cy="3676620"/>
            <a:chOff x="141425" y="929400"/>
            <a:chExt cx="4144800" cy="3676620"/>
          </a:xfrm>
        </p:grpSpPr>
        <p:sp>
          <p:nvSpPr>
            <p:cNvPr id="345" name="Google Shape;345;p21"/>
            <p:cNvSpPr txBox="1"/>
            <p:nvPr/>
          </p:nvSpPr>
          <p:spPr>
            <a:xfrm>
              <a:off x="141425" y="929400"/>
              <a:ext cx="4144800" cy="9684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For children, both recreational and educational screen time increase with age. But </a:t>
              </a:r>
              <a:r>
                <a:rPr lang="en" sz="1000" b="1" i="1">
                  <a:solidFill>
                    <a:schemeClr val="dk1"/>
                  </a:solidFill>
                  <a:latin typeface="Fira Sans"/>
                  <a:ea typeface="Fira Sans"/>
                  <a:cs typeface="Fira Sans"/>
                  <a:sym typeface="Fira Sans"/>
                </a:rPr>
                <a:t>recreational screen time increases much faster.</a:t>
              </a:r>
              <a:endParaRPr sz="1000" b="1" i="1">
                <a:solidFill>
                  <a:schemeClr val="dk1"/>
                </a:solidFill>
                <a:latin typeface="Fira Sans"/>
                <a:ea typeface="Fira Sans"/>
                <a:cs typeface="Fira Sans"/>
                <a:sym typeface="Fira Sans"/>
              </a:endParaRPr>
            </a:p>
            <a:p>
              <a:pPr marL="0" lvl="0" indent="0" algn="l" rtl="0">
                <a:spcBef>
                  <a:spcPts val="0"/>
                </a:spcBef>
                <a:spcAft>
                  <a:spcPts val="0"/>
                </a:spcAft>
                <a:buNone/>
              </a:pPr>
              <a:endParaRPr sz="1000" b="1" i="1">
                <a:solidFill>
                  <a:schemeClr val="dk1"/>
                </a:solidFill>
                <a:latin typeface="Fira Sans"/>
                <a:ea typeface="Fira Sans"/>
                <a:cs typeface="Fira Sans"/>
                <a:sym typeface="Fira Sans"/>
              </a:endParaRPr>
            </a:p>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Childhood is likely crucial for building healthy habits - so the </a:t>
              </a:r>
              <a:r>
                <a:rPr lang="en" sz="1000" b="1" i="1">
                  <a:solidFill>
                    <a:schemeClr val="dk1"/>
                  </a:solidFill>
                  <a:latin typeface="Fira Sans"/>
                  <a:ea typeface="Fira Sans"/>
                  <a:cs typeface="Fira Sans"/>
                  <a:sym typeface="Fira Sans"/>
                </a:rPr>
                <a:t>government policies are proactive rather than reactive.</a:t>
              </a:r>
              <a:endParaRPr sz="1000" b="1" i="1">
                <a:solidFill>
                  <a:schemeClr val="dk1"/>
                </a:solidFill>
                <a:latin typeface="Fira Sans"/>
                <a:ea typeface="Fira Sans"/>
                <a:cs typeface="Fira Sans"/>
                <a:sym typeface="Fira Sans"/>
              </a:endParaRPr>
            </a:p>
          </p:txBody>
        </p:sp>
        <p:grpSp>
          <p:nvGrpSpPr>
            <p:cNvPr id="346" name="Google Shape;346;p21"/>
            <p:cNvGrpSpPr/>
            <p:nvPr/>
          </p:nvGrpSpPr>
          <p:grpSpPr>
            <a:xfrm>
              <a:off x="277308" y="2020780"/>
              <a:ext cx="3873087" cy="2585239"/>
              <a:chOff x="100975" y="1780646"/>
              <a:chExt cx="4185311" cy="2800909"/>
            </a:xfrm>
          </p:grpSpPr>
          <p:pic>
            <p:nvPicPr>
              <p:cNvPr id="347" name="Google Shape;347;p21"/>
              <p:cNvPicPr preferRelativeResize="0"/>
              <p:nvPr/>
            </p:nvPicPr>
            <p:blipFill rotWithShape="1">
              <a:blip r:embed="rId3">
                <a:alphaModFix/>
              </a:blip>
              <a:srcRect r="24075"/>
              <a:stretch/>
            </p:blipFill>
            <p:spPr>
              <a:xfrm>
                <a:off x="2545410" y="1780646"/>
                <a:ext cx="1703500" cy="1862243"/>
              </a:xfrm>
              <a:prstGeom prst="rect">
                <a:avLst/>
              </a:prstGeom>
              <a:noFill/>
              <a:ln w="9525" cap="flat" cmpd="sng">
                <a:solidFill>
                  <a:schemeClr val="dk1"/>
                </a:solidFill>
                <a:prstDash val="solid"/>
                <a:round/>
                <a:headEnd type="none" w="sm" len="sm"/>
                <a:tailEnd type="none" w="sm" len="sm"/>
              </a:ln>
            </p:spPr>
          </p:pic>
          <p:pic>
            <p:nvPicPr>
              <p:cNvPr id="348" name="Google Shape;348;p21"/>
              <p:cNvPicPr preferRelativeResize="0"/>
              <p:nvPr/>
            </p:nvPicPr>
            <p:blipFill>
              <a:blip r:embed="rId4">
                <a:alphaModFix/>
              </a:blip>
              <a:stretch>
                <a:fillRect/>
              </a:stretch>
            </p:blipFill>
            <p:spPr>
              <a:xfrm>
                <a:off x="141434" y="3257670"/>
                <a:ext cx="2356484" cy="1323885"/>
              </a:xfrm>
              <a:prstGeom prst="rect">
                <a:avLst/>
              </a:prstGeom>
              <a:noFill/>
              <a:ln>
                <a:noFill/>
              </a:ln>
            </p:spPr>
          </p:pic>
          <p:pic>
            <p:nvPicPr>
              <p:cNvPr id="349" name="Google Shape;349;p21"/>
              <p:cNvPicPr preferRelativeResize="0"/>
              <p:nvPr/>
            </p:nvPicPr>
            <p:blipFill>
              <a:blip r:embed="rId5">
                <a:alphaModFix/>
              </a:blip>
              <a:stretch>
                <a:fillRect/>
              </a:stretch>
            </p:blipFill>
            <p:spPr>
              <a:xfrm>
                <a:off x="141433" y="1792148"/>
                <a:ext cx="2356484" cy="1310078"/>
              </a:xfrm>
              <a:prstGeom prst="rect">
                <a:avLst/>
              </a:prstGeom>
              <a:noFill/>
              <a:ln>
                <a:noFill/>
              </a:ln>
            </p:spPr>
          </p:pic>
          <p:sp>
            <p:nvSpPr>
              <p:cNvPr id="350" name="Google Shape;350;p21"/>
              <p:cNvSpPr/>
              <p:nvPr/>
            </p:nvSpPr>
            <p:spPr>
              <a:xfrm>
                <a:off x="100975" y="2671365"/>
                <a:ext cx="1584600" cy="83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51" name="Google Shape;351;p21"/>
              <p:cNvCxnSpPr>
                <a:stCxn id="350" idx="3"/>
              </p:cNvCxnSpPr>
              <p:nvPr/>
            </p:nvCxnSpPr>
            <p:spPr>
              <a:xfrm>
                <a:off x="1685575" y="2713065"/>
                <a:ext cx="1240500" cy="173100"/>
              </a:xfrm>
              <a:prstGeom prst="straightConnector1">
                <a:avLst/>
              </a:prstGeom>
              <a:noFill/>
              <a:ln w="19050" cap="flat" cmpd="sng">
                <a:solidFill>
                  <a:schemeClr val="accent1"/>
                </a:solidFill>
                <a:prstDash val="solid"/>
                <a:round/>
                <a:headEnd type="none" w="med" len="med"/>
                <a:tailEnd type="none" w="med" len="med"/>
              </a:ln>
            </p:spPr>
          </p:cxnSp>
          <p:sp>
            <p:nvSpPr>
              <p:cNvPr id="352" name="Google Shape;352;p21"/>
              <p:cNvSpPr/>
              <p:nvPr/>
            </p:nvSpPr>
            <p:spPr>
              <a:xfrm>
                <a:off x="100975" y="4133867"/>
                <a:ext cx="1584600" cy="83400"/>
              </a:xfrm>
              <a:prstGeom prst="rect">
                <a:avLst/>
              </a:prstGeom>
              <a:noFill/>
              <a:ln w="19050" cap="flat" cmpd="sng">
                <a:solidFill>
                  <a:srgbClr val="277BB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53" name="Google Shape;353;p21"/>
              <p:cNvCxnSpPr>
                <a:stCxn id="352" idx="3"/>
              </p:cNvCxnSpPr>
              <p:nvPr/>
            </p:nvCxnSpPr>
            <p:spPr>
              <a:xfrm rot="10800000" flipH="1">
                <a:off x="1685575" y="3399167"/>
                <a:ext cx="1186800" cy="776400"/>
              </a:xfrm>
              <a:prstGeom prst="straightConnector1">
                <a:avLst/>
              </a:prstGeom>
              <a:noFill/>
              <a:ln w="19050" cap="flat" cmpd="sng">
                <a:solidFill>
                  <a:srgbClr val="277BB6"/>
                </a:solidFill>
                <a:prstDash val="solid"/>
                <a:round/>
                <a:headEnd type="none" w="med" len="med"/>
                <a:tailEnd type="none" w="med" len="med"/>
              </a:ln>
            </p:spPr>
          </p:cxnSp>
          <p:pic>
            <p:nvPicPr>
              <p:cNvPr id="354" name="Google Shape;354;p21"/>
              <p:cNvPicPr preferRelativeResize="0"/>
              <p:nvPr/>
            </p:nvPicPr>
            <p:blipFill>
              <a:blip r:embed="rId6">
                <a:alphaModFix/>
              </a:blip>
              <a:stretch>
                <a:fillRect/>
              </a:stretch>
            </p:blipFill>
            <p:spPr>
              <a:xfrm>
                <a:off x="2799500" y="2068446"/>
                <a:ext cx="677777" cy="386035"/>
              </a:xfrm>
              <a:prstGeom prst="rect">
                <a:avLst/>
              </a:prstGeom>
              <a:noFill/>
              <a:ln>
                <a:noFill/>
              </a:ln>
            </p:spPr>
          </p:pic>
          <p:pic>
            <p:nvPicPr>
              <p:cNvPr id="355" name="Google Shape;355;p21"/>
              <p:cNvPicPr preferRelativeResize="0"/>
              <p:nvPr/>
            </p:nvPicPr>
            <p:blipFill>
              <a:blip r:embed="rId7">
                <a:alphaModFix/>
              </a:blip>
              <a:stretch>
                <a:fillRect/>
              </a:stretch>
            </p:blipFill>
            <p:spPr>
              <a:xfrm>
                <a:off x="2545410" y="3855215"/>
                <a:ext cx="565269" cy="575505"/>
              </a:xfrm>
              <a:prstGeom prst="rect">
                <a:avLst/>
              </a:prstGeom>
              <a:noFill/>
              <a:ln>
                <a:noFill/>
              </a:ln>
            </p:spPr>
          </p:pic>
          <p:pic>
            <p:nvPicPr>
              <p:cNvPr id="356" name="Google Shape;356;p21"/>
              <p:cNvPicPr preferRelativeResize="0"/>
              <p:nvPr/>
            </p:nvPicPr>
            <p:blipFill>
              <a:blip r:embed="rId8">
                <a:alphaModFix/>
              </a:blip>
              <a:stretch>
                <a:fillRect/>
              </a:stretch>
            </p:blipFill>
            <p:spPr>
              <a:xfrm>
                <a:off x="3721017" y="3855204"/>
                <a:ext cx="565269" cy="575524"/>
              </a:xfrm>
              <a:prstGeom prst="rect">
                <a:avLst/>
              </a:prstGeom>
              <a:noFill/>
              <a:ln>
                <a:noFill/>
              </a:ln>
            </p:spPr>
          </p:pic>
          <p:pic>
            <p:nvPicPr>
              <p:cNvPr id="357" name="Google Shape;357;p21"/>
              <p:cNvPicPr preferRelativeResize="0"/>
              <p:nvPr/>
            </p:nvPicPr>
            <p:blipFill>
              <a:blip r:embed="rId9">
                <a:alphaModFix/>
              </a:blip>
              <a:stretch>
                <a:fillRect/>
              </a:stretch>
            </p:blipFill>
            <p:spPr>
              <a:xfrm>
                <a:off x="3158171" y="3874297"/>
                <a:ext cx="534598" cy="537347"/>
              </a:xfrm>
              <a:prstGeom prst="rect">
                <a:avLst/>
              </a:prstGeom>
              <a:noFill/>
              <a:ln>
                <a:noFill/>
              </a:ln>
            </p:spPr>
          </p:pic>
        </p:grpSp>
      </p:grpSp>
      <p:pic>
        <p:nvPicPr>
          <p:cNvPr id="358" name="Google Shape;358;p21"/>
          <p:cNvPicPr preferRelativeResize="0"/>
          <p:nvPr/>
        </p:nvPicPr>
        <p:blipFill>
          <a:blip r:embed="rId10">
            <a:alphaModFix/>
          </a:blip>
          <a:stretch>
            <a:fillRect/>
          </a:stretch>
        </p:blipFill>
        <p:spPr>
          <a:xfrm>
            <a:off x="4572700" y="3410277"/>
            <a:ext cx="2132574" cy="1395436"/>
          </a:xfrm>
          <a:prstGeom prst="rect">
            <a:avLst/>
          </a:prstGeom>
          <a:noFill/>
          <a:ln>
            <a:noFill/>
          </a:ln>
        </p:spPr>
      </p:pic>
      <p:sp>
        <p:nvSpPr>
          <p:cNvPr id="359" name="Google Shape;359;p21"/>
          <p:cNvSpPr txBox="1"/>
          <p:nvPr/>
        </p:nvSpPr>
        <p:spPr>
          <a:xfrm>
            <a:off x="6760950" y="3313525"/>
            <a:ext cx="2046900" cy="1492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Given the limited practical ability to regulate adult screen time, policies should prioritize </a:t>
            </a:r>
            <a:r>
              <a:rPr lang="en" sz="1000" b="1">
                <a:solidFill>
                  <a:schemeClr val="dk1"/>
                </a:solidFill>
                <a:latin typeface="Fira Sans"/>
                <a:ea typeface="Fira Sans"/>
                <a:cs typeface="Fira Sans"/>
                <a:sym typeface="Fira Sans"/>
              </a:rPr>
              <a:t>early intervention and general digital well-being. </a:t>
            </a:r>
            <a:r>
              <a:rPr lang="en" sz="1000">
                <a:solidFill>
                  <a:schemeClr val="dk1"/>
                </a:solidFill>
                <a:latin typeface="Fira Sans Light"/>
                <a:ea typeface="Fira Sans Light"/>
                <a:cs typeface="Fira Sans Light"/>
                <a:sym typeface="Fira Sans Light"/>
              </a:rPr>
              <a:t>In addition, the lack of explanatory power of this regression suggests that a more holistic approach is required for adults.</a:t>
            </a:r>
            <a:endParaRPr sz="1000">
              <a:solidFill>
                <a:schemeClr val="dk1"/>
              </a:solidFill>
              <a:latin typeface="Fira Sans Light"/>
              <a:ea typeface="Fira Sans Light"/>
              <a:cs typeface="Fira Sans Light"/>
              <a:sym typeface="Fira Sans Light"/>
            </a:endParaRPr>
          </a:p>
        </p:txBody>
      </p:sp>
      <p:pic>
        <p:nvPicPr>
          <p:cNvPr id="360" name="Google Shape;360;p21"/>
          <p:cNvPicPr preferRelativeResize="0"/>
          <p:nvPr/>
        </p:nvPicPr>
        <p:blipFill>
          <a:blip r:embed="rId11">
            <a:alphaModFix/>
          </a:blip>
          <a:stretch>
            <a:fillRect/>
          </a:stretch>
        </p:blipFill>
        <p:spPr>
          <a:xfrm>
            <a:off x="6761000" y="1939888"/>
            <a:ext cx="2046801" cy="1352108"/>
          </a:xfrm>
          <a:prstGeom prst="rect">
            <a:avLst/>
          </a:prstGeom>
          <a:noFill/>
          <a:ln>
            <a:noFill/>
          </a:ln>
        </p:spPr>
      </p:pic>
      <p:pic>
        <p:nvPicPr>
          <p:cNvPr id="361" name="Google Shape;361;p21"/>
          <p:cNvPicPr preferRelativeResize="0"/>
          <p:nvPr/>
        </p:nvPicPr>
        <p:blipFill>
          <a:blip r:embed="rId12">
            <a:alphaModFix/>
          </a:blip>
          <a:stretch>
            <a:fillRect/>
          </a:stretch>
        </p:blipFill>
        <p:spPr>
          <a:xfrm>
            <a:off x="4572703" y="1924413"/>
            <a:ext cx="2132579" cy="1433700"/>
          </a:xfrm>
          <a:prstGeom prst="rect">
            <a:avLst/>
          </a:prstGeom>
          <a:noFill/>
          <a:ln>
            <a:noFill/>
          </a:ln>
        </p:spPr>
      </p:pic>
      <p:sp>
        <p:nvSpPr>
          <p:cNvPr id="362" name="Google Shape;362;p21"/>
          <p:cNvSpPr/>
          <p:nvPr/>
        </p:nvSpPr>
        <p:spPr>
          <a:xfrm>
            <a:off x="4583050" y="2687325"/>
            <a:ext cx="1456200" cy="56100"/>
          </a:xfrm>
          <a:prstGeom prst="rect">
            <a:avLst/>
          </a:prstGeom>
          <a:noFill/>
          <a:ln w="9525" cap="flat" cmpd="sng">
            <a:solidFill>
              <a:srgbClr val="FFAC4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 name="Google Shape;363;p21"/>
          <p:cNvSpPr/>
          <p:nvPr/>
        </p:nvSpPr>
        <p:spPr>
          <a:xfrm>
            <a:off x="4595150" y="3066675"/>
            <a:ext cx="648000" cy="56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p21"/>
          <p:cNvSpPr/>
          <p:nvPr/>
        </p:nvSpPr>
        <p:spPr>
          <a:xfrm>
            <a:off x="6755725" y="2631225"/>
            <a:ext cx="1456200" cy="56100"/>
          </a:xfrm>
          <a:prstGeom prst="rect">
            <a:avLst/>
          </a:prstGeom>
          <a:noFill/>
          <a:ln w="9525" cap="flat" cmpd="sng">
            <a:solidFill>
              <a:srgbClr val="FFAC4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 name="Google Shape;365;p21"/>
          <p:cNvSpPr/>
          <p:nvPr/>
        </p:nvSpPr>
        <p:spPr>
          <a:xfrm>
            <a:off x="6767825" y="2993400"/>
            <a:ext cx="648000" cy="56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21"/>
          <p:cNvSpPr/>
          <p:nvPr/>
        </p:nvSpPr>
        <p:spPr>
          <a:xfrm>
            <a:off x="4583050" y="4124150"/>
            <a:ext cx="1456200" cy="56100"/>
          </a:xfrm>
          <a:prstGeom prst="rect">
            <a:avLst/>
          </a:prstGeom>
          <a:noFill/>
          <a:ln w="9525" cap="flat" cmpd="sng">
            <a:solidFill>
              <a:srgbClr val="FFAC4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 name="Google Shape;367;p21"/>
          <p:cNvSpPr/>
          <p:nvPr/>
        </p:nvSpPr>
        <p:spPr>
          <a:xfrm>
            <a:off x="4583050" y="4499225"/>
            <a:ext cx="648000" cy="56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4"/>
          <p:cNvSpPr txBox="1"/>
          <p:nvPr/>
        </p:nvSpPr>
        <p:spPr>
          <a:xfrm>
            <a:off x="159050" y="3588025"/>
            <a:ext cx="2691900" cy="1320600"/>
          </a:xfrm>
          <a:prstGeom prst="rect">
            <a:avLst/>
          </a:prstGeom>
          <a:solidFill>
            <a:schemeClr val="accent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2"/>
                </a:solidFill>
                <a:latin typeface="Fira Sans Light"/>
                <a:ea typeface="Fira Sans Light"/>
                <a:cs typeface="Fira Sans Light"/>
                <a:sym typeface="Fira Sans Light"/>
              </a:rPr>
              <a:t>NHANES threshold cut-offs not consistent:</a:t>
            </a:r>
            <a:endParaRPr sz="1000">
              <a:solidFill>
                <a:schemeClr val="lt2"/>
              </a:solidFill>
              <a:latin typeface="Fira Sans Light"/>
              <a:ea typeface="Fira Sans Light"/>
              <a:cs typeface="Fira Sans Light"/>
              <a:sym typeface="Fira Sans Light"/>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½ - 1.71…</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⅔ - 0.68..</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¾ - 1.25…</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a:solidFill>
                  <a:schemeClr val="lt2"/>
                </a:solidFill>
                <a:latin typeface="Fira Sans Light"/>
                <a:ea typeface="Fira Sans Light"/>
                <a:cs typeface="Fira Sans Light"/>
                <a:sym typeface="Fira Sans Light"/>
              </a:rPr>
              <a:t>Should be strictly monotonic!</a:t>
            </a:r>
            <a:endParaRPr sz="1000">
              <a:solidFill>
                <a:schemeClr val="lt2"/>
              </a:solidFill>
              <a:latin typeface="Fira Sans Light"/>
              <a:ea typeface="Fira Sans Light"/>
              <a:cs typeface="Fira Sans Light"/>
              <a:sym typeface="Fira Sans Light"/>
            </a:endParaRPr>
          </a:p>
        </p:txBody>
      </p:sp>
      <p:sp>
        <p:nvSpPr>
          <p:cNvPr id="423" name="Google Shape;423;p24"/>
          <p:cNvSpPr txBox="1"/>
          <p:nvPr/>
        </p:nvSpPr>
        <p:spPr>
          <a:xfrm>
            <a:off x="717400" y="2590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solidFill>
                  <a:schemeClr val="dk1"/>
                </a:solidFill>
                <a:latin typeface="Fira Sans Medium"/>
                <a:ea typeface="Fira Sans Medium"/>
                <a:cs typeface="Fira Sans Medium"/>
                <a:sym typeface="Fira Sans Medium"/>
              </a:rPr>
              <a:t>How about Youth? (NHANES 2021/YRBS)</a:t>
            </a:r>
            <a:endParaRPr sz="2800">
              <a:solidFill>
                <a:schemeClr val="dk1"/>
              </a:solidFill>
              <a:latin typeface="Fira Sans Medium"/>
              <a:ea typeface="Fira Sans Medium"/>
              <a:cs typeface="Fira Sans Medium"/>
              <a:sym typeface="Fira Sans Medium"/>
            </a:endParaRPr>
          </a:p>
        </p:txBody>
      </p:sp>
      <p:pic>
        <p:nvPicPr>
          <p:cNvPr id="424" name="Google Shape;424;p24"/>
          <p:cNvPicPr preferRelativeResize="0"/>
          <p:nvPr/>
        </p:nvPicPr>
        <p:blipFill>
          <a:blip r:embed="rId3">
            <a:alphaModFix/>
          </a:blip>
          <a:stretch>
            <a:fillRect/>
          </a:stretch>
        </p:blipFill>
        <p:spPr>
          <a:xfrm>
            <a:off x="3256250" y="-1213800"/>
            <a:ext cx="412500" cy="412500"/>
          </a:xfrm>
          <a:prstGeom prst="rect">
            <a:avLst/>
          </a:prstGeom>
          <a:noFill/>
          <a:ln>
            <a:noFill/>
          </a:ln>
        </p:spPr>
      </p:pic>
      <p:grpSp>
        <p:nvGrpSpPr>
          <p:cNvPr id="425" name="Google Shape;425;p24"/>
          <p:cNvGrpSpPr/>
          <p:nvPr/>
        </p:nvGrpSpPr>
        <p:grpSpPr>
          <a:xfrm>
            <a:off x="4680208" y="-1191144"/>
            <a:ext cx="578234" cy="367197"/>
            <a:chOff x="10393833" y="2890306"/>
            <a:chExt cx="578234" cy="367197"/>
          </a:xfrm>
        </p:grpSpPr>
        <p:sp>
          <p:nvSpPr>
            <p:cNvPr id="426" name="Google Shape;426;p24"/>
            <p:cNvSpPr/>
            <p:nvPr/>
          </p:nvSpPr>
          <p:spPr>
            <a:xfrm>
              <a:off x="10547737" y="3194782"/>
              <a:ext cx="275945" cy="62721"/>
            </a:xfrm>
            <a:custGeom>
              <a:avLst/>
              <a:gdLst/>
              <a:ahLst/>
              <a:cxnLst/>
              <a:rect l="l" t="t" r="r" b="b"/>
              <a:pathLst>
                <a:path w="7950" h="1807" extrusionOk="0">
                  <a:moveTo>
                    <a:pt x="3959" y="1"/>
                  </a:moveTo>
                  <a:cubicBezTo>
                    <a:pt x="1774" y="1"/>
                    <a:pt x="0" y="793"/>
                    <a:pt x="0" y="1806"/>
                  </a:cubicBezTo>
                  <a:lnTo>
                    <a:pt x="7949" y="1806"/>
                  </a:lnTo>
                  <a:cubicBezTo>
                    <a:pt x="7949" y="793"/>
                    <a:pt x="6176" y="1"/>
                    <a:pt x="3959"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4"/>
            <p:cNvSpPr/>
            <p:nvPr/>
          </p:nvSpPr>
          <p:spPr>
            <a:xfrm>
              <a:off x="10657663" y="2960663"/>
              <a:ext cx="54981" cy="264941"/>
            </a:xfrm>
            <a:custGeom>
              <a:avLst/>
              <a:gdLst/>
              <a:ahLst/>
              <a:cxnLst/>
              <a:rect l="l" t="t" r="r" b="b"/>
              <a:pathLst>
                <a:path w="1584" h="7633" extrusionOk="0">
                  <a:moveTo>
                    <a:pt x="0" y="0"/>
                  </a:moveTo>
                  <a:lnTo>
                    <a:pt x="0" y="7633"/>
                  </a:lnTo>
                  <a:lnTo>
                    <a:pt x="1583" y="7633"/>
                  </a:lnTo>
                  <a:lnTo>
                    <a:pt x="1583"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4"/>
            <p:cNvSpPr/>
            <p:nvPr/>
          </p:nvSpPr>
          <p:spPr>
            <a:xfrm>
              <a:off x="10476269" y="2919983"/>
              <a:ext cx="418846" cy="28636"/>
            </a:xfrm>
            <a:custGeom>
              <a:avLst/>
              <a:gdLst/>
              <a:ahLst/>
              <a:cxnLst/>
              <a:rect l="l" t="t" r="r" b="b"/>
              <a:pathLst>
                <a:path w="12067" h="825" extrusionOk="0">
                  <a:moveTo>
                    <a:pt x="412" y="1"/>
                  </a:moveTo>
                  <a:cubicBezTo>
                    <a:pt x="191" y="1"/>
                    <a:pt x="1" y="191"/>
                    <a:pt x="1" y="412"/>
                  </a:cubicBezTo>
                  <a:cubicBezTo>
                    <a:pt x="1" y="634"/>
                    <a:pt x="191" y="824"/>
                    <a:pt x="412" y="824"/>
                  </a:cubicBezTo>
                  <a:lnTo>
                    <a:pt x="11655" y="824"/>
                  </a:lnTo>
                  <a:cubicBezTo>
                    <a:pt x="11877" y="824"/>
                    <a:pt x="12067" y="634"/>
                    <a:pt x="12067" y="412"/>
                  </a:cubicBezTo>
                  <a:cubicBezTo>
                    <a:pt x="12067" y="191"/>
                    <a:pt x="11877" y="1"/>
                    <a:pt x="1165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4"/>
            <p:cNvSpPr/>
            <p:nvPr/>
          </p:nvSpPr>
          <p:spPr>
            <a:xfrm>
              <a:off x="10631249" y="2890306"/>
              <a:ext cx="108885" cy="87990"/>
            </a:xfrm>
            <a:custGeom>
              <a:avLst/>
              <a:gdLst/>
              <a:ahLst/>
              <a:cxnLst/>
              <a:rect l="l" t="t" r="r" b="b"/>
              <a:pathLst>
                <a:path w="3137" h="2535" extrusionOk="0">
                  <a:moveTo>
                    <a:pt x="286" y="1"/>
                  </a:moveTo>
                  <a:cubicBezTo>
                    <a:pt x="128" y="1"/>
                    <a:pt x="1" y="127"/>
                    <a:pt x="1" y="286"/>
                  </a:cubicBezTo>
                  <a:lnTo>
                    <a:pt x="1" y="2249"/>
                  </a:lnTo>
                  <a:cubicBezTo>
                    <a:pt x="1" y="2408"/>
                    <a:pt x="128" y="2534"/>
                    <a:pt x="286" y="2534"/>
                  </a:cubicBezTo>
                  <a:lnTo>
                    <a:pt x="2851" y="2534"/>
                  </a:lnTo>
                  <a:cubicBezTo>
                    <a:pt x="3010" y="2534"/>
                    <a:pt x="3136" y="2408"/>
                    <a:pt x="3136" y="2249"/>
                  </a:cubicBezTo>
                  <a:lnTo>
                    <a:pt x="3136" y="286"/>
                  </a:lnTo>
                  <a:cubicBezTo>
                    <a:pt x="3136" y="127"/>
                    <a:pt x="3010" y="1"/>
                    <a:pt x="2851"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4"/>
            <p:cNvSpPr/>
            <p:nvPr/>
          </p:nvSpPr>
          <p:spPr>
            <a:xfrm>
              <a:off x="10780745" y="2944176"/>
              <a:ext cx="191322" cy="256160"/>
            </a:xfrm>
            <a:custGeom>
              <a:avLst/>
              <a:gdLst/>
              <a:ahLst/>
              <a:cxnLst/>
              <a:rect l="l" t="t" r="r" b="b"/>
              <a:pathLst>
                <a:path w="5512" h="7380" extrusionOk="0">
                  <a:moveTo>
                    <a:pt x="2756" y="729"/>
                  </a:moveTo>
                  <a:lnTo>
                    <a:pt x="4878" y="4434"/>
                  </a:lnTo>
                  <a:lnTo>
                    <a:pt x="634" y="4434"/>
                  </a:lnTo>
                  <a:lnTo>
                    <a:pt x="2756" y="729"/>
                  </a:lnTo>
                  <a:close/>
                  <a:moveTo>
                    <a:pt x="2756" y="0"/>
                  </a:moveTo>
                  <a:lnTo>
                    <a:pt x="1363" y="2376"/>
                  </a:lnTo>
                  <a:lnTo>
                    <a:pt x="1" y="4782"/>
                  </a:lnTo>
                  <a:cubicBezTo>
                    <a:pt x="96" y="6239"/>
                    <a:pt x="1299" y="7379"/>
                    <a:pt x="2756" y="7379"/>
                  </a:cubicBezTo>
                  <a:cubicBezTo>
                    <a:pt x="4213" y="7379"/>
                    <a:pt x="5416" y="6239"/>
                    <a:pt x="5511" y="4782"/>
                  </a:cubicBezTo>
                  <a:lnTo>
                    <a:pt x="4150" y="2376"/>
                  </a:lnTo>
                  <a:lnTo>
                    <a:pt x="2756"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4"/>
            <p:cNvSpPr/>
            <p:nvPr/>
          </p:nvSpPr>
          <p:spPr>
            <a:xfrm>
              <a:off x="10393833" y="2944176"/>
              <a:ext cx="191287" cy="256160"/>
            </a:xfrm>
            <a:custGeom>
              <a:avLst/>
              <a:gdLst/>
              <a:ahLst/>
              <a:cxnLst/>
              <a:rect l="l" t="t" r="r" b="b"/>
              <a:pathLst>
                <a:path w="5511" h="7380" extrusionOk="0">
                  <a:moveTo>
                    <a:pt x="2756" y="729"/>
                  </a:moveTo>
                  <a:lnTo>
                    <a:pt x="4877" y="4434"/>
                  </a:lnTo>
                  <a:lnTo>
                    <a:pt x="634" y="4434"/>
                  </a:lnTo>
                  <a:lnTo>
                    <a:pt x="2756" y="729"/>
                  </a:lnTo>
                  <a:close/>
                  <a:moveTo>
                    <a:pt x="2756" y="0"/>
                  </a:moveTo>
                  <a:lnTo>
                    <a:pt x="1362" y="2376"/>
                  </a:lnTo>
                  <a:lnTo>
                    <a:pt x="0" y="4782"/>
                  </a:lnTo>
                  <a:cubicBezTo>
                    <a:pt x="95" y="6239"/>
                    <a:pt x="1299" y="7379"/>
                    <a:pt x="2756" y="7379"/>
                  </a:cubicBezTo>
                  <a:cubicBezTo>
                    <a:pt x="4212" y="7379"/>
                    <a:pt x="5416" y="6239"/>
                    <a:pt x="5511" y="4782"/>
                  </a:cubicBezTo>
                  <a:lnTo>
                    <a:pt x="4117" y="2376"/>
                  </a:lnTo>
                  <a:lnTo>
                    <a:pt x="2756"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2" name="Google Shape;432;p24"/>
          <p:cNvSpPr/>
          <p:nvPr/>
        </p:nvSpPr>
        <p:spPr>
          <a:xfrm>
            <a:off x="3992225" y="-1144950"/>
            <a:ext cx="364500" cy="321000"/>
          </a:xfrm>
          <a:prstGeom prst="mathNotEqual">
            <a:avLst>
              <a:gd name="adj1" fmla="val 23520"/>
              <a:gd name="adj2" fmla="val 6600000"/>
              <a:gd name="adj3" fmla="val 1176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chemeClr val="lt1"/>
              </a:highlight>
            </a:endParaRPr>
          </a:p>
        </p:txBody>
      </p:sp>
      <p:sp>
        <p:nvSpPr>
          <p:cNvPr id="433" name="Google Shape;433;p24"/>
          <p:cNvSpPr txBox="1"/>
          <p:nvPr/>
        </p:nvSpPr>
        <p:spPr>
          <a:xfrm>
            <a:off x="4922900" y="2443613"/>
            <a:ext cx="4006500" cy="5886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Logit Ordinal Regression shows statistically significant </a:t>
            </a:r>
            <a:r>
              <a:rPr lang="en" sz="1000" b="1">
                <a:solidFill>
                  <a:schemeClr val="dk1"/>
                </a:solidFill>
                <a:latin typeface="Fira Sans"/>
                <a:ea typeface="Fira Sans"/>
                <a:cs typeface="Fira Sans"/>
                <a:sym typeface="Fira Sans"/>
              </a:rPr>
              <a:t>correlation between social media frequency and mental health</a:t>
            </a:r>
            <a:r>
              <a:rPr lang="en" sz="1000">
                <a:solidFill>
                  <a:schemeClr val="dk1"/>
                </a:solidFill>
                <a:latin typeface="Fira Sans Light"/>
                <a:ea typeface="Fira Sans Light"/>
                <a:cs typeface="Fira Sans Light"/>
                <a:sym typeface="Fira Sans Light"/>
              </a:rPr>
              <a:t> (ordinal variable).</a:t>
            </a:r>
            <a:endParaRPr sz="1000">
              <a:solidFill>
                <a:schemeClr val="dk1"/>
              </a:solidFill>
              <a:latin typeface="Fira Sans Light"/>
              <a:ea typeface="Fira Sans Light"/>
              <a:cs typeface="Fira Sans Light"/>
              <a:sym typeface="Fira Sans Light"/>
            </a:endParaRPr>
          </a:p>
        </p:txBody>
      </p:sp>
      <p:pic>
        <p:nvPicPr>
          <p:cNvPr id="434" name="Google Shape;434;p24"/>
          <p:cNvPicPr preferRelativeResize="0"/>
          <p:nvPr/>
        </p:nvPicPr>
        <p:blipFill>
          <a:blip r:embed="rId4">
            <a:alphaModFix/>
          </a:blip>
          <a:stretch>
            <a:fillRect/>
          </a:stretch>
        </p:blipFill>
        <p:spPr>
          <a:xfrm>
            <a:off x="-6907311" y="-738672"/>
            <a:ext cx="5567650" cy="2658992"/>
          </a:xfrm>
          <a:prstGeom prst="rect">
            <a:avLst/>
          </a:prstGeom>
          <a:noFill/>
          <a:ln>
            <a:noFill/>
          </a:ln>
        </p:spPr>
      </p:pic>
      <p:pic>
        <p:nvPicPr>
          <p:cNvPr id="435" name="Google Shape;435;p24"/>
          <p:cNvPicPr preferRelativeResize="0"/>
          <p:nvPr/>
        </p:nvPicPr>
        <p:blipFill>
          <a:blip r:embed="rId5">
            <a:alphaModFix/>
          </a:blip>
          <a:stretch>
            <a:fillRect/>
          </a:stretch>
        </p:blipFill>
        <p:spPr>
          <a:xfrm>
            <a:off x="159007" y="892413"/>
            <a:ext cx="4608389" cy="2379258"/>
          </a:xfrm>
          <a:prstGeom prst="rect">
            <a:avLst/>
          </a:prstGeom>
          <a:noFill/>
          <a:ln w="9525" cap="flat" cmpd="sng">
            <a:solidFill>
              <a:schemeClr val="dk1"/>
            </a:solidFill>
            <a:prstDash val="solid"/>
            <a:round/>
            <a:headEnd type="none" w="sm" len="sm"/>
            <a:tailEnd type="none" w="sm" len="sm"/>
          </a:ln>
        </p:spPr>
      </p:pic>
      <p:sp>
        <p:nvSpPr>
          <p:cNvPr id="436" name="Google Shape;436;p24"/>
          <p:cNvSpPr/>
          <p:nvPr/>
        </p:nvSpPr>
        <p:spPr>
          <a:xfrm>
            <a:off x="244925" y="2343175"/>
            <a:ext cx="3692400" cy="1359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 name="Google Shape;437;p24"/>
          <p:cNvSpPr/>
          <p:nvPr/>
        </p:nvSpPr>
        <p:spPr>
          <a:xfrm>
            <a:off x="-7177340" y="4326911"/>
            <a:ext cx="3883200" cy="409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 name="Google Shape;438;p24"/>
          <p:cNvSpPr txBox="1"/>
          <p:nvPr/>
        </p:nvSpPr>
        <p:spPr>
          <a:xfrm>
            <a:off x="4922900" y="1753703"/>
            <a:ext cx="4006500" cy="6408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Using 2021, YRBS (Youth-Risk Behavioral Survey) for our ordinal regression, the coefficient is lower as compared to other attribute - in this case, gender.</a:t>
            </a:r>
            <a:endParaRPr sz="1000">
              <a:solidFill>
                <a:schemeClr val="dk1"/>
              </a:solidFill>
              <a:latin typeface="Fira Sans Light"/>
              <a:ea typeface="Fira Sans Light"/>
              <a:cs typeface="Fira Sans Light"/>
              <a:sym typeface="Fira Sans Light"/>
            </a:endParaRPr>
          </a:p>
        </p:txBody>
      </p:sp>
      <p:sp>
        <p:nvSpPr>
          <p:cNvPr id="439" name="Google Shape;439;p24"/>
          <p:cNvSpPr/>
          <p:nvPr/>
        </p:nvSpPr>
        <p:spPr>
          <a:xfrm>
            <a:off x="244925" y="2601975"/>
            <a:ext cx="3692400" cy="1161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24"/>
          <p:cNvSpPr txBox="1"/>
          <p:nvPr/>
        </p:nvSpPr>
        <p:spPr>
          <a:xfrm>
            <a:off x="4922900" y="837225"/>
            <a:ext cx="4006500" cy="867000"/>
          </a:xfrm>
          <a:prstGeom prst="rect">
            <a:avLst/>
          </a:prstGeom>
          <a:solidFill>
            <a:schemeClr val="accent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2"/>
                </a:solidFill>
                <a:latin typeface="Fira Sans Light"/>
                <a:ea typeface="Fira Sans Light"/>
                <a:cs typeface="Fira Sans Light"/>
                <a:sym typeface="Fira Sans Light"/>
              </a:rPr>
              <a:t>We performed a simple ordinal Logistic Regression on NHANES data across 2021 with screen time as the only explanatory variable this </a:t>
            </a:r>
            <a:r>
              <a:rPr lang="en" sz="1000" b="1" i="1">
                <a:solidFill>
                  <a:schemeClr val="lt2"/>
                </a:solidFill>
                <a:latin typeface="Fira Sans"/>
                <a:ea typeface="Fira Sans"/>
                <a:cs typeface="Fira Sans"/>
                <a:sym typeface="Fira Sans"/>
              </a:rPr>
              <a:t>yields inconsistent threshold coefficients despite statistically significant thresholds  &amp; coefficients</a:t>
            </a:r>
            <a:endParaRPr sz="1000" b="1" i="1">
              <a:solidFill>
                <a:schemeClr val="lt2"/>
              </a:solidFill>
              <a:latin typeface="Fira Sans"/>
              <a:ea typeface="Fira Sans"/>
              <a:cs typeface="Fira Sans"/>
              <a:sym typeface="Fira Sans"/>
            </a:endParaRPr>
          </a:p>
        </p:txBody>
      </p:sp>
      <p:sp>
        <p:nvSpPr>
          <p:cNvPr id="441" name="Google Shape;441;p24"/>
          <p:cNvSpPr txBox="1"/>
          <p:nvPr/>
        </p:nvSpPr>
        <p:spPr>
          <a:xfrm>
            <a:off x="4922900" y="3089600"/>
            <a:ext cx="4006500" cy="481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i="1">
                <a:solidFill>
                  <a:schemeClr val="dk1"/>
                </a:solidFill>
                <a:latin typeface="Fira Sans"/>
                <a:ea typeface="Fira Sans"/>
                <a:cs typeface="Fira Sans"/>
                <a:sym typeface="Fira Sans"/>
              </a:rPr>
              <a:t>Increasing threshold coefficients are consistent with expected ordinal regression behaviour -&gt; ie coeff(½) &lt; coeff(⅔) </a:t>
            </a:r>
            <a:endParaRPr sz="1000" b="1" i="1">
              <a:solidFill>
                <a:schemeClr val="dk1"/>
              </a:solidFill>
              <a:latin typeface="Fira Sans"/>
              <a:ea typeface="Fira Sans"/>
              <a:cs typeface="Fira Sans"/>
              <a:sym typeface="Fira Sans"/>
            </a:endParaRPr>
          </a:p>
        </p:txBody>
      </p:sp>
      <p:sp>
        <p:nvSpPr>
          <p:cNvPr id="442" name="Google Shape;442;p24"/>
          <p:cNvSpPr txBox="1"/>
          <p:nvPr/>
        </p:nvSpPr>
        <p:spPr>
          <a:xfrm>
            <a:off x="4922850" y="3628200"/>
            <a:ext cx="4006500" cy="698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Fira Sans"/>
                <a:ea typeface="Fira Sans"/>
                <a:cs typeface="Fira Sans"/>
                <a:sym typeface="Fira Sans"/>
              </a:rPr>
              <a:t>Social media harms mental health of youth, but gender is a stronger differentiator.</a:t>
            </a:r>
            <a:endParaRPr sz="1000" b="1">
              <a:solidFill>
                <a:schemeClr val="dk1"/>
              </a:solidFill>
              <a:latin typeface="Fira Sans"/>
              <a:ea typeface="Fira Sans"/>
              <a:cs typeface="Fira Sans"/>
              <a:sym typeface="Fira Sans"/>
            </a:endParaRPr>
          </a:p>
          <a:p>
            <a:pPr marL="0" lvl="0" indent="0" algn="ctr" rtl="0">
              <a:spcBef>
                <a:spcPts val="0"/>
              </a:spcBef>
              <a:spcAft>
                <a:spcPts val="0"/>
              </a:spcAft>
              <a:buNone/>
            </a:pPr>
            <a:r>
              <a:rPr lang="en" sz="1000">
                <a:solidFill>
                  <a:schemeClr val="dk1"/>
                </a:solidFill>
                <a:latin typeface="Fira Sans Light"/>
                <a:ea typeface="Fira Sans Light"/>
                <a:cs typeface="Fira Sans Light"/>
                <a:sym typeface="Fira Sans Light"/>
              </a:rPr>
              <a:t>For youths, it suggests that addressing screen time is not the only factor we should be targeting.</a:t>
            </a:r>
            <a:endParaRPr sz="1000">
              <a:solidFill>
                <a:schemeClr val="dk1"/>
              </a:solidFill>
              <a:latin typeface="Fira Sans Light"/>
              <a:ea typeface="Fira Sans Light"/>
              <a:cs typeface="Fira Sans Light"/>
              <a:sym typeface="Fira Sans Light"/>
            </a:endParaRPr>
          </a:p>
        </p:txBody>
      </p:sp>
      <p:sp>
        <p:nvSpPr>
          <p:cNvPr id="443" name="Google Shape;443;p24"/>
          <p:cNvSpPr txBox="1"/>
          <p:nvPr/>
        </p:nvSpPr>
        <p:spPr>
          <a:xfrm>
            <a:off x="159050" y="3321250"/>
            <a:ext cx="4608300" cy="217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Fira Sans Light"/>
                <a:ea typeface="Fira Sans Light"/>
                <a:cs typeface="Fira Sans Light"/>
                <a:sym typeface="Fira Sans Light"/>
              </a:rPr>
              <a:t>Ordinal Logistic Regression for YRBS</a:t>
            </a:r>
            <a:endParaRPr sz="1000">
              <a:solidFill>
                <a:schemeClr val="dk1"/>
              </a:solidFill>
              <a:latin typeface="Fira Sans Light"/>
              <a:ea typeface="Fira Sans Light"/>
              <a:cs typeface="Fira Sans Light"/>
              <a:sym typeface="Fira Sans Light"/>
            </a:endParaRPr>
          </a:p>
        </p:txBody>
      </p:sp>
      <p:pic>
        <p:nvPicPr>
          <p:cNvPr id="444" name="Google Shape;444;p24"/>
          <p:cNvPicPr preferRelativeResize="0"/>
          <p:nvPr/>
        </p:nvPicPr>
        <p:blipFill>
          <a:blip r:embed="rId4">
            <a:alphaModFix/>
          </a:blip>
          <a:stretch>
            <a:fillRect/>
          </a:stretch>
        </p:blipFill>
        <p:spPr>
          <a:xfrm>
            <a:off x="207175" y="3626365"/>
            <a:ext cx="2604626" cy="1243918"/>
          </a:xfrm>
          <a:prstGeom prst="rect">
            <a:avLst/>
          </a:prstGeom>
          <a:noFill/>
          <a:ln>
            <a:noFill/>
          </a:ln>
        </p:spPr>
      </p:pic>
      <p:sp>
        <p:nvSpPr>
          <p:cNvPr id="445" name="Google Shape;445;p24"/>
          <p:cNvSpPr/>
          <p:nvPr/>
        </p:nvSpPr>
        <p:spPr>
          <a:xfrm>
            <a:off x="220550" y="4476250"/>
            <a:ext cx="2524500" cy="630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24"/>
          <p:cNvSpPr/>
          <p:nvPr/>
        </p:nvSpPr>
        <p:spPr>
          <a:xfrm>
            <a:off x="220550" y="4539250"/>
            <a:ext cx="2524500" cy="1950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24"/>
          <p:cNvSpPr txBox="1"/>
          <p:nvPr/>
        </p:nvSpPr>
        <p:spPr>
          <a:xfrm>
            <a:off x="2872950" y="3588025"/>
            <a:ext cx="1894500" cy="1320600"/>
          </a:xfrm>
          <a:prstGeom prst="rect">
            <a:avLst/>
          </a:prstGeom>
          <a:solidFill>
            <a:schemeClr val="accent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2"/>
                </a:solidFill>
                <a:latin typeface="Fira Sans Light"/>
                <a:ea typeface="Fira Sans Light"/>
                <a:cs typeface="Fira Sans Light"/>
                <a:sym typeface="Fira Sans Light"/>
              </a:rPr>
              <a:t>NHANES threshold cut-offs not consistent:</a:t>
            </a:r>
            <a:endParaRPr sz="1000">
              <a:solidFill>
                <a:schemeClr val="lt2"/>
              </a:solidFill>
              <a:latin typeface="Fira Sans Light"/>
              <a:ea typeface="Fira Sans Light"/>
              <a:cs typeface="Fira Sans Light"/>
              <a:sym typeface="Fira Sans Light"/>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½ - 1.71…</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⅔ - 0.68..</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b="1" i="1">
                <a:solidFill>
                  <a:schemeClr val="lt2"/>
                </a:solidFill>
                <a:latin typeface="Fira Sans"/>
                <a:ea typeface="Fira Sans"/>
                <a:cs typeface="Fira Sans"/>
                <a:sym typeface="Fira Sans"/>
              </a:rPr>
              <a:t>¾ - 1.25…</a:t>
            </a: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endParaRPr sz="1000" b="1" i="1">
              <a:solidFill>
                <a:schemeClr val="lt2"/>
              </a:solidFill>
              <a:latin typeface="Fira Sans"/>
              <a:ea typeface="Fira Sans"/>
              <a:cs typeface="Fira Sans"/>
              <a:sym typeface="Fira Sans"/>
            </a:endParaRPr>
          </a:p>
          <a:p>
            <a:pPr marL="0" lvl="0" indent="0" algn="l" rtl="0">
              <a:spcBef>
                <a:spcPts val="0"/>
              </a:spcBef>
              <a:spcAft>
                <a:spcPts val="0"/>
              </a:spcAft>
              <a:buNone/>
            </a:pPr>
            <a:r>
              <a:rPr lang="en" sz="1000">
                <a:solidFill>
                  <a:schemeClr val="lt2"/>
                </a:solidFill>
                <a:latin typeface="Fira Sans Light"/>
                <a:ea typeface="Fira Sans Light"/>
                <a:cs typeface="Fira Sans Light"/>
                <a:sym typeface="Fira Sans Light"/>
              </a:rPr>
              <a:t>Should be strictly monotonic!</a:t>
            </a:r>
            <a:endParaRPr sz="1000">
              <a:solidFill>
                <a:schemeClr val="lt2"/>
              </a:solidFill>
              <a:latin typeface="Fira Sans Light"/>
              <a:ea typeface="Fira Sans Light"/>
              <a:cs typeface="Fira Sans Light"/>
              <a:sym typeface="Fira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25"/>
          <p:cNvSpPr txBox="1"/>
          <p:nvPr/>
        </p:nvSpPr>
        <p:spPr>
          <a:xfrm>
            <a:off x="518275" y="259075"/>
            <a:ext cx="81219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solidFill>
                  <a:schemeClr val="dk1"/>
                </a:solidFill>
                <a:latin typeface="Fira Sans Medium"/>
                <a:ea typeface="Fira Sans Medium"/>
                <a:cs typeface="Fira Sans Medium"/>
                <a:sym typeface="Fira Sans Medium"/>
              </a:rPr>
              <a:t>Youth - Analysis of other Explanatory variables</a:t>
            </a:r>
            <a:endParaRPr sz="2800">
              <a:solidFill>
                <a:schemeClr val="dk1"/>
              </a:solidFill>
              <a:latin typeface="Fira Sans Medium"/>
              <a:ea typeface="Fira Sans Medium"/>
              <a:cs typeface="Fira Sans Medium"/>
              <a:sym typeface="Fira Sans Medium"/>
            </a:endParaRPr>
          </a:p>
        </p:txBody>
      </p:sp>
      <p:pic>
        <p:nvPicPr>
          <p:cNvPr id="453" name="Google Shape;453;p25"/>
          <p:cNvPicPr preferRelativeResize="0"/>
          <p:nvPr/>
        </p:nvPicPr>
        <p:blipFill>
          <a:blip r:embed="rId3">
            <a:alphaModFix/>
          </a:blip>
          <a:stretch>
            <a:fillRect/>
          </a:stretch>
        </p:blipFill>
        <p:spPr>
          <a:xfrm>
            <a:off x="3256250" y="-1213800"/>
            <a:ext cx="412500" cy="412500"/>
          </a:xfrm>
          <a:prstGeom prst="rect">
            <a:avLst/>
          </a:prstGeom>
          <a:noFill/>
          <a:ln>
            <a:noFill/>
          </a:ln>
        </p:spPr>
      </p:pic>
      <p:sp>
        <p:nvSpPr>
          <p:cNvPr id="454" name="Google Shape;454;p25"/>
          <p:cNvSpPr txBox="1"/>
          <p:nvPr/>
        </p:nvSpPr>
        <p:spPr>
          <a:xfrm>
            <a:off x="4469350" y="821275"/>
            <a:ext cx="4450200" cy="841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ira Sans Light"/>
                <a:ea typeface="Fira Sans Light"/>
                <a:cs typeface="Fira Sans Light"/>
                <a:sym typeface="Fira Sans Light"/>
              </a:rPr>
              <a:t>Correlation Plot suggests:</a:t>
            </a:r>
            <a:endParaRPr sz="1000">
              <a:solidFill>
                <a:schemeClr val="dk1"/>
              </a:solidFill>
              <a:latin typeface="Fira Sans Light"/>
              <a:ea typeface="Fira Sans Light"/>
              <a:cs typeface="Fira Sans Light"/>
              <a:sym typeface="Fira Sans Light"/>
            </a:endParaRPr>
          </a:p>
          <a:p>
            <a:pPr marL="457200" lvl="0" indent="-292100" algn="l" rtl="0">
              <a:spcBef>
                <a:spcPts val="0"/>
              </a:spcBef>
              <a:spcAft>
                <a:spcPts val="0"/>
              </a:spcAft>
              <a:buClr>
                <a:schemeClr val="dk1"/>
              </a:buClr>
              <a:buSzPts val="1000"/>
              <a:buFont typeface="Fira Sans Light"/>
              <a:buChar char="-"/>
            </a:pPr>
            <a:r>
              <a:rPr lang="en" sz="1000">
                <a:solidFill>
                  <a:schemeClr val="dk1"/>
                </a:solidFill>
                <a:latin typeface="Fira Sans Light"/>
                <a:ea typeface="Fira Sans Light"/>
                <a:cs typeface="Fira Sans Light"/>
                <a:sym typeface="Fira Sans Light"/>
              </a:rPr>
              <a:t>relatively high </a:t>
            </a:r>
            <a:r>
              <a:rPr lang="en" sz="1000" b="1">
                <a:solidFill>
                  <a:schemeClr val="dk1"/>
                </a:solidFill>
                <a:latin typeface="Fira Sans"/>
                <a:ea typeface="Fira Sans"/>
                <a:cs typeface="Fira Sans"/>
                <a:sym typeface="Fira Sans"/>
              </a:rPr>
              <a:t>positive correlations between many of the mental/emotional benchmarks</a:t>
            </a:r>
            <a:r>
              <a:rPr lang="en" sz="1000">
                <a:solidFill>
                  <a:schemeClr val="dk1"/>
                </a:solidFill>
                <a:latin typeface="Fira Sans Light"/>
                <a:ea typeface="Fira Sans Light"/>
                <a:cs typeface="Fira Sans Light"/>
                <a:sym typeface="Fira Sans Light"/>
              </a:rPr>
              <a:t>.</a:t>
            </a:r>
            <a:endParaRPr sz="1000">
              <a:solidFill>
                <a:schemeClr val="dk1"/>
              </a:solidFill>
              <a:latin typeface="Fira Sans Light"/>
              <a:ea typeface="Fira Sans Light"/>
              <a:cs typeface="Fira Sans Light"/>
              <a:sym typeface="Fira Sans Light"/>
            </a:endParaRPr>
          </a:p>
          <a:p>
            <a:pPr marL="457200" lvl="0" indent="-292100" algn="l" rtl="0">
              <a:spcBef>
                <a:spcPts val="0"/>
              </a:spcBef>
              <a:spcAft>
                <a:spcPts val="0"/>
              </a:spcAft>
              <a:buClr>
                <a:schemeClr val="dk1"/>
              </a:buClr>
              <a:buSzPts val="1000"/>
              <a:buFont typeface="Fira Sans"/>
              <a:buChar char="-"/>
            </a:pPr>
            <a:r>
              <a:rPr lang="en" sz="1000" b="1">
                <a:solidFill>
                  <a:schemeClr val="dk1"/>
                </a:solidFill>
                <a:latin typeface="Fira Sans"/>
                <a:ea typeface="Fira Sans"/>
                <a:cs typeface="Fira Sans"/>
                <a:sym typeface="Fira Sans"/>
              </a:rPr>
              <a:t>Strong negative correlation </a:t>
            </a:r>
            <a:r>
              <a:rPr lang="en" sz="1000">
                <a:solidFill>
                  <a:schemeClr val="dk1"/>
                </a:solidFill>
                <a:latin typeface="Fira Sans Light"/>
                <a:ea typeface="Fira Sans Light"/>
                <a:cs typeface="Fira Sans Light"/>
                <a:sym typeface="Fira Sans Light"/>
              </a:rPr>
              <a:t>vs </a:t>
            </a:r>
            <a:r>
              <a:rPr lang="en" sz="1000" b="1">
                <a:solidFill>
                  <a:schemeClr val="dk1"/>
                </a:solidFill>
                <a:latin typeface="Fira Sans"/>
                <a:ea typeface="Fira Sans"/>
                <a:cs typeface="Fira Sans"/>
                <a:sym typeface="Fira Sans"/>
              </a:rPr>
              <a:t>Frequency of Anxiety/Depression</a:t>
            </a:r>
            <a:endParaRPr sz="1000" b="1">
              <a:solidFill>
                <a:schemeClr val="dk1"/>
              </a:solidFill>
              <a:latin typeface="Fira Sans"/>
              <a:ea typeface="Fira Sans"/>
              <a:cs typeface="Fira Sans"/>
              <a:sym typeface="Fira Sans"/>
            </a:endParaRPr>
          </a:p>
        </p:txBody>
      </p:sp>
      <p:grpSp>
        <p:nvGrpSpPr>
          <p:cNvPr id="455" name="Google Shape;455;p25"/>
          <p:cNvGrpSpPr/>
          <p:nvPr/>
        </p:nvGrpSpPr>
        <p:grpSpPr>
          <a:xfrm>
            <a:off x="4680208" y="-1191144"/>
            <a:ext cx="578234" cy="367197"/>
            <a:chOff x="10393833" y="2890306"/>
            <a:chExt cx="578234" cy="367197"/>
          </a:xfrm>
        </p:grpSpPr>
        <p:sp>
          <p:nvSpPr>
            <p:cNvPr id="456" name="Google Shape;456;p25"/>
            <p:cNvSpPr/>
            <p:nvPr/>
          </p:nvSpPr>
          <p:spPr>
            <a:xfrm>
              <a:off x="10547737" y="3194782"/>
              <a:ext cx="275945" cy="62721"/>
            </a:xfrm>
            <a:custGeom>
              <a:avLst/>
              <a:gdLst/>
              <a:ahLst/>
              <a:cxnLst/>
              <a:rect l="l" t="t" r="r" b="b"/>
              <a:pathLst>
                <a:path w="7950" h="1807" extrusionOk="0">
                  <a:moveTo>
                    <a:pt x="3959" y="1"/>
                  </a:moveTo>
                  <a:cubicBezTo>
                    <a:pt x="1774" y="1"/>
                    <a:pt x="0" y="793"/>
                    <a:pt x="0" y="1806"/>
                  </a:cubicBezTo>
                  <a:lnTo>
                    <a:pt x="7949" y="1806"/>
                  </a:lnTo>
                  <a:cubicBezTo>
                    <a:pt x="7949" y="793"/>
                    <a:pt x="6176" y="1"/>
                    <a:pt x="3959"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10657663" y="2960663"/>
              <a:ext cx="54981" cy="264941"/>
            </a:xfrm>
            <a:custGeom>
              <a:avLst/>
              <a:gdLst/>
              <a:ahLst/>
              <a:cxnLst/>
              <a:rect l="l" t="t" r="r" b="b"/>
              <a:pathLst>
                <a:path w="1584" h="7633" extrusionOk="0">
                  <a:moveTo>
                    <a:pt x="0" y="0"/>
                  </a:moveTo>
                  <a:lnTo>
                    <a:pt x="0" y="7633"/>
                  </a:lnTo>
                  <a:lnTo>
                    <a:pt x="1583" y="7633"/>
                  </a:lnTo>
                  <a:lnTo>
                    <a:pt x="1583"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5"/>
            <p:cNvSpPr/>
            <p:nvPr/>
          </p:nvSpPr>
          <p:spPr>
            <a:xfrm>
              <a:off x="10476269" y="2919983"/>
              <a:ext cx="418846" cy="28636"/>
            </a:xfrm>
            <a:custGeom>
              <a:avLst/>
              <a:gdLst/>
              <a:ahLst/>
              <a:cxnLst/>
              <a:rect l="l" t="t" r="r" b="b"/>
              <a:pathLst>
                <a:path w="12067" h="825" extrusionOk="0">
                  <a:moveTo>
                    <a:pt x="412" y="1"/>
                  </a:moveTo>
                  <a:cubicBezTo>
                    <a:pt x="191" y="1"/>
                    <a:pt x="1" y="191"/>
                    <a:pt x="1" y="412"/>
                  </a:cubicBezTo>
                  <a:cubicBezTo>
                    <a:pt x="1" y="634"/>
                    <a:pt x="191" y="824"/>
                    <a:pt x="412" y="824"/>
                  </a:cubicBezTo>
                  <a:lnTo>
                    <a:pt x="11655" y="824"/>
                  </a:lnTo>
                  <a:cubicBezTo>
                    <a:pt x="11877" y="824"/>
                    <a:pt x="12067" y="634"/>
                    <a:pt x="12067" y="412"/>
                  </a:cubicBezTo>
                  <a:cubicBezTo>
                    <a:pt x="12067" y="191"/>
                    <a:pt x="11877" y="1"/>
                    <a:pt x="1165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5"/>
            <p:cNvSpPr/>
            <p:nvPr/>
          </p:nvSpPr>
          <p:spPr>
            <a:xfrm>
              <a:off x="10631249" y="2890306"/>
              <a:ext cx="108885" cy="87990"/>
            </a:xfrm>
            <a:custGeom>
              <a:avLst/>
              <a:gdLst/>
              <a:ahLst/>
              <a:cxnLst/>
              <a:rect l="l" t="t" r="r" b="b"/>
              <a:pathLst>
                <a:path w="3137" h="2535" extrusionOk="0">
                  <a:moveTo>
                    <a:pt x="286" y="1"/>
                  </a:moveTo>
                  <a:cubicBezTo>
                    <a:pt x="128" y="1"/>
                    <a:pt x="1" y="127"/>
                    <a:pt x="1" y="286"/>
                  </a:cubicBezTo>
                  <a:lnTo>
                    <a:pt x="1" y="2249"/>
                  </a:lnTo>
                  <a:cubicBezTo>
                    <a:pt x="1" y="2408"/>
                    <a:pt x="128" y="2534"/>
                    <a:pt x="286" y="2534"/>
                  </a:cubicBezTo>
                  <a:lnTo>
                    <a:pt x="2851" y="2534"/>
                  </a:lnTo>
                  <a:cubicBezTo>
                    <a:pt x="3010" y="2534"/>
                    <a:pt x="3136" y="2408"/>
                    <a:pt x="3136" y="2249"/>
                  </a:cubicBezTo>
                  <a:lnTo>
                    <a:pt x="3136" y="286"/>
                  </a:lnTo>
                  <a:cubicBezTo>
                    <a:pt x="3136" y="127"/>
                    <a:pt x="3010" y="1"/>
                    <a:pt x="2851"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10780745" y="2944176"/>
              <a:ext cx="191322" cy="256160"/>
            </a:xfrm>
            <a:custGeom>
              <a:avLst/>
              <a:gdLst/>
              <a:ahLst/>
              <a:cxnLst/>
              <a:rect l="l" t="t" r="r" b="b"/>
              <a:pathLst>
                <a:path w="5512" h="7380" extrusionOk="0">
                  <a:moveTo>
                    <a:pt x="2756" y="729"/>
                  </a:moveTo>
                  <a:lnTo>
                    <a:pt x="4878" y="4434"/>
                  </a:lnTo>
                  <a:lnTo>
                    <a:pt x="634" y="4434"/>
                  </a:lnTo>
                  <a:lnTo>
                    <a:pt x="2756" y="729"/>
                  </a:lnTo>
                  <a:close/>
                  <a:moveTo>
                    <a:pt x="2756" y="0"/>
                  </a:moveTo>
                  <a:lnTo>
                    <a:pt x="1363" y="2376"/>
                  </a:lnTo>
                  <a:lnTo>
                    <a:pt x="1" y="4782"/>
                  </a:lnTo>
                  <a:cubicBezTo>
                    <a:pt x="96" y="6239"/>
                    <a:pt x="1299" y="7379"/>
                    <a:pt x="2756" y="7379"/>
                  </a:cubicBezTo>
                  <a:cubicBezTo>
                    <a:pt x="4213" y="7379"/>
                    <a:pt x="5416" y="6239"/>
                    <a:pt x="5511" y="4782"/>
                  </a:cubicBezTo>
                  <a:lnTo>
                    <a:pt x="4150" y="2376"/>
                  </a:lnTo>
                  <a:lnTo>
                    <a:pt x="2756"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5"/>
            <p:cNvSpPr/>
            <p:nvPr/>
          </p:nvSpPr>
          <p:spPr>
            <a:xfrm>
              <a:off x="10393833" y="2944176"/>
              <a:ext cx="191287" cy="256160"/>
            </a:xfrm>
            <a:custGeom>
              <a:avLst/>
              <a:gdLst/>
              <a:ahLst/>
              <a:cxnLst/>
              <a:rect l="l" t="t" r="r" b="b"/>
              <a:pathLst>
                <a:path w="5511" h="7380" extrusionOk="0">
                  <a:moveTo>
                    <a:pt x="2756" y="729"/>
                  </a:moveTo>
                  <a:lnTo>
                    <a:pt x="4877" y="4434"/>
                  </a:lnTo>
                  <a:lnTo>
                    <a:pt x="634" y="4434"/>
                  </a:lnTo>
                  <a:lnTo>
                    <a:pt x="2756" y="729"/>
                  </a:lnTo>
                  <a:close/>
                  <a:moveTo>
                    <a:pt x="2756" y="0"/>
                  </a:moveTo>
                  <a:lnTo>
                    <a:pt x="1362" y="2376"/>
                  </a:lnTo>
                  <a:lnTo>
                    <a:pt x="0" y="4782"/>
                  </a:lnTo>
                  <a:cubicBezTo>
                    <a:pt x="95" y="6239"/>
                    <a:pt x="1299" y="7379"/>
                    <a:pt x="2756" y="7379"/>
                  </a:cubicBezTo>
                  <a:cubicBezTo>
                    <a:pt x="4212" y="7379"/>
                    <a:pt x="5416" y="6239"/>
                    <a:pt x="5511" y="4782"/>
                  </a:cubicBezTo>
                  <a:lnTo>
                    <a:pt x="4117" y="2376"/>
                  </a:lnTo>
                  <a:lnTo>
                    <a:pt x="2756"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25"/>
          <p:cNvSpPr/>
          <p:nvPr/>
        </p:nvSpPr>
        <p:spPr>
          <a:xfrm>
            <a:off x="3992225" y="-1144950"/>
            <a:ext cx="364500" cy="321000"/>
          </a:xfrm>
          <a:prstGeom prst="mathNotEqual">
            <a:avLst>
              <a:gd name="adj1" fmla="val 23520"/>
              <a:gd name="adj2" fmla="val 6600000"/>
              <a:gd name="adj3" fmla="val 1176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chemeClr val="lt1"/>
              </a:highlight>
            </a:endParaRPr>
          </a:p>
        </p:txBody>
      </p:sp>
      <p:sp>
        <p:nvSpPr>
          <p:cNvPr id="463" name="Google Shape;463;p25"/>
          <p:cNvSpPr/>
          <p:nvPr/>
        </p:nvSpPr>
        <p:spPr>
          <a:xfrm>
            <a:off x="4469350" y="1697450"/>
            <a:ext cx="4450200" cy="367200"/>
          </a:xfrm>
          <a:prstGeom prst="rect">
            <a:avLst/>
          </a:pr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Fira Sans"/>
              <a:ea typeface="Fira Sans"/>
              <a:cs typeface="Fira Sans"/>
              <a:sym typeface="Fira Sans"/>
            </a:endParaRPr>
          </a:p>
          <a:p>
            <a:pPr marL="0" lvl="0" indent="0" algn="l" rtl="0">
              <a:spcBef>
                <a:spcPts val="0"/>
              </a:spcBef>
              <a:spcAft>
                <a:spcPts val="0"/>
              </a:spcAft>
              <a:buNone/>
            </a:pPr>
            <a:r>
              <a:rPr lang="en" sz="1000" b="1" i="1">
                <a:latin typeface="Fira Sans"/>
                <a:ea typeface="Fira Sans"/>
                <a:cs typeface="Fira Sans"/>
                <a:sym typeface="Fira Sans"/>
              </a:rPr>
              <a:t>Age has a high correlation with screen time</a:t>
            </a:r>
            <a:r>
              <a:rPr lang="en" sz="1000" i="1">
                <a:latin typeface="Fira Sans"/>
                <a:ea typeface="Fira Sans"/>
                <a:cs typeface="Fira Sans"/>
                <a:sym typeface="Fira Sans"/>
              </a:rPr>
              <a:t> + has a </a:t>
            </a:r>
            <a:r>
              <a:rPr lang="en" sz="1000" b="1" i="1">
                <a:latin typeface="Fira Sans"/>
                <a:ea typeface="Fira Sans"/>
                <a:cs typeface="Fira Sans"/>
                <a:sym typeface="Fira Sans"/>
              </a:rPr>
              <a:t>negative correlation with frequency of anxiety/depression</a:t>
            </a:r>
            <a:endParaRPr sz="1000" i="1">
              <a:latin typeface="Fira Sans"/>
              <a:ea typeface="Fira Sans"/>
              <a:cs typeface="Fira Sans"/>
              <a:sym typeface="Fira Sans"/>
            </a:endParaRPr>
          </a:p>
          <a:p>
            <a:pPr marL="0" lvl="0" indent="0" algn="l" rtl="0">
              <a:spcBef>
                <a:spcPts val="0"/>
              </a:spcBef>
              <a:spcAft>
                <a:spcPts val="0"/>
              </a:spcAft>
              <a:buNone/>
            </a:pPr>
            <a:endParaRPr i="1">
              <a:latin typeface="Fira Sans"/>
              <a:ea typeface="Fira Sans"/>
              <a:cs typeface="Fira Sans"/>
              <a:sym typeface="Fira Sans"/>
            </a:endParaRPr>
          </a:p>
        </p:txBody>
      </p:sp>
      <p:pic>
        <p:nvPicPr>
          <p:cNvPr id="464" name="Google Shape;464;p25"/>
          <p:cNvPicPr preferRelativeResize="0"/>
          <p:nvPr/>
        </p:nvPicPr>
        <p:blipFill rotWithShape="1">
          <a:blip r:embed="rId4">
            <a:alphaModFix/>
          </a:blip>
          <a:srcRect r="10185"/>
          <a:stretch/>
        </p:blipFill>
        <p:spPr>
          <a:xfrm>
            <a:off x="118725" y="740275"/>
            <a:ext cx="4350625" cy="3912800"/>
          </a:xfrm>
          <a:prstGeom prst="rect">
            <a:avLst/>
          </a:prstGeom>
          <a:noFill/>
          <a:ln>
            <a:noFill/>
          </a:ln>
        </p:spPr>
      </p:pic>
      <p:sp>
        <p:nvSpPr>
          <p:cNvPr id="465" name="Google Shape;465;p25"/>
          <p:cNvSpPr/>
          <p:nvPr/>
        </p:nvSpPr>
        <p:spPr>
          <a:xfrm>
            <a:off x="1671675" y="1662725"/>
            <a:ext cx="2269800" cy="20115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 name="Google Shape;466;p25"/>
          <p:cNvSpPr/>
          <p:nvPr/>
        </p:nvSpPr>
        <p:spPr>
          <a:xfrm>
            <a:off x="248675" y="2117600"/>
            <a:ext cx="3692700" cy="4497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 name="Google Shape;467;p25"/>
          <p:cNvSpPr/>
          <p:nvPr/>
        </p:nvSpPr>
        <p:spPr>
          <a:xfrm>
            <a:off x="2156950" y="1609825"/>
            <a:ext cx="545700" cy="28959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 name="Google Shape;468;p25"/>
          <p:cNvSpPr/>
          <p:nvPr/>
        </p:nvSpPr>
        <p:spPr>
          <a:xfrm>
            <a:off x="179800" y="1249100"/>
            <a:ext cx="4232100" cy="2535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 name="Google Shape;469;p25"/>
          <p:cNvSpPr/>
          <p:nvPr/>
        </p:nvSpPr>
        <p:spPr>
          <a:xfrm>
            <a:off x="2156950" y="1204300"/>
            <a:ext cx="545700" cy="3393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 name="Google Shape;470;p25"/>
          <p:cNvSpPr txBox="1"/>
          <p:nvPr/>
        </p:nvSpPr>
        <p:spPr>
          <a:xfrm>
            <a:off x="4459500" y="3244475"/>
            <a:ext cx="4450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i="1">
                <a:solidFill>
                  <a:schemeClr val="dk1"/>
                </a:solidFill>
                <a:latin typeface="Fira Sans Light"/>
                <a:ea typeface="Fira Sans Light"/>
                <a:cs typeface="Fira Sans Light"/>
                <a:sym typeface="Fira Sans Light"/>
              </a:rPr>
              <a:t>*Full summary results truncated for ease of presentation (other attributes include interaction terms + other terms which have larger p-values than the threshold). Cut-off values have also been removed</a:t>
            </a:r>
            <a:endParaRPr sz="600" i="1">
              <a:solidFill>
                <a:schemeClr val="dk1"/>
              </a:solidFill>
              <a:latin typeface="Fira Sans Light"/>
              <a:ea typeface="Fira Sans Light"/>
              <a:cs typeface="Fira Sans Light"/>
              <a:sym typeface="Fira Sans Light"/>
            </a:endParaRPr>
          </a:p>
        </p:txBody>
      </p:sp>
      <p:pic>
        <p:nvPicPr>
          <p:cNvPr id="471" name="Google Shape;471;p25"/>
          <p:cNvPicPr preferRelativeResize="0"/>
          <p:nvPr/>
        </p:nvPicPr>
        <p:blipFill>
          <a:blip r:embed="rId5">
            <a:alphaModFix/>
          </a:blip>
          <a:stretch>
            <a:fillRect/>
          </a:stretch>
        </p:blipFill>
        <p:spPr>
          <a:xfrm>
            <a:off x="4459500" y="2099325"/>
            <a:ext cx="4469904" cy="1226062"/>
          </a:xfrm>
          <a:prstGeom prst="rect">
            <a:avLst/>
          </a:prstGeom>
          <a:noFill/>
          <a:ln>
            <a:noFill/>
          </a:ln>
        </p:spPr>
      </p:pic>
      <p:sp>
        <p:nvSpPr>
          <p:cNvPr id="472" name="Google Shape;472;p25"/>
          <p:cNvSpPr/>
          <p:nvPr/>
        </p:nvSpPr>
        <p:spPr>
          <a:xfrm>
            <a:off x="4469350" y="3576950"/>
            <a:ext cx="4450200" cy="1272900"/>
          </a:xfrm>
          <a:prstGeom prst="rect">
            <a:avLst/>
          </a:pr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Fira Sans"/>
                <a:ea typeface="Fira Sans"/>
                <a:cs typeface="Fira Sans"/>
                <a:sym typeface="Fira Sans"/>
              </a:rPr>
              <a:t>Adding “Age” and “Gender” to the regression both decreases the already small coefficient of screentime_hours.</a:t>
            </a:r>
            <a:endParaRPr sz="1000">
              <a:latin typeface="Fira Sans"/>
              <a:ea typeface="Fira Sans"/>
              <a:cs typeface="Fira Sans"/>
              <a:sym typeface="Fira Sans"/>
            </a:endParaRPr>
          </a:p>
          <a:p>
            <a:pPr marL="0" lvl="0" indent="0" algn="l" rtl="0">
              <a:spcBef>
                <a:spcPts val="0"/>
              </a:spcBef>
              <a:spcAft>
                <a:spcPts val="0"/>
              </a:spcAft>
              <a:buNone/>
            </a:pPr>
            <a:endParaRPr sz="1000">
              <a:latin typeface="Fira Sans"/>
              <a:ea typeface="Fira Sans"/>
              <a:cs typeface="Fira Sans"/>
              <a:sym typeface="Fira Sans"/>
            </a:endParaRPr>
          </a:p>
          <a:p>
            <a:pPr marL="0" lvl="0" indent="0" algn="l" rtl="0">
              <a:spcBef>
                <a:spcPts val="0"/>
              </a:spcBef>
              <a:spcAft>
                <a:spcPts val="0"/>
              </a:spcAft>
              <a:buNone/>
            </a:pPr>
            <a:r>
              <a:rPr lang="en" sz="1000">
                <a:latin typeface="Fira Sans"/>
                <a:ea typeface="Fira Sans"/>
                <a:cs typeface="Fira Sans"/>
                <a:sym typeface="Fira Sans"/>
              </a:rPr>
              <a:t>Pseudo R-squared also increases from </a:t>
            </a:r>
            <a:r>
              <a:rPr lang="en" sz="1000" b="1">
                <a:latin typeface="Fira Sans"/>
                <a:ea typeface="Fira Sans"/>
                <a:cs typeface="Fira Sans"/>
                <a:sym typeface="Fira Sans"/>
              </a:rPr>
              <a:t>0.006 to 0.035 </a:t>
            </a:r>
            <a:endParaRPr sz="1000" b="1">
              <a:latin typeface="Fira Sans"/>
              <a:ea typeface="Fira Sans"/>
              <a:cs typeface="Fira Sans"/>
              <a:sym typeface="Fira Sans"/>
            </a:endParaRPr>
          </a:p>
          <a:p>
            <a:pPr marL="0" lvl="0" indent="0" algn="l" rtl="0">
              <a:spcBef>
                <a:spcPts val="0"/>
              </a:spcBef>
              <a:spcAft>
                <a:spcPts val="0"/>
              </a:spcAft>
              <a:buNone/>
            </a:pPr>
            <a:endParaRPr sz="1000" b="1">
              <a:latin typeface="Fira Sans"/>
              <a:ea typeface="Fira Sans"/>
              <a:cs typeface="Fira Sans"/>
              <a:sym typeface="Fira Sans"/>
            </a:endParaRPr>
          </a:p>
          <a:p>
            <a:pPr marL="0" lvl="0" indent="0" algn="l" rtl="0">
              <a:spcBef>
                <a:spcPts val="0"/>
              </a:spcBef>
              <a:spcAft>
                <a:spcPts val="0"/>
              </a:spcAft>
              <a:buNone/>
            </a:pPr>
            <a:r>
              <a:rPr lang="en" sz="1000">
                <a:latin typeface="Fira Sans"/>
                <a:ea typeface="Fira Sans"/>
                <a:cs typeface="Fira Sans"/>
                <a:sym typeface="Fira Sans"/>
              </a:rPr>
              <a:t>The fact that Pseudo R-squared is still very low suggests that there could be other uncaptured variables which could better explain the frequency of depression</a:t>
            </a:r>
            <a:endParaRPr sz="1000">
              <a:latin typeface="Fira Sans"/>
              <a:ea typeface="Fira Sans"/>
              <a:cs typeface="Fira Sans"/>
              <a:sym typeface="Fir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26"/>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How is this related to Singapore?</a:t>
            </a:r>
            <a:endParaRPr sz="2800">
              <a:latin typeface="Fira Sans Medium"/>
              <a:ea typeface="Fira Sans Medium"/>
              <a:cs typeface="Fira Sans Medium"/>
              <a:sym typeface="Fira Sans Medium"/>
            </a:endParaRPr>
          </a:p>
        </p:txBody>
      </p:sp>
      <p:pic>
        <p:nvPicPr>
          <p:cNvPr id="478" name="Google Shape;478;p26"/>
          <p:cNvPicPr preferRelativeResize="0"/>
          <p:nvPr/>
        </p:nvPicPr>
        <p:blipFill rotWithShape="1">
          <a:blip r:embed="rId3">
            <a:alphaModFix/>
          </a:blip>
          <a:srcRect b="-1132"/>
          <a:stretch/>
        </p:blipFill>
        <p:spPr>
          <a:xfrm>
            <a:off x="829533" y="1705521"/>
            <a:ext cx="4262650" cy="2130225"/>
          </a:xfrm>
          <a:prstGeom prst="rect">
            <a:avLst/>
          </a:prstGeom>
          <a:noFill/>
          <a:ln>
            <a:noFill/>
          </a:ln>
        </p:spPr>
      </p:pic>
      <p:grpSp>
        <p:nvGrpSpPr>
          <p:cNvPr id="479" name="Google Shape;479;p26"/>
          <p:cNvGrpSpPr/>
          <p:nvPr/>
        </p:nvGrpSpPr>
        <p:grpSpPr>
          <a:xfrm>
            <a:off x="5620701" y="1609441"/>
            <a:ext cx="3341309" cy="2789238"/>
            <a:chOff x="5284574" y="1619174"/>
            <a:chExt cx="2594587" cy="2165894"/>
          </a:xfrm>
        </p:grpSpPr>
        <p:grpSp>
          <p:nvGrpSpPr>
            <p:cNvPr id="480" name="Google Shape;480;p26"/>
            <p:cNvGrpSpPr/>
            <p:nvPr/>
          </p:nvGrpSpPr>
          <p:grpSpPr>
            <a:xfrm>
              <a:off x="5912222" y="2039761"/>
              <a:ext cx="1339292" cy="1334622"/>
              <a:chOff x="6375353" y="4039870"/>
              <a:chExt cx="284828" cy="283829"/>
            </a:xfrm>
          </p:grpSpPr>
          <p:sp>
            <p:nvSpPr>
              <p:cNvPr id="481" name="Google Shape;481;p26"/>
              <p:cNvSpPr/>
              <p:nvPr/>
            </p:nvSpPr>
            <p:spPr>
              <a:xfrm>
                <a:off x="6574404" y="4051088"/>
                <a:ext cx="57185" cy="44968"/>
              </a:xfrm>
              <a:custGeom>
                <a:avLst/>
                <a:gdLst/>
                <a:ahLst/>
                <a:cxnLst/>
                <a:rect l="l" t="t" r="r" b="b"/>
                <a:pathLst>
                  <a:path w="1774" h="1395" extrusionOk="0">
                    <a:moveTo>
                      <a:pt x="0" y="1"/>
                    </a:moveTo>
                    <a:lnTo>
                      <a:pt x="0" y="1"/>
                    </a:lnTo>
                    <a:cubicBezTo>
                      <a:pt x="444" y="349"/>
                      <a:pt x="792" y="824"/>
                      <a:pt x="1077" y="1394"/>
                    </a:cubicBezTo>
                    <a:lnTo>
                      <a:pt x="1774" y="1394"/>
                    </a:lnTo>
                    <a:cubicBezTo>
                      <a:pt x="1299" y="793"/>
                      <a:pt x="697" y="318"/>
                      <a:pt x="0"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6"/>
              <p:cNvSpPr/>
              <p:nvPr/>
            </p:nvSpPr>
            <p:spPr>
              <a:xfrm>
                <a:off x="6417194" y="4106210"/>
                <a:ext cx="59248" cy="70498"/>
              </a:xfrm>
              <a:custGeom>
                <a:avLst/>
                <a:gdLst/>
                <a:ahLst/>
                <a:cxnLst/>
                <a:rect l="l" t="t" r="r" b="b"/>
                <a:pathLst>
                  <a:path w="1838" h="2187" extrusionOk="0">
                    <a:moveTo>
                      <a:pt x="475" y="1"/>
                    </a:moveTo>
                    <a:cubicBezTo>
                      <a:pt x="190" y="634"/>
                      <a:pt x="0" y="1363"/>
                      <a:pt x="0" y="2186"/>
                    </a:cubicBezTo>
                    <a:lnTo>
                      <a:pt x="1647" y="2186"/>
                    </a:lnTo>
                    <a:cubicBezTo>
                      <a:pt x="1647" y="1426"/>
                      <a:pt x="1711" y="666"/>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6"/>
              <p:cNvSpPr/>
              <p:nvPr/>
            </p:nvSpPr>
            <p:spPr>
              <a:xfrm>
                <a:off x="6488659" y="4039870"/>
                <a:ext cx="59248" cy="56186"/>
              </a:xfrm>
              <a:custGeom>
                <a:avLst/>
                <a:gdLst/>
                <a:ahLst/>
                <a:cxnLst/>
                <a:rect l="l" t="t" r="r" b="b"/>
                <a:pathLst>
                  <a:path w="1838" h="1743" extrusionOk="0">
                    <a:moveTo>
                      <a:pt x="919" y="0"/>
                    </a:moveTo>
                    <a:cubicBezTo>
                      <a:pt x="570" y="0"/>
                      <a:pt x="222" y="634"/>
                      <a:pt x="0" y="1742"/>
                    </a:cubicBezTo>
                    <a:lnTo>
                      <a:pt x="1837" y="1742"/>
                    </a:lnTo>
                    <a:cubicBezTo>
                      <a:pt x="1584" y="634"/>
                      <a:pt x="1235" y="0"/>
                      <a:pt x="919"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6"/>
              <p:cNvSpPr/>
              <p:nvPr/>
            </p:nvSpPr>
            <p:spPr>
              <a:xfrm>
                <a:off x="6437598" y="4041901"/>
                <a:ext cx="60279" cy="54155"/>
              </a:xfrm>
              <a:custGeom>
                <a:avLst/>
                <a:gdLst/>
                <a:ahLst/>
                <a:cxnLst/>
                <a:rect l="l" t="t" r="r" b="b"/>
                <a:pathLst>
                  <a:path w="1870" h="1680" extrusionOk="0">
                    <a:moveTo>
                      <a:pt x="1869" y="1"/>
                    </a:moveTo>
                    <a:lnTo>
                      <a:pt x="1869" y="1"/>
                    </a:lnTo>
                    <a:cubicBezTo>
                      <a:pt x="1109" y="223"/>
                      <a:pt x="444" y="824"/>
                      <a:pt x="1" y="1679"/>
                    </a:cubicBezTo>
                    <a:lnTo>
                      <a:pt x="1268" y="1679"/>
                    </a:lnTo>
                    <a:cubicBezTo>
                      <a:pt x="1394" y="983"/>
                      <a:pt x="1616" y="381"/>
                      <a:pt x="186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6"/>
              <p:cNvSpPr/>
              <p:nvPr/>
            </p:nvSpPr>
            <p:spPr>
              <a:xfrm>
                <a:off x="6537656" y="4041901"/>
                <a:ext cx="60247" cy="54155"/>
              </a:xfrm>
              <a:custGeom>
                <a:avLst/>
                <a:gdLst/>
                <a:ahLst/>
                <a:cxnLst/>
                <a:rect l="l" t="t" r="r" b="b"/>
                <a:pathLst>
                  <a:path w="1869" h="1680" extrusionOk="0">
                    <a:moveTo>
                      <a:pt x="0" y="1"/>
                    </a:moveTo>
                    <a:lnTo>
                      <a:pt x="0" y="1"/>
                    </a:lnTo>
                    <a:cubicBezTo>
                      <a:pt x="254" y="381"/>
                      <a:pt x="475" y="983"/>
                      <a:pt x="602" y="1679"/>
                    </a:cubicBezTo>
                    <a:lnTo>
                      <a:pt x="1869" y="1679"/>
                    </a:lnTo>
                    <a:cubicBezTo>
                      <a:pt x="1425" y="824"/>
                      <a:pt x="760" y="223"/>
                      <a:pt x="0"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6"/>
              <p:cNvSpPr/>
              <p:nvPr/>
            </p:nvSpPr>
            <p:spPr>
              <a:xfrm>
                <a:off x="6480471" y="4106210"/>
                <a:ext cx="74560" cy="70498"/>
              </a:xfrm>
              <a:custGeom>
                <a:avLst/>
                <a:gdLst/>
                <a:ahLst/>
                <a:cxnLst/>
                <a:rect l="l" t="t" r="r" b="b"/>
                <a:pathLst>
                  <a:path w="2313" h="2187" extrusionOk="0">
                    <a:moveTo>
                      <a:pt x="191" y="1"/>
                    </a:moveTo>
                    <a:cubicBezTo>
                      <a:pt x="64" y="603"/>
                      <a:pt x="1" y="1363"/>
                      <a:pt x="1" y="2186"/>
                    </a:cubicBezTo>
                    <a:lnTo>
                      <a:pt x="2313" y="2186"/>
                    </a:lnTo>
                    <a:cubicBezTo>
                      <a:pt x="2313" y="1363"/>
                      <a:pt x="2249" y="603"/>
                      <a:pt x="212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6"/>
              <p:cNvSpPr/>
              <p:nvPr/>
            </p:nvSpPr>
            <p:spPr>
              <a:xfrm>
                <a:off x="6480471" y="4186862"/>
                <a:ext cx="74560" cy="70466"/>
              </a:xfrm>
              <a:custGeom>
                <a:avLst/>
                <a:gdLst/>
                <a:ahLst/>
                <a:cxnLst/>
                <a:rect l="l" t="t" r="r" b="b"/>
                <a:pathLst>
                  <a:path w="2313" h="2186" extrusionOk="0">
                    <a:moveTo>
                      <a:pt x="1" y="1"/>
                    </a:moveTo>
                    <a:cubicBezTo>
                      <a:pt x="1" y="824"/>
                      <a:pt x="64" y="1553"/>
                      <a:pt x="191" y="2186"/>
                    </a:cubicBezTo>
                    <a:lnTo>
                      <a:pt x="2123" y="2186"/>
                    </a:lnTo>
                    <a:cubicBezTo>
                      <a:pt x="2249" y="1553"/>
                      <a:pt x="2313" y="824"/>
                      <a:pt x="231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6"/>
              <p:cNvSpPr/>
              <p:nvPr/>
            </p:nvSpPr>
            <p:spPr>
              <a:xfrm>
                <a:off x="6537656" y="4266482"/>
                <a:ext cx="60247" cy="54155"/>
              </a:xfrm>
              <a:custGeom>
                <a:avLst/>
                <a:gdLst/>
                <a:ahLst/>
                <a:cxnLst/>
                <a:rect l="l" t="t" r="r" b="b"/>
                <a:pathLst>
                  <a:path w="1869" h="1680" extrusionOk="0">
                    <a:moveTo>
                      <a:pt x="602" y="1"/>
                    </a:moveTo>
                    <a:cubicBezTo>
                      <a:pt x="475" y="729"/>
                      <a:pt x="254" y="1331"/>
                      <a:pt x="0" y="1679"/>
                    </a:cubicBezTo>
                    <a:cubicBezTo>
                      <a:pt x="760" y="1489"/>
                      <a:pt x="1425" y="856"/>
                      <a:pt x="186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6"/>
              <p:cNvSpPr/>
              <p:nvPr/>
            </p:nvSpPr>
            <p:spPr>
              <a:xfrm>
                <a:off x="6559092" y="4186862"/>
                <a:ext cx="59248" cy="70466"/>
              </a:xfrm>
              <a:custGeom>
                <a:avLst/>
                <a:gdLst/>
                <a:ahLst/>
                <a:cxnLst/>
                <a:rect l="l" t="t" r="r" b="b"/>
                <a:pathLst>
                  <a:path w="1838" h="2186" extrusionOk="0">
                    <a:moveTo>
                      <a:pt x="190" y="1"/>
                    </a:moveTo>
                    <a:cubicBezTo>
                      <a:pt x="190" y="729"/>
                      <a:pt x="127" y="1521"/>
                      <a:pt x="0" y="2186"/>
                    </a:cubicBezTo>
                    <a:lnTo>
                      <a:pt x="1362" y="2186"/>
                    </a:lnTo>
                    <a:cubicBezTo>
                      <a:pt x="1647" y="1553"/>
                      <a:pt x="1837" y="793"/>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6"/>
              <p:cNvSpPr/>
              <p:nvPr/>
            </p:nvSpPr>
            <p:spPr>
              <a:xfrm>
                <a:off x="6437598" y="4266482"/>
                <a:ext cx="60279" cy="54155"/>
              </a:xfrm>
              <a:custGeom>
                <a:avLst/>
                <a:gdLst/>
                <a:ahLst/>
                <a:cxnLst/>
                <a:rect l="l" t="t" r="r" b="b"/>
                <a:pathLst>
                  <a:path w="1870" h="1680" extrusionOk="0">
                    <a:moveTo>
                      <a:pt x="1" y="1"/>
                    </a:moveTo>
                    <a:cubicBezTo>
                      <a:pt x="444" y="856"/>
                      <a:pt x="1109" y="1489"/>
                      <a:pt x="1869" y="1679"/>
                    </a:cubicBezTo>
                    <a:cubicBezTo>
                      <a:pt x="1616" y="1331"/>
                      <a:pt x="1394" y="729"/>
                      <a:pt x="126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6"/>
              <p:cNvSpPr/>
              <p:nvPr/>
            </p:nvSpPr>
            <p:spPr>
              <a:xfrm>
                <a:off x="6417194" y="4186862"/>
                <a:ext cx="59248" cy="70466"/>
              </a:xfrm>
              <a:custGeom>
                <a:avLst/>
                <a:gdLst/>
                <a:ahLst/>
                <a:cxnLst/>
                <a:rect l="l" t="t" r="r" b="b"/>
                <a:pathLst>
                  <a:path w="1838" h="2186" extrusionOk="0">
                    <a:moveTo>
                      <a:pt x="0" y="1"/>
                    </a:moveTo>
                    <a:cubicBezTo>
                      <a:pt x="32" y="793"/>
                      <a:pt x="190" y="1553"/>
                      <a:pt x="475" y="2186"/>
                    </a:cubicBezTo>
                    <a:lnTo>
                      <a:pt x="1837" y="2186"/>
                    </a:lnTo>
                    <a:cubicBezTo>
                      <a:pt x="1711" y="1521"/>
                      <a:pt x="1647" y="761"/>
                      <a:pt x="164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6"/>
              <p:cNvSpPr/>
              <p:nvPr/>
            </p:nvSpPr>
            <p:spPr>
              <a:xfrm>
                <a:off x="6488659" y="4266482"/>
                <a:ext cx="59248" cy="57217"/>
              </a:xfrm>
              <a:custGeom>
                <a:avLst/>
                <a:gdLst/>
                <a:ahLst/>
                <a:cxnLst/>
                <a:rect l="l" t="t" r="r" b="b"/>
                <a:pathLst>
                  <a:path w="1838" h="1775" extrusionOk="0">
                    <a:moveTo>
                      <a:pt x="0" y="1"/>
                    </a:moveTo>
                    <a:cubicBezTo>
                      <a:pt x="222" y="1109"/>
                      <a:pt x="570" y="1774"/>
                      <a:pt x="919" y="1774"/>
                    </a:cubicBezTo>
                    <a:cubicBezTo>
                      <a:pt x="1235" y="1774"/>
                      <a:pt x="1584" y="1109"/>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6"/>
              <p:cNvSpPr/>
              <p:nvPr/>
            </p:nvSpPr>
            <p:spPr>
              <a:xfrm>
                <a:off x="6613182" y="4106210"/>
                <a:ext cx="46999" cy="70498"/>
              </a:xfrm>
              <a:custGeom>
                <a:avLst/>
                <a:gdLst/>
                <a:ahLst/>
                <a:cxnLst/>
                <a:rect l="l" t="t" r="r" b="b"/>
                <a:pathLst>
                  <a:path w="1458" h="2187" extrusionOk="0">
                    <a:moveTo>
                      <a:pt x="1" y="1"/>
                    </a:moveTo>
                    <a:cubicBezTo>
                      <a:pt x="286" y="634"/>
                      <a:pt x="444" y="1394"/>
                      <a:pt x="476" y="2186"/>
                    </a:cubicBezTo>
                    <a:lnTo>
                      <a:pt x="1458" y="2186"/>
                    </a:lnTo>
                    <a:cubicBezTo>
                      <a:pt x="1426" y="1394"/>
                      <a:pt x="1173" y="634"/>
                      <a:pt x="761"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6"/>
              <p:cNvSpPr/>
              <p:nvPr/>
            </p:nvSpPr>
            <p:spPr>
              <a:xfrm>
                <a:off x="6613182" y="4186862"/>
                <a:ext cx="46999" cy="70466"/>
              </a:xfrm>
              <a:custGeom>
                <a:avLst/>
                <a:gdLst/>
                <a:ahLst/>
                <a:cxnLst/>
                <a:rect l="l" t="t" r="r" b="b"/>
                <a:pathLst>
                  <a:path w="1458" h="2186" extrusionOk="0">
                    <a:moveTo>
                      <a:pt x="476" y="1"/>
                    </a:moveTo>
                    <a:cubicBezTo>
                      <a:pt x="444" y="793"/>
                      <a:pt x="286" y="1521"/>
                      <a:pt x="1" y="2186"/>
                    </a:cubicBezTo>
                    <a:lnTo>
                      <a:pt x="761" y="2186"/>
                    </a:lnTo>
                    <a:cubicBezTo>
                      <a:pt x="1173" y="1553"/>
                      <a:pt x="1426" y="793"/>
                      <a:pt x="145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6"/>
              <p:cNvSpPr/>
              <p:nvPr/>
            </p:nvSpPr>
            <p:spPr>
              <a:xfrm>
                <a:off x="6574404" y="4267513"/>
                <a:ext cx="57185" cy="43936"/>
              </a:xfrm>
              <a:custGeom>
                <a:avLst/>
                <a:gdLst/>
                <a:ahLst/>
                <a:cxnLst/>
                <a:rect l="l" t="t" r="r" b="b"/>
                <a:pathLst>
                  <a:path w="1774" h="1363" extrusionOk="0">
                    <a:moveTo>
                      <a:pt x="1077" y="1"/>
                    </a:moveTo>
                    <a:cubicBezTo>
                      <a:pt x="792" y="539"/>
                      <a:pt x="444" y="1014"/>
                      <a:pt x="0" y="1362"/>
                    </a:cubicBezTo>
                    <a:lnTo>
                      <a:pt x="0" y="1362"/>
                    </a:lnTo>
                    <a:cubicBezTo>
                      <a:pt x="697" y="1077"/>
                      <a:pt x="1299" y="602"/>
                      <a:pt x="1774"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6"/>
              <p:cNvSpPr/>
              <p:nvPr/>
            </p:nvSpPr>
            <p:spPr>
              <a:xfrm>
                <a:off x="6403913" y="4266482"/>
                <a:ext cx="57217" cy="44968"/>
              </a:xfrm>
              <a:custGeom>
                <a:avLst/>
                <a:gdLst/>
                <a:ahLst/>
                <a:cxnLst/>
                <a:rect l="l" t="t" r="r" b="b"/>
                <a:pathLst>
                  <a:path w="1775" h="1395" extrusionOk="0">
                    <a:moveTo>
                      <a:pt x="1" y="1"/>
                    </a:moveTo>
                    <a:cubicBezTo>
                      <a:pt x="476" y="634"/>
                      <a:pt x="1077" y="1109"/>
                      <a:pt x="1774" y="1394"/>
                    </a:cubicBezTo>
                    <a:cubicBezTo>
                      <a:pt x="1331" y="1046"/>
                      <a:pt x="982" y="571"/>
                      <a:pt x="69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6"/>
              <p:cNvSpPr/>
              <p:nvPr/>
            </p:nvSpPr>
            <p:spPr>
              <a:xfrm>
                <a:off x="6403913" y="4051088"/>
                <a:ext cx="57217" cy="44968"/>
              </a:xfrm>
              <a:custGeom>
                <a:avLst/>
                <a:gdLst/>
                <a:ahLst/>
                <a:cxnLst/>
                <a:rect l="l" t="t" r="r" b="b"/>
                <a:pathLst>
                  <a:path w="1775" h="1395" extrusionOk="0">
                    <a:moveTo>
                      <a:pt x="1774" y="1"/>
                    </a:moveTo>
                    <a:cubicBezTo>
                      <a:pt x="1077" y="318"/>
                      <a:pt x="476" y="793"/>
                      <a:pt x="1" y="1394"/>
                    </a:cubicBezTo>
                    <a:lnTo>
                      <a:pt x="697" y="1394"/>
                    </a:lnTo>
                    <a:cubicBezTo>
                      <a:pt x="982" y="824"/>
                      <a:pt x="1331" y="349"/>
                      <a:pt x="1774"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6"/>
              <p:cNvSpPr/>
              <p:nvPr/>
            </p:nvSpPr>
            <p:spPr>
              <a:xfrm>
                <a:off x="6375353" y="4106210"/>
                <a:ext cx="46966" cy="70498"/>
              </a:xfrm>
              <a:custGeom>
                <a:avLst/>
                <a:gdLst/>
                <a:ahLst/>
                <a:cxnLst/>
                <a:rect l="l" t="t" r="r" b="b"/>
                <a:pathLst>
                  <a:path w="1457" h="2187" extrusionOk="0">
                    <a:moveTo>
                      <a:pt x="697" y="1"/>
                    </a:moveTo>
                    <a:cubicBezTo>
                      <a:pt x="285" y="634"/>
                      <a:pt x="32" y="1394"/>
                      <a:pt x="0" y="2186"/>
                    </a:cubicBezTo>
                    <a:lnTo>
                      <a:pt x="982" y="2186"/>
                    </a:lnTo>
                    <a:cubicBezTo>
                      <a:pt x="1013" y="1394"/>
                      <a:pt x="1172" y="634"/>
                      <a:pt x="145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6"/>
              <p:cNvSpPr/>
              <p:nvPr/>
            </p:nvSpPr>
            <p:spPr>
              <a:xfrm>
                <a:off x="6375353" y="4186862"/>
                <a:ext cx="46966" cy="70466"/>
              </a:xfrm>
              <a:custGeom>
                <a:avLst/>
                <a:gdLst/>
                <a:ahLst/>
                <a:cxnLst/>
                <a:rect l="l" t="t" r="r" b="b"/>
                <a:pathLst>
                  <a:path w="1457" h="2186" extrusionOk="0">
                    <a:moveTo>
                      <a:pt x="0" y="1"/>
                    </a:moveTo>
                    <a:cubicBezTo>
                      <a:pt x="32" y="793"/>
                      <a:pt x="285" y="1553"/>
                      <a:pt x="697" y="2186"/>
                    </a:cubicBezTo>
                    <a:lnTo>
                      <a:pt x="1457" y="2186"/>
                    </a:lnTo>
                    <a:cubicBezTo>
                      <a:pt x="1172" y="1521"/>
                      <a:pt x="1013" y="793"/>
                      <a:pt x="98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6"/>
              <p:cNvSpPr/>
              <p:nvPr/>
            </p:nvSpPr>
            <p:spPr>
              <a:xfrm>
                <a:off x="6559092" y="4106210"/>
                <a:ext cx="59248" cy="70498"/>
              </a:xfrm>
              <a:custGeom>
                <a:avLst/>
                <a:gdLst/>
                <a:ahLst/>
                <a:cxnLst/>
                <a:rect l="l" t="t" r="r" b="b"/>
                <a:pathLst>
                  <a:path w="1838" h="2187" extrusionOk="0">
                    <a:moveTo>
                      <a:pt x="0" y="1"/>
                    </a:moveTo>
                    <a:cubicBezTo>
                      <a:pt x="127" y="666"/>
                      <a:pt x="190" y="1426"/>
                      <a:pt x="190" y="2186"/>
                    </a:cubicBezTo>
                    <a:lnTo>
                      <a:pt x="1837" y="2186"/>
                    </a:lnTo>
                    <a:cubicBezTo>
                      <a:pt x="1837" y="1394"/>
                      <a:pt x="1647" y="634"/>
                      <a:pt x="136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1" name="Google Shape;501;p26"/>
            <p:cNvSpPr txBox="1"/>
            <p:nvPr/>
          </p:nvSpPr>
          <p:spPr>
            <a:xfrm>
              <a:off x="5284574" y="3013021"/>
              <a:ext cx="6708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Australia 0.1850</a:t>
              </a:r>
              <a:endParaRPr sz="1000">
                <a:solidFill>
                  <a:schemeClr val="dk2"/>
                </a:solidFill>
              </a:endParaRPr>
            </a:p>
          </p:txBody>
        </p:sp>
        <p:sp>
          <p:nvSpPr>
            <p:cNvPr id="502" name="Google Shape;502;p26"/>
            <p:cNvSpPr txBox="1"/>
            <p:nvPr/>
          </p:nvSpPr>
          <p:spPr>
            <a:xfrm>
              <a:off x="6328929" y="3402568"/>
              <a:ext cx="5058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Brazil</a:t>
              </a:r>
              <a:endParaRPr sz="1000">
                <a:solidFill>
                  <a:schemeClr val="dk2"/>
                </a:solidFill>
              </a:endParaRPr>
            </a:p>
            <a:p>
              <a:pPr marL="0" lvl="0" indent="0" algn="ctr" rtl="0">
                <a:spcBef>
                  <a:spcPts val="0"/>
                </a:spcBef>
                <a:spcAft>
                  <a:spcPts val="0"/>
                </a:spcAft>
                <a:buNone/>
              </a:pPr>
              <a:r>
                <a:rPr lang="en" sz="1000">
                  <a:solidFill>
                    <a:schemeClr val="dk2"/>
                  </a:solidFill>
                </a:rPr>
                <a:t>0.7191</a:t>
              </a:r>
              <a:endParaRPr sz="1000">
                <a:solidFill>
                  <a:schemeClr val="dk2"/>
                </a:solidFill>
              </a:endParaRPr>
            </a:p>
          </p:txBody>
        </p:sp>
        <p:sp>
          <p:nvSpPr>
            <p:cNvPr id="503" name="Google Shape;503;p26"/>
            <p:cNvSpPr txBox="1"/>
            <p:nvPr/>
          </p:nvSpPr>
          <p:spPr>
            <a:xfrm>
              <a:off x="5327700" y="2179756"/>
              <a:ext cx="5844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Canada</a:t>
              </a:r>
              <a:endParaRPr sz="1000">
                <a:solidFill>
                  <a:schemeClr val="dk2"/>
                </a:solidFill>
              </a:endParaRPr>
            </a:p>
            <a:p>
              <a:pPr marL="0" lvl="0" indent="0" algn="ctr" rtl="0">
                <a:spcBef>
                  <a:spcPts val="0"/>
                </a:spcBef>
                <a:spcAft>
                  <a:spcPts val="0"/>
                </a:spcAft>
                <a:buNone/>
              </a:pPr>
              <a:r>
                <a:rPr lang="en" sz="1000">
                  <a:solidFill>
                    <a:schemeClr val="dk2"/>
                  </a:solidFill>
                </a:rPr>
                <a:t>0.8260</a:t>
              </a:r>
              <a:endParaRPr sz="1000">
                <a:solidFill>
                  <a:schemeClr val="dk2"/>
                </a:solidFill>
              </a:endParaRPr>
            </a:p>
          </p:txBody>
        </p:sp>
        <p:sp>
          <p:nvSpPr>
            <p:cNvPr id="504" name="Google Shape;504;p26"/>
            <p:cNvSpPr txBox="1"/>
            <p:nvPr/>
          </p:nvSpPr>
          <p:spPr>
            <a:xfrm>
              <a:off x="6200679" y="1619174"/>
              <a:ext cx="7623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Germany</a:t>
              </a:r>
              <a:endParaRPr sz="1000">
                <a:solidFill>
                  <a:schemeClr val="dk2"/>
                </a:solidFill>
              </a:endParaRPr>
            </a:p>
            <a:p>
              <a:pPr marL="0" lvl="0" indent="0" algn="ctr" rtl="0">
                <a:spcBef>
                  <a:spcPts val="0"/>
                </a:spcBef>
                <a:spcAft>
                  <a:spcPts val="0"/>
                </a:spcAft>
                <a:buNone/>
              </a:pPr>
              <a:r>
                <a:rPr lang="en" sz="1000">
                  <a:solidFill>
                    <a:schemeClr val="dk2"/>
                  </a:solidFill>
                </a:rPr>
                <a:t>0.2045</a:t>
              </a:r>
              <a:endParaRPr sz="1000">
                <a:solidFill>
                  <a:schemeClr val="dk2"/>
                </a:solidFill>
              </a:endParaRPr>
            </a:p>
          </p:txBody>
        </p:sp>
        <p:sp>
          <p:nvSpPr>
            <p:cNvPr id="505" name="Google Shape;505;p26"/>
            <p:cNvSpPr txBox="1"/>
            <p:nvPr/>
          </p:nvSpPr>
          <p:spPr>
            <a:xfrm>
              <a:off x="7208361" y="3013021"/>
              <a:ext cx="6708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Japan</a:t>
              </a:r>
              <a:endParaRPr sz="1000">
                <a:solidFill>
                  <a:schemeClr val="dk2"/>
                </a:solidFill>
              </a:endParaRPr>
            </a:p>
            <a:p>
              <a:pPr marL="0" lvl="0" indent="0" algn="ctr" rtl="0">
                <a:spcBef>
                  <a:spcPts val="0"/>
                </a:spcBef>
                <a:spcAft>
                  <a:spcPts val="0"/>
                </a:spcAft>
                <a:buNone/>
              </a:pPr>
              <a:r>
                <a:rPr lang="en" sz="1000">
                  <a:solidFill>
                    <a:schemeClr val="dk2"/>
                  </a:solidFill>
                </a:rPr>
                <a:t>0.6248</a:t>
              </a:r>
              <a:endParaRPr sz="1000">
                <a:solidFill>
                  <a:schemeClr val="dk2"/>
                </a:solidFill>
              </a:endParaRPr>
            </a:p>
          </p:txBody>
        </p:sp>
        <p:sp>
          <p:nvSpPr>
            <p:cNvPr id="506" name="Google Shape;506;p26"/>
            <p:cNvSpPr txBox="1"/>
            <p:nvPr/>
          </p:nvSpPr>
          <p:spPr>
            <a:xfrm>
              <a:off x="7251487" y="2179756"/>
              <a:ext cx="584400" cy="38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2"/>
                  </a:solidFill>
                </a:rPr>
                <a:t>India</a:t>
              </a:r>
              <a:endParaRPr sz="1000">
                <a:solidFill>
                  <a:schemeClr val="dk2"/>
                </a:solidFill>
              </a:endParaRPr>
            </a:p>
            <a:p>
              <a:pPr marL="0" lvl="0" indent="0" algn="ctr" rtl="0">
                <a:spcBef>
                  <a:spcPts val="0"/>
                </a:spcBef>
                <a:spcAft>
                  <a:spcPts val="0"/>
                </a:spcAft>
                <a:buNone/>
              </a:pPr>
              <a:r>
                <a:rPr lang="en" sz="1000">
                  <a:solidFill>
                    <a:schemeClr val="dk2"/>
                  </a:solidFill>
                </a:rPr>
                <a:t>0.0612</a:t>
              </a:r>
              <a:endParaRPr sz="1000">
                <a:solidFill>
                  <a:schemeClr val="dk2"/>
                </a:solidFill>
              </a:endParaRPr>
            </a:p>
          </p:txBody>
        </p:sp>
      </p:grpSp>
      <p:sp>
        <p:nvSpPr>
          <p:cNvPr id="507" name="Google Shape;507;p26"/>
          <p:cNvSpPr txBox="1"/>
          <p:nvPr/>
        </p:nvSpPr>
        <p:spPr>
          <a:xfrm>
            <a:off x="435750" y="994375"/>
            <a:ext cx="8294100" cy="61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300" b="1" dirty="0">
                <a:solidFill>
                  <a:schemeClr val="dk1"/>
                </a:solidFill>
                <a:latin typeface="Fira Sans"/>
                <a:ea typeface="Fira Sans"/>
                <a:cs typeface="Fira Sans"/>
                <a:sym typeface="Fira Sans"/>
              </a:rPr>
              <a:t>Screen time patterns are similar across countries (and possibly Singapore)</a:t>
            </a:r>
            <a:r>
              <a:rPr lang="en" sz="1300" dirty="0">
                <a:solidFill>
                  <a:schemeClr val="dk1"/>
                </a:solidFill>
                <a:latin typeface="Fira Sans Light"/>
                <a:ea typeface="Fira Sans Light"/>
                <a:cs typeface="Fira Sans Light"/>
                <a:sym typeface="Fira Sans Light"/>
              </a:rPr>
              <a:t>. Although there may be cultural differences, our analysis provides a basis for us to examine Singapore's screen time policies.</a:t>
            </a:r>
            <a:endParaRPr sz="1300" dirty="0">
              <a:solidFill>
                <a:schemeClr val="dk1"/>
              </a:solidFill>
              <a:latin typeface="Fira Sans Light"/>
              <a:ea typeface="Fira Sans Light"/>
              <a:cs typeface="Fira Sans Light"/>
              <a:sym typeface="Fira Sans Light"/>
            </a:endParaRPr>
          </a:p>
        </p:txBody>
      </p:sp>
      <p:sp>
        <p:nvSpPr>
          <p:cNvPr id="508" name="Google Shape;508;p26"/>
          <p:cNvSpPr txBox="1"/>
          <p:nvPr/>
        </p:nvSpPr>
        <p:spPr>
          <a:xfrm>
            <a:off x="355425" y="4412600"/>
            <a:ext cx="82941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n" b="1">
                <a:solidFill>
                  <a:schemeClr val="dk1"/>
                </a:solidFill>
                <a:latin typeface="Fira Sans"/>
                <a:ea typeface="Fira Sans"/>
                <a:cs typeface="Fira Sans"/>
                <a:sym typeface="Fira Sans"/>
              </a:rPr>
              <a:t>Pairwise T-test </a:t>
            </a:r>
            <a:r>
              <a:rPr lang="en">
                <a:solidFill>
                  <a:schemeClr val="dk1"/>
                </a:solidFill>
                <a:latin typeface="Fira Sans Light"/>
                <a:ea typeface="Fira Sans Light"/>
                <a:cs typeface="Fira Sans Light"/>
                <a:sym typeface="Fira Sans Light"/>
              </a:rPr>
              <a:t>was conducted for the adult screen time in U.S. v.s. other countries. The p-value &gt; 0.05 for all countries, suggesting that screen time in U.S. is not that different from other countries. </a:t>
            </a:r>
            <a:endParaRPr>
              <a:solidFill>
                <a:schemeClr val="dk1"/>
              </a:solidFill>
            </a:endParaRPr>
          </a:p>
        </p:txBody>
      </p:sp>
      <p:sp>
        <p:nvSpPr>
          <p:cNvPr id="509" name="Google Shape;509;p26"/>
          <p:cNvSpPr txBox="1"/>
          <p:nvPr/>
        </p:nvSpPr>
        <p:spPr>
          <a:xfrm>
            <a:off x="457200" y="3797000"/>
            <a:ext cx="4966200" cy="615600"/>
          </a:xfrm>
          <a:prstGeom prst="rect">
            <a:avLst/>
          </a:prstGeom>
          <a:solidFill>
            <a:srgbClr val="CECECE"/>
          </a:solid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0</a:t>
            </a:r>
            <a:r>
              <a:rPr lang="en">
                <a:solidFill>
                  <a:schemeClr val="dk1"/>
                </a:solidFill>
                <a:latin typeface="Fira Sans Light"/>
                <a:ea typeface="Fira Sans Light"/>
                <a:cs typeface="Fira Sans Light"/>
                <a:sym typeface="Fira Sans Light"/>
              </a:rPr>
              <a:t>: Adult screen time in US is the same as other countries.</a:t>
            </a:r>
            <a:endParaRPr>
              <a:solidFill>
                <a:schemeClr val="dk1"/>
              </a:solidFill>
              <a:latin typeface="Fira Sans Light"/>
              <a:ea typeface="Fira Sans Light"/>
              <a:cs typeface="Fira Sans Light"/>
              <a:sym typeface="Fira Sans Light"/>
            </a:endParaRPr>
          </a:p>
          <a:p>
            <a:pPr marL="0" lvl="0" indent="0" algn="just" rtl="0">
              <a:spcBef>
                <a:spcPts val="0"/>
              </a:spcBef>
              <a:spcAft>
                <a:spcPts val="0"/>
              </a:spcAft>
              <a:buNone/>
            </a:pPr>
            <a:r>
              <a:rPr lang="en">
                <a:solidFill>
                  <a:schemeClr val="dk1"/>
                </a:solidFill>
                <a:latin typeface="Fira Sans Light"/>
                <a:ea typeface="Fira Sans Light"/>
                <a:cs typeface="Fira Sans Light"/>
                <a:sym typeface="Fira Sans Light"/>
              </a:rPr>
              <a:t>H</a:t>
            </a:r>
            <a:r>
              <a:rPr lang="en" baseline="-25000">
                <a:solidFill>
                  <a:schemeClr val="dk1"/>
                </a:solidFill>
                <a:latin typeface="Fira Sans Light"/>
                <a:ea typeface="Fira Sans Light"/>
                <a:cs typeface="Fira Sans Light"/>
                <a:sym typeface="Fira Sans Light"/>
              </a:rPr>
              <a:t>1</a:t>
            </a:r>
            <a:r>
              <a:rPr lang="en">
                <a:solidFill>
                  <a:schemeClr val="dk1"/>
                </a:solidFill>
                <a:latin typeface="Fira Sans Light"/>
                <a:ea typeface="Fira Sans Light"/>
                <a:cs typeface="Fira Sans Light"/>
                <a:sym typeface="Fira Sans Light"/>
              </a:rPr>
              <a:t>: Adult screen time in US is different from other countries.</a:t>
            </a:r>
            <a:endParaRPr>
              <a:solidFill>
                <a:schemeClr val="dk1"/>
              </a:solidFill>
              <a:latin typeface="Fira Sans Light"/>
              <a:ea typeface="Fira Sans Light"/>
              <a:cs typeface="Fira Sans Light"/>
              <a:sym typeface="Fira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27"/>
          <p:cNvSpPr txBox="1"/>
          <p:nvPr/>
        </p:nvSpPr>
        <p:spPr>
          <a:xfrm>
            <a:off x="770925" y="229550"/>
            <a:ext cx="77235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a:latin typeface="Fira Sans Medium"/>
                <a:ea typeface="Fira Sans Medium"/>
                <a:cs typeface="Fira Sans Medium"/>
                <a:sym typeface="Fira Sans Medium"/>
              </a:rPr>
              <a:t>So… Should Singapore Extend Screen Time Guidelines to Youths &amp; Adults?</a:t>
            </a:r>
            <a:endParaRPr sz="2600">
              <a:latin typeface="Fira Sans Medium"/>
              <a:ea typeface="Fira Sans Medium"/>
              <a:cs typeface="Fira Sans Medium"/>
              <a:sym typeface="Fira Sans Medium"/>
            </a:endParaRPr>
          </a:p>
        </p:txBody>
      </p:sp>
      <p:sp>
        <p:nvSpPr>
          <p:cNvPr id="515" name="Google Shape;515;p27"/>
          <p:cNvSpPr/>
          <p:nvPr/>
        </p:nvSpPr>
        <p:spPr>
          <a:xfrm>
            <a:off x="344800" y="1337775"/>
            <a:ext cx="2642700" cy="45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34343"/>
                </a:solidFill>
                <a:latin typeface="Fira Sans"/>
                <a:ea typeface="Fira Sans"/>
                <a:cs typeface="Fira Sans"/>
                <a:sym typeface="Fira Sans"/>
              </a:rPr>
              <a:t>Is it time to go beyond kids?</a:t>
            </a:r>
            <a:endParaRPr b="1">
              <a:solidFill>
                <a:srgbClr val="434343"/>
              </a:solidFill>
              <a:latin typeface="Fira Sans"/>
              <a:ea typeface="Fira Sans"/>
              <a:cs typeface="Fira Sans"/>
              <a:sym typeface="Fira Sans"/>
            </a:endParaRPr>
          </a:p>
        </p:txBody>
      </p:sp>
      <p:sp>
        <p:nvSpPr>
          <p:cNvPr id="516" name="Google Shape;516;p27"/>
          <p:cNvSpPr/>
          <p:nvPr/>
        </p:nvSpPr>
        <p:spPr>
          <a:xfrm>
            <a:off x="344799" y="1788375"/>
            <a:ext cx="2742159" cy="2238300"/>
          </a:xfrm>
          <a:prstGeom prst="rect">
            <a:avLst/>
          </a:prstGeom>
          <a:solidFill>
            <a:srgbClr val="E0E0E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i="1" dirty="0">
                <a:solidFill>
                  <a:srgbClr val="434343"/>
                </a:solidFill>
                <a:latin typeface="Fira Sans"/>
                <a:ea typeface="Fira Sans"/>
                <a:cs typeface="Fira Sans"/>
                <a:sym typeface="Fira Sans"/>
              </a:rPr>
              <a:t>Yes, but not as simple as “2 hours max”.</a:t>
            </a:r>
            <a:endParaRPr sz="1200" i="1" dirty="0">
              <a:solidFill>
                <a:srgbClr val="434343"/>
              </a:solidFill>
              <a:latin typeface="Fira Sans"/>
              <a:ea typeface="Fira Sans"/>
              <a:cs typeface="Fira Sans"/>
              <a:sym typeface="Fira Sans"/>
            </a:endParaRPr>
          </a:p>
          <a:p>
            <a:pPr marL="0" lvl="0" indent="0" algn="l" rtl="0">
              <a:spcBef>
                <a:spcPts val="0"/>
              </a:spcBef>
              <a:spcAft>
                <a:spcPts val="0"/>
              </a:spcAft>
              <a:buNone/>
            </a:pPr>
            <a:endParaRPr sz="1200" i="1" dirty="0">
              <a:solidFill>
                <a:srgbClr val="434343"/>
              </a:solidFill>
              <a:latin typeface="Fira Sans"/>
              <a:ea typeface="Fira Sans"/>
              <a:cs typeface="Fira Sans"/>
              <a:sym typeface="Fira Sans"/>
            </a:endParaRPr>
          </a:p>
          <a:p>
            <a:pPr marL="0" lvl="0" indent="0" algn="l" rtl="0">
              <a:spcBef>
                <a:spcPts val="0"/>
              </a:spcBef>
              <a:spcAft>
                <a:spcPts val="0"/>
              </a:spcAft>
              <a:buNone/>
            </a:pPr>
            <a:r>
              <a:rPr lang="en" sz="1200" dirty="0">
                <a:solidFill>
                  <a:srgbClr val="434343"/>
                </a:solidFill>
                <a:latin typeface="Fira Sans"/>
                <a:ea typeface="Fira Sans"/>
                <a:cs typeface="Fira Sans"/>
                <a:sym typeface="Fira Sans"/>
              </a:rPr>
              <a:t>- Youth and adults have autonomy, unlike children.</a:t>
            </a:r>
            <a:endParaRPr sz="1200" dirty="0">
              <a:solidFill>
                <a:srgbClr val="434343"/>
              </a:solidFill>
              <a:latin typeface="Fira Sans"/>
              <a:ea typeface="Fira Sans"/>
              <a:cs typeface="Fira Sans"/>
              <a:sym typeface="Fira Sans"/>
            </a:endParaRPr>
          </a:p>
          <a:p>
            <a:pPr marL="0" lvl="0" indent="0" algn="l" rtl="0">
              <a:spcBef>
                <a:spcPts val="0"/>
              </a:spcBef>
              <a:spcAft>
                <a:spcPts val="0"/>
              </a:spcAft>
              <a:buNone/>
            </a:pPr>
            <a:r>
              <a:rPr lang="en" sz="1200" dirty="0">
                <a:solidFill>
                  <a:srgbClr val="434343"/>
                </a:solidFill>
                <a:latin typeface="Fira Sans"/>
                <a:ea typeface="Fira Sans"/>
                <a:cs typeface="Fira Sans"/>
                <a:sym typeface="Fira Sans"/>
              </a:rPr>
              <a:t>- Enforcement is tricky, especially across devices/platforms</a:t>
            </a:r>
            <a:endParaRPr sz="1200" dirty="0">
              <a:solidFill>
                <a:srgbClr val="434343"/>
              </a:solidFill>
              <a:latin typeface="Fira Sans"/>
              <a:ea typeface="Fira Sans"/>
              <a:cs typeface="Fira Sans"/>
              <a:sym typeface="Fira Sans"/>
            </a:endParaRPr>
          </a:p>
          <a:p>
            <a:pPr marL="0" lvl="0" indent="0" algn="l" rtl="0">
              <a:spcBef>
                <a:spcPts val="0"/>
              </a:spcBef>
              <a:spcAft>
                <a:spcPts val="0"/>
              </a:spcAft>
              <a:buNone/>
            </a:pPr>
            <a:r>
              <a:rPr lang="en" sz="1200" dirty="0">
                <a:solidFill>
                  <a:srgbClr val="434343"/>
                </a:solidFill>
                <a:latin typeface="Fira Sans"/>
                <a:ea typeface="Fira Sans"/>
                <a:cs typeface="Fira Sans"/>
                <a:sym typeface="Fira Sans"/>
              </a:rPr>
              <a:t>- One-size-fits-all approach ignores context and purpose of use, e.g.</a:t>
            </a:r>
            <a:endParaRPr sz="1200" dirty="0">
              <a:solidFill>
                <a:srgbClr val="434343"/>
              </a:solidFill>
              <a:latin typeface="Fira Sans"/>
              <a:ea typeface="Fira Sans"/>
              <a:cs typeface="Fira Sans"/>
              <a:sym typeface="Fira Sans"/>
            </a:endParaRPr>
          </a:p>
          <a:p>
            <a:pPr marL="0" lvl="0" indent="0" algn="l" rtl="0">
              <a:spcBef>
                <a:spcPts val="0"/>
              </a:spcBef>
              <a:spcAft>
                <a:spcPts val="0"/>
              </a:spcAft>
              <a:buNone/>
            </a:pPr>
            <a:r>
              <a:rPr lang="en" sz="1200" dirty="0">
                <a:solidFill>
                  <a:srgbClr val="434343"/>
                </a:solidFill>
                <a:latin typeface="Fira Sans"/>
                <a:ea typeface="Fira Sans"/>
                <a:cs typeface="Fira Sans"/>
                <a:sym typeface="Fira Sans"/>
              </a:rPr>
              <a:t>  -  work vs. leisure</a:t>
            </a:r>
            <a:endParaRPr sz="1200" dirty="0">
              <a:solidFill>
                <a:srgbClr val="434343"/>
              </a:solidFill>
              <a:latin typeface="Fira Sans"/>
              <a:ea typeface="Fira Sans"/>
              <a:cs typeface="Fira Sans"/>
              <a:sym typeface="Fira Sans"/>
            </a:endParaRPr>
          </a:p>
          <a:p>
            <a:pPr marL="0" lvl="0" indent="0" algn="l" rtl="0">
              <a:spcBef>
                <a:spcPts val="0"/>
              </a:spcBef>
              <a:spcAft>
                <a:spcPts val="0"/>
              </a:spcAft>
              <a:buNone/>
            </a:pPr>
            <a:r>
              <a:rPr lang="en" sz="1200" dirty="0">
                <a:solidFill>
                  <a:srgbClr val="434343"/>
                </a:solidFill>
                <a:latin typeface="Fira Sans"/>
                <a:ea typeface="Fira Sans"/>
                <a:cs typeface="Fira Sans"/>
                <a:sym typeface="Fira Sans"/>
              </a:rPr>
              <a:t>  -  learning vs. doom scrolling</a:t>
            </a:r>
            <a:endParaRPr sz="1200" dirty="0">
              <a:solidFill>
                <a:srgbClr val="434343"/>
              </a:solidFill>
              <a:latin typeface="Fira Sans"/>
              <a:ea typeface="Fira Sans"/>
              <a:cs typeface="Fira Sans"/>
              <a:sym typeface="Fira Sans"/>
            </a:endParaRPr>
          </a:p>
        </p:txBody>
      </p:sp>
      <p:sp>
        <p:nvSpPr>
          <p:cNvPr id="517" name="Google Shape;517;p27"/>
          <p:cNvSpPr/>
          <p:nvPr/>
        </p:nvSpPr>
        <p:spPr>
          <a:xfrm>
            <a:off x="3311325" y="1337775"/>
            <a:ext cx="2642700" cy="45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34343"/>
                </a:solidFill>
                <a:latin typeface="Fira Sans"/>
                <a:ea typeface="Fira Sans"/>
                <a:cs typeface="Fira Sans"/>
                <a:sym typeface="Fira Sans"/>
              </a:rPr>
              <a:t>What should we do instead?</a:t>
            </a:r>
            <a:endParaRPr b="1">
              <a:solidFill>
                <a:srgbClr val="434343"/>
              </a:solidFill>
              <a:latin typeface="Fira Sans"/>
              <a:ea typeface="Fira Sans"/>
              <a:cs typeface="Fira Sans"/>
              <a:sym typeface="Fira Sans"/>
            </a:endParaRPr>
          </a:p>
        </p:txBody>
      </p:sp>
      <p:pic>
        <p:nvPicPr>
          <p:cNvPr id="518" name="Google Shape;518;p27" title="mental-health.png"/>
          <p:cNvPicPr preferRelativeResize="0"/>
          <p:nvPr/>
        </p:nvPicPr>
        <p:blipFill>
          <a:blip r:embed="rId3">
            <a:alphaModFix/>
          </a:blip>
          <a:stretch>
            <a:fillRect/>
          </a:stretch>
        </p:blipFill>
        <p:spPr>
          <a:xfrm>
            <a:off x="3359925" y="1891288"/>
            <a:ext cx="888175" cy="888175"/>
          </a:xfrm>
          <a:prstGeom prst="rect">
            <a:avLst/>
          </a:prstGeom>
          <a:noFill/>
          <a:ln>
            <a:noFill/>
          </a:ln>
        </p:spPr>
      </p:pic>
      <p:sp>
        <p:nvSpPr>
          <p:cNvPr id="519" name="Google Shape;519;p27"/>
          <p:cNvSpPr/>
          <p:nvPr/>
        </p:nvSpPr>
        <p:spPr>
          <a:xfrm>
            <a:off x="4367625" y="1832588"/>
            <a:ext cx="4482000" cy="1009800"/>
          </a:xfrm>
          <a:prstGeom prst="rect">
            <a:avLst/>
          </a:prstGeom>
          <a:solidFill>
            <a:srgbClr val="E0E0E0"/>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solidFill>
                  <a:schemeClr val="dk2"/>
                </a:solidFill>
                <a:latin typeface="Fira Sans"/>
                <a:ea typeface="Fira Sans"/>
                <a:cs typeface="Fira Sans"/>
                <a:sym typeface="Fira Sans"/>
              </a:rPr>
              <a:t>Promote Digital Wellbeing</a:t>
            </a:r>
            <a:endParaRPr sz="1100" b="1">
              <a:solidFill>
                <a:schemeClr val="dk2"/>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100">
                <a:solidFill>
                  <a:schemeClr val="dk2"/>
                </a:solidFill>
                <a:latin typeface="Fira Sans"/>
                <a:ea typeface="Fira Sans"/>
                <a:cs typeface="Fira Sans"/>
                <a:sym typeface="Fira Sans"/>
              </a:rPr>
              <a:t>- In Schools: Introduce modules on sleep, attention, and emotional impact of screen time</a:t>
            </a:r>
            <a:endParaRPr sz="1100">
              <a:solidFill>
                <a:schemeClr val="dk2"/>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100">
                <a:solidFill>
                  <a:schemeClr val="dk2"/>
                </a:solidFill>
                <a:latin typeface="Fira Sans"/>
                <a:ea typeface="Fira Sans"/>
                <a:cs typeface="Fira Sans"/>
                <a:sym typeface="Fira Sans"/>
              </a:rPr>
              <a:t>- In Workplaces: Normalize Disconnection – e.g., screen-free hours</a:t>
            </a:r>
            <a:endParaRPr sz="1100">
              <a:solidFill>
                <a:schemeClr val="dk2"/>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100">
                <a:solidFill>
                  <a:schemeClr val="dk2"/>
                </a:solidFill>
                <a:latin typeface="Fira Sans"/>
                <a:ea typeface="Fira Sans"/>
                <a:cs typeface="Fira Sans"/>
                <a:sym typeface="Fira Sans"/>
              </a:rPr>
              <a:t>- On Platforms: Built-in usage nudges, screen-time tracking</a:t>
            </a:r>
            <a:endParaRPr i="1">
              <a:solidFill>
                <a:srgbClr val="434343"/>
              </a:solidFill>
              <a:latin typeface="Fira Sans"/>
              <a:ea typeface="Fira Sans"/>
              <a:cs typeface="Fira Sans"/>
              <a:sym typeface="Fira Sans"/>
            </a:endParaRPr>
          </a:p>
        </p:txBody>
      </p:sp>
      <p:sp>
        <p:nvSpPr>
          <p:cNvPr id="520" name="Google Shape;520;p27"/>
          <p:cNvSpPr/>
          <p:nvPr/>
        </p:nvSpPr>
        <p:spPr>
          <a:xfrm>
            <a:off x="344800" y="4201050"/>
            <a:ext cx="8504700" cy="535500"/>
          </a:xfrm>
          <a:prstGeom prst="rect">
            <a:avLst/>
          </a:prstGeom>
          <a:solidFill>
            <a:srgbClr val="277B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Fira Sans"/>
                <a:ea typeface="Fira Sans"/>
                <a:cs typeface="Fira Sans"/>
                <a:sym typeface="Fira Sans"/>
              </a:rPr>
              <a:t>Stop Counting Hours, Start Shaping Habits.</a:t>
            </a:r>
            <a:endParaRPr sz="1700" i="1">
              <a:solidFill>
                <a:schemeClr val="lt1"/>
              </a:solidFill>
              <a:latin typeface="Fira Sans"/>
              <a:ea typeface="Fira Sans"/>
              <a:cs typeface="Fira Sans"/>
              <a:sym typeface="Fira Sans"/>
            </a:endParaRPr>
          </a:p>
        </p:txBody>
      </p:sp>
      <p:pic>
        <p:nvPicPr>
          <p:cNvPr id="521" name="Google Shape;521;p27" title="health-tech.png"/>
          <p:cNvPicPr preferRelativeResize="0"/>
          <p:nvPr/>
        </p:nvPicPr>
        <p:blipFill>
          <a:blip r:embed="rId4">
            <a:alphaModFix/>
          </a:blip>
          <a:stretch>
            <a:fillRect/>
          </a:stretch>
        </p:blipFill>
        <p:spPr>
          <a:xfrm>
            <a:off x="3311325" y="3046175"/>
            <a:ext cx="888175" cy="888175"/>
          </a:xfrm>
          <a:prstGeom prst="rect">
            <a:avLst/>
          </a:prstGeom>
          <a:noFill/>
          <a:ln>
            <a:noFill/>
          </a:ln>
        </p:spPr>
      </p:pic>
      <p:sp>
        <p:nvSpPr>
          <p:cNvPr id="522" name="Google Shape;522;p27"/>
          <p:cNvSpPr/>
          <p:nvPr/>
        </p:nvSpPr>
        <p:spPr>
          <a:xfrm>
            <a:off x="4367625" y="3016813"/>
            <a:ext cx="4482000" cy="1009800"/>
          </a:xfrm>
          <a:prstGeom prst="rect">
            <a:avLst/>
          </a:prstGeom>
          <a:solidFill>
            <a:srgbClr val="E0E0E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latin typeface="Fira Sans"/>
                <a:ea typeface="Fira Sans"/>
                <a:cs typeface="Fira Sans"/>
                <a:sym typeface="Fira Sans"/>
              </a:rPr>
              <a:t>Promote Integrated Policies and Healthy Lifestyles</a:t>
            </a:r>
            <a:endParaRPr sz="1100" b="1">
              <a:solidFill>
                <a:schemeClr val="dk2"/>
              </a:solidFill>
              <a:latin typeface="Fira Sans"/>
              <a:ea typeface="Fira Sans"/>
              <a:cs typeface="Fira Sans"/>
              <a:sym typeface="Fira Sans"/>
            </a:endParaRPr>
          </a:p>
          <a:p>
            <a:pPr marL="0" lvl="0" indent="0" algn="l" rtl="0">
              <a:spcBef>
                <a:spcPts val="0"/>
              </a:spcBef>
              <a:spcAft>
                <a:spcPts val="0"/>
              </a:spcAft>
              <a:buNone/>
            </a:pPr>
            <a:r>
              <a:rPr lang="en" sz="1100">
                <a:solidFill>
                  <a:schemeClr val="dk2"/>
                </a:solidFill>
                <a:latin typeface="Fira Sans"/>
                <a:ea typeface="Fira Sans"/>
                <a:cs typeface="Fira Sans"/>
                <a:sym typeface="Fira Sans"/>
              </a:rPr>
              <a:t>- Instead of merely focusing on screen time, a more well rounded approach that targets more aspects of health is more suitable in the long run. Additionally, some effects, such as mental health habits effects, may only be seen in the long term.</a:t>
            </a:r>
            <a:endParaRPr i="1">
              <a:solidFill>
                <a:srgbClr val="434343"/>
              </a:solidFill>
              <a:latin typeface="Fira Sans"/>
              <a:ea typeface="Fira Sans"/>
              <a:cs typeface="Fira Sans"/>
              <a:sym typeface="Fira Sans"/>
            </a:endParaRPr>
          </a:p>
        </p:txBody>
      </p:sp>
    </p:spTree>
  </p:cSld>
  <p:clrMapOvr>
    <a:masterClrMapping/>
  </p:clrMapOvr>
</p:sld>
</file>

<file path=ppt/theme/theme1.xml><?xml version="1.0" encoding="utf-8"?>
<a:theme xmlns:a="http://schemas.openxmlformats.org/drawingml/2006/main" name="Technology Infographics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2585</Words>
  <Application>Microsoft Office PowerPoint</Application>
  <PresentationFormat>On-screen Show (16:9)</PresentationFormat>
  <Paragraphs>206</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Fira Sans SemiBold</vt:lpstr>
      <vt:lpstr>Fira Sans Extra Condensed Medium</vt:lpstr>
      <vt:lpstr>Fira Sans Extra Condensed SemiBold</vt:lpstr>
      <vt:lpstr>Fira Sans Light</vt:lpstr>
      <vt:lpstr>Fira Sans</vt:lpstr>
      <vt:lpstr>Fira Sans Medium</vt:lpstr>
      <vt:lpstr>Arial</vt:lpstr>
      <vt:lpstr>MS Gothic</vt:lpstr>
      <vt:lpstr>Times New Roman</vt:lpstr>
      <vt:lpstr>Technology Infographics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YS Goh</cp:lastModifiedBy>
  <cp:revision>3</cp:revision>
  <dcterms:modified xsi:type="dcterms:W3CDTF">2026-09-04T07:09:22Z</dcterms:modified>
</cp:coreProperties>
</file>