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5" r:id="rId1"/>
    <p:sldMasterId id="2147483727" r:id="rId2"/>
    <p:sldMasterId id="2147483728" r:id="rId3"/>
    <p:sldMasterId id="2147483729" r:id="rId4"/>
  </p:sldMasterIdLst>
  <p:notesMasterIdLst>
    <p:notesMasterId r:id="rId22"/>
  </p:notesMasterIdLst>
  <p:sldIdLst>
    <p:sldId id="256" r:id="rId5"/>
    <p:sldId id="257" r:id="rId6"/>
    <p:sldId id="258" r:id="rId7"/>
    <p:sldId id="261" r:id="rId8"/>
    <p:sldId id="262" r:id="rId9"/>
    <p:sldId id="263" r:id="rId10"/>
    <p:sldId id="265" r:id="rId11"/>
    <p:sldId id="266" r:id="rId12"/>
    <p:sldId id="268" r:id="rId13"/>
    <p:sldId id="269" r:id="rId14"/>
    <p:sldId id="270" r:id="rId15"/>
    <p:sldId id="271" r:id="rId16"/>
    <p:sldId id="272" r:id="rId17"/>
    <p:sldId id="273" r:id="rId18"/>
    <p:sldId id="276" r:id="rId19"/>
    <p:sldId id="277" r:id="rId20"/>
    <p:sldId id="279" r:id="rId21"/>
  </p:sldIdLst>
  <p:sldSz cx="9144000" cy="5143500" type="screen16x9"/>
  <p:notesSz cx="6858000" cy="9144000"/>
  <p:embeddedFontLst>
    <p:embeddedFont>
      <p:font typeface="Consolas" panose="020B0609020204030204" pitchFamily="49" charset="0"/>
      <p:regular r:id="rId23"/>
      <p:bold r:id="rId24"/>
      <p:italic r:id="rId25"/>
      <p:boldItalic r:id="rId26"/>
    </p:embeddedFont>
    <p:embeddedFont>
      <p:font typeface="Didact Gothic" panose="00000500000000000000" pitchFamily="2" charset="0"/>
      <p:regular r:id="rId27"/>
    </p:embeddedFont>
    <p:embeddedFont>
      <p:font typeface="Inter" panose="020B0604020202020204" charset="0"/>
      <p:bold r:id="rId28"/>
      <p:boldItalic r:id="rId29"/>
    </p:embeddedFont>
    <p:embeddedFont>
      <p:font typeface="Libre Franklin" pitchFamily="2" charset="0"/>
      <p:regular r:id="rId30"/>
      <p:bold r:id="rId31"/>
      <p:italic r:id="rId32"/>
      <p:boldItalic r:id="rId33"/>
    </p:embeddedFont>
    <p:embeddedFont>
      <p:font typeface="Nunito Light" pitchFamily="2" charset="0"/>
      <p:regular r:id="rId34"/>
    </p:embeddedFont>
    <p:embeddedFont>
      <p:font typeface="Oswald" panose="00000500000000000000" pitchFamily="2" charset="0"/>
      <p:regular r:id="rId35"/>
      <p:bold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
      <p:font typeface="Raleway" pitchFamily="2" charset="0"/>
      <p:regular r:id="rId49"/>
      <p:bold r:id="rId50"/>
      <p:italic r:id="rId51"/>
      <p:boldItalic r:id="rId52"/>
    </p:embeddedFont>
    <p:embeddedFont>
      <p:font typeface="Roboto" panose="02000000000000000000" pitchFamily="2" charset="0"/>
      <p:regular r:id="rId53"/>
      <p:bold r:id="rId54"/>
      <p:italic r:id="rId55"/>
      <p:boldItalic r:id="rId56"/>
    </p:embeddedFont>
    <p:embeddedFont>
      <p:font typeface="Roboto Mono" panose="00000009000000000000" pitchFamily="49"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2">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OH YUN SI _"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E38131-4129-46C3-9160-80A10F144541}">
  <a:tblStyle styleId="{74E38131-4129-46C3-9160-80A10F14454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1AA1288-DD1A-40F9-8BB8-854D2D3CAF7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guide orient="horz" pos="7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font" Target="fonts/font12.fntdata"/><Relationship Id="rId42" Type="http://schemas.openxmlformats.org/officeDocument/2006/relationships/font" Target="fonts/font20.fntdata"/><Relationship Id="rId47" Type="http://schemas.openxmlformats.org/officeDocument/2006/relationships/font" Target="fonts/font25.fntdata"/><Relationship Id="rId50" Type="http://schemas.openxmlformats.org/officeDocument/2006/relationships/font" Target="fonts/font28.fntdata"/><Relationship Id="rId55" Type="http://schemas.openxmlformats.org/officeDocument/2006/relationships/font" Target="fonts/font33.fntdata"/><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7.fntdata"/><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font" Target="fonts/font31.fntdata"/><Relationship Id="rId58" Type="http://schemas.openxmlformats.org/officeDocument/2006/relationships/font" Target="fonts/font36.fntdata"/><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48" Type="http://schemas.openxmlformats.org/officeDocument/2006/relationships/font" Target="fonts/font26.fntdata"/><Relationship Id="rId56" Type="http://schemas.openxmlformats.org/officeDocument/2006/relationships/font" Target="fonts/font34.fntdata"/><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29.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schemas.openxmlformats.org/officeDocument/2006/relationships/font" Target="fonts/font24.fntdata"/><Relationship Id="rId59" Type="http://schemas.openxmlformats.org/officeDocument/2006/relationships/font" Target="fonts/font37.fntdata"/><Relationship Id="rId20" Type="http://schemas.openxmlformats.org/officeDocument/2006/relationships/slide" Target="slides/slide16.xml"/><Relationship Id="rId41" Type="http://schemas.openxmlformats.org/officeDocument/2006/relationships/font" Target="fonts/font19.fntdata"/><Relationship Id="rId54" Type="http://schemas.openxmlformats.org/officeDocument/2006/relationships/font" Target="fonts/font32.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font" Target="fonts/font27.fntdata"/><Relationship Id="rId57" Type="http://schemas.openxmlformats.org/officeDocument/2006/relationships/font" Target="fonts/font35.fntdata"/><Relationship Id="rId10" Type="http://schemas.openxmlformats.org/officeDocument/2006/relationships/slide" Target="slides/slide6.xml"/><Relationship Id="rId31" Type="http://schemas.openxmlformats.org/officeDocument/2006/relationships/font" Target="fonts/font9.fntdata"/><Relationship Id="rId44" Type="http://schemas.openxmlformats.org/officeDocument/2006/relationships/font" Target="fonts/font22.fntdata"/><Relationship Id="rId52" Type="http://schemas.openxmlformats.org/officeDocument/2006/relationships/font" Target="fonts/font30.fntdata"/><Relationship Id="rId60" Type="http://schemas.openxmlformats.org/officeDocument/2006/relationships/font" Target="fonts/font38.fntdata"/><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font" Target="fonts/font17.fntdata"/></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6-24T14:54:42.919" idx="1">
    <p:pos x="172" y="339"/>
    <p:text>optional info from report on the right for reference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 everyone, we are Group 3 and we will presenting our end-to-end ML pipeline for predicting gifting behaviour in livestreams.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f23e04fc3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3f23e04fc3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25000"/>
              </a:lnSpc>
              <a:spcBef>
                <a:spcPts val="800"/>
              </a:spcBef>
              <a:spcAft>
                <a:spcPts val="0"/>
              </a:spcAft>
              <a:buNone/>
            </a:pPr>
            <a:r>
              <a:rPr lang="en" sz="1000">
                <a:solidFill>
                  <a:srgbClr val="1B1B1B"/>
                </a:solidFill>
                <a:latin typeface="Didact Gothic"/>
                <a:ea typeface="Didact Gothic"/>
                <a:cs typeface="Didact Gothic"/>
                <a:sym typeface="Didact Gothic"/>
              </a:rPr>
              <a:t>So, just as a recap, this project aims to build a binary classification model for Kuaishou to increase overall gifting revenue, by possibly using this model to offer discounts to some viewers.</a:t>
            </a:r>
            <a:endParaRPr sz="1000">
              <a:solidFill>
                <a:srgbClr val="1B1B1B"/>
              </a:solidFill>
              <a:latin typeface="Didact Gothic"/>
              <a:ea typeface="Didact Gothic"/>
              <a:cs typeface="Didact Gothic"/>
              <a:sym typeface="Didact Gothic"/>
            </a:endParaRPr>
          </a:p>
          <a:p>
            <a:pPr marL="0" lvl="0" indent="0" algn="l" rtl="0">
              <a:lnSpc>
                <a:spcPct val="125000"/>
              </a:lnSpc>
              <a:spcBef>
                <a:spcPts val="800"/>
              </a:spcBef>
              <a:spcAft>
                <a:spcPts val="0"/>
              </a:spcAft>
              <a:buNone/>
            </a:pPr>
            <a:r>
              <a:rPr lang="en" sz="1000">
                <a:solidFill>
                  <a:srgbClr val="1B1B1B"/>
                </a:solidFill>
                <a:latin typeface="Didact Gothic"/>
                <a:ea typeface="Didact Gothic"/>
                <a:cs typeface="Didact Gothic"/>
                <a:sym typeface="Didact Gothic"/>
              </a:rPr>
              <a:t>The problem statement is that our management team wants us to predict the gifting behaviour for 200 users. The catch is that there are 2 sets of data, historical and present, which are not only from different time frames but of vastly different formats as well.</a:t>
            </a:r>
            <a:endParaRPr sz="1000">
              <a:solidFill>
                <a:srgbClr val="1B1B1B"/>
              </a:solidFill>
              <a:latin typeface="Didact Gothic"/>
              <a:ea typeface="Didact Gothic"/>
              <a:cs typeface="Didact Gothic"/>
              <a:sym typeface="Didact Gothic"/>
            </a:endParaRPr>
          </a:p>
          <a:p>
            <a:pPr marL="0" lvl="0" indent="0" algn="l" rtl="0">
              <a:lnSpc>
                <a:spcPct val="125000"/>
              </a:lnSpc>
              <a:spcBef>
                <a:spcPts val="800"/>
              </a:spcBef>
              <a:spcAft>
                <a:spcPts val="0"/>
              </a:spcAft>
              <a:buNone/>
            </a:pPr>
            <a:r>
              <a:rPr lang="en" sz="1000">
                <a:solidFill>
                  <a:srgbClr val="1B1B1B"/>
                </a:solidFill>
                <a:latin typeface="Didact Gothic"/>
                <a:ea typeface="Didact Gothic"/>
                <a:cs typeface="Didact Gothic"/>
                <a:sym typeface="Didact Gothic"/>
              </a:rPr>
              <a:t>We need to find a way to not only integrate the 2 very distinct dataset formats, but also account for possible drifts, including data drift and concept drift.</a:t>
            </a:r>
            <a:endParaRPr sz="10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f24b041df0_3_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3f24b041df0_3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I will share a brief overview on our architecture.</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First, you’ll notice that we built 2 DAGs and a real-time inference pipeline.</a:t>
            </a:r>
            <a:endParaRPr/>
          </a:p>
          <a:p>
            <a:pPr marL="457200" lvl="0" indent="-298450" algn="l" rtl="0">
              <a:spcBef>
                <a:spcPts val="0"/>
              </a:spcBef>
              <a:spcAft>
                <a:spcPts val="0"/>
              </a:spcAft>
              <a:buSzPts val="1100"/>
              <a:buChar char="-"/>
            </a:pPr>
            <a:r>
              <a:rPr lang="en"/>
              <a:t>The 1st DAG is for training on the historical KuaiLive data.</a:t>
            </a:r>
            <a:endParaRPr/>
          </a:p>
          <a:p>
            <a:pPr marL="457200" lvl="0" indent="-298450" algn="l" rtl="0">
              <a:spcBef>
                <a:spcPts val="0"/>
              </a:spcBef>
              <a:spcAft>
                <a:spcPts val="0"/>
              </a:spcAft>
              <a:buSzPts val="1100"/>
              <a:buChar char="-"/>
            </a:pPr>
            <a:r>
              <a:rPr lang="en"/>
              <a:t>After that, when we deploy our model, we will follow the real-time inference pipeline for model predictions.</a:t>
            </a:r>
            <a:endParaRPr/>
          </a:p>
          <a:p>
            <a:pPr marL="457200" lvl="0" indent="-298450" algn="l" rtl="0">
              <a:spcBef>
                <a:spcPts val="0"/>
              </a:spcBef>
              <a:spcAft>
                <a:spcPts val="0"/>
              </a:spcAft>
              <a:buSzPts val="1100"/>
              <a:buChar char="-"/>
            </a:pPr>
            <a:r>
              <a:rPr lang="en"/>
              <a:t>And the 2nd DAG, is that at the end of the day, we need to perform some feature updates, which is especially key to update the rolling features for the next day.</a:t>
            </a:r>
            <a:endParaRPr/>
          </a:p>
          <a:p>
            <a:pPr marL="0" lvl="0" indent="0" algn="l" rtl="0">
              <a:spcBef>
                <a:spcPts val="0"/>
              </a:spcBef>
              <a:spcAft>
                <a:spcPts val="0"/>
              </a:spcAft>
              <a:buNone/>
            </a:pPr>
            <a:endParaRPr/>
          </a:p>
          <a:p>
            <a:pPr marL="0" lvl="0" indent="0" algn="l" rtl="0">
              <a:spcBef>
                <a:spcPts val="0"/>
              </a:spcBef>
              <a:spcAft>
                <a:spcPts val="0"/>
              </a:spcAft>
              <a:buNone/>
            </a:pPr>
            <a:endParaRPr strike="sngStrik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3f21a1a358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3f21a1a358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will use the Canary model as a deployment method.</a:t>
            </a:r>
            <a:endParaRPr/>
          </a:p>
          <a:p>
            <a:pPr marL="0" lvl="0" indent="0" algn="l" rtl="0">
              <a:spcBef>
                <a:spcPts val="0"/>
              </a:spcBef>
              <a:spcAft>
                <a:spcPts val="0"/>
              </a:spcAft>
              <a:buNone/>
            </a:pPr>
            <a:endParaRPr/>
          </a:p>
          <a:p>
            <a:pPr marL="0" lvl="0" indent="0" algn="l" rtl="0">
              <a:spcBef>
                <a:spcPts val="0"/>
              </a:spcBef>
              <a:spcAft>
                <a:spcPts val="0"/>
              </a:spcAft>
              <a:buNone/>
            </a:pPr>
            <a:r>
              <a:rPr lang="en"/>
              <a:t>Our p0 target is for PR-AUC lift, given that are target variable is extremely skewed, with a 1% gifting rate across all user-stream combinations.</a:t>
            </a:r>
            <a:endParaRPr/>
          </a:p>
          <a:p>
            <a:pPr marL="0" lvl="0" indent="0" algn="l" rtl="0">
              <a:spcBef>
                <a:spcPts val="0"/>
              </a:spcBef>
              <a:spcAft>
                <a:spcPts val="0"/>
              </a:spcAft>
              <a:buNone/>
            </a:pPr>
            <a:r>
              <a:rPr lang="en"/>
              <a:t>We will also monitor for ROC-AUC and other feature stability metrics.</a:t>
            </a:r>
            <a:endParaRPr/>
          </a:p>
          <a:p>
            <a:pPr marL="0" lvl="0" indent="0" algn="l" rtl="0">
              <a:spcBef>
                <a:spcPts val="0"/>
              </a:spcBef>
              <a:spcAft>
                <a:spcPts val="0"/>
              </a:spcAft>
              <a:buNone/>
            </a:pPr>
            <a:endParaRPr/>
          </a:p>
          <a:p>
            <a:pPr marL="0" lvl="0" indent="0" algn="l" rtl="0">
              <a:spcBef>
                <a:spcPts val="0"/>
              </a:spcBef>
              <a:spcAft>
                <a:spcPts val="0"/>
              </a:spcAft>
              <a:buNone/>
            </a:pPr>
            <a:r>
              <a:rPr lang="en"/>
              <a:t>And here we define some criteria and guidelines to retrain the model. This is primarily if if we fall into any of the red zones and we can pinpoint the cause of the drift.</a:t>
            </a:r>
            <a:endParaRPr/>
          </a:p>
          <a:p>
            <a:pPr marL="0" lvl="0" indent="0" algn="l" rtl="0">
              <a:spcBef>
                <a:spcPts val="0"/>
              </a:spcBef>
              <a:spcAft>
                <a:spcPts val="0"/>
              </a:spcAft>
              <a:buNone/>
            </a:pPr>
            <a:endParaRPr/>
          </a:p>
          <a:p>
            <a:pPr marL="0" lvl="0" indent="0" algn="l" rtl="0">
              <a:spcBef>
                <a:spcPts val="0"/>
              </a:spcBef>
              <a:spcAft>
                <a:spcPts val="0"/>
              </a:spcAft>
              <a:buNone/>
            </a:pPr>
            <a:r>
              <a:rPr lang="en"/>
              <a:t>Now I will let Gabriel take you through the feature engineering segment.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3ee6bdc32ff_6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3ee6bdc32ff_6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3ee6bdc32ff_6_1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6" name="Google Shape;1006;g3ee6bdc32ff_6_1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3ef4360afb8_2_1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2" name="Google Shape;1062;g3ef4360afb8_2_1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3ef4360afb8_2_2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3ef4360afb8_2_2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3ef4360afb8_2_16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3" name="Google Shape;1113;g3ef4360afb8_2_1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I will share a brief overview on our architecture.</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First, you’ll notice that we built 2 DAGs and a real-time inference pipeline.</a:t>
            </a:r>
            <a:endParaRPr/>
          </a:p>
          <a:p>
            <a:pPr marL="457200" lvl="0" indent="-298450" algn="l" rtl="0">
              <a:spcBef>
                <a:spcPts val="0"/>
              </a:spcBef>
              <a:spcAft>
                <a:spcPts val="0"/>
              </a:spcAft>
              <a:buSzPts val="1100"/>
              <a:buChar char="-"/>
            </a:pPr>
            <a:r>
              <a:rPr lang="en"/>
              <a:t>The 1st DAG is for training on the historical KuaiLive data.</a:t>
            </a:r>
            <a:endParaRPr/>
          </a:p>
          <a:p>
            <a:pPr marL="457200" lvl="0" indent="-298450" algn="l" rtl="0">
              <a:spcBef>
                <a:spcPts val="0"/>
              </a:spcBef>
              <a:spcAft>
                <a:spcPts val="0"/>
              </a:spcAft>
              <a:buSzPts val="1100"/>
              <a:buChar char="-"/>
            </a:pPr>
            <a:r>
              <a:rPr lang="en"/>
              <a:t>After that, when we deploy our model, we will follow the real-time inference pipeline for model predictions.</a:t>
            </a:r>
            <a:endParaRPr/>
          </a:p>
          <a:p>
            <a:pPr marL="457200" lvl="0" indent="-298450" algn="l" rtl="0">
              <a:spcBef>
                <a:spcPts val="0"/>
              </a:spcBef>
              <a:spcAft>
                <a:spcPts val="0"/>
              </a:spcAft>
              <a:buSzPts val="1100"/>
              <a:buChar char="-"/>
            </a:pPr>
            <a:r>
              <a:rPr lang="en"/>
              <a:t>And the 2nd DAG, is that at the end of the day, we need to perform some feature updates, which is especially key to update the rolling features for the next day.</a:t>
            </a:r>
            <a:endParaRPr/>
          </a:p>
          <a:p>
            <a:pPr marL="0" lvl="0" indent="0" algn="l" rtl="0">
              <a:spcBef>
                <a:spcPts val="0"/>
              </a:spcBef>
              <a:spcAft>
                <a:spcPts val="0"/>
              </a:spcAft>
              <a:buNone/>
            </a:pPr>
            <a:endParaRPr/>
          </a:p>
          <a:p>
            <a:pPr marL="0" lvl="0" indent="0" algn="l" rtl="0">
              <a:spcBef>
                <a:spcPts val="0"/>
              </a:spcBef>
              <a:spcAft>
                <a:spcPts val="0"/>
              </a:spcAft>
              <a:buNone/>
            </a:pPr>
            <a:endParaRPr strike="sngStrik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2"/>
        <p:cNvGrpSpPr/>
        <p:nvPr/>
      </p:nvGrpSpPr>
      <p:grpSpPr>
        <a:xfrm>
          <a:off x="0" y="0"/>
          <a:ext cx="0" cy="0"/>
          <a:chOff x="0" y="0"/>
          <a:chExt cx="0" cy="0"/>
        </a:xfrm>
      </p:grpSpPr>
      <p:sp>
        <p:nvSpPr>
          <p:cNvPr id="1273" name="Google Shape;1273;g3ee73b77622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4" name="Google Shape;1274;g3ee73b77622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DAG 1 is the starting point. It runs once - a single pipeline that takes our full historical KuaiLive dataset and turns it into a trained model sitting in the model bank.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As Zexel explained about our medallion architecture, </a:t>
            </a:r>
            <a:r>
              <a:rPr lang="en"/>
              <a:t>it moves through three ETL stages and then trains the model. After training, we run an OOT evaluation: we generate predictions and check performance on five held-out dates, May 21 to 25, 2025, which the model never saw during training. This tells us whether the model generalises before we use it in production. </a:t>
            </a:r>
            <a:endParaRPr/>
          </a:p>
          <a:p>
            <a:pPr marL="0" lvl="0" indent="0" algn="l" rtl="0">
              <a:spcBef>
                <a:spcPts val="0"/>
              </a:spcBef>
              <a:spcAft>
                <a:spcPts val="0"/>
              </a:spcAft>
              <a:buNone/>
            </a:pPr>
            <a:endParaRPr/>
          </a:p>
          <a:p>
            <a:pPr marL="0" lvl="0" indent="0" algn="l" rtl="0">
              <a:spcBef>
                <a:spcPts val="0"/>
              </a:spcBef>
              <a:spcAft>
                <a:spcPts val="0"/>
              </a:spcAft>
              <a:buNone/>
            </a:pPr>
            <a:r>
              <a:rPr lang="en"/>
              <a:t>The output of DAG 1 is a single file: a .pkl model in the model bank. The rest of the system is built on that file.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just" rtl="0">
              <a:lnSpc>
                <a:spcPct val="115000"/>
              </a:lnSpc>
              <a:spcBef>
                <a:spcPts val="0"/>
              </a:spcBef>
              <a:spcAft>
                <a:spcPts val="0"/>
              </a:spcAft>
              <a:buClr>
                <a:schemeClr val="dk1"/>
              </a:buClr>
              <a:buSzPts val="1100"/>
              <a:buFont typeface="Arial"/>
              <a:buNone/>
            </a:pPr>
            <a:r>
              <a:rPr lang="en" sz="1000">
                <a:solidFill>
                  <a:schemeClr val="dk1"/>
                </a:solidFill>
              </a:rPr>
              <a:t>XGBoost was chosen for this project due to its inference speed, robustness to outliers, built-in regularization to mitigate overfitting, and feature importance outputs for interpretability. Two models were trained for this project (refer to </a:t>
            </a:r>
            <a:r>
              <a:rPr lang="en" sz="1000">
                <a:solidFill>
                  <a:schemeClr val="dk1"/>
                </a:solidFill>
                <a:highlight>
                  <a:srgbClr val="00FFFF"/>
                </a:highlight>
              </a:rPr>
              <a:t>Section X</a:t>
            </a:r>
            <a:r>
              <a:rPr lang="en" sz="1000">
                <a:solidFill>
                  <a:schemeClr val="dk1"/>
                </a:solidFill>
              </a:rPr>
              <a:t>). As a non-parametric tree-based method, it effectively models complex relationships in large-scale tabular datasets (~3 million samples for Model 1, and ~1 million samples for Model 2). </a:t>
            </a:r>
            <a:endParaRPr sz="1000">
              <a:solidFill>
                <a:schemeClr val="dk1"/>
              </a:solidFill>
            </a:endParaRPr>
          </a:p>
          <a:p>
            <a:pPr marL="0" lvl="0" indent="0" algn="just" rtl="0">
              <a:lnSpc>
                <a:spcPct val="115000"/>
              </a:lnSpc>
              <a:spcBef>
                <a:spcPts val="0"/>
              </a:spcBef>
              <a:spcAft>
                <a:spcPts val="0"/>
              </a:spcAft>
              <a:buClr>
                <a:schemeClr val="dk1"/>
              </a:buClr>
              <a:buSzPts val="1100"/>
              <a:buFont typeface="Arial"/>
              <a:buNone/>
            </a:pPr>
            <a:endParaRPr sz="1000">
              <a:solidFill>
                <a:schemeClr val="dk1"/>
              </a:solidFill>
            </a:endParaRPr>
          </a:p>
          <a:p>
            <a:pPr marL="0" lvl="0" indent="0" algn="just" rtl="0">
              <a:lnSpc>
                <a:spcPct val="115000"/>
              </a:lnSpc>
              <a:spcBef>
                <a:spcPts val="0"/>
              </a:spcBef>
              <a:spcAft>
                <a:spcPts val="0"/>
              </a:spcAft>
              <a:buClr>
                <a:schemeClr val="dk1"/>
              </a:buClr>
              <a:buSzPts val="1100"/>
              <a:buFont typeface="Arial"/>
              <a:buNone/>
            </a:pPr>
            <a:r>
              <a:rPr lang="en" sz="1000">
                <a:solidFill>
                  <a:schemeClr val="dk1"/>
                </a:solidFill>
              </a:rPr>
              <a:t>Hyperparameters are tuned with RandomizedSearchCV over the validation set. The parameter space and tuned hyperparameters are shown in </a:t>
            </a:r>
            <a:r>
              <a:rPr lang="en" sz="1000">
                <a:solidFill>
                  <a:schemeClr val="dk1"/>
                </a:solidFill>
                <a:highlight>
                  <a:srgbClr val="00FFFF"/>
                </a:highlight>
              </a:rPr>
              <a:t>Table 1</a:t>
            </a:r>
            <a:r>
              <a:rPr lang="en" sz="1000">
                <a:solidFill>
                  <a:schemeClr val="dk1"/>
                </a:solidFill>
              </a:rPr>
              <a:t>. Class imbalance is handled with scale_pos_weight set to the train positive rate. To improve probability calibration, Platt scaling (sigmoid calibration) was applied by fitting a logistic regression model to the validation-set predictions. Test and OOT set remain clean holdouts. Gain-based feature importance is recorded for interpretability. </a:t>
            </a:r>
            <a:endParaRPr sz="1000">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g3f24b041df0_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7" name="Google Shape;1367;g3f24b041df0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2"/>
        <p:cNvGrpSpPr/>
        <p:nvPr/>
      </p:nvGrpSpPr>
      <p:grpSpPr>
        <a:xfrm>
          <a:off x="0" y="0"/>
          <a:ext cx="0" cy="0"/>
          <a:chOff x="0" y="0"/>
          <a:chExt cx="0" cy="0"/>
        </a:xfrm>
      </p:grpSpPr>
      <p:sp>
        <p:nvSpPr>
          <p:cNvPr id="1503" name="Google Shape;1503;g3ef47d86252_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4" name="Google Shape;1504;g3ef47d86252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Batch plane:   ml_train → model_bank; ml_monitor → drift? → retrain → promote → new model_bank</a:t>
            </a:r>
            <a:br>
              <a:rPr lang="en">
                <a:solidFill>
                  <a:schemeClr val="dk1"/>
                </a:solidFill>
              </a:rPr>
            </a:b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	resolve_active_model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etl_bronze  ← reads NDJSON event tape files from disk (not Kafka)</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[bronze_user, bronze_room, bronze_like, bronze_gift, bronze_comment]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etl_silver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[silver_user, silver_room, silver_like, silver_gift, silver_comment]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etl_gold  ← 30-day rolling window, --inference mode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[gold_feature_static, gold_feature_rolling, gold_feature_realtime]  +  gold_label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ml_predict ──────────────────────────────────────────────────────── (joined)</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gold_pred + gold_label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ml_monitor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manual_review</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manual_retrain  ← only executes on 2025-09-20</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canary_deployment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[promote_model / rollback_model]</a:t>
            </a:r>
            <a:endParaRPr>
              <a:solidFill>
                <a:schemeClr val="dk1"/>
              </a:solidFill>
            </a:endParaRPr>
          </a:p>
          <a:p>
            <a:pPr marL="457200" lvl="0" indent="-298450" algn="l" rtl="0">
              <a:spcBef>
                <a:spcPts val="0"/>
              </a:spcBef>
              <a:spcAft>
                <a:spcPts val="0"/>
              </a:spcAft>
              <a:buClr>
                <a:schemeClr val="dk1"/>
              </a:buClr>
              <a:buSzPts val="1100"/>
              <a:buChar char="-"/>
            </a:pPr>
            <a:endParaRPr>
              <a:solidFill>
                <a:schemeClr val="dk1"/>
              </a:solidFill>
            </a:endParaRPr>
          </a:p>
          <a:p>
            <a:pPr marL="457200" lvl="0" indent="-298450" algn="l" rtl="0">
              <a:spcBef>
                <a:spcPts val="0"/>
              </a:spcBef>
              <a:spcAft>
                <a:spcPts val="0"/>
              </a:spcAft>
              <a:buClr>
                <a:schemeClr val="dk1"/>
              </a:buClr>
              <a:buSzPts val="1100"/>
              <a:buChar char="-"/>
            </a:pP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Scheduled nightly, with catchup from Sep 1 → Dec 2, 2025</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Purpose: Daily production inference pipeline with model governance — predicts gifts, monitors drift, and includes a one-time retrain + promotion flow on Sep 20, 2025.</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DAG 2 handles the day-to-day operation. It runs every night at 11:59 PM, from September 1st through December 2nd. Catchup is enabled, so every day in that window gets processed even if the scheduler was down.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One thing worth pointing out: DAG 2 doesn't start with a fixed model. The first task — </a:t>
            </a:r>
            <a:r>
              <a:rPr lang="en">
                <a:solidFill>
                  <a:srgbClr val="188038"/>
                </a:solidFill>
                <a:latin typeface="Roboto Mono"/>
                <a:ea typeface="Roboto Mono"/>
                <a:cs typeface="Roboto Mono"/>
                <a:sym typeface="Roboto Mono"/>
              </a:rPr>
              <a:t>resolve_active_model</a:t>
            </a:r>
            <a:r>
              <a:rPr lang="en">
                <a:solidFill>
                  <a:schemeClr val="dk1"/>
                </a:solidFill>
              </a:rPr>
              <a:t> — decides at runtime which model to use for that day's run. Before September 21st, it uses the KuaiLive model from DAG 1. From September 21st onward, it switches to the new Omni model. That choice is passed downstream through Airflow's XCom, so both the prediction and monitoring steps use the right model without anyone stepping in.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pipeline runs daily inference, and then comes the governance step. On September 20th specifically, a retrain runs on Omni data collected since September 1st. The new model goes through canary deployment, and the team makes a deliberate promote-or-rollback decision. That's why September 21st is the promotion date — it's a planned handover, not an automatic swap.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depends_on_past=True</a:t>
            </a:r>
            <a:r>
              <a:rPr lang="en">
                <a:solidFill>
                  <a:schemeClr val="dk1"/>
                </a:solidFill>
              </a:rPr>
              <a:t> means each day's run has to succeed before the next one starts — which keeps the feature store and predictions consistent and stops a failed day from affecting the next one.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u="sng">
                <a:solidFill>
                  <a:schemeClr val="dk1"/>
                </a:solidFill>
              </a:rPr>
              <a:t>Key Talking Points:</a:t>
            </a:r>
            <a:endParaRPr b="1" u="sng">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Nightly schedule with catchup (59 23 * * *, catchup=True, max_active_runs=1) — processes every day in the Sep 1–Dec 2 window sequentially, one run at a time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Dynamic model selection via resolve_active_model — XCom passes the model name to both ml_predict and ml_monitor; the cutover on Sep 21 is automatic based on run date, not a config change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depends_on_past=True — enforces sequential daily runs; a failed day blocks the next, preserving data consistency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One-time retrain is embedded in the DAG — manual_retrain runs only when ds == 2025-09-20, skips all other days with an explicit log message; the training window is fixed at Sep 1–20</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Governance is explicit — manual_review → manual_retrain → canary_deployment → promote_model / rollback_model is a deliberate human-in-the-loop pattern, not fully automated; the team retains control over promotion</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9"/>
        <p:cNvGrpSpPr/>
        <p:nvPr/>
      </p:nvGrpSpPr>
      <p:grpSpPr>
        <a:xfrm>
          <a:off x="0" y="0"/>
          <a:ext cx="0" cy="0"/>
          <a:chOff x="0" y="0"/>
          <a:chExt cx="0" cy="0"/>
        </a:xfrm>
      </p:grpSpPr>
      <p:sp>
        <p:nvSpPr>
          <p:cNvPr id="1590" name="Google Shape;1590;g3ef47d86252_6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1" name="Google Shape;1591;g3ef47d86252_6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Batch plane:   ml_train → model_bank; ml_monitor → drift? → retrain → promote → new model_bank</a:t>
            </a:r>
            <a:br>
              <a:rPr lang="en">
                <a:solidFill>
                  <a:schemeClr val="dk1"/>
                </a:solidFill>
              </a:rPr>
            </a:b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	resolve_active_model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etl_bronze  ← reads NDJSON event tape files from disk (not Kafka)</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[bronze_user, bronze_room, bronze_like, bronze_gift, bronze_comment]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etl_silver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[silver_user, silver_room, silver_like, silver_gift, silver_comment]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etl_gold  ← 30-day rolling window, --inference mode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[gold_feature_static, gold_feature_rolling, gold_feature_realtime]  +  gold_label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ml_predict ──────────────────────────────────────────────────────── (joined)</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gold_pred + gold_label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ml_monitor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manual_review</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manual_retrain  ← only executes on 2025-09-20</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canary_deployment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[promote_model / rollback_model]</a:t>
            </a:r>
            <a:endParaRPr>
              <a:solidFill>
                <a:schemeClr val="dk1"/>
              </a:solidFill>
            </a:endParaRPr>
          </a:p>
          <a:p>
            <a:pPr marL="457200" lvl="0" indent="-298450" algn="l" rtl="0">
              <a:spcBef>
                <a:spcPts val="0"/>
              </a:spcBef>
              <a:spcAft>
                <a:spcPts val="0"/>
              </a:spcAft>
              <a:buClr>
                <a:schemeClr val="dk1"/>
              </a:buClr>
              <a:buSzPts val="1100"/>
              <a:buChar char="-"/>
            </a:pPr>
            <a:endParaRPr>
              <a:solidFill>
                <a:schemeClr val="dk1"/>
              </a:solidFill>
            </a:endParaRPr>
          </a:p>
          <a:p>
            <a:pPr marL="457200" lvl="0" indent="-298450" algn="l" rtl="0">
              <a:spcBef>
                <a:spcPts val="0"/>
              </a:spcBef>
              <a:spcAft>
                <a:spcPts val="0"/>
              </a:spcAft>
              <a:buClr>
                <a:schemeClr val="dk1"/>
              </a:buClr>
              <a:buSzPts val="1100"/>
              <a:buChar char="-"/>
            </a:pP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Scheduled nightly, with catchup from Sep 1 → Dec 2, 2025</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Purpose: Daily production inference pipeline with model governance — predicts gifts, monitors drift, and includes a one-time retrain + promotion flow on Sep 20, 2025.</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DAG 2 handles the day-to-day operation. It runs every night at 11:59 PM, from September 1st through December 2nd. Catchup is enabled, so every day in that window gets processed even if the scheduler was down.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One thing worth pointing out: DAG 2 doesn't start with a fixed model. The first task — </a:t>
            </a:r>
            <a:r>
              <a:rPr lang="en">
                <a:solidFill>
                  <a:srgbClr val="188038"/>
                </a:solidFill>
                <a:latin typeface="Roboto Mono"/>
                <a:ea typeface="Roboto Mono"/>
                <a:cs typeface="Roboto Mono"/>
                <a:sym typeface="Roboto Mono"/>
              </a:rPr>
              <a:t>resolve_active_model</a:t>
            </a:r>
            <a:r>
              <a:rPr lang="en">
                <a:solidFill>
                  <a:schemeClr val="dk1"/>
                </a:solidFill>
              </a:rPr>
              <a:t> — decides at runtime which model to use for that day's run. Before September 21st, it uses the KuaiLive model from DAG 1. From September 21st onward, it switches to the new Omni model. That choice is passed downstream through Airflow's XCom, so both the prediction and monitoring steps use the right model without anyone stepping in.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pipeline runs daily inference, and then comes the governance step. On September 20th specifically, a retrain runs on Omni data collected since September 1st. The new model goes through canary deployment, and the team makes a deliberate promote-or-rollback decision. That's why September 21st is the promotion date — it's a planned handover, not an automatic swap.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depends_on_past=True</a:t>
            </a:r>
            <a:r>
              <a:rPr lang="en">
                <a:solidFill>
                  <a:schemeClr val="dk1"/>
                </a:solidFill>
              </a:rPr>
              <a:t> means each day's run has to succeed before the next one starts — which keeps the feature store and predictions consistent and stops a failed day from affecting the next one.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u="sng">
                <a:solidFill>
                  <a:schemeClr val="dk1"/>
                </a:solidFill>
              </a:rPr>
              <a:t>Key Talking Points:</a:t>
            </a:r>
            <a:endParaRPr b="1" u="sng">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Nightly schedule with catchup (59 23 * * *, catchup=True, max_active_runs=1) — processes every day in the Sep 1–Dec 2 window sequentially, one run at a time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Dynamic model selection via resolve_active_model — XCom passes the model name to both ml_predict and ml_monitor; the cutover on Sep 21 is automatic based on run date, not a config change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depends_on_past=True — enforces sequential daily runs; a failed day blocks the next, preserving data consistency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One-time retrain is embedded in the DAG — manual_retrain runs only when ds == 2025-09-20, skips all other days with an explicit log message; the training window is fixed at Sep 1–20</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Governance is explicit — manual_review → manual_retrain → canary_deployment → promote_model / rollback_model is a deliberate human-in-the-loop pattern, not fully automated; the team retains control over promotion</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2"/>
        <p:cNvGrpSpPr/>
        <p:nvPr/>
      </p:nvGrpSpPr>
      <p:grpSpPr>
        <a:xfrm>
          <a:off x="0" y="0"/>
          <a:ext cx="0" cy="0"/>
          <a:chOff x="0" y="0"/>
          <a:chExt cx="0" cy="0"/>
        </a:xfrm>
      </p:grpSpPr>
      <p:sp>
        <p:nvSpPr>
          <p:cNvPr id="1693" name="Google Shape;1693;g3ef47d86252_6_4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4" name="Google Shape;1694;g3ef47d86252_6_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Batch plane:   ml_train → model_bank; ml_monitor → drift? → retrain → promote → new model_bank</a:t>
            </a:r>
            <a:br>
              <a:rPr lang="en">
                <a:solidFill>
                  <a:schemeClr val="dk1"/>
                </a:solidFill>
              </a:rPr>
            </a:b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	resolve_active_model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etl_bronze  ← reads NDJSON event tape files from disk (not Kafka)</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[bronze_user, bronze_room, bronze_like, bronze_gift, bronze_comment]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etl_silver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[silver_user, silver_room, silver_like, silver_gift, silver_comment]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etl_gold  ← 30-day rolling window, --inference mode</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[gold_feature_static, gold_feature_rolling, gold_feature_realtime]  +  gold_label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ml_predict ──────────────────────────────────────────────────────── (joined)</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gold_pred + gold_label</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ml_monitor</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manual_review</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manual_retrain  ← only executes on 2025-09-20</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canary_deployment</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       │</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[promote_model / rollback_model]</a:t>
            </a:r>
            <a:endParaRPr>
              <a:solidFill>
                <a:schemeClr val="dk1"/>
              </a:solidFill>
            </a:endParaRPr>
          </a:p>
          <a:p>
            <a:pPr marL="457200" lvl="0" indent="-298450" algn="l" rtl="0">
              <a:spcBef>
                <a:spcPts val="0"/>
              </a:spcBef>
              <a:spcAft>
                <a:spcPts val="0"/>
              </a:spcAft>
              <a:buClr>
                <a:schemeClr val="dk1"/>
              </a:buClr>
              <a:buSzPts val="1100"/>
              <a:buChar char="-"/>
            </a:pPr>
            <a:endParaRPr>
              <a:solidFill>
                <a:schemeClr val="dk1"/>
              </a:solidFill>
            </a:endParaRPr>
          </a:p>
          <a:p>
            <a:pPr marL="457200" lvl="0" indent="-298450" algn="l" rtl="0">
              <a:spcBef>
                <a:spcPts val="0"/>
              </a:spcBef>
              <a:spcAft>
                <a:spcPts val="0"/>
              </a:spcAft>
              <a:buClr>
                <a:schemeClr val="dk1"/>
              </a:buClr>
              <a:buSzPts val="1100"/>
              <a:buChar char="-"/>
            </a:pP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Scheduled nightly, with catchup from Sep 1 → Dec 2, 2025</a:t>
            </a:r>
            <a:endParaRPr>
              <a:solidFill>
                <a:schemeClr val="dk1"/>
              </a:solidFill>
            </a:endParaRPr>
          </a:p>
          <a:p>
            <a:pPr marL="457200" lvl="0" indent="-298450" algn="l" rtl="0">
              <a:spcBef>
                <a:spcPts val="0"/>
              </a:spcBef>
              <a:spcAft>
                <a:spcPts val="0"/>
              </a:spcAft>
              <a:buClr>
                <a:schemeClr val="dk1"/>
              </a:buClr>
              <a:buSzPts val="1100"/>
              <a:buChar char="-"/>
            </a:pPr>
            <a:r>
              <a:rPr lang="en">
                <a:solidFill>
                  <a:schemeClr val="dk1"/>
                </a:solidFill>
              </a:rPr>
              <a:t>Purpose: Daily production inference pipeline with model governance — predicts gifts, monitors drift, and includes a one-time retrain + promotion flow on Sep 20, 2025.</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DAG 2 handles the day-to-day operation. It runs every night at 11:59 PM, from September 1st through December 2nd. Catchup is enabled, so every day in that window gets processed even if the scheduler was down.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One thing worth pointing out: DAG 2 doesn't start with a fixed model. The first task — </a:t>
            </a:r>
            <a:r>
              <a:rPr lang="en">
                <a:solidFill>
                  <a:srgbClr val="188038"/>
                </a:solidFill>
                <a:latin typeface="Roboto Mono"/>
                <a:ea typeface="Roboto Mono"/>
                <a:cs typeface="Roboto Mono"/>
                <a:sym typeface="Roboto Mono"/>
              </a:rPr>
              <a:t>resolve_active_model</a:t>
            </a:r>
            <a:r>
              <a:rPr lang="en">
                <a:solidFill>
                  <a:schemeClr val="dk1"/>
                </a:solidFill>
              </a:rPr>
              <a:t> — decides at runtime which model to use for that day's run. Before September 21st, it uses the KuaiLive model from DAG 1. From September 21st onward, it switches to the new Omni model. That choice is passed downstream through Airflow's XCom, so both the prediction and monitoring steps use the right model without anyone stepping in.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 pipeline runs daily inference, and then comes the governance step. On September 20th specifically, a retrain runs on Omni data collected since September 1st. The new model goes through canary deployment, and the team makes a deliberate promote-or-rollback decision. That's why September 21st is the promotion date — it's a planned handover, not an automatic swap.</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depends_on_past=True</a:t>
            </a:r>
            <a:r>
              <a:rPr lang="en">
                <a:solidFill>
                  <a:schemeClr val="dk1"/>
                </a:solidFill>
              </a:rPr>
              <a:t> means each day's run has to succeed before the next one starts — which keeps the feature store and predictions consistent and stops a failed day from affecting the next one.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u="sng">
                <a:solidFill>
                  <a:schemeClr val="dk1"/>
                </a:solidFill>
              </a:rPr>
              <a:t>Key Talking Points:</a:t>
            </a:r>
            <a:endParaRPr b="1" u="sng">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Nightly schedule with catchup (59 23 * * *, catchup=True, max_active_runs=1) — processes every day in the Sep 1–Dec 2 window sequentially, one run at a time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Dynamic model selection via resolve_active_model — XCom passes the model name to both ml_predict and ml_monitor; the cutover on Sep 21 is automatic based on run date, not a config change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depends_on_past=True — enforces sequential daily runs; a failed day blocks the next, preserving data consistency</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One-time retrain is embedded in the DAG — manual_retrain runs only when ds == 2025-09-20, skips all other days with an explicit log message; the training window is fixed at Sep 1–20</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Governance is explicit — manual_review → manual_retrain → canary_deployment → promote_model / rollback_model is a deliberate human-in-the-loop pattern, not fully automated; the team retains control over promotion</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8"/>
        <p:cNvGrpSpPr/>
        <p:nvPr/>
      </p:nvGrpSpPr>
      <p:grpSpPr>
        <a:xfrm>
          <a:off x="0" y="0"/>
          <a:ext cx="0" cy="0"/>
          <a:chOff x="0" y="0"/>
          <a:chExt cx="0" cy="0"/>
        </a:xfrm>
      </p:grpSpPr>
      <p:sp>
        <p:nvSpPr>
          <p:cNvPr id="1999" name="Google Shape;1999;g3f24b041df0_3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0" name="Google Shape;2000;g3f24b041df0_3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t>To test our model, we simulated 4 stages. We first train a model on historical data in May. By September, a new dataset comes in and data drift is expected to degrade performance. After collecting data for 20 days, we retrain a new model on September 20. From September 21 onward, we switch to the new model and hope that the performance recovers. Throughout these stages, we’ll monitor performance and stability. While not presented today, will also monitor volumes for easy tracing of data drift issues, and monitor bias in different demographic groups to ensure model fairness. </a:t>
            </a:r>
            <a:endParaRPr/>
          </a:p>
          <a:p>
            <a:pPr marL="0" lvl="0" indent="0" algn="l" rtl="0">
              <a:lnSpc>
                <a:spcPct val="115000"/>
              </a:lnSpc>
              <a:spcBef>
                <a:spcPts val="1200"/>
              </a:spcBef>
              <a:spcAft>
                <a:spcPts val="120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5"/>
        <p:cNvGrpSpPr/>
        <p:nvPr/>
      </p:nvGrpSpPr>
      <p:grpSpPr>
        <a:xfrm>
          <a:off x="0" y="0"/>
          <a:ext cx="0" cy="0"/>
          <a:chOff x="0" y="0"/>
          <a:chExt cx="0" cy="0"/>
        </a:xfrm>
      </p:grpSpPr>
      <p:sp>
        <p:nvSpPr>
          <p:cNvPr id="2006" name="Google Shape;2006;g3f24b041df0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7" name="Google Shape;2007;g3f24b041df0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solidFill>
                  <a:schemeClr val="dk1"/>
                </a:solidFill>
              </a:rPr>
              <a:t>There’s a lot of information here, but most of the metrics tell the same story. Let’s focus on the bottom-left plot showing AUC, which everyone is familiar with. In Stage 1, when the first model is deployed, we can see that the model performs reasonably well. But when the new dataset comes in during Stage 2, performance drops significantly and triggers alerts. After retraining and promoting a new model on September 20, performance improves again in Stage 4. </a:t>
            </a:r>
            <a:endParaRPr>
              <a:solidFill>
                <a:schemeClr val="dk1"/>
              </a:solidFill>
            </a:endParaRPr>
          </a:p>
          <a:p>
            <a:pPr marL="0" lvl="0" indent="0" algn="l" rtl="0">
              <a:lnSpc>
                <a:spcPct val="115000"/>
              </a:lnSpc>
              <a:spcBef>
                <a:spcPts val="1200"/>
              </a:spcBef>
              <a:spcAft>
                <a:spcPts val="0"/>
              </a:spcAft>
              <a:buNone/>
            </a:pPr>
            <a:r>
              <a:rPr lang="en">
                <a:solidFill>
                  <a:schemeClr val="dk1"/>
                </a:solidFill>
              </a:rPr>
              <a:t>You'll also notice a performance drop during Golden Week. During that period, live streaming and gifting was almost non-existent, which affected the model’s performance. However, this was temporary and only generated warning signals under our governance workflow. </a:t>
            </a:r>
            <a:endParaRPr>
              <a:solidFill>
                <a:schemeClr val="dk1"/>
              </a:solidFill>
            </a:endParaRPr>
          </a:p>
          <a:p>
            <a:pPr marL="0" lvl="0" indent="0" algn="l" rtl="0">
              <a:lnSpc>
                <a:spcPct val="115000"/>
              </a:lnSpc>
              <a:spcBef>
                <a:spcPts val="1200"/>
              </a:spcBef>
              <a:spcAft>
                <a:spcPts val="1200"/>
              </a:spcAft>
              <a:buNone/>
            </a:pPr>
            <a:r>
              <a:rPr lang="en">
                <a:solidFill>
                  <a:schemeClr val="dk1"/>
                </a:solidFill>
              </a:rPr>
              <a:t>For stability monitoring on the right, PSI remains relatively healthy throughout, except during the cross-domain period. CSI, on the other hand, sends daily warnings. As it remains healthy when evaluated over a rolling 7-day window and model performance is acceptable, the live-streaming features may simply be highly variable, and we might want to lower the thresholds.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5"/>
        <p:cNvGrpSpPr/>
        <p:nvPr/>
      </p:nvGrpSpPr>
      <p:grpSpPr>
        <a:xfrm>
          <a:off x="0" y="0"/>
          <a:ext cx="0" cy="0"/>
          <a:chOff x="0" y="0"/>
          <a:chExt cx="0" cy="0"/>
        </a:xfrm>
      </p:grpSpPr>
      <p:sp>
        <p:nvSpPr>
          <p:cNvPr id="2116" name="Google Shape;2116;g3f21a1a3581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7" name="Google Shape;2117;g3f21a1a3581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4.xml"/><Relationship Id="rId4" Type="http://schemas.openxmlformats.org/officeDocument/2006/relationships/hyperlink" Target="http://bit.ly/2TtBDfr" TargetMode="Externa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73500" y="539500"/>
            <a:ext cx="8597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273500" y="1215750"/>
            <a:ext cx="8597100" cy="12240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1" name="Google Shape;21;p4"/>
          <p:cNvGrpSpPr/>
          <p:nvPr/>
        </p:nvGrpSpPr>
        <p:grpSpPr>
          <a:xfrm>
            <a:off x="0" y="0"/>
            <a:ext cx="9144000" cy="312600"/>
            <a:chOff x="0" y="0"/>
            <a:chExt cx="9144000" cy="312600"/>
          </a:xfrm>
        </p:grpSpPr>
        <p:sp>
          <p:nvSpPr>
            <p:cNvPr id="22" name="Google Shape;22;p4"/>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3" name="Google Shape;23;p4"/>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 name="Google Shape;68;p13"/>
          <p:cNvSpPr txBox="1">
            <a:spLocks noGrp="1"/>
          </p:cNvSpPr>
          <p:nvPr>
            <p:ph type="title" idx="2" hasCustomPrompt="1"/>
          </p:nvPr>
        </p:nvSpPr>
        <p:spPr>
          <a:xfrm>
            <a:off x="72000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title" idx="3" hasCustomPrompt="1"/>
          </p:nvPr>
        </p:nvSpPr>
        <p:spPr>
          <a:xfrm>
            <a:off x="72000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 name="Google Shape;70;p13"/>
          <p:cNvSpPr txBox="1">
            <a:spLocks noGrp="1"/>
          </p:cNvSpPr>
          <p:nvPr>
            <p:ph type="title" idx="4" hasCustomPrompt="1"/>
          </p:nvPr>
        </p:nvSpPr>
        <p:spPr>
          <a:xfrm>
            <a:off x="3419275"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title" idx="5" hasCustomPrompt="1"/>
          </p:nvPr>
        </p:nvSpPr>
        <p:spPr>
          <a:xfrm>
            <a:off x="3419275"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6" hasCustomPrompt="1"/>
          </p:nvPr>
        </p:nvSpPr>
        <p:spPr>
          <a:xfrm>
            <a:off x="611855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title" idx="7" hasCustomPrompt="1"/>
          </p:nvPr>
        </p:nvSpPr>
        <p:spPr>
          <a:xfrm>
            <a:off x="611855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subTitle" idx="1"/>
          </p:nvPr>
        </p:nvSpPr>
        <p:spPr>
          <a:xfrm>
            <a:off x="72000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5" name="Google Shape;75;p13"/>
          <p:cNvSpPr txBox="1">
            <a:spLocks noGrp="1"/>
          </p:cNvSpPr>
          <p:nvPr>
            <p:ph type="subTitle" idx="8"/>
          </p:nvPr>
        </p:nvSpPr>
        <p:spPr>
          <a:xfrm>
            <a:off x="3419275"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6" name="Google Shape;76;p13"/>
          <p:cNvSpPr txBox="1">
            <a:spLocks noGrp="1"/>
          </p:cNvSpPr>
          <p:nvPr>
            <p:ph type="subTitle" idx="9"/>
          </p:nvPr>
        </p:nvSpPr>
        <p:spPr>
          <a:xfrm>
            <a:off x="611855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7" name="Google Shape;77;p13"/>
          <p:cNvSpPr txBox="1">
            <a:spLocks noGrp="1"/>
          </p:cNvSpPr>
          <p:nvPr>
            <p:ph type="subTitle" idx="13"/>
          </p:nvPr>
        </p:nvSpPr>
        <p:spPr>
          <a:xfrm>
            <a:off x="720000" y="3726825"/>
            <a:ext cx="23814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8" name="Google Shape;78;p13"/>
          <p:cNvSpPr txBox="1">
            <a:spLocks noGrp="1"/>
          </p:cNvSpPr>
          <p:nvPr>
            <p:ph type="subTitle" idx="14"/>
          </p:nvPr>
        </p:nvSpPr>
        <p:spPr>
          <a:xfrm>
            <a:off x="3419275" y="372682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9" name="Google Shape;79;p13"/>
          <p:cNvSpPr txBox="1">
            <a:spLocks noGrp="1"/>
          </p:cNvSpPr>
          <p:nvPr>
            <p:ph type="subTitle" idx="15"/>
          </p:nvPr>
        </p:nvSpPr>
        <p:spPr>
          <a:xfrm>
            <a:off x="6118550" y="3726825"/>
            <a:ext cx="24792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80" name="Google Shape;80;p13"/>
          <p:cNvGrpSpPr/>
          <p:nvPr/>
        </p:nvGrpSpPr>
        <p:grpSpPr>
          <a:xfrm>
            <a:off x="0" y="0"/>
            <a:ext cx="9144000" cy="312600"/>
            <a:chOff x="0" y="0"/>
            <a:chExt cx="9144000" cy="312600"/>
          </a:xfrm>
        </p:grpSpPr>
        <p:sp>
          <p:nvSpPr>
            <p:cNvPr id="81" name="Google Shape;81;p13"/>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82" name="Google Shape;82;p13"/>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1355163" y="731200"/>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5" name="Google Shape;85;p14"/>
          <p:cNvSpPr txBox="1">
            <a:spLocks noGrp="1"/>
          </p:cNvSpPr>
          <p:nvPr>
            <p:ph type="subTitle" idx="1"/>
          </p:nvPr>
        </p:nvSpPr>
        <p:spPr>
          <a:xfrm>
            <a:off x="1355125" y="1984450"/>
            <a:ext cx="44481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6" name="Google Shape;86;p14"/>
          <p:cNvSpPr txBox="1"/>
          <p:nvPr/>
        </p:nvSpPr>
        <p:spPr>
          <a:xfrm>
            <a:off x="1355125" y="3611950"/>
            <a:ext cx="48105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Didact Gothic"/>
                <a:ea typeface="Didact Gothic"/>
                <a:cs typeface="Didact Gothic"/>
                <a:sym typeface="Didact Gothic"/>
              </a:rPr>
              <a:t>CREDITS:</a:t>
            </a:r>
            <a:r>
              <a:rPr lang="en" sz="1000">
                <a:solidFill>
                  <a:schemeClr val="dk1"/>
                </a:solidFill>
                <a:latin typeface="Didact Gothic"/>
                <a:ea typeface="Didact Gothic"/>
                <a:cs typeface="Didact Gothic"/>
                <a:sym typeface="Didact Gothic"/>
              </a:rPr>
              <a:t> This presentation template was created by </a:t>
            </a:r>
            <a:r>
              <a:rPr lang="en" sz="1000" b="1" u="sng">
                <a:solidFill>
                  <a:schemeClr val="dk1"/>
                </a:solidFill>
                <a:latin typeface="Didact Gothic"/>
                <a:ea typeface="Didact Gothic"/>
                <a:cs typeface="Didact Gothic"/>
                <a:sym typeface="Didact Gothic"/>
                <a:hlinkClick r:id="rId2">
                  <a:extLst>
                    <a:ext uri="{A12FA001-AC4F-418D-AE19-62706E023703}">
                      <ahyp:hlinkClr xmlns:ahyp="http://schemas.microsoft.com/office/drawing/2018/hyperlinkcolor" val="tx"/>
                    </a:ext>
                  </a:extLst>
                </a:hlinkClick>
              </a:rPr>
              <a:t>Slidesgo</a:t>
            </a:r>
            <a:r>
              <a:rPr lang="en" sz="1000">
                <a:solidFill>
                  <a:schemeClr val="dk1"/>
                </a:solidFill>
                <a:latin typeface="Didact Gothic"/>
                <a:ea typeface="Didact Gothic"/>
                <a:cs typeface="Didact Gothic"/>
                <a:sym typeface="Didact Gothic"/>
              </a:rPr>
              <a:t>, and includes icons by </a:t>
            </a:r>
            <a:r>
              <a:rPr lang="en" sz="1000" b="1" u="sng">
                <a:solidFill>
                  <a:schemeClr val="dk1"/>
                </a:solid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Flaticon</a:t>
            </a:r>
            <a:r>
              <a:rPr lang="en" sz="1000">
                <a:solidFill>
                  <a:schemeClr val="dk1"/>
                </a:solidFill>
                <a:latin typeface="Didact Gothic"/>
                <a:ea typeface="Didact Gothic"/>
                <a:cs typeface="Didact Gothic"/>
                <a:sym typeface="Didact Gothic"/>
              </a:rPr>
              <a:t>, and infographics &amp; images by </a:t>
            </a:r>
            <a:r>
              <a:rPr lang="en" sz="1000" b="1" u="sng">
                <a:solidFill>
                  <a:schemeClr val="dk1"/>
                </a:solid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Didact Gothic"/>
                <a:ea typeface="Didact Gothic"/>
                <a:cs typeface="Didact Gothic"/>
                <a:sym typeface="Didact Gothic"/>
              </a:rPr>
              <a:t> </a:t>
            </a:r>
            <a:endParaRPr sz="1000" b="1" u="sng">
              <a:solidFill>
                <a:schemeClr val="dk1"/>
              </a:solidFill>
              <a:latin typeface="Didact Gothic"/>
              <a:ea typeface="Didact Gothic"/>
              <a:cs typeface="Didact Gothic"/>
              <a:sym typeface="Didact Gothic"/>
            </a:endParaRPr>
          </a:p>
        </p:txBody>
      </p:sp>
      <p:grpSp>
        <p:nvGrpSpPr>
          <p:cNvPr id="87" name="Google Shape;87;p14"/>
          <p:cNvGrpSpPr/>
          <p:nvPr/>
        </p:nvGrpSpPr>
        <p:grpSpPr>
          <a:xfrm>
            <a:off x="-8400" y="0"/>
            <a:ext cx="728475" cy="5163250"/>
            <a:chOff x="-8400" y="0"/>
            <a:chExt cx="728475" cy="5163250"/>
          </a:xfrm>
        </p:grpSpPr>
        <p:sp>
          <p:nvSpPr>
            <p:cNvPr id="88" name="Google Shape;88;p14"/>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89" name="Google Shape;89;p14"/>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0"/>
        <p:cNvGrpSpPr/>
        <p:nvPr/>
      </p:nvGrpSpPr>
      <p:grpSpPr>
        <a:xfrm>
          <a:off x="0" y="0"/>
          <a:ext cx="0" cy="0"/>
          <a:chOff x="0" y="0"/>
          <a:chExt cx="0" cy="0"/>
        </a:xfrm>
      </p:grpSpPr>
      <p:grpSp>
        <p:nvGrpSpPr>
          <p:cNvPr id="91" name="Google Shape;91;p15"/>
          <p:cNvGrpSpPr/>
          <p:nvPr/>
        </p:nvGrpSpPr>
        <p:grpSpPr>
          <a:xfrm rot="10800000">
            <a:off x="8415525" y="0"/>
            <a:ext cx="728475" cy="5163250"/>
            <a:chOff x="-8400" y="0"/>
            <a:chExt cx="728475" cy="5163250"/>
          </a:xfrm>
        </p:grpSpPr>
        <p:sp>
          <p:nvSpPr>
            <p:cNvPr id="92" name="Google Shape;92;p1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3" name="Google Shape;93;p1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4"/>
        <p:cNvGrpSpPr/>
        <p:nvPr/>
      </p:nvGrpSpPr>
      <p:grpSpPr>
        <a:xfrm>
          <a:off x="0" y="0"/>
          <a:ext cx="0" cy="0"/>
          <a:chOff x="0" y="0"/>
          <a:chExt cx="0" cy="0"/>
        </a:xfrm>
      </p:grpSpPr>
      <p:sp>
        <p:nvSpPr>
          <p:cNvPr id="195" name="Google Shape;195;p34"/>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96" name="Google Shape;196;p34"/>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97" name="Google Shape;197;p34"/>
          <p:cNvGrpSpPr/>
          <p:nvPr/>
        </p:nvGrpSpPr>
        <p:grpSpPr>
          <a:xfrm>
            <a:off x="-8400" y="0"/>
            <a:ext cx="728475" cy="5163250"/>
            <a:chOff x="-8400" y="0"/>
            <a:chExt cx="728475" cy="5163250"/>
          </a:xfrm>
        </p:grpSpPr>
        <p:sp>
          <p:nvSpPr>
            <p:cNvPr id="198" name="Google Shape;198;p34"/>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99" name="Google Shape;199;p34"/>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0"/>
        <p:cNvGrpSpPr/>
        <p:nvPr/>
      </p:nvGrpSpPr>
      <p:grpSpPr>
        <a:xfrm>
          <a:off x="0" y="0"/>
          <a:ext cx="0" cy="0"/>
          <a:chOff x="0" y="0"/>
          <a:chExt cx="0" cy="0"/>
        </a:xfrm>
      </p:grpSpPr>
      <p:sp>
        <p:nvSpPr>
          <p:cNvPr id="201" name="Google Shape;201;p35"/>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2" name="Google Shape;202;p35"/>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03" name="Google Shape;203;p35"/>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4"/>
        <p:cNvGrpSpPr/>
        <p:nvPr/>
      </p:nvGrpSpPr>
      <p:grpSpPr>
        <a:xfrm>
          <a:off x="0" y="0"/>
          <a:ext cx="0" cy="0"/>
          <a:chOff x="0" y="0"/>
          <a:chExt cx="0" cy="0"/>
        </a:xfrm>
      </p:grpSpPr>
      <p:sp>
        <p:nvSpPr>
          <p:cNvPr id="205" name="Google Shape;205;p3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6" name="Google Shape;206;p36"/>
          <p:cNvSpPr txBox="1">
            <a:spLocks noGrp="1"/>
          </p:cNvSpPr>
          <p:nvPr>
            <p:ph type="body" idx="1"/>
          </p:nvPr>
        </p:nvSpPr>
        <p:spPr>
          <a:xfrm>
            <a:off x="720000" y="1215750"/>
            <a:ext cx="7704000" cy="1224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07" name="Google Shape;207;p36"/>
          <p:cNvGrpSpPr/>
          <p:nvPr/>
        </p:nvGrpSpPr>
        <p:grpSpPr>
          <a:xfrm>
            <a:off x="0" y="0"/>
            <a:ext cx="9144000" cy="312600"/>
            <a:chOff x="0" y="0"/>
            <a:chExt cx="9144000" cy="312600"/>
          </a:xfrm>
        </p:grpSpPr>
        <p:sp>
          <p:nvSpPr>
            <p:cNvPr id="208" name="Google Shape;208;p3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09" name="Google Shape;209;p3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2" name="Google Shape;212;p37"/>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3" name="Google Shape;213;p37"/>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4" name="Google Shape;214;p37"/>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15" name="Google Shape;215;p37"/>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216" name="Google Shape;216;p37"/>
          <p:cNvGrpSpPr/>
          <p:nvPr/>
        </p:nvGrpSpPr>
        <p:grpSpPr>
          <a:xfrm>
            <a:off x="0" y="0"/>
            <a:ext cx="9144000" cy="312600"/>
            <a:chOff x="0" y="0"/>
            <a:chExt cx="9144000" cy="312600"/>
          </a:xfrm>
        </p:grpSpPr>
        <p:sp>
          <p:nvSpPr>
            <p:cNvPr id="217" name="Google Shape;217;p3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18" name="Google Shape;218;p3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9"/>
        <p:cNvGrpSpPr/>
        <p:nvPr/>
      </p:nvGrpSpPr>
      <p:grpSpPr>
        <a:xfrm>
          <a:off x="0" y="0"/>
          <a:ext cx="0" cy="0"/>
          <a:chOff x="0" y="0"/>
          <a:chExt cx="0" cy="0"/>
        </a:xfrm>
      </p:grpSpPr>
      <p:sp>
        <p:nvSpPr>
          <p:cNvPr id="220" name="Google Shape;220;p3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221" name="Google Shape;221;p38"/>
          <p:cNvGrpSpPr/>
          <p:nvPr/>
        </p:nvGrpSpPr>
        <p:grpSpPr>
          <a:xfrm>
            <a:off x="0" y="0"/>
            <a:ext cx="9144000" cy="312600"/>
            <a:chOff x="0" y="0"/>
            <a:chExt cx="9144000" cy="312600"/>
          </a:xfrm>
        </p:grpSpPr>
        <p:sp>
          <p:nvSpPr>
            <p:cNvPr id="222" name="Google Shape;222;p38"/>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23" name="Google Shape;223;p38"/>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4"/>
        <p:cNvGrpSpPr/>
        <p:nvPr/>
      </p:nvGrpSpPr>
      <p:grpSpPr>
        <a:xfrm>
          <a:off x="0" y="0"/>
          <a:ext cx="0" cy="0"/>
          <a:chOff x="0" y="0"/>
          <a:chExt cx="0" cy="0"/>
        </a:xfrm>
      </p:grpSpPr>
      <p:sp>
        <p:nvSpPr>
          <p:cNvPr id="225" name="Google Shape;225;p39"/>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26" name="Google Shape;226;p39"/>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7" name="Google Shape;227;p39"/>
          <p:cNvSpPr>
            <a:spLocks noGrp="1"/>
          </p:cNvSpPr>
          <p:nvPr>
            <p:ph type="pic" idx="2"/>
          </p:nvPr>
        </p:nvSpPr>
        <p:spPr>
          <a:xfrm>
            <a:off x="5643775" y="539500"/>
            <a:ext cx="2787000" cy="4064400"/>
          </a:xfrm>
          <a:prstGeom prst="rect">
            <a:avLst/>
          </a:prstGeom>
          <a:noFill/>
          <a:ln>
            <a:noFill/>
          </a:ln>
        </p:spPr>
      </p:sp>
      <p:grpSp>
        <p:nvGrpSpPr>
          <p:cNvPr id="228" name="Google Shape;228;p39"/>
          <p:cNvGrpSpPr/>
          <p:nvPr/>
        </p:nvGrpSpPr>
        <p:grpSpPr>
          <a:xfrm>
            <a:off x="0" y="0"/>
            <a:ext cx="9144000" cy="312600"/>
            <a:chOff x="0" y="0"/>
            <a:chExt cx="9144000" cy="312600"/>
          </a:xfrm>
        </p:grpSpPr>
        <p:sp>
          <p:nvSpPr>
            <p:cNvPr id="229" name="Google Shape;229;p39"/>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30" name="Google Shape;230;p39"/>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31"/>
        <p:cNvGrpSpPr/>
        <p:nvPr/>
      </p:nvGrpSpPr>
      <p:grpSpPr>
        <a:xfrm>
          <a:off x="0" y="0"/>
          <a:ext cx="0" cy="0"/>
          <a:chOff x="0" y="0"/>
          <a:chExt cx="0" cy="0"/>
        </a:xfrm>
      </p:grpSpPr>
      <p:sp>
        <p:nvSpPr>
          <p:cNvPr id="232" name="Google Shape;232;p40"/>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233" name="Google Shape;233;p40"/>
          <p:cNvGrpSpPr/>
          <p:nvPr/>
        </p:nvGrpSpPr>
        <p:grpSpPr>
          <a:xfrm>
            <a:off x="-8400" y="0"/>
            <a:ext cx="728475" cy="5163250"/>
            <a:chOff x="-8400" y="0"/>
            <a:chExt cx="728475" cy="5163250"/>
          </a:xfrm>
        </p:grpSpPr>
        <p:sp>
          <p:nvSpPr>
            <p:cNvPr id="234" name="Google Shape;234;p40"/>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35" name="Google Shape;235;p40"/>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36"/>
        <p:cNvGrpSpPr/>
        <p:nvPr/>
      </p:nvGrpSpPr>
      <p:grpSpPr>
        <a:xfrm>
          <a:off x="0" y="0"/>
          <a:ext cx="0" cy="0"/>
          <a:chOff x="0" y="0"/>
          <a:chExt cx="0" cy="0"/>
        </a:xfrm>
      </p:grpSpPr>
      <p:sp>
        <p:nvSpPr>
          <p:cNvPr id="237" name="Google Shape;237;p41"/>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38" name="Google Shape;238;p41"/>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39" name="Google Shape;239;p41"/>
          <p:cNvGrpSpPr/>
          <p:nvPr/>
        </p:nvGrpSpPr>
        <p:grpSpPr>
          <a:xfrm>
            <a:off x="-8400" y="0"/>
            <a:ext cx="728475" cy="5163250"/>
            <a:chOff x="-8400" y="0"/>
            <a:chExt cx="728475" cy="5163250"/>
          </a:xfrm>
        </p:grpSpPr>
        <p:sp>
          <p:nvSpPr>
            <p:cNvPr id="240" name="Google Shape;240;p4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41" name="Google Shape;241;p4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42"/>
        <p:cNvGrpSpPr/>
        <p:nvPr/>
      </p:nvGrpSpPr>
      <p:grpSpPr>
        <a:xfrm>
          <a:off x="0" y="0"/>
          <a:ext cx="0" cy="0"/>
          <a:chOff x="0" y="0"/>
          <a:chExt cx="0" cy="0"/>
        </a:xfrm>
      </p:grpSpPr>
      <p:sp>
        <p:nvSpPr>
          <p:cNvPr id="243" name="Google Shape;243;p42"/>
          <p:cNvSpPr>
            <a:spLocks noGrp="1"/>
          </p:cNvSpPr>
          <p:nvPr>
            <p:ph type="pic" idx="2"/>
          </p:nvPr>
        </p:nvSpPr>
        <p:spPr>
          <a:xfrm>
            <a:off x="0" y="0"/>
            <a:ext cx="9144000" cy="5143500"/>
          </a:xfrm>
          <a:prstGeom prst="rect">
            <a:avLst/>
          </a:prstGeom>
          <a:noFill/>
          <a:ln>
            <a:noFill/>
          </a:ln>
        </p:spPr>
      </p:sp>
      <p:sp>
        <p:nvSpPr>
          <p:cNvPr id="244" name="Google Shape;244;p42"/>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5"/>
        <p:cNvGrpSpPr/>
        <p:nvPr/>
      </p:nvGrpSpPr>
      <p:grpSpPr>
        <a:xfrm>
          <a:off x="0" y="0"/>
          <a:ext cx="0" cy="0"/>
          <a:chOff x="0" y="0"/>
          <a:chExt cx="0" cy="0"/>
        </a:xfrm>
      </p:grpSpPr>
      <p:sp>
        <p:nvSpPr>
          <p:cNvPr id="246" name="Google Shape;246;p43"/>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47" name="Google Shape;247;p43"/>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248" name="Google Shape;248;p43"/>
          <p:cNvGrpSpPr/>
          <p:nvPr/>
        </p:nvGrpSpPr>
        <p:grpSpPr>
          <a:xfrm>
            <a:off x="-8400" y="0"/>
            <a:ext cx="728475" cy="5163250"/>
            <a:chOff x="-8400" y="0"/>
            <a:chExt cx="728475" cy="5163250"/>
          </a:xfrm>
        </p:grpSpPr>
        <p:sp>
          <p:nvSpPr>
            <p:cNvPr id="249" name="Google Shape;249;p43"/>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50" name="Google Shape;250;p43"/>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25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52"/>
        <p:cNvGrpSpPr/>
        <p:nvPr/>
      </p:nvGrpSpPr>
      <p:grpSpPr>
        <a:xfrm>
          <a:off x="0" y="0"/>
          <a:ext cx="0" cy="0"/>
          <a:chOff x="0" y="0"/>
          <a:chExt cx="0" cy="0"/>
        </a:xfrm>
      </p:grpSpPr>
      <p:sp>
        <p:nvSpPr>
          <p:cNvPr id="253" name="Google Shape;253;p4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4" name="Google Shape;254;p45"/>
          <p:cNvSpPr txBox="1">
            <a:spLocks noGrp="1"/>
          </p:cNvSpPr>
          <p:nvPr>
            <p:ph type="title" idx="2" hasCustomPrompt="1"/>
          </p:nvPr>
        </p:nvSpPr>
        <p:spPr>
          <a:xfrm>
            <a:off x="72000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5" name="Google Shape;255;p45"/>
          <p:cNvSpPr txBox="1">
            <a:spLocks noGrp="1"/>
          </p:cNvSpPr>
          <p:nvPr>
            <p:ph type="title" idx="3" hasCustomPrompt="1"/>
          </p:nvPr>
        </p:nvSpPr>
        <p:spPr>
          <a:xfrm>
            <a:off x="72000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6" name="Google Shape;256;p45"/>
          <p:cNvSpPr txBox="1">
            <a:spLocks noGrp="1"/>
          </p:cNvSpPr>
          <p:nvPr>
            <p:ph type="title" idx="4" hasCustomPrompt="1"/>
          </p:nvPr>
        </p:nvSpPr>
        <p:spPr>
          <a:xfrm>
            <a:off x="3419275"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7" name="Google Shape;257;p45"/>
          <p:cNvSpPr txBox="1">
            <a:spLocks noGrp="1"/>
          </p:cNvSpPr>
          <p:nvPr>
            <p:ph type="title" idx="5" hasCustomPrompt="1"/>
          </p:nvPr>
        </p:nvSpPr>
        <p:spPr>
          <a:xfrm>
            <a:off x="3419275"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8" name="Google Shape;258;p45"/>
          <p:cNvSpPr txBox="1">
            <a:spLocks noGrp="1"/>
          </p:cNvSpPr>
          <p:nvPr>
            <p:ph type="title" idx="6" hasCustomPrompt="1"/>
          </p:nvPr>
        </p:nvSpPr>
        <p:spPr>
          <a:xfrm>
            <a:off x="611855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9" name="Google Shape;259;p45"/>
          <p:cNvSpPr txBox="1">
            <a:spLocks noGrp="1"/>
          </p:cNvSpPr>
          <p:nvPr>
            <p:ph type="title" idx="7" hasCustomPrompt="1"/>
          </p:nvPr>
        </p:nvSpPr>
        <p:spPr>
          <a:xfrm>
            <a:off x="611855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60" name="Google Shape;260;p45"/>
          <p:cNvSpPr txBox="1">
            <a:spLocks noGrp="1"/>
          </p:cNvSpPr>
          <p:nvPr>
            <p:ph type="subTitle" idx="1"/>
          </p:nvPr>
        </p:nvSpPr>
        <p:spPr>
          <a:xfrm>
            <a:off x="72000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61" name="Google Shape;261;p45"/>
          <p:cNvSpPr txBox="1">
            <a:spLocks noGrp="1"/>
          </p:cNvSpPr>
          <p:nvPr>
            <p:ph type="subTitle" idx="8"/>
          </p:nvPr>
        </p:nvSpPr>
        <p:spPr>
          <a:xfrm>
            <a:off x="3419275"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62" name="Google Shape;262;p45"/>
          <p:cNvSpPr txBox="1">
            <a:spLocks noGrp="1"/>
          </p:cNvSpPr>
          <p:nvPr>
            <p:ph type="subTitle" idx="9"/>
          </p:nvPr>
        </p:nvSpPr>
        <p:spPr>
          <a:xfrm>
            <a:off x="611855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63" name="Google Shape;263;p45"/>
          <p:cNvSpPr txBox="1">
            <a:spLocks noGrp="1"/>
          </p:cNvSpPr>
          <p:nvPr>
            <p:ph type="subTitle" idx="13"/>
          </p:nvPr>
        </p:nvSpPr>
        <p:spPr>
          <a:xfrm>
            <a:off x="720000" y="3726825"/>
            <a:ext cx="23814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64" name="Google Shape;264;p45"/>
          <p:cNvSpPr txBox="1">
            <a:spLocks noGrp="1"/>
          </p:cNvSpPr>
          <p:nvPr>
            <p:ph type="subTitle" idx="14"/>
          </p:nvPr>
        </p:nvSpPr>
        <p:spPr>
          <a:xfrm>
            <a:off x="3419275" y="372682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65" name="Google Shape;265;p45"/>
          <p:cNvSpPr txBox="1">
            <a:spLocks noGrp="1"/>
          </p:cNvSpPr>
          <p:nvPr>
            <p:ph type="subTitle" idx="15"/>
          </p:nvPr>
        </p:nvSpPr>
        <p:spPr>
          <a:xfrm>
            <a:off x="6118550" y="3726825"/>
            <a:ext cx="24792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266" name="Google Shape;266;p45"/>
          <p:cNvGrpSpPr/>
          <p:nvPr/>
        </p:nvGrpSpPr>
        <p:grpSpPr>
          <a:xfrm>
            <a:off x="0" y="0"/>
            <a:ext cx="9144000" cy="312600"/>
            <a:chOff x="0" y="0"/>
            <a:chExt cx="9144000" cy="312600"/>
          </a:xfrm>
        </p:grpSpPr>
        <p:sp>
          <p:nvSpPr>
            <p:cNvPr id="267" name="Google Shape;267;p4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68" name="Google Shape;268;p4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69"/>
        <p:cNvGrpSpPr/>
        <p:nvPr/>
      </p:nvGrpSpPr>
      <p:grpSpPr>
        <a:xfrm>
          <a:off x="0" y="0"/>
          <a:ext cx="0" cy="0"/>
          <a:chOff x="0" y="0"/>
          <a:chExt cx="0" cy="0"/>
        </a:xfrm>
      </p:grpSpPr>
      <p:sp>
        <p:nvSpPr>
          <p:cNvPr id="270" name="Google Shape;270;p46"/>
          <p:cNvSpPr txBox="1">
            <a:spLocks noGrp="1"/>
          </p:cNvSpPr>
          <p:nvPr>
            <p:ph type="title"/>
          </p:nvPr>
        </p:nvSpPr>
        <p:spPr>
          <a:xfrm>
            <a:off x="1355163" y="731200"/>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1" name="Google Shape;271;p46"/>
          <p:cNvSpPr txBox="1">
            <a:spLocks noGrp="1"/>
          </p:cNvSpPr>
          <p:nvPr>
            <p:ph type="subTitle" idx="1"/>
          </p:nvPr>
        </p:nvSpPr>
        <p:spPr>
          <a:xfrm>
            <a:off x="1355125" y="1984450"/>
            <a:ext cx="44481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2" name="Google Shape;272;p46"/>
          <p:cNvSpPr txBox="1"/>
          <p:nvPr/>
        </p:nvSpPr>
        <p:spPr>
          <a:xfrm>
            <a:off x="1355125" y="3611950"/>
            <a:ext cx="48105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Didact Gothic"/>
                <a:ea typeface="Didact Gothic"/>
                <a:cs typeface="Didact Gothic"/>
                <a:sym typeface="Didact Gothic"/>
              </a:rPr>
              <a:t>CREDITS:</a:t>
            </a:r>
            <a:r>
              <a:rPr lang="en" sz="1000">
                <a:solidFill>
                  <a:schemeClr val="dk1"/>
                </a:solidFill>
                <a:latin typeface="Didact Gothic"/>
                <a:ea typeface="Didact Gothic"/>
                <a:cs typeface="Didact Gothic"/>
                <a:sym typeface="Didact Gothic"/>
              </a:rPr>
              <a:t> This presentation template was created by </a:t>
            </a:r>
            <a:r>
              <a:rPr lang="en" sz="1000" b="1" u="sng">
                <a:solidFill>
                  <a:schemeClr val="dk1"/>
                </a:solidFill>
                <a:latin typeface="Didact Gothic"/>
                <a:ea typeface="Didact Gothic"/>
                <a:cs typeface="Didact Gothic"/>
                <a:sym typeface="Didact Gothic"/>
                <a:hlinkClick r:id="rId2">
                  <a:extLst>
                    <a:ext uri="{A12FA001-AC4F-418D-AE19-62706E023703}">
                      <ahyp:hlinkClr xmlns:ahyp="http://schemas.microsoft.com/office/drawing/2018/hyperlinkcolor" val="tx"/>
                    </a:ext>
                  </a:extLst>
                </a:hlinkClick>
              </a:rPr>
              <a:t>Slidesgo</a:t>
            </a:r>
            <a:r>
              <a:rPr lang="en" sz="1000">
                <a:solidFill>
                  <a:schemeClr val="dk1"/>
                </a:solidFill>
                <a:latin typeface="Didact Gothic"/>
                <a:ea typeface="Didact Gothic"/>
                <a:cs typeface="Didact Gothic"/>
                <a:sym typeface="Didact Gothic"/>
              </a:rPr>
              <a:t>, and includes icons by </a:t>
            </a:r>
            <a:r>
              <a:rPr lang="en" sz="1000" b="1" u="sng">
                <a:solidFill>
                  <a:schemeClr val="dk1"/>
                </a:solid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Flaticon</a:t>
            </a:r>
            <a:r>
              <a:rPr lang="en" sz="1000">
                <a:solidFill>
                  <a:schemeClr val="dk1"/>
                </a:solidFill>
                <a:latin typeface="Didact Gothic"/>
                <a:ea typeface="Didact Gothic"/>
                <a:cs typeface="Didact Gothic"/>
                <a:sym typeface="Didact Gothic"/>
              </a:rPr>
              <a:t>, and infographics &amp; images by </a:t>
            </a:r>
            <a:r>
              <a:rPr lang="en" sz="1000" b="1" u="sng">
                <a:solidFill>
                  <a:schemeClr val="dk1"/>
                </a:solid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Didact Gothic"/>
                <a:ea typeface="Didact Gothic"/>
                <a:cs typeface="Didact Gothic"/>
                <a:sym typeface="Didact Gothic"/>
              </a:rPr>
              <a:t> </a:t>
            </a:r>
            <a:endParaRPr sz="1000" b="1" u="sng">
              <a:solidFill>
                <a:schemeClr val="dk1"/>
              </a:solidFill>
              <a:latin typeface="Didact Gothic"/>
              <a:ea typeface="Didact Gothic"/>
              <a:cs typeface="Didact Gothic"/>
              <a:sym typeface="Didact Gothic"/>
            </a:endParaRPr>
          </a:p>
        </p:txBody>
      </p:sp>
      <p:grpSp>
        <p:nvGrpSpPr>
          <p:cNvPr id="273" name="Google Shape;273;p46"/>
          <p:cNvGrpSpPr/>
          <p:nvPr/>
        </p:nvGrpSpPr>
        <p:grpSpPr>
          <a:xfrm>
            <a:off x="-8400" y="0"/>
            <a:ext cx="728475" cy="5163250"/>
            <a:chOff x="-8400" y="0"/>
            <a:chExt cx="728475" cy="5163250"/>
          </a:xfrm>
        </p:grpSpPr>
        <p:sp>
          <p:nvSpPr>
            <p:cNvPr id="274" name="Google Shape;274;p46"/>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75" name="Google Shape;275;p46"/>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76"/>
        <p:cNvGrpSpPr/>
        <p:nvPr/>
      </p:nvGrpSpPr>
      <p:grpSpPr>
        <a:xfrm>
          <a:off x="0" y="0"/>
          <a:ext cx="0" cy="0"/>
          <a:chOff x="0" y="0"/>
          <a:chExt cx="0" cy="0"/>
        </a:xfrm>
      </p:grpSpPr>
      <p:grpSp>
        <p:nvGrpSpPr>
          <p:cNvPr id="277" name="Google Shape;277;p47"/>
          <p:cNvGrpSpPr/>
          <p:nvPr/>
        </p:nvGrpSpPr>
        <p:grpSpPr>
          <a:xfrm rot="10800000">
            <a:off x="8415525" y="0"/>
            <a:ext cx="728475" cy="5163250"/>
            <a:chOff x="-8400" y="0"/>
            <a:chExt cx="728475" cy="5163250"/>
          </a:xfrm>
        </p:grpSpPr>
        <p:sp>
          <p:nvSpPr>
            <p:cNvPr id="278" name="Google Shape;278;p47"/>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79" name="Google Shape;279;p47"/>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80"/>
        <p:cNvGrpSpPr/>
        <p:nvPr/>
      </p:nvGrpSpPr>
      <p:grpSpPr>
        <a:xfrm>
          <a:off x="0" y="0"/>
          <a:ext cx="0" cy="0"/>
          <a:chOff x="0" y="0"/>
          <a:chExt cx="0" cy="0"/>
        </a:xfrm>
      </p:grpSpPr>
      <p:grpSp>
        <p:nvGrpSpPr>
          <p:cNvPr id="281" name="Google Shape;281;p48"/>
          <p:cNvGrpSpPr/>
          <p:nvPr/>
        </p:nvGrpSpPr>
        <p:grpSpPr>
          <a:xfrm rot="10800000">
            <a:off x="0" y="4830900"/>
            <a:ext cx="9144000" cy="312600"/>
            <a:chOff x="0" y="0"/>
            <a:chExt cx="9144000" cy="312600"/>
          </a:xfrm>
        </p:grpSpPr>
        <p:sp>
          <p:nvSpPr>
            <p:cNvPr id="282" name="Google Shape;282;p48"/>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83" name="Google Shape;283;p48"/>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g3ee6bdc32ff_22_0)">
  <p:cSld name="Title and body (g3ee6bdc32ff_22_0)">
    <p:spTree>
      <p:nvGrpSpPr>
        <p:cNvPr id="1" name="Shape 284"/>
        <p:cNvGrpSpPr/>
        <p:nvPr/>
      </p:nvGrpSpPr>
      <p:grpSpPr>
        <a:xfrm>
          <a:off x="0" y="0"/>
          <a:ext cx="0" cy="0"/>
          <a:chOff x="0" y="0"/>
          <a:chExt cx="0" cy="0"/>
        </a:xfrm>
      </p:grpSpPr>
      <p:sp>
        <p:nvSpPr>
          <p:cNvPr id="285" name="Google Shape;285;p4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6" name="Google Shape;286;p49"/>
          <p:cNvSpPr txBox="1">
            <a:spLocks noGrp="1"/>
          </p:cNvSpPr>
          <p:nvPr>
            <p:ph type="body" idx="1"/>
          </p:nvPr>
        </p:nvSpPr>
        <p:spPr>
          <a:xfrm>
            <a:off x="720000" y="1215750"/>
            <a:ext cx="7704000" cy="1224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g3ee6bdc32ff_43_0)">
  <p:cSld name="Title and body (g3ee6bdc32ff_43_0)">
    <p:spTree>
      <p:nvGrpSpPr>
        <p:cNvPr id="1" name="Shape 287"/>
        <p:cNvGrpSpPr/>
        <p:nvPr/>
      </p:nvGrpSpPr>
      <p:grpSpPr>
        <a:xfrm>
          <a:off x="0" y="0"/>
          <a:ext cx="0" cy="0"/>
          <a:chOff x="0" y="0"/>
          <a:chExt cx="0" cy="0"/>
        </a:xfrm>
      </p:grpSpPr>
      <p:sp>
        <p:nvSpPr>
          <p:cNvPr id="288" name="Google Shape;288;p5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89" name="Google Shape;289;p50"/>
          <p:cNvSpPr txBox="1">
            <a:spLocks noGrp="1"/>
          </p:cNvSpPr>
          <p:nvPr>
            <p:ph type="body" idx="1"/>
          </p:nvPr>
        </p:nvSpPr>
        <p:spPr>
          <a:xfrm>
            <a:off x="720000" y="1215750"/>
            <a:ext cx="7704000" cy="1224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3"/>
        <p:cNvGrpSpPr/>
        <p:nvPr/>
      </p:nvGrpSpPr>
      <p:grpSpPr>
        <a:xfrm>
          <a:off x="0" y="0"/>
          <a:ext cx="0" cy="0"/>
          <a:chOff x="0" y="0"/>
          <a:chExt cx="0" cy="0"/>
        </a:xfrm>
      </p:grpSpPr>
      <p:sp>
        <p:nvSpPr>
          <p:cNvPr id="294" name="Google Shape;294;p5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95" name="Google Shape;295;p5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296" name="Google Shape;296;p52"/>
          <p:cNvGrpSpPr/>
          <p:nvPr/>
        </p:nvGrpSpPr>
        <p:grpSpPr>
          <a:xfrm>
            <a:off x="-8400" y="0"/>
            <a:ext cx="728475" cy="5163250"/>
            <a:chOff x="-8400" y="0"/>
            <a:chExt cx="728475" cy="5163250"/>
          </a:xfrm>
        </p:grpSpPr>
        <p:sp>
          <p:nvSpPr>
            <p:cNvPr id="297" name="Google Shape;297;p5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98" name="Google Shape;298;p5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9"/>
        <p:cNvGrpSpPr/>
        <p:nvPr/>
      </p:nvGrpSpPr>
      <p:grpSpPr>
        <a:xfrm>
          <a:off x="0" y="0"/>
          <a:ext cx="0" cy="0"/>
          <a:chOff x="0" y="0"/>
          <a:chExt cx="0" cy="0"/>
        </a:xfrm>
      </p:grpSpPr>
      <p:sp>
        <p:nvSpPr>
          <p:cNvPr id="300" name="Google Shape;300;p53"/>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01" name="Google Shape;301;p53"/>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2" name="Google Shape;302;p53"/>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3"/>
        <p:cNvGrpSpPr/>
        <p:nvPr/>
      </p:nvGrpSpPr>
      <p:grpSpPr>
        <a:xfrm>
          <a:off x="0" y="0"/>
          <a:ext cx="0" cy="0"/>
          <a:chOff x="0" y="0"/>
          <a:chExt cx="0" cy="0"/>
        </a:xfrm>
      </p:grpSpPr>
      <p:sp>
        <p:nvSpPr>
          <p:cNvPr id="304" name="Google Shape;304;p5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05" name="Google Shape;305;p54"/>
          <p:cNvSpPr txBox="1">
            <a:spLocks noGrp="1"/>
          </p:cNvSpPr>
          <p:nvPr>
            <p:ph type="body" idx="1"/>
          </p:nvPr>
        </p:nvSpPr>
        <p:spPr>
          <a:xfrm>
            <a:off x="720000" y="1215750"/>
            <a:ext cx="7704000" cy="12240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306" name="Google Shape;306;p54"/>
          <p:cNvGrpSpPr/>
          <p:nvPr/>
        </p:nvGrpSpPr>
        <p:grpSpPr>
          <a:xfrm>
            <a:off x="0" y="0"/>
            <a:ext cx="9144000" cy="312600"/>
            <a:chOff x="0" y="0"/>
            <a:chExt cx="9144000" cy="312600"/>
          </a:xfrm>
        </p:grpSpPr>
        <p:sp>
          <p:nvSpPr>
            <p:cNvPr id="307" name="Google Shape;307;p54"/>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08" name="Google Shape;308;p54"/>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9"/>
        <p:cNvGrpSpPr/>
        <p:nvPr/>
      </p:nvGrpSpPr>
      <p:grpSpPr>
        <a:xfrm>
          <a:off x="0" y="0"/>
          <a:ext cx="0" cy="0"/>
          <a:chOff x="0" y="0"/>
          <a:chExt cx="0" cy="0"/>
        </a:xfrm>
      </p:grpSpPr>
      <p:sp>
        <p:nvSpPr>
          <p:cNvPr id="310" name="Google Shape;310;p5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1" name="Google Shape;311;p5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2" name="Google Shape;312;p5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3" name="Google Shape;313;p5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14" name="Google Shape;314;p5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15" name="Google Shape;315;p55"/>
          <p:cNvGrpSpPr/>
          <p:nvPr/>
        </p:nvGrpSpPr>
        <p:grpSpPr>
          <a:xfrm>
            <a:off x="0" y="0"/>
            <a:ext cx="9144000" cy="312600"/>
            <a:chOff x="0" y="0"/>
            <a:chExt cx="9144000" cy="312600"/>
          </a:xfrm>
        </p:grpSpPr>
        <p:sp>
          <p:nvSpPr>
            <p:cNvPr id="316" name="Google Shape;316;p5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17" name="Google Shape;317;p5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8"/>
        <p:cNvGrpSpPr/>
        <p:nvPr/>
      </p:nvGrpSpPr>
      <p:grpSpPr>
        <a:xfrm>
          <a:off x="0" y="0"/>
          <a:ext cx="0" cy="0"/>
          <a:chOff x="0" y="0"/>
          <a:chExt cx="0" cy="0"/>
        </a:xfrm>
      </p:grpSpPr>
      <p:sp>
        <p:nvSpPr>
          <p:cNvPr id="319" name="Google Shape;319;p5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20" name="Google Shape;320;p56"/>
          <p:cNvGrpSpPr/>
          <p:nvPr/>
        </p:nvGrpSpPr>
        <p:grpSpPr>
          <a:xfrm>
            <a:off x="0" y="0"/>
            <a:ext cx="9144000" cy="312600"/>
            <a:chOff x="0" y="0"/>
            <a:chExt cx="9144000" cy="312600"/>
          </a:xfrm>
        </p:grpSpPr>
        <p:sp>
          <p:nvSpPr>
            <p:cNvPr id="321" name="Google Shape;321;p5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2" name="Google Shape;322;p5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3"/>
        <p:cNvGrpSpPr/>
        <p:nvPr/>
      </p:nvGrpSpPr>
      <p:grpSpPr>
        <a:xfrm>
          <a:off x="0" y="0"/>
          <a:ext cx="0" cy="0"/>
          <a:chOff x="0" y="0"/>
          <a:chExt cx="0" cy="0"/>
        </a:xfrm>
      </p:grpSpPr>
      <p:sp>
        <p:nvSpPr>
          <p:cNvPr id="324" name="Google Shape;324;p5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325" name="Google Shape;325;p5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6" name="Google Shape;326;p57"/>
          <p:cNvSpPr>
            <a:spLocks noGrp="1"/>
          </p:cNvSpPr>
          <p:nvPr>
            <p:ph type="pic" idx="2"/>
          </p:nvPr>
        </p:nvSpPr>
        <p:spPr>
          <a:xfrm>
            <a:off x="5643775" y="539500"/>
            <a:ext cx="2787000" cy="4064400"/>
          </a:xfrm>
          <a:prstGeom prst="rect">
            <a:avLst/>
          </a:prstGeom>
          <a:noFill/>
          <a:ln>
            <a:noFill/>
          </a:ln>
        </p:spPr>
      </p:sp>
      <p:grpSp>
        <p:nvGrpSpPr>
          <p:cNvPr id="327" name="Google Shape;327;p57"/>
          <p:cNvGrpSpPr/>
          <p:nvPr/>
        </p:nvGrpSpPr>
        <p:grpSpPr>
          <a:xfrm>
            <a:off x="0" y="0"/>
            <a:ext cx="9144000" cy="312600"/>
            <a:chOff x="0" y="0"/>
            <a:chExt cx="9144000" cy="312600"/>
          </a:xfrm>
        </p:grpSpPr>
        <p:sp>
          <p:nvSpPr>
            <p:cNvPr id="328" name="Google Shape;328;p5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9" name="Google Shape;329;p5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0"/>
        <p:cNvGrpSpPr/>
        <p:nvPr/>
      </p:nvGrpSpPr>
      <p:grpSpPr>
        <a:xfrm>
          <a:off x="0" y="0"/>
          <a:ext cx="0" cy="0"/>
          <a:chOff x="0" y="0"/>
          <a:chExt cx="0" cy="0"/>
        </a:xfrm>
      </p:grpSpPr>
      <p:sp>
        <p:nvSpPr>
          <p:cNvPr id="331" name="Google Shape;331;p5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332" name="Google Shape;332;p58"/>
          <p:cNvGrpSpPr/>
          <p:nvPr/>
        </p:nvGrpSpPr>
        <p:grpSpPr>
          <a:xfrm>
            <a:off x="-8400" y="0"/>
            <a:ext cx="728475" cy="5163250"/>
            <a:chOff x="-8400" y="0"/>
            <a:chExt cx="728475" cy="5163250"/>
          </a:xfrm>
        </p:grpSpPr>
        <p:sp>
          <p:nvSpPr>
            <p:cNvPr id="333" name="Google Shape;333;p5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34" name="Google Shape;334;p5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5"/>
        <p:cNvGrpSpPr/>
        <p:nvPr/>
      </p:nvGrpSpPr>
      <p:grpSpPr>
        <a:xfrm>
          <a:off x="0" y="0"/>
          <a:ext cx="0" cy="0"/>
          <a:chOff x="0" y="0"/>
          <a:chExt cx="0" cy="0"/>
        </a:xfrm>
      </p:grpSpPr>
      <p:sp>
        <p:nvSpPr>
          <p:cNvPr id="336" name="Google Shape;336;p5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37" name="Google Shape;337;p5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338" name="Google Shape;338;p59"/>
          <p:cNvGrpSpPr/>
          <p:nvPr/>
        </p:nvGrpSpPr>
        <p:grpSpPr>
          <a:xfrm>
            <a:off x="-8400" y="0"/>
            <a:ext cx="728475" cy="5163250"/>
            <a:chOff x="-8400" y="0"/>
            <a:chExt cx="728475" cy="5163250"/>
          </a:xfrm>
        </p:grpSpPr>
        <p:sp>
          <p:nvSpPr>
            <p:cNvPr id="339" name="Google Shape;339;p5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40" name="Google Shape;340;p5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1"/>
        <p:cNvGrpSpPr/>
        <p:nvPr/>
      </p:nvGrpSpPr>
      <p:grpSpPr>
        <a:xfrm>
          <a:off x="0" y="0"/>
          <a:ext cx="0" cy="0"/>
          <a:chOff x="0" y="0"/>
          <a:chExt cx="0" cy="0"/>
        </a:xfrm>
      </p:grpSpPr>
      <p:sp>
        <p:nvSpPr>
          <p:cNvPr id="342" name="Google Shape;342;p60"/>
          <p:cNvSpPr>
            <a:spLocks noGrp="1"/>
          </p:cNvSpPr>
          <p:nvPr>
            <p:ph type="pic" idx="2"/>
          </p:nvPr>
        </p:nvSpPr>
        <p:spPr>
          <a:xfrm>
            <a:off x="0" y="0"/>
            <a:ext cx="9144000" cy="5143500"/>
          </a:xfrm>
          <a:prstGeom prst="rect">
            <a:avLst/>
          </a:prstGeom>
          <a:noFill/>
          <a:ln>
            <a:noFill/>
          </a:ln>
        </p:spPr>
      </p:sp>
      <p:sp>
        <p:nvSpPr>
          <p:cNvPr id="343" name="Google Shape;343;p6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44"/>
        <p:cNvGrpSpPr/>
        <p:nvPr/>
      </p:nvGrpSpPr>
      <p:grpSpPr>
        <a:xfrm>
          <a:off x="0" y="0"/>
          <a:ext cx="0" cy="0"/>
          <a:chOff x="0" y="0"/>
          <a:chExt cx="0" cy="0"/>
        </a:xfrm>
      </p:grpSpPr>
      <p:sp>
        <p:nvSpPr>
          <p:cNvPr id="345" name="Google Shape;345;p6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46" name="Google Shape;346;p6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347" name="Google Shape;347;p61"/>
          <p:cNvGrpSpPr/>
          <p:nvPr/>
        </p:nvGrpSpPr>
        <p:grpSpPr>
          <a:xfrm>
            <a:off x="-8400" y="0"/>
            <a:ext cx="728475" cy="5163250"/>
            <a:chOff x="-8400" y="0"/>
            <a:chExt cx="728475" cy="5163250"/>
          </a:xfrm>
        </p:grpSpPr>
        <p:sp>
          <p:nvSpPr>
            <p:cNvPr id="348" name="Google Shape;348;p6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49" name="Google Shape;349;p6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350"/>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51"/>
        <p:cNvGrpSpPr/>
        <p:nvPr/>
      </p:nvGrpSpPr>
      <p:grpSpPr>
        <a:xfrm>
          <a:off x="0" y="0"/>
          <a:ext cx="0" cy="0"/>
          <a:chOff x="0" y="0"/>
          <a:chExt cx="0" cy="0"/>
        </a:xfrm>
      </p:grpSpPr>
      <p:sp>
        <p:nvSpPr>
          <p:cNvPr id="352" name="Google Shape;352;p6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3" name="Google Shape;353;p63"/>
          <p:cNvSpPr txBox="1">
            <a:spLocks noGrp="1"/>
          </p:cNvSpPr>
          <p:nvPr>
            <p:ph type="title" idx="2" hasCustomPrompt="1"/>
          </p:nvPr>
        </p:nvSpPr>
        <p:spPr>
          <a:xfrm>
            <a:off x="72000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4" name="Google Shape;354;p63"/>
          <p:cNvSpPr txBox="1">
            <a:spLocks noGrp="1"/>
          </p:cNvSpPr>
          <p:nvPr>
            <p:ph type="title" idx="3" hasCustomPrompt="1"/>
          </p:nvPr>
        </p:nvSpPr>
        <p:spPr>
          <a:xfrm>
            <a:off x="72000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5" name="Google Shape;355;p63"/>
          <p:cNvSpPr txBox="1">
            <a:spLocks noGrp="1"/>
          </p:cNvSpPr>
          <p:nvPr>
            <p:ph type="title" idx="4" hasCustomPrompt="1"/>
          </p:nvPr>
        </p:nvSpPr>
        <p:spPr>
          <a:xfrm>
            <a:off x="3419275"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6" name="Google Shape;356;p63"/>
          <p:cNvSpPr txBox="1">
            <a:spLocks noGrp="1"/>
          </p:cNvSpPr>
          <p:nvPr>
            <p:ph type="title" idx="5" hasCustomPrompt="1"/>
          </p:nvPr>
        </p:nvSpPr>
        <p:spPr>
          <a:xfrm>
            <a:off x="3419275"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7" name="Google Shape;357;p63"/>
          <p:cNvSpPr txBox="1">
            <a:spLocks noGrp="1"/>
          </p:cNvSpPr>
          <p:nvPr>
            <p:ph type="title" idx="6" hasCustomPrompt="1"/>
          </p:nvPr>
        </p:nvSpPr>
        <p:spPr>
          <a:xfrm>
            <a:off x="611855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8" name="Google Shape;358;p63"/>
          <p:cNvSpPr txBox="1">
            <a:spLocks noGrp="1"/>
          </p:cNvSpPr>
          <p:nvPr>
            <p:ph type="title" idx="7" hasCustomPrompt="1"/>
          </p:nvPr>
        </p:nvSpPr>
        <p:spPr>
          <a:xfrm>
            <a:off x="611855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59" name="Google Shape;359;p63"/>
          <p:cNvSpPr txBox="1">
            <a:spLocks noGrp="1"/>
          </p:cNvSpPr>
          <p:nvPr>
            <p:ph type="subTitle" idx="1"/>
          </p:nvPr>
        </p:nvSpPr>
        <p:spPr>
          <a:xfrm>
            <a:off x="72000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60" name="Google Shape;360;p63"/>
          <p:cNvSpPr txBox="1">
            <a:spLocks noGrp="1"/>
          </p:cNvSpPr>
          <p:nvPr>
            <p:ph type="subTitle" idx="8"/>
          </p:nvPr>
        </p:nvSpPr>
        <p:spPr>
          <a:xfrm>
            <a:off x="3419275"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61" name="Google Shape;361;p63"/>
          <p:cNvSpPr txBox="1">
            <a:spLocks noGrp="1"/>
          </p:cNvSpPr>
          <p:nvPr>
            <p:ph type="subTitle" idx="9"/>
          </p:nvPr>
        </p:nvSpPr>
        <p:spPr>
          <a:xfrm>
            <a:off x="611855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62" name="Google Shape;362;p63"/>
          <p:cNvSpPr txBox="1">
            <a:spLocks noGrp="1"/>
          </p:cNvSpPr>
          <p:nvPr>
            <p:ph type="subTitle" idx="13"/>
          </p:nvPr>
        </p:nvSpPr>
        <p:spPr>
          <a:xfrm>
            <a:off x="720000" y="3726825"/>
            <a:ext cx="23814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63" name="Google Shape;363;p63"/>
          <p:cNvSpPr txBox="1">
            <a:spLocks noGrp="1"/>
          </p:cNvSpPr>
          <p:nvPr>
            <p:ph type="subTitle" idx="14"/>
          </p:nvPr>
        </p:nvSpPr>
        <p:spPr>
          <a:xfrm>
            <a:off x="3419275" y="372682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64" name="Google Shape;364;p63"/>
          <p:cNvSpPr txBox="1">
            <a:spLocks noGrp="1"/>
          </p:cNvSpPr>
          <p:nvPr>
            <p:ph type="subTitle" idx="15"/>
          </p:nvPr>
        </p:nvSpPr>
        <p:spPr>
          <a:xfrm>
            <a:off x="6118550" y="3726825"/>
            <a:ext cx="24792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65" name="Google Shape;365;p63"/>
          <p:cNvGrpSpPr/>
          <p:nvPr/>
        </p:nvGrpSpPr>
        <p:grpSpPr>
          <a:xfrm>
            <a:off x="0" y="0"/>
            <a:ext cx="9144000" cy="312600"/>
            <a:chOff x="0" y="0"/>
            <a:chExt cx="9144000" cy="312600"/>
          </a:xfrm>
        </p:grpSpPr>
        <p:sp>
          <p:nvSpPr>
            <p:cNvPr id="366" name="Google Shape;366;p63"/>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67" name="Google Shape;367;p63"/>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68"/>
        <p:cNvGrpSpPr/>
        <p:nvPr/>
      </p:nvGrpSpPr>
      <p:grpSpPr>
        <a:xfrm>
          <a:off x="0" y="0"/>
          <a:ext cx="0" cy="0"/>
          <a:chOff x="0" y="0"/>
          <a:chExt cx="0" cy="0"/>
        </a:xfrm>
      </p:grpSpPr>
      <p:sp>
        <p:nvSpPr>
          <p:cNvPr id="369" name="Google Shape;369;p64"/>
          <p:cNvSpPr txBox="1">
            <a:spLocks noGrp="1"/>
          </p:cNvSpPr>
          <p:nvPr>
            <p:ph type="title"/>
          </p:nvPr>
        </p:nvSpPr>
        <p:spPr>
          <a:xfrm>
            <a:off x="1355163" y="731200"/>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70" name="Google Shape;370;p64"/>
          <p:cNvSpPr txBox="1">
            <a:spLocks noGrp="1"/>
          </p:cNvSpPr>
          <p:nvPr>
            <p:ph type="subTitle" idx="1"/>
          </p:nvPr>
        </p:nvSpPr>
        <p:spPr>
          <a:xfrm>
            <a:off x="1355125" y="1984450"/>
            <a:ext cx="44481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71" name="Google Shape;371;p64"/>
          <p:cNvSpPr txBox="1"/>
          <p:nvPr/>
        </p:nvSpPr>
        <p:spPr>
          <a:xfrm>
            <a:off x="1355125" y="3611950"/>
            <a:ext cx="48105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Didact Gothic"/>
                <a:ea typeface="Didact Gothic"/>
                <a:cs typeface="Didact Gothic"/>
                <a:sym typeface="Didact Gothic"/>
              </a:rPr>
              <a:t>CREDITS:</a:t>
            </a:r>
            <a:r>
              <a:rPr lang="en" sz="1000">
                <a:solidFill>
                  <a:schemeClr val="dk1"/>
                </a:solidFill>
                <a:latin typeface="Didact Gothic"/>
                <a:ea typeface="Didact Gothic"/>
                <a:cs typeface="Didact Gothic"/>
                <a:sym typeface="Didact Gothic"/>
              </a:rPr>
              <a:t> This presentation template was created by </a:t>
            </a:r>
            <a:r>
              <a:rPr lang="en" sz="1000" b="1" u="sng">
                <a:solidFill>
                  <a:schemeClr val="dk1"/>
                </a:solidFill>
                <a:latin typeface="Didact Gothic"/>
                <a:ea typeface="Didact Gothic"/>
                <a:cs typeface="Didact Gothic"/>
                <a:sym typeface="Didact Gothic"/>
                <a:hlinkClick r:id="rId2">
                  <a:extLst>
                    <a:ext uri="{A12FA001-AC4F-418D-AE19-62706E023703}">
                      <ahyp:hlinkClr xmlns:ahyp="http://schemas.microsoft.com/office/drawing/2018/hyperlinkcolor" val="tx"/>
                    </a:ext>
                  </a:extLst>
                </a:hlinkClick>
              </a:rPr>
              <a:t>Slidesgo</a:t>
            </a:r>
            <a:r>
              <a:rPr lang="en" sz="1000">
                <a:solidFill>
                  <a:schemeClr val="dk1"/>
                </a:solidFill>
                <a:latin typeface="Didact Gothic"/>
                <a:ea typeface="Didact Gothic"/>
                <a:cs typeface="Didact Gothic"/>
                <a:sym typeface="Didact Gothic"/>
              </a:rPr>
              <a:t>, and includes icons by </a:t>
            </a:r>
            <a:r>
              <a:rPr lang="en" sz="1000" b="1" u="sng">
                <a:solidFill>
                  <a:schemeClr val="dk1"/>
                </a:solid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Flaticon</a:t>
            </a:r>
            <a:r>
              <a:rPr lang="en" sz="1000">
                <a:solidFill>
                  <a:schemeClr val="dk1"/>
                </a:solidFill>
                <a:latin typeface="Didact Gothic"/>
                <a:ea typeface="Didact Gothic"/>
                <a:cs typeface="Didact Gothic"/>
                <a:sym typeface="Didact Gothic"/>
              </a:rPr>
              <a:t>, and infographics &amp; images by </a:t>
            </a:r>
            <a:r>
              <a:rPr lang="en" sz="1000" b="1" u="sng">
                <a:solidFill>
                  <a:schemeClr val="dk1"/>
                </a:solid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Didact Gothic"/>
                <a:ea typeface="Didact Gothic"/>
                <a:cs typeface="Didact Gothic"/>
                <a:sym typeface="Didact Gothic"/>
              </a:rPr>
              <a:t> </a:t>
            </a:r>
            <a:endParaRPr sz="1000" b="1" u="sng">
              <a:solidFill>
                <a:schemeClr val="dk1"/>
              </a:solidFill>
              <a:latin typeface="Didact Gothic"/>
              <a:ea typeface="Didact Gothic"/>
              <a:cs typeface="Didact Gothic"/>
              <a:sym typeface="Didact Gothic"/>
            </a:endParaRPr>
          </a:p>
        </p:txBody>
      </p:sp>
      <p:grpSp>
        <p:nvGrpSpPr>
          <p:cNvPr id="372" name="Google Shape;372;p64"/>
          <p:cNvGrpSpPr/>
          <p:nvPr/>
        </p:nvGrpSpPr>
        <p:grpSpPr>
          <a:xfrm>
            <a:off x="-8400" y="0"/>
            <a:ext cx="728475" cy="5163250"/>
            <a:chOff x="-8400" y="0"/>
            <a:chExt cx="728475" cy="5163250"/>
          </a:xfrm>
        </p:grpSpPr>
        <p:sp>
          <p:nvSpPr>
            <p:cNvPr id="373" name="Google Shape;373;p64"/>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4" name="Google Shape;374;p64"/>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75"/>
        <p:cNvGrpSpPr/>
        <p:nvPr/>
      </p:nvGrpSpPr>
      <p:grpSpPr>
        <a:xfrm>
          <a:off x="0" y="0"/>
          <a:ext cx="0" cy="0"/>
          <a:chOff x="0" y="0"/>
          <a:chExt cx="0" cy="0"/>
        </a:xfrm>
      </p:grpSpPr>
      <p:grpSp>
        <p:nvGrpSpPr>
          <p:cNvPr id="376" name="Google Shape;376;p65"/>
          <p:cNvGrpSpPr/>
          <p:nvPr/>
        </p:nvGrpSpPr>
        <p:grpSpPr>
          <a:xfrm rot="10800000">
            <a:off x="8415525" y="0"/>
            <a:ext cx="728475" cy="5163250"/>
            <a:chOff x="-8400" y="0"/>
            <a:chExt cx="728475" cy="5163250"/>
          </a:xfrm>
        </p:grpSpPr>
        <p:sp>
          <p:nvSpPr>
            <p:cNvPr id="377" name="Google Shape;377;p6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8" name="Google Shape;378;p6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79"/>
        <p:cNvGrpSpPr/>
        <p:nvPr/>
      </p:nvGrpSpPr>
      <p:grpSpPr>
        <a:xfrm>
          <a:off x="0" y="0"/>
          <a:ext cx="0" cy="0"/>
          <a:chOff x="0" y="0"/>
          <a:chExt cx="0" cy="0"/>
        </a:xfrm>
      </p:grpSpPr>
      <p:grpSp>
        <p:nvGrpSpPr>
          <p:cNvPr id="380" name="Google Shape;380;p66"/>
          <p:cNvGrpSpPr/>
          <p:nvPr/>
        </p:nvGrpSpPr>
        <p:grpSpPr>
          <a:xfrm rot="10800000">
            <a:off x="0" y="4830900"/>
            <a:ext cx="9144000" cy="312600"/>
            <a:chOff x="0" y="0"/>
            <a:chExt cx="9144000" cy="312600"/>
          </a:xfrm>
        </p:grpSpPr>
        <p:sp>
          <p:nvSpPr>
            <p:cNvPr id="381" name="Google Shape;381;p6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82" name="Google Shape;382;p6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86"/>
        <p:cNvGrpSpPr/>
        <p:nvPr/>
      </p:nvGrpSpPr>
      <p:grpSpPr>
        <a:xfrm>
          <a:off x="0" y="0"/>
          <a:ext cx="0" cy="0"/>
          <a:chOff x="0" y="0"/>
          <a:chExt cx="0" cy="0"/>
        </a:xfrm>
      </p:grpSpPr>
      <p:sp>
        <p:nvSpPr>
          <p:cNvPr id="387" name="Google Shape;387;p68"/>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388" name="Google Shape;388;p68"/>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389" name="Google Shape;389;p68"/>
          <p:cNvGrpSpPr/>
          <p:nvPr/>
        </p:nvGrpSpPr>
        <p:grpSpPr>
          <a:xfrm>
            <a:off x="-8400" y="0"/>
            <a:ext cx="728475" cy="5163250"/>
            <a:chOff x="-8400" y="0"/>
            <a:chExt cx="728475" cy="5163250"/>
          </a:xfrm>
        </p:grpSpPr>
        <p:sp>
          <p:nvSpPr>
            <p:cNvPr id="390" name="Google Shape;390;p6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91" name="Google Shape;391;p6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2"/>
        <p:cNvGrpSpPr/>
        <p:nvPr/>
      </p:nvGrpSpPr>
      <p:grpSpPr>
        <a:xfrm>
          <a:off x="0" y="0"/>
          <a:ext cx="0" cy="0"/>
          <a:chOff x="0" y="0"/>
          <a:chExt cx="0" cy="0"/>
        </a:xfrm>
      </p:grpSpPr>
      <p:sp>
        <p:nvSpPr>
          <p:cNvPr id="393" name="Google Shape;393;p69"/>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94" name="Google Shape;394;p69"/>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95" name="Google Shape;395;p69"/>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96"/>
        <p:cNvGrpSpPr/>
        <p:nvPr/>
      </p:nvGrpSpPr>
      <p:grpSpPr>
        <a:xfrm>
          <a:off x="0" y="0"/>
          <a:ext cx="0" cy="0"/>
          <a:chOff x="0" y="0"/>
          <a:chExt cx="0" cy="0"/>
        </a:xfrm>
      </p:grpSpPr>
      <p:sp>
        <p:nvSpPr>
          <p:cNvPr id="397" name="Google Shape;397;p7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98" name="Google Shape;398;p70"/>
          <p:cNvSpPr txBox="1">
            <a:spLocks noGrp="1"/>
          </p:cNvSpPr>
          <p:nvPr>
            <p:ph type="body" idx="1"/>
          </p:nvPr>
        </p:nvSpPr>
        <p:spPr>
          <a:xfrm>
            <a:off x="720000" y="1215750"/>
            <a:ext cx="7704000" cy="12240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399" name="Google Shape;399;p70"/>
          <p:cNvGrpSpPr/>
          <p:nvPr/>
        </p:nvGrpSpPr>
        <p:grpSpPr>
          <a:xfrm>
            <a:off x="0" y="0"/>
            <a:ext cx="9144000" cy="312600"/>
            <a:chOff x="0" y="0"/>
            <a:chExt cx="9144000" cy="312600"/>
          </a:xfrm>
        </p:grpSpPr>
        <p:sp>
          <p:nvSpPr>
            <p:cNvPr id="400" name="Google Shape;400;p70"/>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01" name="Google Shape;401;p70"/>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02"/>
        <p:cNvGrpSpPr/>
        <p:nvPr/>
      </p:nvGrpSpPr>
      <p:grpSpPr>
        <a:xfrm>
          <a:off x="0" y="0"/>
          <a:ext cx="0" cy="0"/>
          <a:chOff x="0" y="0"/>
          <a:chExt cx="0" cy="0"/>
        </a:xfrm>
      </p:grpSpPr>
      <p:sp>
        <p:nvSpPr>
          <p:cNvPr id="403" name="Google Shape;403;p7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4" name="Google Shape;404;p71"/>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5" name="Google Shape;405;p71"/>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06" name="Google Shape;406;p71"/>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07" name="Google Shape;407;p71"/>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408" name="Google Shape;408;p71"/>
          <p:cNvGrpSpPr/>
          <p:nvPr/>
        </p:nvGrpSpPr>
        <p:grpSpPr>
          <a:xfrm>
            <a:off x="0" y="0"/>
            <a:ext cx="9144000" cy="312600"/>
            <a:chOff x="0" y="0"/>
            <a:chExt cx="9144000" cy="312600"/>
          </a:xfrm>
        </p:grpSpPr>
        <p:sp>
          <p:nvSpPr>
            <p:cNvPr id="409" name="Google Shape;409;p71"/>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10" name="Google Shape;410;p71"/>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1"/>
        <p:cNvGrpSpPr/>
        <p:nvPr/>
      </p:nvGrpSpPr>
      <p:grpSpPr>
        <a:xfrm>
          <a:off x="0" y="0"/>
          <a:ext cx="0" cy="0"/>
          <a:chOff x="0" y="0"/>
          <a:chExt cx="0" cy="0"/>
        </a:xfrm>
      </p:grpSpPr>
      <p:sp>
        <p:nvSpPr>
          <p:cNvPr id="412" name="Google Shape;412;p7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13" name="Google Shape;413;p72"/>
          <p:cNvGrpSpPr/>
          <p:nvPr/>
        </p:nvGrpSpPr>
        <p:grpSpPr>
          <a:xfrm>
            <a:off x="0" y="0"/>
            <a:ext cx="9144000" cy="312600"/>
            <a:chOff x="0" y="0"/>
            <a:chExt cx="9144000" cy="312600"/>
          </a:xfrm>
        </p:grpSpPr>
        <p:sp>
          <p:nvSpPr>
            <p:cNvPr id="414" name="Google Shape;414;p72"/>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15" name="Google Shape;415;p72"/>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6"/>
        <p:cNvGrpSpPr/>
        <p:nvPr/>
      </p:nvGrpSpPr>
      <p:grpSpPr>
        <a:xfrm>
          <a:off x="0" y="0"/>
          <a:ext cx="0" cy="0"/>
          <a:chOff x="0" y="0"/>
          <a:chExt cx="0" cy="0"/>
        </a:xfrm>
      </p:grpSpPr>
      <p:sp>
        <p:nvSpPr>
          <p:cNvPr id="417" name="Google Shape;417;p73"/>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18" name="Google Shape;418;p73"/>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9" name="Google Shape;419;p73"/>
          <p:cNvSpPr>
            <a:spLocks noGrp="1"/>
          </p:cNvSpPr>
          <p:nvPr>
            <p:ph type="pic" idx="2"/>
          </p:nvPr>
        </p:nvSpPr>
        <p:spPr>
          <a:xfrm>
            <a:off x="5643775" y="539500"/>
            <a:ext cx="2787000" cy="4064400"/>
          </a:xfrm>
          <a:prstGeom prst="rect">
            <a:avLst/>
          </a:prstGeom>
          <a:noFill/>
          <a:ln>
            <a:noFill/>
          </a:ln>
        </p:spPr>
      </p:sp>
      <p:grpSp>
        <p:nvGrpSpPr>
          <p:cNvPr id="420" name="Google Shape;420;p73"/>
          <p:cNvGrpSpPr/>
          <p:nvPr/>
        </p:nvGrpSpPr>
        <p:grpSpPr>
          <a:xfrm>
            <a:off x="0" y="0"/>
            <a:ext cx="9144000" cy="312600"/>
            <a:chOff x="0" y="0"/>
            <a:chExt cx="9144000" cy="312600"/>
          </a:xfrm>
        </p:grpSpPr>
        <p:sp>
          <p:nvSpPr>
            <p:cNvPr id="421" name="Google Shape;421;p73"/>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22" name="Google Shape;422;p73"/>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3"/>
        <p:cNvGrpSpPr/>
        <p:nvPr/>
      </p:nvGrpSpPr>
      <p:grpSpPr>
        <a:xfrm>
          <a:off x="0" y="0"/>
          <a:ext cx="0" cy="0"/>
          <a:chOff x="0" y="0"/>
          <a:chExt cx="0" cy="0"/>
        </a:xfrm>
      </p:grpSpPr>
      <p:sp>
        <p:nvSpPr>
          <p:cNvPr id="424" name="Google Shape;424;p74"/>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25" name="Google Shape;425;p74"/>
          <p:cNvGrpSpPr/>
          <p:nvPr/>
        </p:nvGrpSpPr>
        <p:grpSpPr>
          <a:xfrm>
            <a:off x="-8400" y="0"/>
            <a:ext cx="728475" cy="5163250"/>
            <a:chOff x="-8400" y="0"/>
            <a:chExt cx="728475" cy="5163250"/>
          </a:xfrm>
        </p:grpSpPr>
        <p:sp>
          <p:nvSpPr>
            <p:cNvPr id="426" name="Google Shape;426;p74"/>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27" name="Google Shape;427;p74"/>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8"/>
        <p:cNvGrpSpPr/>
        <p:nvPr/>
      </p:nvGrpSpPr>
      <p:grpSpPr>
        <a:xfrm>
          <a:off x="0" y="0"/>
          <a:ext cx="0" cy="0"/>
          <a:chOff x="0" y="0"/>
          <a:chExt cx="0" cy="0"/>
        </a:xfrm>
      </p:grpSpPr>
      <p:sp>
        <p:nvSpPr>
          <p:cNvPr id="429" name="Google Shape;429;p75"/>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430" name="Google Shape;430;p75"/>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431" name="Google Shape;431;p75"/>
          <p:cNvGrpSpPr/>
          <p:nvPr/>
        </p:nvGrpSpPr>
        <p:grpSpPr>
          <a:xfrm>
            <a:off x="-8400" y="0"/>
            <a:ext cx="728475" cy="5163250"/>
            <a:chOff x="-8400" y="0"/>
            <a:chExt cx="728475" cy="5163250"/>
          </a:xfrm>
        </p:grpSpPr>
        <p:sp>
          <p:nvSpPr>
            <p:cNvPr id="432" name="Google Shape;432;p7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33" name="Google Shape;433;p7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4"/>
        <p:cNvGrpSpPr/>
        <p:nvPr/>
      </p:nvGrpSpPr>
      <p:grpSpPr>
        <a:xfrm>
          <a:off x="0" y="0"/>
          <a:ext cx="0" cy="0"/>
          <a:chOff x="0" y="0"/>
          <a:chExt cx="0" cy="0"/>
        </a:xfrm>
      </p:grpSpPr>
      <p:sp>
        <p:nvSpPr>
          <p:cNvPr id="435" name="Google Shape;435;p76"/>
          <p:cNvSpPr>
            <a:spLocks noGrp="1"/>
          </p:cNvSpPr>
          <p:nvPr>
            <p:ph type="pic" idx="2"/>
          </p:nvPr>
        </p:nvSpPr>
        <p:spPr>
          <a:xfrm>
            <a:off x="0" y="0"/>
            <a:ext cx="9144000" cy="5143500"/>
          </a:xfrm>
          <a:prstGeom prst="rect">
            <a:avLst/>
          </a:prstGeom>
          <a:noFill/>
          <a:ln>
            <a:noFill/>
          </a:ln>
        </p:spPr>
      </p:sp>
      <p:sp>
        <p:nvSpPr>
          <p:cNvPr id="436" name="Google Shape;436;p76"/>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7"/>
        <p:cNvGrpSpPr/>
        <p:nvPr/>
      </p:nvGrpSpPr>
      <p:grpSpPr>
        <a:xfrm>
          <a:off x="0" y="0"/>
          <a:ext cx="0" cy="0"/>
          <a:chOff x="0" y="0"/>
          <a:chExt cx="0" cy="0"/>
        </a:xfrm>
      </p:grpSpPr>
      <p:sp>
        <p:nvSpPr>
          <p:cNvPr id="438" name="Google Shape;438;p77"/>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39" name="Google Shape;439;p77"/>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440" name="Google Shape;440;p77"/>
          <p:cNvGrpSpPr/>
          <p:nvPr/>
        </p:nvGrpSpPr>
        <p:grpSpPr>
          <a:xfrm>
            <a:off x="-8400" y="0"/>
            <a:ext cx="728475" cy="5163250"/>
            <a:chOff x="-8400" y="0"/>
            <a:chExt cx="728475" cy="5163250"/>
          </a:xfrm>
        </p:grpSpPr>
        <p:sp>
          <p:nvSpPr>
            <p:cNvPr id="441" name="Google Shape;441;p77"/>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2" name="Google Shape;442;p77"/>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443"/>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44"/>
        <p:cNvGrpSpPr/>
        <p:nvPr/>
      </p:nvGrpSpPr>
      <p:grpSpPr>
        <a:xfrm>
          <a:off x="0" y="0"/>
          <a:ext cx="0" cy="0"/>
          <a:chOff x="0" y="0"/>
          <a:chExt cx="0" cy="0"/>
        </a:xfrm>
      </p:grpSpPr>
      <p:sp>
        <p:nvSpPr>
          <p:cNvPr id="445" name="Google Shape;445;p7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6" name="Google Shape;446;p79"/>
          <p:cNvSpPr txBox="1">
            <a:spLocks noGrp="1"/>
          </p:cNvSpPr>
          <p:nvPr>
            <p:ph type="title" idx="2" hasCustomPrompt="1"/>
          </p:nvPr>
        </p:nvSpPr>
        <p:spPr>
          <a:xfrm>
            <a:off x="72000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7" name="Google Shape;447;p79"/>
          <p:cNvSpPr txBox="1">
            <a:spLocks noGrp="1"/>
          </p:cNvSpPr>
          <p:nvPr>
            <p:ph type="title" idx="3" hasCustomPrompt="1"/>
          </p:nvPr>
        </p:nvSpPr>
        <p:spPr>
          <a:xfrm>
            <a:off x="72000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8" name="Google Shape;448;p79"/>
          <p:cNvSpPr txBox="1">
            <a:spLocks noGrp="1"/>
          </p:cNvSpPr>
          <p:nvPr>
            <p:ph type="title" idx="4" hasCustomPrompt="1"/>
          </p:nvPr>
        </p:nvSpPr>
        <p:spPr>
          <a:xfrm>
            <a:off x="3419275"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49" name="Google Shape;449;p79"/>
          <p:cNvSpPr txBox="1">
            <a:spLocks noGrp="1"/>
          </p:cNvSpPr>
          <p:nvPr>
            <p:ph type="title" idx="5" hasCustomPrompt="1"/>
          </p:nvPr>
        </p:nvSpPr>
        <p:spPr>
          <a:xfrm>
            <a:off x="3419275"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0" name="Google Shape;450;p79"/>
          <p:cNvSpPr txBox="1">
            <a:spLocks noGrp="1"/>
          </p:cNvSpPr>
          <p:nvPr>
            <p:ph type="title" idx="6" hasCustomPrompt="1"/>
          </p:nvPr>
        </p:nvSpPr>
        <p:spPr>
          <a:xfrm>
            <a:off x="611855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1" name="Google Shape;451;p79"/>
          <p:cNvSpPr txBox="1">
            <a:spLocks noGrp="1"/>
          </p:cNvSpPr>
          <p:nvPr>
            <p:ph type="title" idx="7" hasCustomPrompt="1"/>
          </p:nvPr>
        </p:nvSpPr>
        <p:spPr>
          <a:xfrm>
            <a:off x="611855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52" name="Google Shape;452;p79"/>
          <p:cNvSpPr txBox="1">
            <a:spLocks noGrp="1"/>
          </p:cNvSpPr>
          <p:nvPr>
            <p:ph type="subTitle" idx="1"/>
          </p:nvPr>
        </p:nvSpPr>
        <p:spPr>
          <a:xfrm>
            <a:off x="72000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53" name="Google Shape;453;p79"/>
          <p:cNvSpPr txBox="1">
            <a:spLocks noGrp="1"/>
          </p:cNvSpPr>
          <p:nvPr>
            <p:ph type="subTitle" idx="8"/>
          </p:nvPr>
        </p:nvSpPr>
        <p:spPr>
          <a:xfrm>
            <a:off x="3419275"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54" name="Google Shape;454;p79"/>
          <p:cNvSpPr txBox="1">
            <a:spLocks noGrp="1"/>
          </p:cNvSpPr>
          <p:nvPr>
            <p:ph type="subTitle" idx="9"/>
          </p:nvPr>
        </p:nvSpPr>
        <p:spPr>
          <a:xfrm>
            <a:off x="611855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55" name="Google Shape;455;p79"/>
          <p:cNvSpPr txBox="1">
            <a:spLocks noGrp="1"/>
          </p:cNvSpPr>
          <p:nvPr>
            <p:ph type="subTitle" idx="13"/>
          </p:nvPr>
        </p:nvSpPr>
        <p:spPr>
          <a:xfrm>
            <a:off x="720000" y="3726825"/>
            <a:ext cx="23814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56" name="Google Shape;456;p79"/>
          <p:cNvSpPr txBox="1">
            <a:spLocks noGrp="1"/>
          </p:cNvSpPr>
          <p:nvPr>
            <p:ph type="subTitle" idx="14"/>
          </p:nvPr>
        </p:nvSpPr>
        <p:spPr>
          <a:xfrm>
            <a:off x="3419275" y="372682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457" name="Google Shape;457;p79"/>
          <p:cNvSpPr txBox="1">
            <a:spLocks noGrp="1"/>
          </p:cNvSpPr>
          <p:nvPr>
            <p:ph type="subTitle" idx="15"/>
          </p:nvPr>
        </p:nvSpPr>
        <p:spPr>
          <a:xfrm>
            <a:off x="6118550" y="3726825"/>
            <a:ext cx="24792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458" name="Google Shape;458;p79"/>
          <p:cNvGrpSpPr/>
          <p:nvPr/>
        </p:nvGrpSpPr>
        <p:grpSpPr>
          <a:xfrm>
            <a:off x="0" y="0"/>
            <a:ext cx="9144000" cy="312600"/>
            <a:chOff x="0" y="0"/>
            <a:chExt cx="9144000" cy="312600"/>
          </a:xfrm>
        </p:grpSpPr>
        <p:sp>
          <p:nvSpPr>
            <p:cNvPr id="459" name="Google Shape;459;p79"/>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60" name="Google Shape;460;p79"/>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61"/>
        <p:cNvGrpSpPr/>
        <p:nvPr/>
      </p:nvGrpSpPr>
      <p:grpSpPr>
        <a:xfrm>
          <a:off x="0" y="0"/>
          <a:ext cx="0" cy="0"/>
          <a:chOff x="0" y="0"/>
          <a:chExt cx="0" cy="0"/>
        </a:xfrm>
      </p:grpSpPr>
      <p:sp>
        <p:nvSpPr>
          <p:cNvPr id="462" name="Google Shape;462;p80"/>
          <p:cNvSpPr txBox="1">
            <a:spLocks noGrp="1"/>
          </p:cNvSpPr>
          <p:nvPr>
            <p:ph type="title"/>
          </p:nvPr>
        </p:nvSpPr>
        <p:spPr>
          <a:xfrm>
            <a:off x="1355163" y="731200"/>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63" name="Google Shape;463;p80"/>
          <p:cNvSpPr txBox="1">
            <a:spLocks noGrp="1"/>
          </p:cNvSpPr>
          <p:nvPr>
            <p:ph type="subTitle" idx="1"/>
          </p:nvPr>
        </p:nvSpPr>
        <p:spPr>
          <a:xfrm>
            <a:off x="1355125" y="1984450"/>
            <a:ext cx="4448100" cy="1058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4" name="Google Shape;464;p80"/>
          <p:cNvSpPr txBox="1"/>
          <p:nvPr/>
        </p:nvSpPr>
        <p:spPr>
          <a:xfrm>
            <a:off x="1355125" y="3611950"/>
            <a:ext cx="4810500" cy="5562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Didact Gothic"/>
                <a:ea typeface="Didact Gothic"/>
                <a:cs typeface="Didact Gothic"/>
                <a:sym typeface="Didact Gothic"/>
              </a:rPr>
              <a:t>CREDITS:</a:t>
            </a:r>
            <a:r>
              <a:rPr lang="en" sz="1000">
                <a:solidFill>
                  <a:schemeClr val="dk1"/>
                </a:solidFill>
                <a:latin typeface="Didact Gothic"/>
                <a:ea typeface="Didact Gothic"/>
                <a:cs typeface="Didact Gothic"/>
                <a:sym typeface="Didact Gothic"/>
              </a:rPr>
              <a:t> This presentation template was created by </a:t>
            </a:r>
            <a:r>
              <a:rPr lang="en" sz="1000" b="1" u="sng">
                <a:solidFill>
                  <a:schemeClr val="dk1"/>
                </a:solidFill>
                <a:latin typeface="Didact Gothic"/>
                <a:ea typeface="Didact Gothic"/>
                <a:cs typeface="Didact Gothic"/>
                <a:sym typeface="Didact Gothic"/>
                <a:hlinkClick r:id="rId2">
                  <a:extLst>
                    <a:ext uri="{A12FA001-AC4F-418D-AE19-62706E023703}">
                      <ahyp:hlinkClr xmlns:ahyp="http://schemas.microsoft.com/office/drawing/2018/hyperlinkcolor" val="tx"/>
                    </a:ext>
                  </a:extLst>
                </a:hlinkClick>
              </a:rPr>
              <a:t>Slidesgo</a:t>
            </a:r>
            <a:r>
              <a:rPr lang="en" sz="1000">
                <a:solidFill>
                  <a:schemeClr val="dk1"/>
                </a:solidFill>
                <a:latin typeface="Didact Gothic"/>
                <a:ea typeface="Didact Gothic"/>
                <a:cs typeface="Didact Gothic"/>
                <a:sym typeface="Didact Gothic"/>
              </a:rPr>
              <a:t>, and includes icons by </a:t>
            </a:r>
            <a:r>
              <a:rPr lang="en" sz="1000" b="1" u="sng">
                <a:solidFill>
                  <a:schemeClr val="dk1"/>
                </a:solid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Flaticon</a:t>
            </a:r>
            <a:r>
              <a:rPr lang="en" sz="1000">
                <a:solidFill>
                  <a:schemeClr val="dk1"/>
                </a:solidFill>
                <a:latin typeface="Didact Gothic"/>
                <a:ea typeface="Didact Gothic"/>
                <a:cs typeface="Didact Gothic"/>
                <a:sym typeface="Didact Gothic"/>
              </a:rPr>
              <a:t>, and infographics &amp; images by </a:t>
            </a:r>
            <a:r>
              <a:rPr lang="en" sz="1000" b="1" u="sng">
                <a:solidFill>
                  <a:schemeClr val="dk1"/>
                </a:solid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Didact Gothic"/>
                <a:ea typeface="Didact Gothic"/>
                <a:cs typeface="Didact Gothic"/>
                <a:sym typeface="Didact Gothic"/>
              </a:rPr>
              <a:t> </a:t>
            </a:r>
            <a:endParaRPr sz="1000" b="1" u="sng">
              <a:solidFill>
                <a:schemeClr val="dk1"/>
              </a:solidFill>
              <a:latin typeface="Didact Gothic"/>
              <a:ea typeface="Didact Gothic"/>
              <a:cs typeface="Didact Gothic"/>
              <a:sym typeface="Didact Gothic"/>
            </a:endParaRPr>
          </a:p>
        </p:txBody>
      </p:sp>
      <p:grpSp>
        <p:nvGrpSpPr>
          <p:cNvPr id="465" name="Google Shape;465;p80"/>
          <p:cNvGrpSpPr/>
          <p:nvPr/>
        </p:nvGrpSpPr>
        <p:grpSpPr>
          <a:xfrm>
            <a:off x="-8400" y="0"/>
            <a:ext cx="728475" cy="5163250"/>
            <a:chOff x="-8400" y="0"/>
            <a:chExt cx="728475" cy="5163250"/>
          </a:xfrm>
        </p:grpSpPr>
        <p:sp>
          <p:nvSpPr>
            <p:cNvPr id="466" name="Google Shape;466;p80"/>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67" name="Google Shape;467;p80"/>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68"/>
        <p:cNvGrpSpPr/>
        <p:nvPr/>
      </p:nvGrpSpPr>
      <p:grpSpPr>
        <a:xfrm>
          <a:off x="0" y="0"/>
          <a:ext cx="0" cy="0"/>
          <a:chOff x="0" y="0"/>
          <a:chExt cx="0" cy="0"/>
        </a:xfrm>
      </p:grpSpPr>
      <p:grpSp>
        <p:nvGrpSpPr>
          <p:cNvPr id="469" name="Google Shape;469;p81"/>
          <p:cNvGrpSpPr/>
          <p:nvPr/>
        </p:nvGrpSpPr>
        <p:grpSpPr>
          <a:xfrm rot="10800000">
            <a:off x="8415525" y="0"/>
            <a:ext cx="728475" cy="5163250"/>
            <a:chOff x="-8400" y="0"/>
            <a:chExt cx="728475" cy="5163250"/>
          </a:xfrm>
        </p:grpSpPr>
        <p:sp>
          <p:nvSpPr>
            <p:cNvPr id="470" name="Google Shape;470;p8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71" name="Google Shape;471;p8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72"/>
        <p:cNvGrpSpPr/>
        <p:nvPr/>
      </p:nvGrpSpPr>
      <p:grpSpPr>
        <a:xfrm>
          <a:off x="0" y="0"/>
          <a:ext cx="0" cy="0"/>
          <a:chOff x="0" y="0"/>
          <a:chExt cx="0" cy="0"/>
        </a:xfrm>
      </p:grpSpPr>
      <p:grpSp>
        <p:nvGrpSpPr>
          <p:cNvPr id="473" name="Google Shape;473;p82"/>
          <p:cNvGrpSpPr/>
          <p:nvPr/>
        </p:nvGrpSpPr>
        <p:grpSpPr>
          <a:xfrm rot="10800000">
            <a:off x="0" y="4830900"/>
            <a:ext cx="9144000" cy="312600"/>
            <a:chOff x="0" y="0"/>
            <a:chExt cx="9144000" cy="312600"/>
          </a:xfrm>
        </p:grpSpPr>
        <p:sp>
          <p:nvSpPr>
            <p:cNvPr id="474" name="Google Shape;474;p82"/>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75" name="Google Shape;475;p82"/>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6" Type="http://schemas.openxmlformats.org/officeDocument/2006/relationships/theme" Target="../theme/theme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6" Type="http://schemas.openxmlformats.org/officeDocument/2006/relationships/theme" Target="../theme/theme4.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8650" y="445025"/>
            <a:ext cx="81621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301225" y="1152475"/>
            <a:ext cx="86298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Didact Gothic"/>
              <a:buChar char="●"/>
              <a:defRPr sz="1600">
                <a:solidFill>
                  <a:schemeClr val="dk1"/>
                </a:solidFill>
                <a:latin typeface="Didact Gothic"/>
                <a:ea typeface="Didact Gothic"/>
                <a:cs typeface="Didact Gothic"/>
                <a:sym typeface="Didact Gothic"/>
              </a:defRPr>
            </a:lvl1pPr>
            <a:lvl2pPr marL="914400" lvl="1" indent="-3175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33"/>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193" name="Google Shape;193;p33"/>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90"/>
        <p:cNvGrpSpPr/>
        <p:nvPr/>
      </p:nvGrpSpPr>
      <p:grpSpPr>
        <a:xfrm>
          <a:off x="0" y="0"/>
          <a:ext cx="0" cy="0"/>
          <a:chOff x="0" y="0"/>
          <a:chExt cx="0" cy="0"/>
        </a:xfrm>
      </p:grpSpPr>
      <p:sp>
        <p:nvSpPr>
          <p:cNvPr id="291" name="Google Shape;291;p5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292" name="Google Shape;292;p5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Didact Gothic"/>
              <a:buChar char="●"/>
              <a:defRPr sz="1600">
                <a:solidFill>
                  <a:schemeClr val="dk1"/>
                </a:solidFill>
                <a:latin typeface="Didact Gothic"/>
                <a:ea typeface="Didact Gothic"/>
                <a:cs typeface="Didact Gothic"/>
                <a:sym typeface="Didact Gothic"/>
              </a:defRPr>
            </a:lvl1pPr>
            <a:lvl2pPr marL="914400" lvl="1" indent="-3175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83"/>
        <p:cNvGrpSpPr/>
        <p:nvPr/>
      </p:nvGrpSpPr>
      <p:grpSpPr>
        <a:xfrm>
          <a:off x="0" y="0"/>
          <a:ext cx="0" cy="0"/>
          <a:chOff x="0" y="0"/>
          <a:chExt cx="0" cy="0"/>
        </a:xfrm>
      </p:grpSpPr>
      <p:sp>
        <p:nvSpPr>
          <p:cNvPr id="384" name="Google Shape;384;p67"/>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385" name="Google Shape;385;p67"/>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30200">
              <a:lnSpc>
                <a:spcPct val="100000"/>
              </a:lnSpc>
              <a:spcBef>
                <a:spcPts val="0"/>
              </a:spcBef>
              <a:spcAft>
                <a:spcPts val="0"/>
              </a:spcAft>
              <a:buClr>
                <a:schemeClr val="dk1"/>
              </a:buClr>
              <a:buSzPts val="1600"/>
              <a:buFont typeface="Didact Gothic"/>
              <a:buChar char="●"/>
              <a:defRPr sz="1600">
                <a:solidFill>
                  <a:schemeClr val="dk1"/>
                </a:solidFill>
                <a:latin typeface="Didact Gothic"/>
                <a:ea typeface="Didact Gothic"/>
                <a:cs typeface="Didact Gothic"/>
                <a:sym typeface="Didact Gothic"/>
              </a:defRPr>
            </a:lvl1pPr>
            <a:lvl2pPr marL="914400" lvl="1" indent="-3175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9"/>
        <p:cNvGrpSpPr/>
        <p:nvPr/>
      </p:nvGrpSpPr>
      <p:grpSpPr>
        <a:xfrm>
          <a:off x="0" y="0"/>
          <a:ext cx="0" cy="0"/>
          <a:chOff x="0" y="0"/>
          <a:chExt cx="0" cy="0"/>
        </a:xfrm>
      </p:grpSpPr>
      <p:sp>
        <p:nvSpPr>
          <p:cNvPr id="480" name="Google Shape;480;p83"/>
          <p:cNvSpPr txBox="1">
            <a:spLocks noGrp="1"/>
          </p:cNvSpPr>
          <p:nvPr>
            <p:ph type="ctrTitle"/>
          </p:nvPr>
        </p:nvSpPr>
        <p:spPr>
          <a:xfrm>
            <a:off x="1355125" y="244525"/>
            <a:ext cx="5779200" cy="245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700"/>
              <a:t>Predicting </a:t>
            </a:r>
            <a:br>
              <a:rPr lang="en" sz="3700"/>
            </a:br>
            <a:r>
              <a:rPr lang="en" sz="3700"/>
              <a:t>User Gifting Behaviour </a:t>
            </a:r>
            <a:br>
              <a:rPr lang="en" sz="3700"/>
            </a:br>
            <a:r>
              <a:rPr lang="en" sz="3700"/>
              <a:t>in KuaiShou (快手) Livestreams</a:t>
            </a:r>
            <a:endParaRPr sz="3700" b="0"/>
          </a:p>
        </p:txBody>
      </p:sp>
      <p:sp>
        <p:nvSpPr>
          <p:cNvPr id="481" name="Google Shape;481;p83"/>
          <p:cNvSpPr txBox="1">
            <a:spLocks noGrp="1"/>
          </p:cNvSpPr>
          <p:nvPr>
            <p:ph type="subTitle" idx="1"/>
          </p:nvPr>
        </p:nvSpPr>
        <p:spPr>
          <a:xfrm>
            <a:off x="6886575" y="3295650"/>
            <a:ext cx="2100600" cy="1657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endParaRPr lang="en" i="1" dirty="0"/>
          </a:p>
          <a:p>
            <a:pPr marL="0" lvl="0" indent="0" algn="r" rtl="0">
              <a:spcBef>
                <a:spcPts val="0"/>
              </a:spcBef>
              <a:spcAft>
                <a:spcPts val="0"/>
              </a:spcAft>
              <a:buNone/>
            </a:pPr>
            <a:r>
              <a:rPr lang="en" i="1" dirty="0"/>
              <a:t>Anmol Malik</a:t>
            </a:r>
            <a:endParaRPr i="1" dirty="0"/>
          </a:p>
          <a:p>
            <a:pPr marL="0" lvl="0" indent="0" algn="r" rtl="0">
              <a:spcBef>
                <a:spcPts val="0"/>
              </a:spcBef>
              <a:spcAft>
                <a:spcPts val="0"/>
              </a:spcAft>
              <a:buNone/>
            </a:pPr>
            <a:r>
              <a:rPr lang="en" i="1" dirty="0"/>
              <a:t>Gabriel Manuel Sidik</a:t>
            </a:r>
            <a:endParaRPr i="1" dirty="0"/>
          </a:p>
          <a:p>
            <a:pPr marL="0" lvl="0" indent="0" algn="r" rtl="0">
              <a:spcBef>
                <a:spcPts val="0"/>
              </a:spcBef>
              <a:spcAft>
                <a:spcPts val="0"/>
              </a:spcAft>
              <a:buNone/>
            </a:pPr>
            <a:r>
              <a:rPr lang="en" i="1" dirty="0"/>
              <a:t>Goh Yun Si</a:t>
            </a:r>
            <a:endParaRPr i="1" dirty="0"/>
          </a:p>
          <a:p>
            <a:pPr marL="0" lvl="0" indent="0" algn="r" rtl="0">
              <a:spcBef>
                <a:spcPts val="0"/>
              </a:spcBef>
              <a:spcAft>
                <a:spcPts val="0"/>
              </a:spcAft>
              <a:buNone/>
            </a:pPr>
            <a:r>
              <a:rPr lang="en" i="1" dirty="0"/>
              <a:t>Lee Sae Lin</a:t>
            </a:r>
            <a:endParaRPr i="1" dirty="0"/>
          </a:p>
          <a:p>
            <a:pPr marL="0" lvl="0" indent="0" algn="r" rtl="0">
              <a:spcBef>
                <a:spcPts val="0"/>
              </a:spcBef>
              <a:spcAft>
                <a:spcPts val="0"/>
              </a:spcAft>
              <a:buNone/>
            </a:pPr>
            <a:r>
              <a:rPr lang="en" i="1" dirty="0"/>
              <a:t>Zexel Nicholas Lew</a:t>
            </a:r>
            <a:endParaRPr i="1" dirty="0"/>
          </a:p>
        </p:txBody>
      </p:sp>
      <p:cxnSp>
        <p:nvCxnSpPr>
          <p:cNvPr id="482" name="Google Shape;482;p83"/>
          <p:cNvCxnSpPr/>
          <p:nvPr/>
        </p:nvCxnSpPr>
        <p:spPr>
          <a:xfrm>
            <a:off x="1459900" y="2812400"/>
            <a:ext cx="5835000" cy="0"/>
          </a:xfrm>
          <a:prstGeom prst="straightConnector1">
            <a:avLst/>
          </a:prstGeom>
          <a:noFill/>
          <a:ln w="9525" cap="flat" cmpd="sng">
            <a:solidFill>
              <a:schemeClr val="dk1"/>
            </a:solidFill>
            <a:prstDash val="solid"/>
            <a:round/>
            <a:headEnd type="none" w="med" len="med"/>
            <a:tailEnd type="none" w="med" len="med"/>
          </a:ln>
        </p:spPr>
      </p:cxnSp>
      <p:sp>
        <p:nvSpPr>
          <p:cNvPr id="483" name="Google Shape;483;p83"/>
          <p:cNvSpPr txBox="1">
            <a:spLocks noGrp="1"/>
          </p:cNvSpPr>
          <p:nvPr>
            <p:ph type="subTitle" idx="1"/>
          </p:nvPr>
        </p:nvSpPr>
        <p:spPr>
          <a:xfrm>
            <a:off x="1355125" y="2929275"/>
            <a:ext cx="4893300" cy="48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Machine Learning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84"/>
          <p:cNvSpPr txBox="1">
            <a:spLocks noGrp="1"/>
          </p:cNvSpPr>
          <p:nvPr>
            <p:ph type="title"/>
          </p:nvPr>
        </p:nvSpPr>
        <p:spPr>
          <a:xfrm>
            <a:off x="273500" y="539500"/>
            <a:ext cx="859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Background</a:t>
            </a:r>
            <a:endParaRPr/>
          </a:p>
        </p:txBody>
      </p:sp>
      <p:sp>
        <p:nvSpPr>
          <p:cNvPr id="489" name="Google Shape;489;p84"/>
          <p:cNvSpPr txBox="1"/>
          <p:nvPr/>
        </p:nvSpPr>
        <p:spPr>
          <a:xfrm>
            <a:off x="310675" y="1376725"/>
            <a:ext cx="4899900" cy="800100"/>
          </a:xfrm>
          <a:prstGeom prst="rect">
            <a:avLst/>
          </a:prstGeom>
          <a:noFill/>
          <a:ln>
            <a:noFill/>
          </a:ln>
        </p:spPr>
        <p:txBody>
          <a:bodyPr spcFirstLastPara="1" wrap="square" lIns="91425" tIns="20000" rIns="91425"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200" b="1">
                <a:solidFill>
                  <a:schemeClr val="dk1"/>
                </a:solidFill>
                <a:latin typeface="Didact Gothic"/>
                <a:ea typeface="Didact Gothic"/>
                <a:cs typeface="Didact Gothic"/>
                <a:sym typeface="Didact Gothic"/>
              </a:rPr>
              <a:t>Kuaishou </a:t>
            </a:r>
            <a:r>
              <a:rPr lang="en" sz="1200">
                <a:solidFill>
                  <a:schemeClr val="dk1"/>
                </a:solidFill>
                <a:latin typeface="Didact Gothic"/>
                <a:ea typeface="Didact Gothic"/>
                <a:cs typeface="Didact Gothic"/>
                <a:sym typeface="Didact Gothic"/>
              </a:rPr>
              <a:t>is a major Chinese short-video and live-streaming app - Douyin/TikTok’s main domestic competitor.</a:t>
            </a:r>
            <a:endParaRPr sz="1200">
              <a:solidFill>
                <a:schemeClr val="dk1"/>
              </a:solidFill>
              <a:latin typeface="Didact Gothic"/>
              <a:ea typeface="Didact Gothic"/>
              <a:cs typeface="Didact Gothic"/>
              <a:sym typeface="Didact Gothic"/>
            </a:endParaRPr>
          </a:p>
          <a:p>
            <a:pPr marL="0" marR="0" lvl="0" indent="0" algn="l" rtl="0">
              <a:lnSpc>
                <a:spcPct val="100000"/>
              </a:lnSpc>
              <a:spcBef>
                <a:spcPts val="0"/>
              </a:spcBef>
              <a:spcAft>
                <a:spcPts val="0"/>
              </a:spcAft>
              <a:buClr>
                <a:schemeClr val="dk1"/>
              </a:buClr>
              <a:buSzPts val="1100"/>
              <a:buFont typeface="Arial"/>
              <a:buNone/>
            </a:pPr>
            <a:r>
              <a:rPr lang="en" sz="1200">
                <a:solidFill>
                  <a:schemeClr val="dk1"/>
                </a:solidFill>
                <a:latin typeface="Didact Gothic"/>
                <a:ea typeface="Didact Gothic"/>
                <a:cs typeface="Didact Gothic"/>
                <a:sym typeface="Didact Gothic"/>
              </a:rPr>
              <a:t>Live streaming = </a:t>
            </a:r>
            <a:r>
              <a:rPr lang="en" sz="1200" b="1">
                <a:solidFill>
                  <a:schemeClr val="dk1"/>
                </a:solidFill>
                <a:latin typeface="Didact Gothic"/>
                <a:ea typeface="Didact Gothic"/>
                <a:cs typeface="Didact Gothic"/>
                <a:sym typeface="Didact Gothic"/>
              </a:rPr>
              <a:t>~30</a:t>
            </a:r>
            <a:r>
              <a:rPr lang="en" sz="1200">
                <a:solidFill>
                  <a:schemeClr val="dk1"/>
                </a:solidFill>
                <a:latin typeface="Didact Gothic"/>
                <a:ea typeface="Didact Gothic"/>
                <a:cs typeface="Didact Gothic"/>
                <a:sym typeface="Didact Gothic"/>
              </a:rPr>
              <a:t>% of its annual revenue; gift value is </a:t>
            </a:r>
            <a:r>
              <a:rPr lang="en" sz="1200" b="1">
                <a:solidFill>
                  <a:schemeClr val="dk1"/>
                </a:solidFill>
                <a:latin typeface="Didact Gothic"/>
                <a:ea typeface="Didact Gothic"/>
                <a:cs typeface="Didact Gothic"/>
                <a:sym typeface="Didact Gothic"/>
              </a:rPr>
              <a:t>50%</a:t>
            </a:r>
            <a:r>
              <a:rPr lang="en" sz="1200">
                <a:solidFill>
                  <a:schemeClr val="dk1"/>
                </a:solidFill>
                <a:latin typeface="Didact Gothic"/>
                <a:ea typeface="Didact Gothic"/>
                <a:cs typeface="Didact Gothic"/>
                <a:sym typeface="Didact Gothic"/>
              </a:rPr>
              <a:t> co-shared with streamers.</a:t>
            </a:r>
            <a:endParaRPr sz="1200">
              <a:solidFill>
                <a:schemeClr val="dk1"/>
              </a:solidFill>
            </a:endParaRPr>
          </a:p>
        </p:txBody>
      </p:sp>
      <p:grpSp>
        <p:nvGrpSpPr>
          <p:cNvPr id="490" name="Google Shape;490;p84"/>
          <p:cNvGrpSpPr/>
          <p:nvPr/>
        </p:nvGrpSpPr>
        <p:grpSpPr>
          <a:xfrm>
            <a:off x="311075" y="2243061"/>
            <a:ext cx="2370000" cy="572670"/>
            <a:chOff x="158675" y="2547938"/>
            <a:chExt cx="2370000" cy="900000"/>
          </a:xfrm>
        </p:grpSpPr>
        <p:sp>
          <p:nvSpPr>
            <p:cNvPr id="491" name="Google Shape;491;p84"/>
            <p:cNvSpPr/>
            <p:nvPr/>
          </p:nvSpPr>
          <p:spPr>
            <a:xfrm>
              <a:off x="158675" y="2547938"/>
              <a:ext cx="2370000" cy="900000"/>
            </a:xfrm>
            <a:prstGeom prst="rect">
              <a:avLst/>
            </a:prstGeom>
            <a:solidFill>
              <a:schemeClr val="accent2"/>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2" name="Google Shape;492;p84"/>
            <p:cNvSpPr txBox="1"/>
            <p:nvPr/>
          </p:nvSpPr>
          <p:spPr>
            <a:xfrm>
              <a:off x="218675" y="2596925"/>
              <a:ext cx="900000" cy="8001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4A4A4A"/>
                  </a:solidFill>
                  <a:latin typeface="Oswald"/>
                  <a:ea typeface="Oswald"/>
                  <a:cs typeface="Oswald"/>
                  <a:sym typeface="Oswald"/>
                </a:rPr>
                <a:t>238</a:t>
              </a:r>
              <a:endParaRPr>
                <a:solidFill>
                  <a:srgbClr val="4A4A4A"/>
                </a:solidFill>
              </a:endParaRPr>
            </a:p>
          </p:txBody>
        </p:sp>
        <p:sp>
          <p:nvSpPr>
            <p:cNvPr id="493" name="Google Shape;493;p84"/>
            <p:cNvSpPr txBox="1"/>
            <p:nvPr/>
          </p:nvSpPr>
          <p:spPr>
            <a:xfrm>
              <a:off x="1153675" y="2596925"/>
              <a:ext cx="1320000" cy="800100"/>
            </a:xfrm>
            <a:prstGeom prst="rect">
              <a:avLst/>
            </a:prstGeom>
            <a:solidFill>
              <a:schemeClr val="accent2"/>
            </a:solidFill>
            <a:ln>
              <a:noFill/>
            </a:ln>
          </p:spPr>
          <p:txBody>
            <a:bodyPr spcFirstLastPara="1" wrap="square" lIns="20000" tIns="20000" rIns="20000" bIns="200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Didact Gothic"/>
                  <a:ea typeface="Didact Gothic"/>
                  <a:cs typeface="Didact Gothic"/>
                  <a:sym typeface="Didact Gothic"/>
                </a:rPr>
                <a:t>users (top 1%) drive ~60% of all gift value</a:t>
              </a:r>
              <a:endParaRPr>
                <a:latin typeface="Didact Gothic"/>
                <a:ea typeface="Didact Gothic"/>
                <a:cs typeface="Didact Gothic"/>
                <a:sym typeface="Didact Gothic"/>
              </a:endParaRPr>
            </a:p>
          </p:txBody>
        </p:sp>
      </p:grpSp>
      <p:grpSp>
        <p:nvGrpSpPr>
          <p:cNvPr id="494" name="Google Shape;494;p84"/>
          <p:cNvGrpSpPr/>
          <p:nvPr/>
        </p:nvGrpSpPr>
        <p:grpSpPr>
          <a:xfrm>
            <a:off x="2786075" y="2242040"/>
            <a:ext cx="2370000" cy="572670"/>
            <a:chOff x="2633675" y="2546925"/>
            <a:chExt cx="2370000" cy="900000"/>
          </a:xfrm>
        </p:grpSpPr>
        <p:sp>
          <p:nvSpPr>
            <p:cNvPr id="495" name="Google Shape;495;p84"/>
            <p:cNvSpPr/>
            <p:nvPr/>
          </p:nvSpPr>
          <p:spPr>
            <a:xfrm>
              <a:off x="2633675" y="2546925"/>
              <a:ext cx="2370000" cy="900000"/>
            </a:xfrm>
            <a:prstGeom prst="rect">
              <a:avLst/>
            </a:prstGeom>
            <a:solidFill>
              <a:schemeClr val="accent2"/>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6" name="Google Shape;496;p84"/>
            <p:cNvSpPr txBox="1"/>
            <p:nvPr/>
          </p:nvSpPr>
          <p:spPr>
            <a:xfrm>
              <a:off x="2693675" y="2596925"/>
              <a:ext cx="1149900" cy="8001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4A4A4A"/>
                  </a:solidFill>
                  <a:latin typeface="Oswald"/>
                  <a:ea typeface="Oswald"/>
                  <a:cs typeface="Oswald"/>
                  <a:sym typeface="Oswald"/>
                </a:rPr>
                <a:t>50%</a:t>
              </a:r>
              <a:endParaRPr>
                <a:solidFill>
                  <a:srgbClr val="4A4A4A"/>
                </a:solidFill>
              </a:endParaRPr>
            </a:p>
          </p:txBody>
        </p:sp>
        <p:sp>
          <p:nvSpPr>
            <p:cNvPr id="497" name="Google Shape;497;p84"/>
            <p:cNvSpPr txBox="1"/>
            <p:nvPr/>
          </p:nvSpPr>
          <p:spPr>
            <a:xfrm>
              <a:off x="3878675" y="2596925"/>
              <a:ext cx="1070100" cy="800100"/>
            </a:xfrm>
            <a:prstGeom prst="rect">
              <a:avLst/>
            </a:prstGeom>
            <a:solidFill>
              <a:schemeClr val="accent2"/>
            </a:solidFill>
            <a:ln>
              <a:noFill/>
            </a:ln>
          </p:spPr>
          <p:txBody>
            <a:bodyPr spcFirstLastPara="1" wrap="square" lIns="20000" tIns="20000" rIns="20000" bIns="2000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Didact Gothic"/>
                  <a:ea typeface="Didact Gothic"/>
                  <a:cs typeface="Didact Gothic"/>
                  <a:sym typeface="Didact Gothic"/>
                </a:rPr>
                <a:t>of gifters gift only once </a:t>
              </a:r>
              <a:r>
                <a:rPr lang="en" sz="1000" b="1">
                  <a:latin typeface="Didact Gothic"/>
                  <a:ea typeface="Didact Gothic"/>
                  <a:cs typeface="Didact Gothic"/>
                  <a:sym typeface="Didact Gothic"/>
                </a:rPr>
                <a:t>every</a:t>
              </a:r>
              <a:r>
                <a:rPr lang="en" sz="1000" b="1" i="0" u="none" strike="noStrike" cap="none">
                  <a:solidFill>
                    <a:srgbClr val="000000"/>
                  </a:solidFill>
                  <a:latin typeface="Didact Gothic"/>
                  <a:ea typeface="Didact Gothic"/>
                  <a:cs typeface="Didact Gothic"/>
                  <a:sym typeface="Didact Gothic"/>
                </a:rPr>
                <a:t> 21 days</a:t>
              </a:r>
              <a:endParaRPr>
                <a:latin typeface="Didact Gothic"/>
                <a:ea typeface="Didact Gothic"/>
                <a:cs typeface="Didact Gothic"/>
                <a:sym typeface="Didact Gothic"/>
              </a:endParaRPr>
            </a:p>
          </p:txBody>
        </p:sp>
      </p:grpSp>
      <p:sp>
        <p:nvSpPr>
          <p:cNvPr id="498" name="Google Shape;498;p84"/>
          <p:cNvSpPr/>
          <p:nvPr/>
        </p:nvSpPr>
        <p:spPr>
          <a:xfrm>
            <a:off x="311075" y="2982225"/>
            <a:ext cx="80400" cy="572700"/>
          </a:xfrm>
          <a:prstGeom prst="rect">
            <a:avLst/>
          </a:prstGeom>
          <a:solidFill>
            <a:srgbClr val="F15FB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9" name="Google Shape;499;p84"/>
          <p:cNvSpPr txBox="1"/>
          <p:nvPr/>
        </p:nvSpPr>
        <p:spPr>
          <a:xfrm>
            <a:off x="486075" y="2982225"/>
            <a:ext cx="4725000" cy="572700"/>
          </a:xfrm>
          <a:prstGeom prst="rect">
            <a:avLst/>
          </a:prstGeom>
          <a:noFill/>
          <a:ln>
            <a:noFill/>
          </a:ln>
        </p:spPr>
        <p:txBody>
          <a:bodyPr spcFirstLastPara="1" wrap="square" lIns="91425" tIns="0" rIns="91425" bIns="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rgbClr val="F15FBC"/>
                </a:solidFill>
                <a:latin typeface="Didact Gothic"/>
                <a:ea typeface="Didact Gothic"/>
                <a:cs typeface="Didact Gothic"/>
                <a:sym typeface="Didact Gothic"/>
              </a:rPr>
              <a:t>OUR OBJECTIVE</a:t>
            </a:r>
            <a:endParaRPr>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r>
              <a:rPr lang="en" sz="1100">
                <a:latin typeface="Didact Gothic"/>
                <a:ea typeface="Didact Gothic"/>
                <a:cs typeface="Didact Gothic"/>
                <a:sym typeface="Didact Gothic"/>
              </a:rPr>
              <a:t>O</a:t>
            </a:r>
            <a:r>
              <a:rPr lang="en" sz="1100" i="0" u="none" strike="noStrike" cap="none">
                <a:solidFill>
                  <a:srgbClr val="000000"/>
                </a:solidFill>
                <a:latin typeface="Didact Gothic"/>
                <a:ea typeface="Didact Gothic"/>
                <a:cs typeface="Didact Gothic"/>
                <a:sym typeface="Didact Gothic"/>
              </a:rPr>
              <a:t>ffer targeted discount bundles to </a:t>
            </a:r>
            <a:r>
              <a:rPr lang="en" sz="1100" b="1" i="0" u="none" strike="noStrike" cap="none">
                <a:solidFill>
                  <a:srgbClr val="000000"/>
                </a:solidFill>
                <a:latin typeface="Didact Gothic"/>
                <a:ea typeface="Didact Gothic"/>
                <a:cs typeface="Didact Gothic"/>
                <a:sym typeface="Didact Gothic"/>
              </a:rPr>
              <a:t>persuadable viewers,</a:t>
            </a:r>
            <a:r>
              <a:rPr lang="en" sz="1100" i="0" u="none" strike="noStrike" cap="none">
                <a:solidFill>
                  <a:srgbClr val="000000"/>
                </a:solidFill>
                <a:latin typeface="Didact Gothic"/>
                <a:ea typeface="Didact Gothic"/>
                <a:cs typeface="Didact Gothic"/>
                <a:sym typeface="Didact Gothic"/>
              </a:rPr>
              <a:t> to improve </a:t>
            </a:r>
            <a:r>
              <a:rPr lang="en" sz="1100">
                <a:latin typeface="Didact Gothic"/>
                <a:ea typeface="Didact Gothic"/>
                <a:cs typeface="Didact Gothic"/>
                <a:sym typeface="Didact Gothic"/>
              </a:rPr>
              <a:t>overall gifting revenue.</a:t>
            </a:r>
            <a:endParaRPr sz="1100" i="0" u="none" strike="noStrike" cap="none">
              <a:solidFill>
                <a:srgbClr val="000000"/>
              </a:solidFill>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endParaRPr sz="1100">
              <a:latin typeface="Didact Gothic"/>
              <a:ea typeface="Didact Gothic"/>
              <a:cs typeface="Didact Gothic"/>
              <a:sym typeface="Didact Gothic"/>
            </a:endParaRPr>
          </a:p>
        </p:txBody>
      </p:sp>
      <p:pic>
        <p:nvPicPr>
          <p:cNvPr id="500" name="Google Shape;500;p84"/>
          <p:cNvPicPr preferRelativeResize="0"/>
          <p:nvPr/>
        </p:nvPicPr>
        <p:blipFill rotWithShape="1">
          <a:blip r:embed="rId3">
            <a:alphaModFix/>
          </a:blip>
          <a:srcRect/>
          <a:stretch/>
        </p:blipFill>
        <p:spPr>
          <a:xfrm>
            <a:off x="5657575" y="1112200"/>
            <a:ext cx="2939001" cy="2630000"/>
          </a:xfrm>
          <a:prstGeom prst="rect">
            <a:avLst/>
          </a:prstGeom>
          <a:noFill/>
          <a:ln>
            <a:noFill/>
          </a:ln>
        </p:spPr>
      </p:pic>
      <p:sp>
        <p:nvSpPr>
          <p:cNvPr id="501" name="Google Shape;501;p84"/>
          <p:cNvSpPr txBox="1"/>
          <p:nvPr/>
        </p:nvSpPr>
        <p:spPr>
          <a:xfrm>
            <a:off x="5657525" y="3854925"/>
            <a:ext cx="2939100" cy="320100"/>
          </a:xfrm>
          <a:prstGeom prst="rect">
            <a:avLst/>
          </a:prstGeom>
          <a:noFill/>
          <a:ln>
            <a:noFill/>
          </a:ln>
        </p:spPr>
        <p:txBody>
          <a:bodyPr spcFirstLastPara="1" wrap="square" lIns="45700" tIns="0" rIns="45700" bIns="0"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300" b="1">
                <a:solidFill>
                  <a:schemeClr val="dk1"/>
                </a:solidFill>
                <a:latin typeface="Didact Gothic"/>
                <a:ea typeface="Didact Gothic"/>
                <a:cs typeface="Didact Gothic"/>
                <a:sym typeface="Didact Gothic"/>
              </a:rPr>
              <a:t>Twitch does this. Kuaishou doesn’t.</a:t>
            </a:r>
            <a:endParaRPr sz="1300" b="1">
              <a:solidFill>
                <a:schemeClr val="dk1"/>
              </a:solidFill>
              <a:latin typeface="Didact Gothic"/>
              <a:ea typeface="Didact Gothic"/>
              <a:cs typeface="Didact Gothic"/>
              <a:sym typeface="Didact Gothic"/>
            </a:endParaRPr>
          </a:p>
        </p:txBody>
      </p:sp>
      <p:sp>
        <p:nvSpPr>
          <p:cNvPr id="502" name="Google Shape;502;p84"/>
          <p:cNvSpPr/>
          <p:nvPr/>
        </p:nvSpPr>
        <p:spPr>
          <a:xfrm>
            <a:off x="5936825" y="4383995"/>
            <a:ext cx="2380500" cy="272400"/>
          </a:xfrm>
          <a:prstGeom prst="rect">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00" b="1">
                <a:latin typeface="Didact Gothic"/>
                <a:ea typeface="Didact Gothic"/>
                <a:cs typeface="Didact Gothic"/>
                <a:sym typeface="Didact Gothic"/>
              </a:rPr>
              <a:t>Binary Classification</a:t>
            </a:r>
            <a:endParaRPr sz="1300" b="1">
              <a:latin typeface="Didact Gothic"/>
              <a:ea typeface="Didact Gothic"/>
              <a:cs typeface="Didact Gothic"/>
              <a:sym typeface="Didact Gothic"/>
            </a:endParaRPr>
          </a:p>
        </p:txBody>
      </p:sp>
      <p:sp>
        <p:nvSpPr>
          <p:cNvPr id="503" name="Google Shape;503;p84"/>
          <p:cNvSpPr txBox="1">
            <a:spLocks noGrp="1"/>
          </p:cNvSpPr>
          <p:nvPr>
            <p:ph type="subTitle" idx="4294967295"/>
          </p:nvPr>
        </p:nvSpPr>
        <p:spPr>
          <a:xfrm>
            <a:off x="310675" y="1029700"/>
            <a:ext cx="4480800" cy="41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300">
                <a:solidFill>
                  <a:srgbClr val="FF00FF"/>
                </a:solidFill>
              </a:rPr>
              <a:t>A revenue engine resting on the top 1% of users</a:t>
            </a:r>
            <a:endParaRPr sz="1300">
              <a:solidFill>
                <a:srgbClr val="FF00FF"/>
              </a:solidFill>
            </a:endParaRPr>
          </a:p>
        </p:txBody>
      </p:sp>
      <p:grpSp>
        <p:nvGrpSpPr>
          <p:cNvPr id="504" name="Google Shape;504;p84"/>
          <p:cNvGrpSpPr/>
          <p:nvPr/>
        </p:nvGrpSpPr>
        <p:grpSpPr>
          <a:xfrm>
            <a:off x="311075" y="3616275"/>
            <a:ext cx="5227875" cy="1448923"/>
            <a:chOff x="311075" y="4073475"/>
            <a:chExt cx="5227875" cy="1448923"/>
          </a:xfrm>
        </p:grpSpPr>
        <p:sp>
          <p:nvSpPr>
            <p:cNvPr id="505" name="Google Shape;505;p84"/>
            <p:cNvSpPr/>
            <p:nvPr/>
          </p:nvSpPr>
          <p:spPr>
            <a:xfrm>
              <a:off x="311075" y="4111198"/>
              <a:ext cx="80400" cy="14112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6" name="Google Shape;506;p84"/>
            <p:cNvSpPr txBox="1"/>
            <p:nvPr/>
          </p:nvSpPr>
          <p:spPr>
            <a:xfrm>
              <a:off x="510050" y="4073475"/>
              <a:ext cx="5028900" cy="1411200"/>
            </a:xfrm>
            <a:prstGeom prst="rect">
              <a:avLst/>
            </a:prstGeom>
            <a:noFill/>
            <a:ln>
              <a:noFill/>
            </a:ln>
          </p:spPr>
          <p:txBody>
            <a:bodyPr spcFirstLastPara="1" wrap="square" lIns="91425" tIns="0" rIns="91425" bIns="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solidFill>
                    <a:schemeClr val="dk2"/>
                  </a:solidFill>
                  <a:latin typeface="Didact Gothic"/>
                  <a:ea typeface="Didact Gothic"/>
                  <a:cs typeface="Didact Gothic"/>
                  <a:sym typeface="Didact Gothic"/>
                </a:rPr>
                <a:t>OUR </a:t>
              </a:r>
              <a:r>
                <a:rPr lang="en" sz="1200" b="1">
                  <a:solidFill>
                    <a:schemeClr val="dk2"/>
                  </a:solidFill>
                  <a:latin typeface="Didact Gothic"/>
                  <a:ea typeface="Didact Gothic"/>
                  <a:cs typeface="Didact Gothic"/>
                  <a:sym typeface="Didact Gothic"/>
                </a:rPr>
                <a:t>TASK</a:t>
              </a:r>
              <a:endParaRPr>
                <a:solidFill>
                  <a:schemeClr val="dk2"/>
                </a:solidFill>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r>
                <a:rPr lang="en" sz="1100">
                  <a:latin typeface="Didact Gothic"/>
                  <a:ea typeface="Didact Gothic"/>
                  <a:cs typeface="Didact Gothic"/>
                  <a:sym typeface="Didact Gothic"/>
                </a:rPr>
                <a:t>Management wants to pilot a prediction model for </a:t>
              </a:r>
              <a:r>
                <a:rPr lang="en" sz="1100" b="1">
                  <a:latin typeface="Didact Gothic"/>
                  <a:ea typeface="Didact Gothic"/>
                  <a:cs typeface="Didact Gothic"/>
                  <a:sym typeface="Didact Gothic"/>
                </a:rPr>
                <a:t>200</a:t>
              </a:r>
              <a:r>
                <a:rPr lang="en" sz="1100">
                  <a:latin typeface="Didact Gothic"/>
                  <a:ea typeface="Didact Gothic"/>
                  <a:cs typeface="Didact Gothic"/>
                  <a:sym typeface="Didact Gothic"/>
                </a:rPr>
                <a:t> </a:t>
              </a:r>
              <a:r>
                <a:rPr lang="en" sz="1100" b="1">
                  <a:latin typeface="Didact Gothic"/>
                  <a:ea typeface="Didact Gothic"/>
                  <a:cs typeface="Didact Gothic"/>
                  <a:sym typeface="Didact Gothic"/>
                </a:rPr>
                <a:t>high-activity users</a:t>
              </a:r>
              <a:r>
                <a:rPr lang="en" sz="1100">
                  <a:latin typeface="Didact Gothic"/>
                  <a:ea typeface="Didact Gothic"/>
                  <a:cs typeface="Didact Gothic"/>
                  <a:sym typeface="Didact Gothic"/>
                </a:rPr>
                <a:t>. </a:t>
              </a:r>
              <a:br>
                <a:rPr lang="en" sz="1100">
                  <a:latin typeface="Didact Gothic"/>
                  <a:ea typeface="Didact Gothic"/>
                  <a:cs typeface="Didact Gothic"/>
                  <a:sym typeface="Didact Gothic"/>
                </a:rPr>
              </a:br>
              <a:r>
                <a:rPr lang="en" sz="1100">
                  <a:latin typeface="Didact Gothic"/>
                  <a:ea typeface="Didact Gothic"/>
                  <a:cs typeface="Didact Gothic"/>
                  <a:sym typeface="Didact Gothic"/>
                </a:rPr>
                <a:t>The datasets available are of vastly different formats (csv vs json).</a:t>
              </a:r>
              <a:endParaRPr sz="1100">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r>
                <a:rPr lang="en" sz="1100">
                  <a:latin typeface="Didact Gothic"/>
                  <a:ea typeface="Didact Gothic"/>
                  <a:cs typeface="Didact Gothic"/>
                  <a:sym typeface="Didact Gothic"/>
                </a:rPr>
                <a:t>Due to </a:t>
              </a:r>
              <a:r>
                <a:rPr lang="en" sz="1100" b="1">
                  <a:latin typeface="Didact Gothic"/>
                  <a:ea typeface="Didact Gothic"/>
                  <a:cs typeface="Didact Gothic"/>
                  <a:sym typeface="Didact Gothic"/>
                </a:rPr>
                <a:t>possible drifts </a:t>
              </a:r>
              <a:r>
                <a:rPr lang="en" sz="1100">
                  <a:latin typeface="Didact Gothic"/>
                  <a:ea typeface="Didact Gothic"/>
                  <a:cs typeface="Didact Gothic"/>
                  <a:sym typeface="Didact Gothic"/>
                </a:rPr>
                <a:t>between </a:t>
              </a:r>
              <a:r>
                <a:rPr lang="en" sz="1100" b="1">
                  <a:latin typeface="Didact Gothic"/>
                  <a:ea typeface="Didact Gothic"/>
                  <a:cs typeface="Didact Gothic"/>
                  <a:sym typeface="Didact Gothic"/>
                </a:rPr>
                <a:t>historical and present data</a:t>
              </a:r>
              <a:r>
                <a:rPr lang="en" sz="1100">
                  <a:latin typeface="Didact Gothic"/>
                  <a:ea typeface="Didact Gothic"/>
                  <a:cs typeface="Didact Gothic"/>
                  <a:sym typeface="Didact Gothic"/>
                </a:rPr>
                <a:t>, we would expect:</a:t>
              </a:r>
              <a:endParaRPr sz="1100">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r>
                <a:rPr lang="en" sz="1100">
                  <a:latin typeface="Didact Gothic"/>
                  <a:ea typeface="Didact Gothic"/>
                  <a:cs typeface="Didact Gothic"/>
                  <a:sym typeface="Didact Gothic"/>
                </a:rPr>
                <a:t>(1) that raw features will differ between the static and the actual pilot data</a:t>
              </a:r>
              <a:endParaRPr sz="1100">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r>
                <a:rPr lang="en" sz="1100">
                  <a:latin typeface="Didact Gothic"/>
                  <a:ea typeface="Didact Gothic"/>
                  <a:cs typeface="Didact Gothic"/>
                  <a:sym typeface="Didact Gothic"/>
                </a:rPr>
                <a:t>(2) the focus on users would mean that we should engineer features around relative user-behaviours.</a:t>
              </a:r>
              <a:endParaRPr sz="1100">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endParaRPr sz="1100">
                <a:latin typeface="Didact Gothic"/>
                <a:ea typeface="Didact Gothic"/>
                <a:cs typeface="Didact Gothic"/>
                <a:sym typeface="Didact Gothic"/>
              </a:endParaRPr>
            </a:p>
          </p:txBody>
        </p:sp>
      </p:grpSp>
      <p:sp>
        <p:nvSpPr>
          <p:cNvPr id="507" name="Google Shape;507;p84"/>
          <p:cNvSpPr txBox="1"/>
          <p:nvPr/>
        </p:nvSpPr>
        <p:spPr>
          <a:xfrm>
            <a:off x="9395850" y="0"/>
            <a:ext cx="4611900" cy="6583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2000"/>
              </a:spcBef>
              <a:spcAft>
                <a:spcPts val="0"/>
              </a:spcAft>
              <a:buNone/>
            </a:pPr>
            <a:r>
              <a:rPr lang="en" sz="1200" b="1"/>
              <a:t>2. Datasets</a:t>
            </a:r>
            <a:endParaRPr sz="1200" b="1"/>
          </a:p>
          <a:p>
            <a:pPr marL="0" lvl="0" indent="0" algn="l" rtl="0">
              <a:lnSpc>
                <a:spcPct val="115000"/>
              </a:lnSpc>
              <a:spcBef>
                <a:spcPts val="1800"/>
              </a:spcBef>
              <a:spcAft>
                <a:spcPts val="0"/>
              </a:spcAft>
              <a:buNone/>
            </a:pPr>
            <a:r>
              <a:rPr lang="en" sz="1200" i="1"/>
              <a:t>2.1 KuaiLive</a:t>
            </a:r>
            <a:endParaRPr sz="1200" i="1"/>
          </a:p>
          <a:p>
            <a:pPr marL="0" lvl="0" indent="0" algn="just" rtl="0">
              <a:lnSpc>
                <a:spcPct val="115000"/>
              </a:lnSpc>
              <a:spcBef>
                <a:spcPts val="600"/>
              </a:spcBef>
              <a:spcAft>
                <a:spcPts val="0"/>
              </a:spcAft>
              <a:buNone/>
            </a:pPr>
            <a:r>
              <a:rPr lang="en" sz="1000"/>
              <a:t>KuaiLive </a:t>
            </a:r>
            <a:r>
              <a:rPr lang="en" sz="1000">
                <a:highlight>
                  <a:srgbClr val="00FFFF"/>
                </a:highlight>
              </a:rPr>
              <a:t>[1]</a:t>
            </a:r>
            <a:r>
              <a:rPr lang="en" sz="1000"/>
              <a:t> serves as the anchor dataset for model training. It is a structured CSV-based dataset collected from Kuaishou over a 21-day period (May 5 to May 25, 2025). It contains KuaiShou’s interaction logs of 23772 users, 452621 streamers, and over 5 million interactions (click, comment, like, gift). The dataset provides timestamped user interactions including gift records, user metadata such as gender and age, as well as room-level information like livestream category. These features allow us to reconstruct time-aware features for real-time inference.  </a:t>
            </a:r>
            <a:endParaRPr sz="1000"/>
          </a:p>
          <a:p>
            <a:pPr marL="0" lvl="0" indent="0" algn="just" rtl="0">
              <a:lnSpc>
                <a:spcPct val="115000"/>
              </a:lnSpc>
              <a:spcBef>
                <a:spcPts val="0"/>
              </a:spcBef>
              <a:spcAft>
                <a:spcPts val="0"/>
              </a:spcAft>
              <a:buNone/>
            </a:pPr>
            <a:endParaRPr sz="1000"/>
          </a:p>
          <a:p>
            <a:pPr marL="0" lvl="0" indent="0" algn="just" rtl="0">
              <a:lnSpc>
                <a:spcPct val="115000"/>
              </a:lnSpc>
              <a:spcBef>
                <a:spcPts val="0"/>
              </a:spcBef>
              <a:spcAft>
                <a:spcPts val="0"/>
              </a:spcAft>
              <a:buNone/>
            </a:pPr>
            <a:r>
              <a:rPr lang="en" sz="1000">
                <a:solidFill>
                  <a:srgbClr val="FF0000"/>
                </a:solidFill>
              </a:rPr>
              <a:t>[Brief EDA]</a:t>
            </a:r>
            <a:endParaRPr sz="1000">
              <a:highlight>
                <a:srgbClr val="00FFFF"/>
              </a:highlight>
            </a:endParaRPr>
          </a:p>
          <a:p>
            <a:pPr marL="0" lvl="0" indent="0" algn="just" rtl="0">
              <a:lnSpc>
                <a:spcPct val="115000"/>
              </a:lnSpc>
              <a:spcBef>
                <a:spcPts val="1800"/>
              </a:spcBef>
              <a:spcAft>
                <a:spcPts val="0"/>
              </a:spcAft>
              <a:buNone/>
            </a:pPr>
            <a:r>
              <a:rPr lang="en" sz="1200" i="1"/>
              <a:t>2.2 OmniBehaviour</a:t>
            </a:r>
            <a:endParaRPr sz="1200" i="1"/>
          </a:p>
          <a:p>
            <a:pPr marL="0" lvl="0" indent="0" algn="just" rtl="0">
              <a:lnSpc>
                <a:spcPct val="115000"/>
              </a:lnSpc>
              <a:spcBef>
                <a:spcPts val="600"/>
              </a:spcBef>
              <a:spcAft>
                <a:spcPts val="0"/>
              </a:spcAft>
              <a:buNone/>
            </a:pPr>
            <a:r>
              <a:rPr lang="en" sz="1000"/>
              <a:t>OmniBehavior </a:t>
            </a:r>
            <a:r>
              <a:rPr lang="en" sz="1000">
                <a:highlight>
                  <a:srgbClr val="00FFFF"/>
                </a:highlight>
              </a:rPr>
              <a:t>[2]</a:t>
            </a:r>
            <a:r>
              <a:rPr lang="en" sz="1000"/>
              <a:t> is used as an auxiliary dataset to simulate pilot-testing of the model near real-time on a small sample of users. It is a JSON-based dataset collected over a longer horizon (September 1 to November 30, 2025). It describes the behavioural traces of 200 representative users spanning 5 scenarios (video browsing, e-commerce, advertisement, customer service, search behaviour, and livestreaming), 22 action types, with an average of over 8,000 actions per user. Only the livestreaming scenario is used for this project. </a:t>
            </a:r>
            <a:br>
              <a:rPr lang="en" sz="1000"/>
            </a:br>
            <a:br>
              <a:rPr lang="en" sz="1000"/>
            </a:br>
            <a:r>
              <a:rPr lang="en" sz="1200" b="1"/>
              <a:t>3. Design Considerations</a:t>
            </a:r>
            <a:endParaRPr sz="1200" b="1"/>
          </a:p>
          <a:p>
            <a:pPr marL="0" lvl="0" indent="0" algn="just" rtl="0">
              <a:lnSpc>
                <a:spcPct val="115000"/>
              </a:lnSpc>
              <a:spcBef>
                <a:spcPts val="0"/>
              </a:spcBef>
              <a:spcAft>
                <a:spcPts val="0"/>
              </a:spcAft>
              <a:buNone/>
            </a:pPr>
            <a:r>
              <a:rPr lang="en" sz="1000"/>
              <a:t>One key challenge in our pipeline is schema adaptation to integrate two heterogeneous datasets that differ in both structure and user populations. In addition, the seasonal nature of live streaming behaviour necessitates temporal feature engineering to capture user engagement cycles (e.g. weekends, annual festivals). The near real-time prediction system must also satisfy two operational requirements: (1) low-latency inference to enable timely interventions before user disengagement, and (2) continuous monitoring and retraining to maintain model freshness under evolving datasets and user behaviour driven by seasonality, livestream content dynamics, and shifting user preferences. </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85"/>
          <p:cNvSpPr/>
          <p:nvPr/>
        </p:nvSpPr>
        <p:spPr>
          <a:xfrm>
            <a:off x="223588" y="3188242"/>
            <a:ext cx="5115300" cy="10599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idact Gothic"/>
              <a:ea typeface="Didact Gothic"/>
              <a:cs typeface="Didact Gothic"/>
              <a:sym typeface="Didact Gothic"/>
            </a:endParaRPr>
          </a:p>
        </p:txBody>
      </p:sp>
      <p:sp>
        <p:nvSpPr>
          <p:cNvPr id="513" name="Google Shape;513;p85"/>
          <p:cNvSpPr txBox="1">
            <a:spLocks noGrp="1"/>
          </p:cNvSpPr>
          <p:nvPr>
            <p:ph type="title"/>
          </p:nvPr>
        </p:nvSpPr>
        <p:spPr>
          <a:xfrm>
            <a:off x="273500" y="539500"/>
            <a:ext cx="859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Architecture Overview</a:t>
            </a:r>
            <a:endParaRPr/>
          </a:p>
        </p:txBody>
      </p:sp>
      <p:sp>
        <p:nvSpPr>
          <p:cNvPr id="514" name="Google Shape;514;p85"/>
          <p:cNvSpPr/>
          <p:nvPr/>
        </p:nvSpPr>
        <p:spPr>
          <a:xfrm>
            <a:off x="4563250" y="1168850"/>
            <a:ext cx="652200" cy="3837000"/>
          </a:xfrm>
          <a:prstGeom prst="rect">
            <a:avLst/>
          </a:prstGeom>
          <a:solidFill>
            <a:srgbClr val="F2D6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15" name="Google Shape;515;p85"/>
          <p:cNvSpPr/>
          <p:nvPr/>
        </p:nvSpPr>
        <p:spPr>
          <a:xfrm>
            <a:off x="3347796" y="1168850"/>
            <a:ext cx="652200" cy="3064500"/>
          </a:xfrm>
          <a:prstGeom prst="rect">
            <a:avLst/>
          </a:prstGeom>
          <a:solidFill>
            <a:srgbClr val="9FA0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16" name="Google Shape;516;p85"/>
          <p:cNvSpPr/>
          <p:nvPr/>
        </p:nvSpPr>
        <p:spPr>
          <a:xfrm>
            <a:off x="2155363" y="1168850"/>
            <a:ext cx="652200" cy="3064500"/>
          </a:xfrm>
          <a:prstGeom prst="rect">
            <a:avLst/>
          </a:prstGeom>
          <a:solidFill>
            <a:srgbClr val="BF9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17" name="Google Shape;517;p85"/>
          <p:cNvSpPr/>
          <p:nvPr/>
        </p:nvSpPr>
        <p:spPr>
          <a:xfrm>
            <a:off x="223600" y="4244750"/>
            <a:ext cx="5115300" cy="7611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idact Gothic"/>
              <a:ea typeface="Didact Gothic"/>
              <a:cs typeface="Didact Gothic"/>
              <a:sym typeface="Didact Gothic"/>
            </a:endParaRPr>
          </a:p>
        </p:txBody>
      </p:sp>
      <p:sp>
        <p:nvSpPr>
          <p:cNvPr id="518" name="Google Shape;518;p85"/>
          <p:cNvSpPr/>
          <p:nvPr/>
        </p:nvSpPr>
        <p:spPr>
          <a:xfrm>
            <a:off x="223600" y="1174825"/>
            <a:ext cx="5115300" cy="2013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idact Gothic"/>
              <a:ea typeface="Didact Gothic"/>
              <a:cs typeface="Didact Gothic"/>
              <a:sym typeface="Didact Gothic"/>
            </a:endParaRPr>
          </a:p>
        </p:txBody>
      </p:sp>
      <p:grpSp>
        <p:nvGrpSpPr>
          <p:cNvPr id="519" name="Google Shape;519;p85"/>
          <p:cNvGrpSpPr/>
          <p:nvPr/>
        </p:nvGrpSpPr>
        <p:grpSpPr>
          <a:xfrm>
            <a:off x="998311" y="1383858"/>
            <a:ext cx="697800" cy="496489"/>
            <a:chOff x="234600" y="1308478"/>
            <a:chExt cx="697800" cy="496489"/>
          </a:xfrm>
        </p:grpSpPr>
        <p:sp>
          <p:nvSpPr>
            <p:cNvPr id="520" name="Google Shape;520;p85"/>
            <p:cNvSpPr txBox="1"/>
            <p:nvPr/>
          </p:nvSpPr>
          <p:spPr>
            <a:xfrm>
              <a:off x="23460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pic>
          <p:nvPicPr>
            <p:cNvPr id="521" name="Google Shape;521;p85"/>
            <p:cNvPicPr preferRelativeResize="0"/>
            <p:nvPr/>
          </p:nvPicPr>
          <p:blipFill rotWithShape="1">
            <a:blip r:embed="rId3">
              <a:alphaModFix/>
            </a:blip>
            <a:srcRect l="18635" r="18622"/>
            <a:stretch/>
          </p:blipFill>
          <p:spPr>
            <a:xfrm>
              <a:off x="461413" y="1308478"/>
              <a:ext cx="244175" cy="389150"/>
            </a:xfrm>
            <a:prstGeom prst="rect">
              <a:avLst/>
            </a:prstGeom>
            <a:noFill/>
            <a:ln>
              <a:noFill/>
            </a:ln>
          </p:spPr>
        </p:pic>
      </p:grpSp>
      <p:grpSp>
        <p:nvGrpSpPr>
          <p:cNvPr id="522" name="Google Shape;522;p85"/>
          <p:cNvGrpSpPr/>
          <p:nvPr/>
        </p:nvGrpSpPr>
        <p:grpSpPr>
          <a:xfrm>
            <a:off x="998311" y="1885275"/>
            <a:ext cx="697800" cy="501379"/>
            <a:chOff x="234600" y="1809895"/>
            <a:chExt cx="697800" cy="501379"/>
          </a:xfrm>
        </p:grpSpPr>
        <p:pic>
          <p:nvPicPr>
            <p:cNvPr id="523" name="Google Shape;523;p85"/>
            <p:cNvPicPr preferRelativeResize="0"/>
            <p:nvPr/>
          </p:nvPicPr>
          <p:blipFill rotWithShape="1">
            <a:blip r:embed="rId3">
              <a:alphaModFix/>
            </a:blip>
            <a:srcRect l="18635" r="18622"/>
            <a:stretch/>
          </p:blipFill>
          <p:spPr>
            <a:xfrm>
              <a:off x="461413" y="1809895"/>
              <a:ext cx="244175" cy="389150"/>
            </a:xfrm>
            <a:prstGeom prst="rect">
              <a:avLst/>
            </a:prstGeom>
            <a:noFill/>
            <a:ln>
              <a:noFill/>
            </a:ln>
          </p:spPr>
        </p:pic>
        <p:sp>
          <p:nvSpPr>
            <p:cNvPr id="524" name="Google Shape;524;p85"/>
            <p:cNvSpPr txBox="1"/>
            <p:nvPr/>
          </p:nvSpPr>
          <p:spPr>
            <a:xfrm>
              <a:off x="23460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grpSp>
      <p:grpSp>
        <p:nvGrpSpPr>
          <p:cNvPr id="525" name="Google Shape;525;p85"/>
          <p:cNvGrpSpPr/>
          <p:nvPr/>
        </p:nvGrpSpPr>
        <p:grpSpPr>
          <a:xfrm>
            <a:off x="763711" y="2386676"/>
            <a:ext cx="1167000" cy="674557"/>
            <a:chOff x="0" y="2311296"/>
            <a:chExt cx="1167000" cy="674557"/>
          </a:xfrm>
        </p:grpSpPr>
        <p:sp>
          <p:nvSpPr>
            <p:cNvPr id="526" name="Google Shape;526;p85"/>
            <p:cNvSpPr txBox="1"/>
            <p:nvPr/>
          </p:nvSpPr>
          <p:spPr>
            <a:xfrm>
              <a:off x="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like, gift, </a:t>
              </a:r>
              <a:endParaRPr sz="900">
                <a:solidFill>
                  <a:srgbClr val="000000"/>
                </a:solidFill>
                <a:latin typeface="Didact Gothic"/>
                <a:ea typeface="Didact Gothic"/>
                <a:cs typeface="Didact Gothic"/>
                <a:sym typeface="Didact Gothic"/>
              </a:endParaRPr>
            </a:p>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comment</a:t>
              </a:r>
              <a:endParaRPr sz="900">
                <a:solidFill>
                  <a:srgbClr val="000000"/>
                </a:solidFill>
                <a:latin typeface="Didact Gothic"/>
                <a:ea typeface="Didact Gothic"/>
                <a:cs typeface="Didact Gothic"/>
                <a:sym typeface="Didact Gothic"/>
              </a:endParaRPr>
            </a:p>
          </p:txBody>
        </p:sp>
        <p:pic>
          <p:nvPicPr>
            <p:cNvPr id="527" name="Google Shape;527;p85"/>
            <p:cNvPicPr preferRelativeResize="0"/>
            <p:nvPr/>
          </p:nvPicPr>
          <p:blipFill rotWithShape="1">
            <a:blip r:embed="rId3">
              <a:alphaModFix/>
            </a:blip>
            <a:srcRect l="18635" r="18622"/>
            <a:stretch/>
          </p:blipFill>
          <p:spPr>
            <a:xfrm>
              <a:off x="461413" y="2311296"/>
              <a:ext cx="244175" cy="389150"/>
            </a:xfrm>
            <a:prstGeom prst="rect">
              <a:avLst/>
            </a:prstGeom>
            <a:noFill/>
            <a:ln>
              <a:noFill/>
            </a:ln>
          </p:spPr>
        </p:pic>
      </p:grpSp>
      <p:sp>
        <p:nvSpPr>
          <p:cNvPr id="528" name="Google Shape;528;p85"/>
          <p:cNvSpPr/>
          <p:nvPr/>
        </p:nvSpPr>
        <p:spPr>
          <a:xfrm>
            <a:off x="1663731" y="1960783"/>
            <a:ext cx="3804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grpSp>
        <p:nvGrpSpPr>
          <p:cNvPr id="529" name="Google Shape;529;p85"/>
          <p:cNvGrpSpPr/>
          <p:nvPr/>
        </p:nvGrpSpPr>
        <p:grpSpPr>
          <a:xfrm>
            <a:off x="2121618" y="1413870"/>
            <a:ext cx="697800" cy="466476"/>
            <a:chOff x="1543350" y="1338491"/>
            <a:chExt cx="697800" cy="466476"/>
          </a:xfrm>
        </p:grpSpPr>
        <p:sp>
          <p:nvSpPr>
            <p:cNvPr id="530" name="Google Shape;530;p85"/>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531" name="Google Shape;531;p85"/>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532" name="Google Shape;532;p85"/>
          <p:cNvGrpSpPr/>
          <p:nvPr/>
        </p:nvGrpSpPr>
        <p:grpSpPr>
          <a:xfrm>
            <a:off x="2121618" y="1915287"/>
            <a:ext cx="697800" cy="471367"/>
            <a:chOff x="1543350" y="1839908"/>
            <a:chExt cx="697800" cy="471367"/>
          </a:xfrm>
        </p:grpSpPr>
        <p:sp>
          <p:nvSpPr>
            <p:cNvPr id="533" name="Google Shape;533;p85"/>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534" name="Google Shape;534;p85"/>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535" name="Google Shape;535;p85"/>
          <p:cNvGrpSpPr/>
          <p:nvPr/>
        </p:nvGrpSpPr>
        <p:grpSpPr>
          <a:xfrm>
            <a:off x="1887018" y="2416688"/>
            <a:ext cx="1167000" cy="644545"/>
            <a:chOff x="1308750" y="2341309"/>
            <a:chExt cx="1167000" cy="644545"/>
          </a:xfrm>
        </p:grpSpPr>
        <p:sp>
          <p:nvSpPr>
            <p:cNvPr id="536" name="Google Shape;536;p85"/>
            <p:cNvSpPr txBox="1"/>
            <p:nvPr/>
          </p:nvSpPr>
          <p:spPr>
            <a:xfrm>
              <a:off x="130875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537" name="Google Shape;537;p85"/>
            <p:cNvSpPr/>
            <p:nvPr/>
          </p:nvSpPr>
          <p:spPr>
            <a:xfrm>
              <a:off x="1755111"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538" name="Google Shape;538;p85"/>
          <p:cNvCxnSpPr>
            <a:stCxn id="521" idx="3"/>
            <a:endCxn id="528" idx="1"/>
          </p:cNvCxnSpPr>
          <p:nvPr/>
        </p:nvCxnSpPr>
        <p:spPr>
          <a:xfrm>
            <a:off x="1469298" y="1578433"/>
            <a:ext cx="194400" cy="5025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539" name="Google Shape;539;p85"/>
          <p:cNvCxnSpPr>
            <a:stCxn id="523" idx="3"/>
            <a:endCxn id="528" idx="1"/>
          </p:cNvCxnSpPr>
          <p:nvPr/>
        </p:nvCxnSpPr>
        <p:spPr>
          <a:xfrm>
            <a:off x="1469298" y="2079850"/>
            <a:ext cx="194400" cy="9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540" name="Google Shape;540;p85"/>
          <p:cNvCxnSpPr>
            <a:stCxn id="527" idx="3"/>
            <a:endCxn id="528" idx="1"/>
          </p:cNvCxnSpPr>
          <p:nvPr/>
        </p:nvCxnSpPr>
        <p:spPr>
          <a:xfrm rot="10800000" flipH="1">
            <a:off x="1469298" y="2080851"/>
            <a:ext cx="194400" cy="5004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541" name="Google Shape;541;p85"/>
          <p:cNvCxnSpPr>
            <a:stCxn id="528" idx="3"/>
            <a:endCxn id="531" idx="2"/>
          </p:cNvCxnSpPr>
          <p:nvPr/>
        </p:nvCxnSpPr>
        <p:spPr>
          <a:xfrm rot="10800000" flipH="1">
            <a:off x="2044131" y="1578283"/>
            <a:ext cx="289200" cy="5025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542" name="Google Shape;542;p85"/>
          <p:cNvCxnSpPr>
            <a:stCxn id="528" idx="3"/>
            <a:endCxn id="534" idx="2"/>
          </p:cNvCxnSpPr>
          <p:nvPr/>
        </p:nvCxnSpPr>
        <p:spPr>
          <a:xfrm rot="10800000" flipH="1">
            <a:off x="2044131" y="2079883"/>
            <a:ext cx="289200" cy="9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543" name="Google Shape;543;p85"/>
          <p:cNvCxnSpPr>
            <a:stCxn id="528" idx="3"/>
            <a:endCxn id="537" idx="2"/>
          </p:cNvCxnSpPr>
          <p:nvPr/>
        </p:nvCxnSpPr>
        <p:spPr>
          <a:xfrm>
            <a:off x="2044131" y="2080783"/>
            <a:ext cx="289200" cy="500400"/>
          </a:xfrm>
          <a:prstGeom prst="bentConnector3">
            <a:avLst>
              <a:gd name="adj1" fmla="val 50008"/>
            </a:avLst>
          </a:prstGeom>
          <a:noFill/>
          <a:ln w="9525" cap="flat" cmpd="sng">
            <a:solidFill>
              <a:srgbClr val="000000"/>
            </a:solidFill>
            <a:prstDash val="solid"/>
            <a:round/>
            <a:headEnd type="none" w="med" len="med"/>
            <a:tailEnd type="triangle" w="med" len="med"/>
          </a:ln>
        </p:spPr>
      </p:cxnSp>
      <p:sp>
        <p:nvSpPr>
          <p:cNvPr id="544" name="Google Shape;544;p85"/>
          <p:cNvSpPr/>
          <p:nvPr/>
        </p:nvSpPr>
        <p:spPr>
          <a:xfrm>
            <a:off x="2893542" y="1962882"/>
            <a:ext cx="380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grpSp>
        <p:nvGrpSpPr>
          <p:cNvPr id="545" name="Google Shape;545;p85"/>
          <p:cNvGrpSpPr/>
          <p:nvPr/>
        </p:nvGrpSpPr>
        <p:grpSpPr>
          <a:xfrm>
            <a:off x="3317043" y="1413870"/>
            <a:ext cx="697800" cy="466476"/>
            <a:chOff x="3151806" y="1338491"/>
            <a:chExt cx="697800" cy="466476"/>
          </a:xfrm>
        </p:grpSpPr>
        <p:sp>
          <p:nvSpPr>
            <p:cNvPr id="546" name="Google Shape;546;p85"/>
            <p:cNvSpPr txBox="1"/>
            <p:nvPr/>
          </p:nvSpPr>
          <p:spPr>
            <a:xfrm>
              <a:off x="3151806"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547" name="Google Shape;547;p85"/>
            <p:cNvSpPr/>
            <p:nvPr/>
          </p:nvSpPr>
          <p:spPr>
            <a:xfrm>
              <a:off x="3363567"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548" name="Google Shape;548;p85"/>
          <p:cNvGrpSpPr/>
          <p:nvPr/>
        </p:nvGrpSpPr>
        <p:grpSpPr>
          <a:xfrm>
            <a:off x="3317043" y="1917950"/>
            <a:ext cx="697800" cy="471367"/>
            <a:chOff x="3151806" y="1839908"/>
            <a:chExt cx="697800" cy="471367"/>
          </a:xfrm>
        </p:grpSpPr>
        <p:sp>
          <p:nvSpPr>
            <p:cNvPr id="549" name="Google Shape;549;p85"/>
            <p:cNvSpPr txBox="1"/>
            <p:nvPr/>
          </p:nvSpPr>
          <p:spPr>
            <a:xfrm>
              <a:off x="3151806"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550" name="Google Shape;550;p85"/>
            <p:cNvSpPr/>
            <p:nvPr/>
          </p:nvSpPr>
          <p:spPr>
            <a:xfrm>
              <a:off x="3363567"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551" name="Google Shape;551;p85"/>
          <p:cNvGrpSpPr/>
          <p:nvPr/>
        </p:nvGrpSpPr>
        <p:grpSpPr>
          <a:xfrm>
            <a:off x="3082443" y="2416688"/>
            <a:ext cx="1167000" cy="607945"/>
            <a:chOff x="2917206" y="2341309"/>
            <a:chExt cx="1167000" cy="607945"/>
          </a:xfrm>
        </p:grpSpPr>
        <p:sp>
          <p:nvSpPr>
            <p:cNvPr id="552" name="Google Shape;552;p85"/>
            <p:cNvSpPr txBox="1"/>
            <p:nvPr/>
          </p:nvSpPr>
          <p:spPr>
            <a:xfrm>
              <a:off x="2917206" y="2633353"/>
              <a:ext cx="1167000" cy="31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553" name="Google Shape;553;p85"/>
            <p:cNvSpPr/>
            <p:nvPr/>
          </p:nvSpPr>
          <p:spPr>
            <a:xfrm>
              <a:off x="3363567"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554" name="Google Shape;554;p85"/>
          <p:cNvGrpSpPr/>
          <p:nvPr/>
        </p:nvGrpSpPr>
        <p:grpSpPr>
          <a:xfrm>
            <a:off x="4474896" y="1413873"/>
            <a:ext cx="874500" cy="486902"/>
            <a:chOff x="4118269" y="1397498"/>
            <a:chExt cx="874500" cy="486902"/>
          </a:xfrm>
        </p:grpSpPr>
        <p:sp>
          <p:nvSpPr>
            <p:cNvPr id="555" name="Google Shape;555;p85"/>
            <p:cNvSpPr txBox="1"/>
            <p:nvPr/>
          </p:nvSpPr>
          <p:spPr>
            <a:xfrm>
              <a:off x="4118269" y="164440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label</a:t>
              </a:r>
              <a:endParaRPr sz="900">
                <a:solidFill>
                  <a:srgbClr val="000000"/>
                </a:solidFill>
                <a:latin typeface="Didact Gothic"/>
                <a:ea typeface="Didact Gothic"/>
                <a:cs typeface="Didact Gothic"/>
                <a:sym typeface="Didact Gothic"/>
              </a:endParaRPr>
            </a:p>
          </p:txBody>
        </p:sp>
        <p:sp>
          <p:nvSpPr>
            <p:cNvPr id="556" name="Google Shape;556;p85"/>
            <p:cNvSpPr/>
            <p:nvPr/>
          </p:nvSpPr>
          <p:spPr>
            <a:xfrm>
              <a:off x="4418380" y="139749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557" name="Google Shape;557;p85"/>
          <p:cNvGrpSpPr/>
          <p:nvPr/>
        </p:nvGrpSpPr>
        <p:grpSpPr>
          <a:xfrm>
            <a:off x="4464394" y="1916807"/>
            <a:ext cx="874500" cy="485914"/>
            <a:chOff x="4118269" y="1901936"/>
            <a:chExt cx="874500" cy="485914"/>
          </a:xfrm>
        </p:grpSpPr>
        <p:sp>
          <p:nvSpPr>
            <p:cNvPr id="558" name="Google Shape;558;p85"/>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static</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559" name="Google Shape;559;p85"/>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560" name="Google Shape;560;p85"/>
          <p:cNvCxnSpPr>
            <a:stCxn id="531" idx="4"/>
            <a:endCxn id="544" idx="1"/>
          </p:cNvCxnSpPr>
          <p:nvPr/>
        </p:nvCxnSpPr>
        <p:spPr>
          <a:xfrm>
            <a:off x="2607657" y="1578433"/>
            <a:ext cx="285900" cy="504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561" name="Google Shape;561;p85"/>
          <p:cNvCxnSpPr>
            <a:stCxn id="534" idx="4"/>
            <a:endCxn id="544" idx="1"/>
          </p:cNvCxnSpPr>
          <p:nvPr/>
        </p:nvCxnSpPr>
        <p:spPr>
          <a:xfrm>
            <a:off x="2607657" y="2079850"/>
            <a:ext cx="285900" cy="30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562" name="Google Shape;562;p85"/>
          <p:cNvCxnSpPr>
            <a:stCxn id="537" idx="4"/>
            <a:endCxn id="544" idx="1"/>
          </p:cNvCxnSpPr>
          <p:nvPr/>
        </p:nvCxnSpPr>
        <p:spPr>
          <a:xfrm rot="10800000" flipH="1">
            <a:off x="2607657" y="2082951"/>
            <a:ext cx="285900" cy="498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563" name="Google Shape;563;p85"/>
          <p:cNvCxnSpPr>
            <a:stCxn id="544" idx="3"/>
            <a:endCxn id="550" idx="2"/>
          </p:cNvCxnSpPr>
          <p:nvPr/>
        </p:nvCxnSpPr>
        <p:spPr>
          <a:xfrm>
            <a:off x="3273942" y="2082882"/>
            <a:ext cx="255000" cy="600"/>
          </a:xfrm>
          <a:prstGeom prst="bentConnector3">
            <a:avLst>
              <a:gd name="adj1" fmla="val 49973"/>
            </a:avLst>
          </a:prstGeom>
          <a:noFill/>
          <a:ln w="9525" cap="flat" cmpd="sng">
            <a:solidFill>
              <a:srgbClr val="000000"/>
            </a:solidFill>
            <a:prstDash val="solid"/>
            <a:round/>
            <a:headEnd type="none" w="med" len="med"/>
            <a:tailEnd type="triangle" w="med" len="med"/>
          </a:ln>
        </p:spPr>
      </p:cxnSp>
      <p:cxnSp>
        <p:nvCxnSpPr>
          <p:cNvPr id="564" name="Google Shape;564;p85"/>
          <p:cNvCxnSpPr>
            <a:stCxn id="544" idx="3"/>
            <a:endCxn id="547" idx="2"/>
          </p:cNvCxnSpPr>
          <p:nvPr/>
        </p:nvCxnSpPr>
        <p:spPr>
          <a:xfrm rot="10800000" flipH="1">
            <a:off x="3273942" y="1578582"/>
            <a:ext cx="255000" cy="504300"/>
          </a:xfrm>
          <a:prstGeom prst="bentConnector3">
            <a:avLst>
              <a:gd name="adj1" fmla="val 43694"/>
            </a:avLst>
          </a:prstGeom>
          <a:noFill/>
          <a:ln w="9525" cap="flat" cmpd="sng">
            <a:solidFill>
              <a:srgbClr val="000000"/>
            </a:solidFill>
            <a:prstDash val="solid"/>
            <a:round/>
            <a:headEnd type="none" w="med" len="med"/>
            <a:tailEnd type="triangle" w="med" len="med"/>
          </a:ln>
        </p:spPr>
      </p:cxnSp>
      <p:cxnSp>
        <p:nvCxnSpPr>
          <p:cNvPr id="565" name="Google Shape;565;p85"/>
          <p:cNvCxnSpPr>
            <a:stCxn id="544" idx="3"/>
            <a:endCxn id="553" idx="2"/>
          </p:cNvCxnSpPr>
          <p:nvPr/>
        </p:nvCxnSpPr>
        <p:spPr>
          <a:xfrm>
            <a:off x="3273942" y="2082882"/>
            <a:ext cx="255000" cy="498300"/>
          </a:xfrm>
          <a:prstGeom prst="bentConnector3">
            <a:avLst>
              <a:gd name="adj1" fmla="val 42307"/>
            </a:avLst>
          </a:prstGeom>
          <a:noFill/>
          <a:ln w="9525" cap="flat" cmpd="sng">
            <a:solidFill>
              <a:srgbClr val="000000"/>
            </a:solidFill>
            <a:prstDash val="solid"/>
            <a:round/>
            <a:headEnd type="none" w="med" len="med"/>
            <a:tailEnd type="triangle" w="med" len="med"/>
          </a:ln>
        </p:spPr>
      </p:cxnSp>
      <p:cxnSp>
        <p:nvCxnSpPr>
          <p:cNvPr id="566" name="Google Shape;566;p85"/>
          <p:cNvCxnSpPr>
            <a:stCxn id="547" idx="4"/>
            <a:endCxn id="567"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568" name="Google Shape;568;p85"/>
          <p:cNvCxnSpPr>
            <a:stCxn id="553" idx="4"/>
            <a:endCxn id="567"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567" name="Google Shape;567;p85"/>
          <p:cNvSpPr/>
          <p:nvPr/>
        </p:nvSpPr>
        <p:spPr>
          <a:xfrm>
            <a:off x="4123385" y="1952550"/>
            <a:ext cx="380400" cy="2523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569" name="Google Shape;569;p85"/>
          <p:cNvCxnSpPr>
            <a:stCxn id="550" idx="4"/>
            <a:endCxn id="567" idx="1"/>
          </p:cNvCxnSpPr>
          <p:nvPr/>
        </p:nvCxnSpPr>
        <p:spPr>
          <a:xfrm rot="10800000" flipH="1">
            <a:off x="3803082" y="2078613"/>
            <a:ext cx="320400" cy="39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570" name="Google Shape;570;p85"/>
          <p:cNvCxnSpPr>
            <a:stCxn id="553" idx="4"/>
            <a:endCxn id="567"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571" name="Google Shape;571;p85"/>
          <p:cNvCxnSpPr>
            <a:stCxn id="547" idx="4"/>
            <a:endCxn id="567"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572" name="Google Shape;572;p85"/>
          <p:cNvSpPr txBox="1"/>
          <p:nvPr/>
        </p:nvSpPr>
        <p:spPr>
          <a:xfrm>
            <a:off x="2158683" y="1112208"/>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Bronze</a:t>
            </a:r>
            <a:endParaRPr sz="900" b="1">
              <a:solidFill>
                <a:srgbClr val="000000"/>
              </a:solidFill>
              <a:latin typeface="Didact Gothic"/>
              <a:ea typeface="Didact Gothic"/>
              <a:cs typeface="Didact Gothic"/>
              <a:sym typeface="Didact Gothic"/>
            </a:endParaRPr>
          </a:p>
        </p:txBody>
      </p:sp>
      <p:sp>
        <p:nvSpPr>
          <p:cNvPr id="573" name="Google Shape;573;p85"/>
          <p:cNvSpPr txBox="1"/>
          <p:nvPr/>
        </p:nvSpPr>
        <p:spPr>
          <a:xfrm>
            <a:off x="3360483"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Silver</a:t>
            </a:r>
            <a:endParaRPr sz="900" b="1">
              <a:solidFill>
                <a:srgbClr val="000000"/>
              </a:solidFill>
              <a:latin typeface="Didact Gothic"/>
              <a:ea typeface="Didact Gothic"/>
              <a:cs typeface="Didact Gothic"/>
              <a:sym typeface="Didact Gothic"/>
            </a:endParaRPr>
          </a:p>
        </p:txBody>
      </p:sp>
      <p:grpSp>
        <p:nvGrpSpPr>
          <p:cNvPr id="574" name="Google Shape;574;p85"/>
          <p:cNvGrpSpPr/>
          <p:nvPr/>
        </p:nvGrpSpPr>
        <p:grpSpPr>
          <a:xfrm>
            <a:off x="2121618" y="3217246"/>
            <a:ext cx="697800" cy="466476"/>
            <a:chOff x="1543350" y="1338491"/>
            <a:chExt cx="697800" cy="466476"/>
          </a:xfrm>
        </p:grpSpPr>
        <p:sp>
          <p:nvSpPr>
            <p:cNvPr id="575" name="Google Shape;575;p85"/>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576" name="Google Shape;576;p85"/>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577" name="Google Shape;577;p85"/>
          <p:cNvGrpSpPr/>
          <p:nvPr/>
        </p:nvGrpSpPr>
        <p:grpSpPr>
          <a:xfrm>
            <a:off x="2121618" y="3728551"/>
            <a:ext cx="697800" cy="471367"/>
            <a:chOff x="1543350" y="1839908"/>
            <a:chExt cx="697800" cy="471367"/>
          </a:xfrm>
        </p:grpSpPr>
        <p:sp>
          <p:nvSpPr>
            <p:cNvPr id="578" name="Google Shape;578;p85"/>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579" name="Google Shape;579;p85"/>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580" name="Google Shape;580;p85"/>
          <p:cNvSpPr/>
          <p:nvPr/>
        </p:nvSpPr>
        <p:spPr>
          <a:xfrm>
            <a:off x="1637949" y="3512163"/>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sp>
        <p:nvSpPr>
          <p:cNvPr id="581" name="Google Shape;581;p85"/>
          <p:cNvSpPr txBox="1"/>
          <p:nvPr/>
        </p:nvSpPr>
        <p:spPr>
          <a:xfrm>
            <a:off x="205713" y="1112200"/>
            <a:ext cx="14055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Didact Gothic"/>
                <a:ea typeface="Didact Gothic"/>
                <a:cs typeface="Didact Gothic"/>
                <a:sym typeface="Didact Gothic"/>
              </a:rPr>
              <a:t>DAG 1: Training</a:t>
            </a:r>
            <a:endParaRPr sz="900" b="1">
              <a:solidFill>
                <a:schemeClr val="dk1"/>
              </a:solidFill>
              <a:latin typeface="Didact Gothic"/>
              <a:ea typeface="Didact Gothic"/>
              <a:cs typeface="Didact Gothic"/>
              <a:sym typeface="Didact Gothic"/>
            </a:endParaRPr>
          </a:p>
        </p:txBody>
      </p:sp>
      <p:sp>
        <p:nvSpPr>
          <p:cNvPr id="582" name="Google Shape;582;p85"/>
          <p:cNvSpPr txBox="1"/>
          <p:nvPr/>
        </p:nvSpPr>
        <p:spPr>
          <a:xfrm>
            <a:off x="205713" y="3136310"/>
            <a:ext cx="1490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Didact Gothic"/>
                <a:ea typeface="Didact Gothic"/>
                <a:cs typeface="Didact Gothic"/>
                <a:sym typeface="Didact Gothic"/>
              </a:rPr>
              <a:t>DAG 2: Feature Update</a:t>
            </a:r>
            <a:endParaRPr sz="900" b="1">
              <a:solidFill>
                <a:schemeClr val="dk1"/>
              </a:solidFill>
              <a:latin typeface="Didact Gothic"/>
              <a:ea typeface="Didact Gothic"/>
              <a:cs typeface="Didact Gothic"/>
              <a:sym typeface="Didact Gothic"/>
            </a:endParaRPr>
          </a:p>
        </p:txBody>
      </p:sp>
      <p:cxnSp>
        <p:nvCxnSpPr>
          <p:cNvPr id="583" name="Google Shape;583;p85"/>
          <p:cNvCxnSpPr>
            <a:stCxn id="580" idx="3"/>
            <a:endCxn id="576" idx="2"/>
          </p:cNvCxnSpPr>
          <p:nvPr/>
        </p:nvCxnSpPr>
        <p:spPr>
          <a:xfrm rot="10800000" flipH="1">
            <a:off x="2076849" y="3381663"/>
            <a:ext cx="256500" cy="250500"/>
          </a:xfrm>
          <a:prstGeom prst="bentConnector3">
            <a:avLst>
              <a:gd name="adj1" fmla="val 50006"/>
            </a:avLst>
          </a:prstGeom>
          <a:noFill/>
          <a:ln w="9525" cap="flat" cmpd="sng">
            <a:solidFill>
              <a:schemeClr val="dk1"/>
            </a:solidFill>
            <a:prstDash val="solid"/>
            <a:round/>
            <a:headEnd type="none" w="med" len="med"/>
            <a:tailEnd type="triangle" w="med" len="med"/>
          </a:ln>
        </p:spPr>
      </p:cxnSp>
      <p:cxnSp>
        <p:nvCxnSpPr>
          <p:cNvPr id="584" name="Google Shape;584;p85"/>
          <p:cNvCxnSpPr/>
          <p:nvPr/>
        </p:nvCxnSpPr>
        <p:spPr>
          <a:xfrm>
            <a:off x="2077425" y="3701200"/>
            <a:ext cx="267600" cy="265500"/>
          </a:xfrm>
          <a:prstGeom prst="bentConnector3">
            <a:avLst>
              <a:gd name="adj1" fmla="val 50000"/>
            </a:avLst>
          </a:prstGeom>
          <a:noFill/>
          <a:ln w="9525" cap="flat" cmpd="sng">
            <a:solidFill>
              <a:srgbClr val="0000FF"/>
            </a:solidFill>
            <a:prstDash val="solid"/>
            <a:round/>
            <a:headEnd type="none" w="med" len="med"/>
            <a:tailEnd type="triangle" w="med" len="med"/>
          </a:ln>
        </p:spPr>
      </p:cxnSp>
      <p:sp>
        <p:nvSpPr>
          <p:cNvPr id="585" name="Google Shape;585;p85"/>
          <p:cNvSpPr/>
          <p:nvPr/>
        </p:nvSpPr>
        <p:spPr>
          <a:xfrm>
            <a:off x="5749788" y="147284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ml_train.py</a:t>
            </a:r>
            <a:endParaRPr sz="900">
              <a:latin typeface="Didact Gothic"/>
              <a:ea typeface="Didact Gothic"/>
              <a:cs typeface="Didact Gothic"/>
              <a:sym typeface="Didact Gothic"/>
            </a:endParaRPr>
          </a:p>
        </p:txBody>
      </p:sp>
      <p:sp>
        <p:nvSpPr>
          <p:cNvPr id="586" name="Google Shape;586;p85"/>
          <p:cNvSpPr/>
          <p:nvPr/>
        </p:nvSpPr>
        <p:spPr>
          <a:xfrm>
            <a:off x="7185214" y="4281575"/>
            <a:ext cx="739200" cy="682200"/>
          </a:xfrm>
          <a:prstGeom prst="ellipse">
            <a:avLst/>
          </a:prstGeom>
          <a:solidFill>
            <a:schemeClr val="accent1"/>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800">
                <a:latin typeface="Roboto"/>
                <a:ea typeface="Roboto"/>
                <a:cs typeface="Roboto"/>
                <a:sym typeface="Roboto"/>
              </a:rPr>
              <a:t>Dashboard</a:t>
            </a:r>
            <a:endParaRPr sz="800">
              <a:latin typeface="Roboto"/>
              <a:ea typeface="Roboto"/>
              <a:cs typeface="Roboto"/>
              <a:sym typeface="Roboto"/>
            </a:endParaRPr>
          </a:p>
        </p:txBody>
      </p:sp>
      <p:cxnSp>
        <p:nvCxnSpPr>
          <p:cNvPr id="587" name="Google Shape;587;p85"/>
          <p:cNvCxnSpPr/>
          <p:nvPr/>
        </p:nvCxnSpPr>
        <p:spPr>
          <a:xfrm>
            <a:off x="6385018" y="1680116"/>
            <a:ext cx="6300" cy="369900"/>
          </a:xfrm>
          <a:prstGeom prst="straightConnector1">
            <a:avLst/>
          </a:prstGeom>
          <a:noFill/>
          <a:ln w="9525" cap="flat" cmpd="sng">
            <a:solidFill>
              <a:srgbClr val="000000"/>
            </a:solidFill>
            <a:prstDash val="solid"/>
            <a:round/>
            <a:headEnd type="none" w="med" len="med"/>
            <a:tailEnd type="stealth" w="med" len="med"/>
          </a:ln>
        </p:spPr>
      </p:cxnSp>
      <p:sp>
        <p:nvSpPr>
          <p:cNvPr id="588" name="Google Shape;588;p85"/>
          <p:cNvSpPr/>
          <p:nvPr/>
        </p:nvSpPr>
        <p:spPr>
          <a:xfrm>
            <a:off x="5746138" y="271635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ml_predict.py</a:t>
            </a:r>
            <a:endParaRPr sz="900">
              <a:latin typeface="Didact Gothic"/>
              <a:ea typeface="Didact Gothic"/>
              <a:cs typeface="Didact Gothic"/>
              <a:sym typeface="Didact Gothic"/>
            </a:endParaRPr>
          </a:p>
        </p:txBody>
      </p:sp>
      <p:sp>
        <p:nvSpPr>
          <p:cNvPr id="589" name="Google Shape;589;p85"/>
          <p:cNvSpPr/>
          <p:nvPr/>
        </p:nvSpPr>
        <p:spPr>
          <a:xfrm>
            <a:off x="6192301" y="2048420"/>
            <a:ext cx="320400" cy="324000"/>
          </a:xfrm>
          <a:prstGeom prst="cube">
            <a:avLst>
              <a:gd name="adj" fmla="val 25000"/>
            </a:avLst>
          </a:prstGeom>
          <a:solidFill>
            <a:srgbClr val="FCFDF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90" name="Google Shape;590;p85"/>
          <p:cNvSpPr txBox="1"/>
          <p:nvPr/>
        </p:nvSpPr>
        <p:spPr>
          <a:xfrm>
            <a:off x="5590421" y="2015880"/>
            <a:ext cx="784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model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bank</a:t>
            </a:r>
            <a:endParaRPr sz="900">
              <a:solidFill>
                <a:srgbClr val="000000"/>
              </a:solidFill>
              <a:latin typeface="Didact Gothic"/>
              <a:ea typeface="Didact Gothic"/>
              <a:cs typeface="Didact Gothic"/>
              <a:sym typeface="Didact Gothic"/>
            </a:endParaRPr>
          </a:p>
        </p:txBody>
      </p:sp>
      <p:cxnSp>
        <p:nvCxnSpPr>
          <p:cNvPr id="591" name="Google Shape;591;p85"/>
          <p:cNvCxnSpPr/>
          <p:nvPr/>
        </p:nvCxnSpPr>
        <p:spPr>
          <a:xfrm>
            <a:off x="6381913" y="2374525"/>
            <a:ext cx="4800" cy="348000"/>
          </a:xfrm>
          <a:prstGeom prst="straightConnector1">
            <a:avLst/>
          </a:prstGeom>
          <a:noFill/>
          <a:ln w="9525" cap="flat" cmpd="sng">
            <a:solidFill>
              <a:srgbClr val="000000"/>
            </a:solidFill>
            <a:prstDash val="solid"/>
            <a:round/>
            <a:headEnd type="none" w="med" len="med"/>
            <a:tailEnd type="triangle" w="med" len="med"/>
          </a:ln>
        </p:spPr>
      </p:cxnSp>
      <p:sp>
        <p:nvSpPr>
          <p:cNvPr id="592" name="Google Shape;592;p85"/>
          <p:cNvSpPr txBox="1"/>
          <p:nvPr/>
        </p:nvSpPr>
        <p:spPr>
          <a:xfrm>
            <a:off x="4564228"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latin typeface="Didact Gothic"/>
                <a:ea typeface="Didact Gothic"/>
                <a:cs typeface="Didact Gothic"/>
                <a:sym typeface="Didact Gothic"/>
              </a:rPr>
              <a:t>Gold</a:t>
            </a:r>
            <a:endParaRPr sz="900" b="1">
              <a:solidFill>
                <a:srgbClr val="000000"/>
              </a:solidFill>
              <a:latin typeface="Didact Gothic"/>
              <a:ea typeface="Didact Gothic"/>
              <a:cs typeface="Didact Gothic"/>
              <a:sym typeface="Didact Gothic"/>
            </a:endParaRPr>
          </a:p>
        </p:txBody>
      </p:sp>
      <p:cxnSp>
        <p:nvCxnSpPr>
          <p:cNvPr id="593" name="Google Shape;593;p85"/>
          <p:cNvCxnSpPr>
            <a:stCxn id="567" idx="3"/>
            <a:endCxn id="556" idx="2"/>
          </p:cNvCxnSpPr>
          <p:nvPr/>
        </p:nvCxnSpPr>
        <p:spPr>
          <a:xfrm rot="10800000" flipH="1">
            <a:off x="4503785" y="1578300"/>
            <a:ext cx="271200" cy="500400"/>
          </a:xfrm>
          <a:prstGeom prst="bentConnector3">
            <a:avLst>
              <a:gd name="adj1" fmla="val 50004"/>
            </a:avLst>
          </a:prstGeom>
          <a:noFill/>
          <a:ln w="9525" cap="flat" cmpd="sng">
            <a:solidFill>
              <a:schemeClr val="dk1"/>
            </a:solidFill>
            <a:prstDash val="solid"/>
            <a:round/>
            <a:headEnd type="none" w="med" len="med"/>
            <a:tailEnd type="triangle" w="med" len="med"/>
          </a:ln>
        </p:spPr>
      </p:cxnSp>
      <p:cxnSp>
        <p:nvCxnSpPr>
          <p:cNvPr id="594" name="Google Shape;594;p85"/>
          <p:cNvCxnSpPr>
            <a:stCxn id="567" idx="3"/>
            <a:endCxn id="559" idx="2"/>
          </p:cNvCxnSpPr>
          <p:nvPr/>
        </p:nvCxnSpPr>
        <p:spPr>
          <a:xfrm>
            <a:off x="4503785" y="2078700"/>
            <a:ext cx="260700" cy="2700"/>
          </a:xfrm>
          <a:prstGeom prst="straightConnector1">
            <a:avLst/>
          </a:prstGeom>
          <a:noFill/>
          <a:ln w="9525" cap="flat" cmpd="sng">
            <a:solidFill>
              <a:schemeClr val="dk1"/>
            </a:solidFill>
            <a:prstDash val="solid"/>
            <a:round/>
            <a:headEnd type="none" w="med" len="med"/>
            <a:tailEnd type="triangle" w="med" len="med"/>
          </a:ln>
        </p:spPr>
      </p:cxnSp>
      <p:grpSp>
        <p:nvGrpSpPr>
          <p:cNvPr id="595" name="Google Shape;595;p85"/>
          <p:cNvGrpSpPr/>
          <p:nvPr/>
        </p:nvGrpSpPr>
        <p:grpSpPr>
          <a:xfrm>
            <a:off x="4470905" y="2580338"/>
            <a:ext cx="874500" cy="485914"/>
            <a:chOff x="4118269" y="1901936"/>
            <a:chExt cx="874500" cy="485914"/>
          </a:xfrm>
        </p:grpSpPr>
        <p:sp>
          <p:nvSpPr>
            <p:cNvPr id="596" name="Google Shape;596;p85"/>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rolling</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597" name="Google Shape;597;p85"/>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598" name="Google Shape;598;p85"/>
          <p:cNvCxnSpPr>
            <a:stCxn id="567" idx="3"/>
            <a:endCxn id="597" idx="2"/>
          </p:cNvCxnSpPr>
          <p:nvPr/>
        </p:nvCxnSpPr>
        <p:spPr>
          <a:xfrm>
            <a:off x="4503785" y="2078700"/>
            <a:ext cx="267300" cy="666300"/>
          </a:xfrm>
          <a:prstGeom prst="bentConnector3">
            <a:avLst>
              <a:gd name="adj1" fmla="val 49987"/>
            </a:avLst>
          </a:prstGeom>
          <a:noFill/>
          <a:ln w="9525" cap="flat" cmpd="sng">
            <a:solidFill>
              <a:schemeClr val="dk1"/>
            </a:solidFill>
            <a:prstDash val="solid"/>
            <a:round/>
            <a:headEnd type="none" w="med" len="med"/>
            <a:tailEnd type="triangle" w="med" len="med"/>
          </a:ln>
        </p:spPr>
      </p:cxnSp>
      <p:sp>
        <p:nvSpPr>
          <p:cNvPr id="599" name="Google Shape;599;p85"/>
          <p:cNvSpPr/>
          <p:nvPr/>
        </p:nvSpPr>
        <p:spPr>
          <a:xfrm>
            <a:off x="2864199" y="3262225"/>
            <a:ext cx="413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600" name="Google Shape;600;p85"/>
          <p:cNvCxnSpPr>
            <a:stCxn id="576" idx="4"/>
            <a:endCxn id="599" idx="1"/>
          </p:cNvCxnSpPr>
          <p:nvPr/>
        </p:nvCxnSpPr>
        <p:spPr>
          <a:xfrm>
            <a:off x="2607657" y="3381809"/>
            <a:ext cx="256500" cy="600"/>
          </a:xfrm>
          <a:prstGeom prst="bentConnector3">
            <a:avLst>
              <a:gd name="adj1" fmla="val 50008"/>
            </a:avLst>
          </a:prstGeom>
          <a:noFill/>
          <a:ln w="9525" cap="flat" cmpd="sng">
            <a:solidFill>
              <a:schemeClr val="dk1"/>
            </a:solidFill>
            <a:prstDash val="solid"/>
            <a:round/>
            <a:headEnd type="none" w="med" len="med"/>
            <a:tailEnd type="triangle" w="med" len="med"/>
          </a:ln>
        </p:spPr>
      </p:cxnSp>
      <p:cxnSp>
        <p:nvCxnSpPr>
          <p:cNvPr id="601" name="Google Shape;601;p85"/>
          <p:cNvCxnSpPr>
            <a:stCxn id="579" idx="4"/>
            <a:endCxn id="599" idx="1"/>
          </p:cNvCxnSpPr>
          <p:nvPr/>
        </p:nvCxnSpPr>
        <p:spPr>
          <a:xfrm rot="10800000" flipH="1">
            <a:off x="2607657" y="3382213"/>
            <a:ext cx="256500" cy="510900"/>
          </a:xfrm>
          <a:prstGeom prst="bentConnector3">
            <a:avLst>
              <a:gd name="adj1" fmla="val 50008"/>
            </a:avLst>
          </a:prstGeom>
          <a:noFill/>
          <a:ln w="9525" cap="flat" cmpd="sng">
            <a:solidFill>
              <a:schemeClr val="dk1"/>
            </a:solidFill>
            <a:prstDash val="solid"/>
            <a:round/>
            <a:headEnd type="none" w="med" len="med"/>
            <a:tailEnd type="triangle" w="med" len="med"/>
          </a:ln>
        </p:spPr>
      </p:cxnSp>
      <p:cxnSp>
        <p:nvCxnSpPr>
          <p:cNvPr id="602" name="Google Shape;602;p85"/>
          <p:cNvCxnSpPr>
            <a:stCxn id="599" idx="3"/>
            <a:endCxn id="547" idx="2"/>
          </p:cNvCxnSpPr>
          <p:nvPr/>
        </p:nvCxnSpPr>
        <p:spPr>
          <a:xfrm rot="10800000" flipH="1">
            <a:off x="3277599" y="1578325"/>
            <a:ext cx="251100" cy="1803900"/>
          </a:xfrm>
          <a:prstGeom prst="bentConnector3">
            <a:avLst>
              <a:gd name="adj1" fmla="val 42772"/>
            </a:avLst>
          </a:prstGeom>
          <a:noFill/>
          <a:ln w="9525" cap="flat" cmpd="sng">
            <a:solidFill>
              <a:schemeClr val="dk1"/>
            </a:solidFill>
            <a:prstDash val="solid"/>
            <a:round/>
            <a:headEnd type="none" w="med" len="med"/>
            <a:tailEnd type="triangle" w="med" len="med"/>
          </a:ln>
        </p:spPr>
      </p:cxnSp>
      <p:cxnSp>
        <p:nvCxnSpPr>
          <p:cNvPr id="603" name="Google Shape;603;p85"/>
          <p:cNvCxnSpPr>
            <a:stCxn id="599" idx="3"/>
            <a:endCxn id="550" idx="2"/>
          </p:cNvCxnSpPr>
          <p:nvPr/>
        </p:nvCxnSpPr>
        <p:spPr>
          <a:xfrm rot="10800000" flipH="1">
            <a:off x="3277599" y="2082625"/>
            <a:ext cx="251100" cy="1299600"/>
          </a:xfrm>
          <a:prstGeom prst="bentConnector3">
            <a:avLst>
              <a:gd name="adj1" fmla="val 42324"/>
            </a:avLst>
          </a:prstGeom>
          <a:noFill/>
          <a:ln w="9525" cap="flat" cmpd="sng">
            <a:solidFill>
              <a:schemeClr val="dk1"/>
            </a:solidFill>
            <a:prstDash val="solid"/>
            <a:round/>
            <a:headEnd type="none" w="med" len="med"/>
            <a:tailEnd type="triangle" w="med" len="med"/>
          </a:ln>
        </p:spPr>
      </p:cxnSp>
      <p:cxnSp>
        <p:nvCxnSpPr>
          <p:cNvPr id="604" name="Google Shape;604;p85"/>
          <p:cNvCxnSpPr>
            <a:stCxn id="599" idx="3"/>
            <a:endCxn id="553" idx="2"/>
          </p:cNvCxnSpPr>
          <p:nvPr/>
        </p:nvCxnSpPr>
        <p:spPr>
          <a:xfrm rot="10800000" flipH="1">
            <a:off x="3277599" y="2581225"/>
            <a:ext cx="251100" cy="801000"/>
          </a:xfrm>
          <a:prstGeom prst="bentConnector3">
            <a:avLst>
              <a:gd name="adj1" fmla="val 41757"/>
            </a:avLst>
          </a:prstGeom>
          <a:noFill/>
          <a:ln w="9525" cap="flat" cmpd="sng">
            <a:solidFill>
              <a:schemeClr val="dk1"/>
            </a:solidFill>
            <a:prstDash val="solid"/>
            <a:round/>
            <a:headEnd type="none" w="med" len="med"/>
            <a:tailEnd type="triangle" w="med" len="med"/>
          </a:ln>
        </p:spPr>
      </p:cxnSp>
      <p:cxnSp>
        <p:nvCxnSpPr>
          <p:cNvPr id="605" name="Google Shape;605;p85"/>
          <p:cNvCxnSpPr>
            <a:stCxn id="556" idx="4"/>
            <a:endCxn id="585" idx="1"/>
          </p:cNvCxnSpPr>
          <p:nvPr/>
        </p:nvCxnSpPr>
        <p:spPr>
          <a:xfrm>
            <a:off x="5049285" y="1578436"/>
            <a:ext cx="700500" cy="15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606" name="Google Shape;606;p85"/>
          <p:cNvCxnSpPr>
            <a:stCxn id="559" idx="4"/>
            <a:endCxn id="585" idx="1"/>
          </p:cNvCxnSpPr>
          <p:nvPr/>
        </p:nvCxnSpPr>
        <p:spPr>
          <a:xfrm rot="10800000" flipH="1">
            <a:off x="5038783" y="1579770"/>
            <a:ext cx="711000" cy="5016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607" name="Google Shape;607;p85"/>
          <p:cNvCxnSpPr>
            <a:stCxn id="597" idx="4"/>
            <a:endCxn id="585" idx="1"/>
          </p:cNvCxnSpPr>
          <p:nvPr/>
        </p:nvCxnSpPr>
        <p:spPr>
          <a:xfrm rot="10800000" flipH="1">
            <a:off x="5045294" y="1579701"/>
            <a:ext cx="704400" cy="1165200"/>
          </a:xfrm>
          <a:prstGeom prst="bentConnector3">
            <a:avLst>
              <a:gd name="adj1" fmla="val 50007"/>
            </a:avLst>
          </a:prstGeom>
          <a:noFill/>
          <a:ln w="9525" cap="flat" cmpd="sng">
            <a:solidFill>
              <a:schemeClr val="dk1"/>
            </a:solidFill>
            <a:prstDash val="solid"/>
            <a:round/>
            <a:headEnd type="none" w="med" len="med"/>
            <a:tailEnd type="triangle" w="med" len="med"/>
          </a:ln>
        </p:spPr>
      </p:cxnSp>
      <p:grpSp>
        <p:nvGrpSpPr>
          <p:cNvPr id="608" name="Google Shape;608;p85"/>
          <p:cNvGrpSpPr/>
          <p:nvPr/>
        </p:nvGrpSpPr>
        <p:grpSpPr>
          <a:xfrm>
            <a:off x="4470905" y="3214801"/>
            <a:ext cx="874500" cy="485914"/>
            <a:chOff x="4118269" y="1901936"/>
            <a:chExt cx="874500" cy="485914"/>
          </a:xfrm>
        </p:grpSpPr>
        <p:sp>
          <p:nvSpPr>
            <p:cNvPr id="609" name="Google Shape;609;p85"/>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sp>
          <p:nvSpPr>
            <p:cNvPr id="610" name="Google Shape;610;p85"/>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611" name="Google Shape;611;p85"/>
          <p:cNvGrpSpPr/>
          <p:nvPr/>
        </p:nvGrpSpPr>
        <p:grpSpPr>
          <a:xfrm>
            <a:off x="4470905" y="3747213"/>
            <a:ext cx="874500" cy="485914"/>
            <a:chOff x="4118269" y="1901936"/>
            <a:chExt cx="874500" cy="485914"/>
          </a:xfrm>
        </p:grpSpPr>
        <p:sp>
          <p:nvSpPr>
            <p:cNvPr id="612" name="Google Shape;612;p85"/>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metric</a:t>
              </a:r>
              <a:endParaRPr sz="900">
                <a:solidFill>
                  <a:srgbClr val="000000"/>
                </a:solidFill>
                <a:latin typeface="Didact Gothic"/>
                <a:ea typeface="Didact Gothic"/>
                <a:cs typeface="Didact Gothic"/>
                <a:sym typeface="Didact Gothic"/>
              </a:endParaRPr>
            </a:p>
          </p:txBody>
        </p:sp>
        <p:sp>
          <p:nvSpPr>
            <p:cNvPr id="613" name="Google Shape;613;p85"/>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614" name="Google Shape;614;p85"/>
          <p:cNvCxnSpPr>
            <a:endCxn id="610" idx="4"/>
          </p:cNvCxnSpPr>
          <p:nvPr/>
        </p:nvCxnSpPr>
        <p:spPr>
          <a:xfrm flipH="1">
            <a:off x="5045294" y="2932063"/>
            <a:ext cx="1026900" cy="447300"/>
          </a:xfrm>
          <a:prstGeom prst="bentConnector3">
            <a:avLst>
              <a:gd name="adj1" fmla="val -9"/>
            </a:avLst>
          </a:prstGeom>
          <a:noFill/>
          <a:ln w="9525" cap="flat" cmpd="sng">
            <a:solidFill>
              <a:srgbClr val="A9283B"/>
            </a:solidFill>
            <a:prstDash val="solid"/>
            <a:round/>
            <a:headEnd type="none" w="med" len="med"/>
            <a:tailEnd type="triangle" w="med" len="med"/>
          </a:ln>
        </p:spPr>
      </p:cxnSp>
      <p:cxnSp>
        <p:nvCxnSpPr>
          <p:cNvPr id="615" name="Google Shape;615;p85"/>
          <p:cNvCxnSpPr>
            <a:endCxn id="588" idx="1"/>
          </p:cNvCxnSpPr>
          <p:nvPr/>
        </p:nvCxnSpPr>
        <p:spPr>
          <a:xfrm>
            <a:off x="5034838" y="2161500"/>
            <a:ext cx="711300" cy="661800"/>
          </a:xfrm>
          <a:prstGeom prst="bentConnector3">
            <a:avLst>
              <a:gd name="adj1" fmla="val 61997"/>
            </a:avLst>
          </a:prstGeom>
          <a:noFill/>
          <a:ln w="9525" cap="flat" cmpd="sng">
            <a:solidFill>
              <a:srgbClr val="A9283B"/>
            </a:solidFill>
            <a:prstDash val="solid"/>
            <a:round/>
            <a:headEnd type="none" w="med" len="med"/>
            <a:tailEnd type="triangle" w="med" len="med"/>
          </a:ln>
        </p:spPr>
      </p:cxnSp>
      <p:cxnSp>
        <p:nvCxnSpPr>
          <p:cNvPr id="616" name="Google Shape;616;p85"/>
          <p:cNvCxnSpPr>
            <a:endCxn id="588" idx="1"/>
          </p:cNvCxnSpPr>
          <p:nvPr/>
        </p:nvCxnSpPr>
        <p:spPr>
          <a:xfrm rot="10800000" flipH="1">
            <a:off x="5044138" y="2823300"/>
            <a:ext cx="702000" cy="11700"/>
          </a:xfrm>
          <a:prstGeom prst="straightConnector1">
            <a:avLst/>
          </a:prstGeom>
          <a:noFill/>
          <a:ln w="9525" cap="flat" cmpd="sng">
            <a:solidFill>
              <a:srgbClr val="A9283B"/>
            </a:solidFill>
            <a:prstDash val="solid"/>
            <a:round/>
            <a:headEnd type="none" w="med" len="med"/>
            <a:tailEnd type="triangle" w="med" len="med"/>
          </a:ln>
        </p:spPr>
      </p:cxnSp>
      <p:sp>
        <p:nvSpPr>
          <p:cNvPr id="617" name="Google Shape;617;p85"/>
          <p:cNvSpPr/>
          <p:nvPr/>
        </p:nvSpPr>
        <p:spPr>
          <a:xfrm>
            <a:off x="352238" y="4486394"/>
            <a:ext cx="961800" cy="5091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OmniBehaviour</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Simulation</a:t>
            </a:r>
            <a:endParaRPr sz="900">
              <a:latin typeface="Didact Gothic"/>
              <a:ea typeface="Didact Gothic"/>
              <a:cs typeface="Didact Gothic"/>
              <a:sym typeface="Didact Gothic"/>
            </a:endParaRPr>
          </a:p>
        </p:txBody>
      </p:sp>
      <p:cxnSp>
        <p:nvCxnSpPr>
          <p:cNvPr id="618" name="Google Shape;618;p85"/>
          <p:cNvCxnSpPr>
            <a:stCxn id="617" idx="3"/>
            <a:endCxn id="619" idx="1"/>
          </p:cNvCxnSpPr>
          <p:nvPr/>
        </p:nvCxnSpPr>
        <p:spPr>
          <a:xfrm rot="10800000" flipH="1">
            <a:off x="1314038" y="4576244"/>
            <a:ext cx="413400" cy="164700"/>
          </a:xfrm>
          <a:prstGeom prst="bentConnector3">
            <a:avLst>
              <a:gd name="adj1" fmla="val 50002"/>
            </a:avLst>
          </a:prstGeom>
          <a:noFill/>
          <a:ln w="9525" cap="flat" cmpd="sng">
            <a:solidFill>
              <a:schemeClr val="dk1"/>
            </a:solidFill>
            <a:prstDash val="solid"/>
            <a:round/>
            <a:headEnd type="none" w="med" len="med"/>
            <a:tailEnd type="triangle" w="med" len="med"/>
          </a:ln>
        </p:spPr>
      </p:cxnSp>
      <p:sp>
        <p:nvSpPr>
          <p:cNvPr id="620" name="Google Shape;620;p85"/>
          <p:cNvSpPr/>
          <p:nvPr/>
        </p:nvSpPr>
        <p:spPr>
          <a:xfrm>
            <a:off x="4062172" y="3831819"/>
            <a:ext cx="438900" cy="2526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grpSp>
        <p:nvGrpSpPr>
          <p:cNvPr id="621" name="Google Shape;621;p85"/>
          <p:cNvGrpSpPr/>
          <p:nvPr/>
        </p:nvGrpSpPr>
        <p:grpSpPr>
          <a:xfrm>
            <a:off x="1417705" y="4448675"/>
            <a:ext cx="874500" cy="417568"/>
            <a:chOff x="1928393" y="4432300"/>
            <a:chExt cx="874500" cy="417568"/>
          </a:xfrm>
        </p:grpSpPr>
        <p:sp>
          <p:nvSpPr>
            <p:cNvPr id="622" name="Google Shape;622;p85"/>
            <p:cNvSpPr txBox="1"/>
            <p:nvPr/>
          </p:nvSpPr>
          <p:spPr>
            <a:xfrm>
              <a:off x="19283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raw</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event</a:t>
              </a:r>
              <a:endParaRPr sz="900">
                <a:latin typeface="Didact Gothic"/>
                <a:ea typeface="Didact Gothic"/>
                <a:cs typeface="Didact Gothic"/>
                <a:sym typeface="Didact Gothic"/>
              </a:endParaRPr>
            </a:p>
          </p:txBody>
        </p:sp>
        <p:pic>
          <p:nvPicPr>
            <p:cNvPr id="619" name="Google Shape;619;p85"/>
            <p:cNvPicPr preferRelativeResize="0"/>
            <p:nvPr/>
          </p:nvPicPr>
          <p:blipFill>
            <a:blip r:embed="rId4">
              <a:alphaModFix/>
            </a:blip>
            <a:stretch>
              <a:fillRect/>
            </a:stretch>
          </p:blipFill>
          <p:spPr>
            <a:xfrm>
              <a:off x="2238143" y="4432300"/>
              <a:ext cx="255000" cy="255000"/>
            </a:xfrm>
            <a:prstGeom prst="rect">
              <a:avLst/>
            </a:prstGeom>
            <a:noFill/>
            <a:ln>
              <a:noFill/>
            </a:ln>
          </p:spPr>
        </p:pic>
      </p:grpSp>
      <p:pic>
        <p:nvPicPr>
          <p:cNvPr id="623" name="Google Shape;623;p85"/>
          <p:cNvPicPr preferRelativeResize="0"/>
          <p:nvPr/>
        </p:nvPicPr>
        <p:blipFill>
          <a:blip r:embed="rId4">
            <a:alphaModFix/>
          </a:blip>
          <a:stretch>
            <a:fillRect/>
          </a:stretch>
        </p:blipFill>
        <p:spPr>
          <a:xfrm>
            <a:off x="2949024" y="4263862"/>
            <a:ext cx="255000" cy="255000"/>
          </a:xfrm>
          <a:prstGeom prst="rect">
            <a:avLst/>
          </a:prstGeom>
          <a:noFill/>
          <a:ln>
            <a:noFill/>
          </a:ln>
        </p:spPr>
      </p:pic>
      <p:grpSp>
        <p:nvGrpSpPr>
          <p:cNvPr id="624" name="Google Shape;624;p85"/>
          <p:cNvGrpSpPr/>
          <p:nvPr/>
        </p:nvGrpSpPr>
        <p:grpSpPr>
          <a:xfrm>
            <a:off x="3823983" y="4258589"/>
            <a:ext cx="874500" cy="382505"/>
            <a:chOff x="4963793" y="4467363"/>
            <a:chExt cx="874500" cy="382505"/>
          </a:xfrm>
        </p:grpSpPr>
        <p:sp>
          <p:nvSpPr>
            <p:cNvPr id="625" name="Google Shape;625;p85"/>
            <p:cNvSpPr txBox="1"/>
            <p:nvPr/>
          </p:nvSpPr>
          <p:spPr>
            <a:xfrm>
              <a:off x="49637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a:latin typeface="Didact Gothic"/>
                <a:ea typeface="Didact Gothic"/>
                <a:cs typeface="Didact Gothic"/>
                <a:sym typeface="Didact Gothic"/>
              </a:endParaRPr>
            </a:p>
          </p:txBody>
        </p:sp>
        <p:pic>
          <p:nvPicPr>
            <p:cNvPr id="626" name="Google Shape;626;p85"/>
            <p:cNvPicPr preferRelativeResize="0"/>
            <p:nvPr/>
          </p:nvPicPr>
          <p:blipFill>
            <a:blip r:embed="rId4">
              <a:alphaModFix/>
            </a:blip>
            <a:stretch>
              <a:fillRect/>
            </a:stretch>
          </p:blipFill>
          <p:spPr>
            <a:xfrm>
              <a:off x="5273543" y="4467363"/>
              <a:ext cx="255000" cy="255000"/>
            </a:xfrm>
            <a:prstGeom prst="rect">
              <a:avLst/>
            </a:prstGeom>
            <a:noFill/>
            <a:ln>
              <a:noFill/>
            </a:ln>
          </p:spPr>
        </p:pic>
      </p:grpSp>
      <p:cxnSp>
        <p:nvCxnSpPr>
          <p:cNvPr id="627" name="Google Shape;627;p85"/>
          <p:cNvCxnSpPr>
            <a:endCxn id="626" idx="0"/>
          </p:cNvCxnSpPr>
          <p:nvPr/>
        </p:nvCxnSpPr>
        <p:spPr>
          <a:xfrm>
            <a:off x="4257333" y="4087289"/>
            <a:ext cx="3900" cy="171300"/>
          </a:xfrm>
          <a:prstGeom prst="straightConnector1">
            <a:avLst/>
          </a:prstGeom>
          <a:noFill/>
          <a:ln w="9525" cap="flat" cmpd="sng">
            <a:solidFill>
              <a:srgbClr val="0000FF"/>
            </a:solidFill>
            <a:prstDash val="solid"/>
            <a:round/>
            <a:headEnd type="none" w="med" len="med"/>
            <a:tailEnd type="triangle" w="med" len="med"/>
          </a:ln>
        </p:spPr>
      </p:cxnSp>
      <p:cxnSp>
        <p:nvCxnSpPr>
          <p:cNvPr id="628" name="Google Shape;628;p85"/>
          <p:cNvCxnSpPr>
            <a:stCxn id="629" idx="4"/>
          </p:cNvCxnSpPr>
          <p:nvPr/>
        </p:nvCxnSpPr>
        <p:spPr>
          <a:xfrm rot="10800000" flipH="1">
            <a:off x="5045294" y="2936776"/>
            <a:ext cx="1150500" cy="1584600"/>
          </a:xfrm>
          <a:prstGeom prst="bentConnector2">
            <a:avLst/>
          </a:prstGeom>
          <a:noFill/>
          <a:ln w="9525" cap="flat" cmpd="sng">
            <a:solidFill>
              <a:srgbClr val="A9283B"/>
            </a:solidFill>
            <a:prstDash val="solid"/>
            <a:round/>
            <a:headEnd type="none" w="med" len="med"/>
            <a:tailEnd type="triangle" w="med" len="med"/>
          </a:ln>
        </p:spPr>
      </p:cxnSp>
      <p:sp>
        <p:nvSpPr>
          <p:cNvPr id="630" name="Google Shape;630;p85"/>
          <p:cNvSpPr txBox="1"/>
          <p:nvPr/>
        </p:nvSpPr>
        <p:spPr>
          <a:xfrm>
            <a:off x="285786" y="191715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KuaiLive</a:t>
            </a:r>
            <a:endParaRPr sz="900">
              <a:solidFill>
                <a:srgbClr val="000000"/>
              </a:solidFill>
              <a:latin typeface="Didact Gothic"/>
              <a:ea typeface="Didact Gothic"/>
              <a:cs typeface="Didact Gothic"/>
              <a:sym typeface="Didact Gothic"/>
            </a:endParaRPr>
          </a:p>
        </p:txBody>
      </p:sp>
      <p:grpSp>
        <p:nvGrpSpPr>
          <p:cNvPr id="631" name="Google Shape;631;p85"/>
          <p:cNvGrpSpPr/>
          <p:nvPr/>
        </p:nvGrpSpPr>
        <p:grpSpPr>
          <a:xfrm>
            <a:off x="5965526" y="4474050"/>
            <a:ext cx="874500" cy="453918"/>
            <a:chOff x="6512501" y="4457725"/>
            <a:chExt cx="874500" cy="453918"/>
          </a:xfrm>
        </p:grpSpPr>
        <p:pic>
          <p:nvPicPr>
            <p:cNvPr id="632" name="Google Shape;632;p85"/>
            <p:cNvPicPr preferRelativeResize="0"/>
            <p:nvPr/>
          </p:nvPicPr>
          <p:blipFill rotWithShape="1">
            <a:blip r:embed="rId5">
              <a:alphaModFix/>
            </a:blip>
            <a:srcRect t="8291"/>
            <a:stretch/>
          </p:blipFill>
          <p:spPr>
            <a:xfrm>
              <a:off x="6789551" y="4457725"/>
              <a:ext cx="320399" cy="293825"/>
            </a:xfrm>
            <a:prstGeom prst="rect">
              <a:avLst/>
            </a:prstGeom>
            <a:noFill/>
            <a:ln>
              <a:noFill/>
            </a:ln>
          </p:spPr>
        </p:pic>
        <p:sp>
          <p:nvSpPr>
            <p:cNvPr id="633" name="Google Shape;633;p85"/>
            <p:cNvSpPr txBox="1"/>
            <p:nvPr/>
          </p:nvSpPr>
          <p:spPr>
            <a:xfrm>
              <a:off x="6512501" y="4671643"/>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redis</a:t>
              </a:r>
              <a:endParaRPr sz="900">
                <a:latin typeface="Didact Gothic"/>
                <a:ea typeface="Didact Gothic"/>
                <a:cs typeface="Didact Gothic"/>
                <a:sym typeface="Didact Gothic"/>
              </a:endParaRPr>
            </a:p>
          </p:txBody>
        </p:sp>
      </p:grpSp>
      <p:cxnSp>
        <p:nvCxnSpPr>
          <p:cNvPr id="634" name="Google Shape;634;p85"/>
          <p:cNvCxnSpPr>
            <a:stCxn id="588" idx="2"/>
            <a:endCxn id="632" idx="0"/>
          </p:cNvCxnSpPr>
          <p:nvPr/>
        </p:nvCxnSpPr>
        <p:spPr>
          <a:xfrm flipH="1">
            <a:off x="6402688" y="2930250"/>
            <a:ext cx="3600" cy="1543800"/>
          </a:xfrm>
          <a:prstGeom prst="straightConnector1">
            <a:avLst/>
          </a:prstGeom>
          <a:noFill/>
          <a:ln w="9525" cap="flat" cmpd="sng">
            <a:solidFill>
              <a:srgbClr val="A9283B"/>
            </a:solidFill>
            <a:prstDash val="solid"/>
            <a:round/>
            <a:headEnd type="none" w="med" len="med"/>
            <a:tailEnd type="triangle" w="med" len="med"/>
          </a:ln>
        </p:spPr>
      </p:cxnSp>
      <p:sp>
        <p:nvSpPr>
          <p:cNvPr id="635" name="Google Shape;635;p85"/>
          <p:cNvSpPr/>
          <p:nvPr/>
        </p:nvSpPr>
        <p:spPr>
          <a:xfrm>
            <a:off x="937988" y="1413875"/>
            <a:ext cx="149700" cy="1331100"/>
          </a:xfrm>
          <a:prstGeom prst="leftBrace">
            <a:avLst>
              <a:gd name="adj1" fmla="val 50000"/>
              <a:gd name="adj2" fmla="val 5053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idact Gothic"/>
              <a:ea typeface="Didact Gothic"/>
              <a:cs typeface="Didact Gothic"/>
              <a:sym typeface="Didact Gothic"/>
            </a:endParaRPr>
          </a:p>
        </p:txBody>
      </p:sp>
      <p:sp>
        <p:nvSpPr>
          <p:cNvPr id="636" name="Google Shape;636;p85"/>
          <p:cNvSpPr txBox="1"/>
          <p:nvPr/>
        </p:nvSpPr>
        <p:spPr>
          <a:xfrm>
            <a:off x="6287605" y="2849177"/>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cxnSp>
        <p:nvCxnSpPr>
          <p:cNvPr id="637" name="Google Shape;637;p85"/>
          <p:cNvCxnSpPr>
            <a:stCxn id="632" idx="3"/>
            <a:endCxn id="586" idx="2"/>
          </p:cNvCxnSpPr>
          <p:nvPr/>
        </p:nvCxnSpPr>
        <p:spPr>
          <a:xfrm>
            <a:off x="6562976" y="4620963"/>
            <a:ext cx="622200" cy="1800"/>
          </a:xfrm>
          <a:prstGeom prst="straightConnector1">
            <a:avLst/>
          </a:prstGeom>
          <a:noFill/>
          <a:ln w="9525" cap="flat" cmpd="sng">
            <a:solidFill>
              <a:schemeClr val="dk1"/>
            </a:solidFill>
            <a:prstDash val="solid"/>
            <a:round/>
            <a:headEnd type="none" w="med" len="med"/>
            <a:tailEnd type="triangle" w="med" len="med"/>
          </a:ln>
        </p:spPr>
      </p:cxnSp>
      <p:sp>
        <p:nvSpPr>
          <p:cNvPr id="638" name="Google Shape;638;p85"/>
          <p:cNvSpPr/>
          <p:nvPr/>
        </p:nvSpPr>
        <p:spPr>
          <a:xfrm>
            <a:off x="7117575" y="3343538"/>
            <a:ext cx="8745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ml_monitor.py</a:t>
            </a:r>
            <a:endParaRPr sz="900">
              <a:latin typeface="Didact Gothic"/>
              <a:ea typeface="Didact Gothic"/>
              <a:cs typeface="Didact Gothic"/>
              <a:sym typeface="Didact Gothic"/>
            </a:endParaRPr>
          </a:p>
        </p:txBody>
      </p:sp>
      <p:cxnSp>
        <p:nvCxnSpPr>
          <p:cNvPr id="639" name="Google Shape;639;p85"/>
          <p:cNvCxnSpPr>
            <a:endCxn id="638" idx="0"/>
          </p:cNvCxnSpPr>
          <p:nvPr/>
        </p:nvCxnSpPr>
        <p:spPr>
          <a:xfrm>
            <a:off x="5128125" y="1362938"/>
            <a:ext cx="2426700" cy="1980600"/>
          </a:xfrm>
          <a:prstGeom prst="bentConnector2">
            <a:avLst/>
          </a:prstGeom>
          <a:noFill/>
          <a:ln w="9525" cap="flat" cmpd="sng">
            <a:solidFill>
              <a:srgbClr val="6AA84F"/>
            </a:solidFill>
            <a:prstDash val="solid"/>
            <a:round/>
            <a:headEnd type="none" w="med" len="med"/>
            <a:tailEnd type="triangle" w="med" len="med"/>
          </a:ln>
        </p:spPr>
      </p:cxnSp>
      <p:cxnSp>
        <p:nvCxnSpPr>
          <p:cNvPr id="640" name="Google Shape;640;p85"/>
          <p:cNvCxnSpPr/>
          <p:nvPr/>
        </p:nvCxnSpPr>
        <p:spPr>
          <a:xfrm rot="-5400000">
            <a:off x="5017063" y="1389300"/>
            <a:ext cx="141300" cy="78600"/>
          </a:xfrm>
          <a:prstGeom prst="bentConnector3">
            <a:avLst>
              <a:gd name="adj1" fmla="val 2212"/>
            </a:avLst>
          </a:prstGeom>
          <a:noFill/>
          <a:ln w="9525" cap="flat" cmpd="sng">
            <a:solidFill>
              <a:srgbClr val="6AA84F"/>
            </a:solidFill>
            <a:prstDash val="solid"/>
            <a:round/>
            <a:headEnd type="none" w="med" len="med"/>
            <a:tailEnd type="none" w="med" len="med"/>
          </a:ln>
        </p:spPr>
      </p:cxnSp>
      <p:cxnSp>
        <p:nvCxnSpPr>
          <p:cNvPr id="641" name="Google Shape;641;p85"/>
          <p:cNvCxnSpPr>
            <a:endCxn id="638" idx="1"/>
          </p:cNvCxnSpPr>
          <p:nvPr/>
        </p:nvCxnSpPr>
        <p:spPr>
          <a:xfrm rot="10800000" flipH="1">
            <a:off x="5046675" y="3450488"/>
            <a:ext cx="2070900" cy="12900"/>
          </a:xfrm>
          <a:prstGeom prst="straightConnector1">
            <a:avLst/>
          </a:prstGeom>
          <a:noFill/>
          <a:ln w="9525" cap="flat" cmpd="sng">
            <a:solidFill>
              <a:srgbClr val="6AA84F"/>
            </a:solidFill>
            <a:prstDash val="solid"/>
            <a:round/>
            <a:headEnd type="none" w="med" len="med"/>
            <a:tailEnd type="triangle" w="med" len="med"/>
          </a:ln>
        </p:spPr>
      </p:cxnSp>
      <p:cxnSp>
        <p:nvCxnSpPr>
          <p:cNvPr id="642" name="Google Shape;642;p85"/>
          <p:cNvCxnSpPr>
            <a:stCxn id="638" idx="2"/>
            <a:endCxn id="613" idx="4"/>
          </p:cNvCxnSpPr>
          <p:nvPr/>
        </p:nvCxnSpPr>
        <p:spPr>
          <a:xfrm rot="5400000">
            <a:off x="6122925" y="2479838"/>
            <a:ext cx="354300" cy="2509500"/>
          </a:xfrm>
          <a:prstGeom prst="bentConnector2">
            <a:avLst/>
          </a:prstGeom>
          <a:noFill/>
          <a:ln w="9525" cap="flat" cmpd="sng">
            <a:solidFill>
              <a:srgbClr val="6AA84F"/>
            </a:solidFill>
            <a:prstDash val="solid"/>
            <a:round/>
            <a:headEnd type="none" w="med" len="med"/>
            <a:tailEnd type="triangle" w="med" len="med"/>
          </a:ln>
        </p:spPr>
      </p:cxnSp>
      <p:cxnSp>
        <p:nvCxnSpPr>
          <p:cNvPr id="643" name="Google Shape;643;p85"/>
          <p:cNvCxnSpPr>
            <a:endCxn id="586" idx="0"/>
          </p:cNvCxnSpPr>
          <p:nvPr/>
        </p:nvCxnSpPr>
        <p:spPr>
          <a:xfrm>
            <a:off x="5046814" y="4028975"/>
            <a:ext cx="2508000" cy="252600"/>
          </a:xfrm>
          <a:prstGeom prst="bentConnector2">
            <a:avLst/>
          </a:prstGeom>
          <a:noFill/>
          <a:ln w="9525" cap="flat" cmpd="sng">
            <a:solidFill>
              <a:srgbClr val="6AA84F"/>
            </a:solidFill>
            <a:prstDash val="solid"/>
            <a:round/>
            <a:headEnd type="none" w="med" len="med"/>
            <a:tailEnd type="triangle" w="med" len="med"/>
          </a:ln>
        </p:spPr>
      </p:cxnSp>
      <p:sp>
        <p:nvSpPr>
          <p:cNvPr id="644" name="Google Shape;644;p85"/>
          <p:cNvSpPr/>
          <p:nvPr/>
        </p:nvSpPr>
        <p:spPr>
          <a:xfrm>
            <a:off x="8063763" y="2578199"/>
            <a:ext cx="874500" cy="5091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Manual Review &amp; Retrain</a:t>
            </a:r>
            <a:endParaRPr sz="900">
              <a:latin typeface="Didact Gothic"/>
              <a:ea typeface="Didact Gothic"/>
              <a:cs typeface="Didact Gothic"/>
              <a:sym typeface="Didact Gothic"/>
            </a:endParaRPr>
          </a:p>
        </p:txBody>
      </p:sp>
      <p:sp>
        <p:nvSpPr>
          <p:cNvPr id="645" name="Google Shape;645;p85"/>
          <p:cNvSpPr/>
          <p:nvPr/>
        </p:nvSpPr>
        <p:spPr>
          <a:xfrm>
            <a:off x="8063763" y="1967525"/>
            <a:ext cx="874500" cy="369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Canary Deployment</a:t>
            </a:r>
            <a:endParaRPr sz="900">
              <a:latin typeface="Didact Gothic"/>
              <a:ea typeface="Didact Gothic"/>
              <a:cs typeface="Didact Gothic"/>
              <a:sym typeface="Didact Gothic"/>
            </a:endParaRPr>
          </a:p>
        </p:txBody>
      </p:sp>
      <p:sp>
        <p:nvSpPr>
          <p:cNvPr id="646" name="Google Shape;646;p85"/>
          <p:cNvSpPr/>
          <p:nvPr/>
        </p:nvSpPr>
        <p:spPr>
          <a:xfrm>
            <a:off x="8063763" y="1354925"/>
            <a:ext cx="874500" cy="369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Promote / Rollback</a:t>
            </a:r>
            <a:endParaRPr sz="900">
              <a:latin typeface="Didact Gothic"/>
              <a:ea typeface="Didact Gothic"/>
              <a:cs typeface="Didact Gothic"/>
              <a:sym typeface="Didact Gothic"/>
            </a:endParaRPr>
          </a:p>
        </p:txBody>
      </p:sp>
      <p:cxnSp>
        <p:nvCxnSpPr>
          <p:cNvPr id="647" name="Google Shape;647;p85"/>
          <p:cNvCxnSpPr>
            <a:stCxn id="638" idx="3"/>
            <a:endCxn id="644" idx="2"/>
          </p:cNvCxnSpPr>
          <p:nvPr/>
        </p:nvCxnSpPr>
        <p:spPr>
          <a:xfrm rot="10800000" flipH="1">
            <a:off x="7992075" y="3087188"/>
            <a:ext cx="508800" cy="363300"/>
          </a:xfrm>
          <a:prstGeom prst="bentConnector2">
            <a:avLst/>
          </a:prstGeom>
          <a:noFill/>
          <a:ln w="9525" cap="flat" cmpd="sng">
            <a:solidFill>
              <a:schemeClr val="dk1"/>
            </a:solidFill>
            <a:prstDash val="solid"/>
            <a:round/>
            <a:headEnd type="none" w="med" len="med"/>
            <a:tailEnd type="triangle" w="med" len="med"/>
          </a:ln>
        </p:spPr>
      </p:cxnSp>
      <p:cxnSp>
        <p:nvCxnSpPr>
          <p:cNvPr id="648" name="Google Shape;648;p85"/>
          <p:cNvCxnSpPr>
            <a:endCxn id="645" idx="2"/>
          </p:cNvCxnSpPr>
          <p:nvPr/>
        </p:nvCxnSpPr>
        <p:spPr>
          <a:xfrm rot="10800000">
            <a:off x="8501013" y="2337425"/>
            <a:ext cx="0" cy="240900"/>
          </a:xfrm>
          <a:prstGeom prst="straightConnector1">
            <a:avLst/>
          </a:prstGeom>
          <a:noFill/>
          <a:ln w="9525" cap="flat" cmpd="sng">
            <a:solidFill>
              <a:schemeClr val="dk1"/>
            </a:solidFill>
            <a:prstDash val="solid"/>
            <a:round/>
            <a:headEnd type="none" w="med" len="med"/>
            <a:tailEnd type="triangle" w="med" len="med"/>
          </a:ln>
        </p:spPr>
      </p:cxnSp>
      <p:cxnSp>
        <p:nvCxnSpPr>
          <p:cNvPr id="649" name="Google Shape;649;p85"/>
          <p:cNvCxnSpPr>
            <a:stCxn id="645" idx="0"/>
            <a:endCxn id="646" idx="2"/>
          </p:cNvCxnSpPr>
          <p:nvPr/>
        </p:nvCxnSpPr>
        <p:spPr>
          <a:xfrm rot="10800000">
            <a:off x="8501013" y="1724825"/>
            <a:ext cx="0" cy="242700"/>
          </a:xfrm>
          <a:prstGeom prst="straightConnector1">
            <a:avLst/>
          </a:prstGeom>
          <a:noFill/>
          <a:ln w="9525" cap="flat" cmpd="sng">
            <a:solidFill>
              <a:schemeClr val="dk1"/>
            </a:solidFill>
            <a:prstDash val="solid"/>
            <a:round/>
            <a:headEnd type="none" w="med" len="med"/>
            <a:tailEnd type="triangle" w="med" len="med"/>
          </a:ln>
        </p:spPr>
      </p:cxnSp>
      <p:cxnSp>
        <p:nvCxnSpPr>
          <p:cNvPr id="650" name="Google Shape;650;p85"/>
          <p:cNvCxnSpPr>
            <a:stCxn id="644" idx="1"/>
            <a:endCxn id="589" idx="5"/>
          </p:cNvCxnSpPr>
          <p:nvPr/>
        </p:nvCxnSpPr>
        <p:spPr>
          <a:xfrm rot="10800000">
            <a:off x="6512763" y="2170349"/>
            <a:ext cx="1551000" cy="662400"/>
          </a:xfrm>
          <a:prstGeom prst="bentConnector3">
            <a:avLst>
              <a:gd name="adj1" fmla="val 50002"/>
            </a:avLst>
          </a:prstGeom>
          <a:noFill/>
          <a:ln w="9525" cap="flat" cmpd="sng">
            <a:solidFill>
              <a:schemeClr val="dk2"/>
            </a:solidFill>
            <a:prstDash val="solid"/>
            <a:round/>
            <a:headEnd type="none" w="med" len="med"/>
            <a:tailEnd type="triangle" w="med" len="med"/>
          </a:ln>
        </p:spPr>
      </p:cxnSp>
      <p:sp>
        <p:nvSpPr>
          <p:cNvPr id="651" name="Google Shape;651;p85"/>
          <p:cNvSpPr txBox="1"/>
          <p:nvPr/>
        </p:nvSpPr>
        <p:spPr>
          <a:xfrm>
            <a:off x="205713" y="4203110"/>
            <a:ext cx="1490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Didact Gothic"/>
                <a:ea typeface="Didact Gothic"/>
                <a:cs typeface="Didact Gothic"/>
                <a:sym typeface="Didact Gothic"/>
              </a:rPr>
              <a:t>Inference</a:t>
            </a:r>
            <a:endParaRPr sz="900" b="1">
              <a:solidFill>
                <a:schemeClr val="dk1"/>
              </a:solidFill>
              <a:latin typeface="Didact Gothic"/>
              <a:ea typeface="Didact Gothic"/>
              <a:cs typeface="Didact Gothic"/>
              <a:sym typeface="Didact Gothic"/>
            </a:endParaRPr>
          </a:p>
        </p:txBody>
      </p:sp>
      <p:cxnSp>
        <p:nvCxnSpPr>
          <p:cNvPr id="652" name="Google Shape;652;p85"/>
          <p:cNvCxnSpPr>
            <a:stCxn id="619" idx="0"/>
            <a:endCxn id="580" idx="2"/>
          </p:cNvCxnSpPr>
          <p:nvPr/>
        </p:nvCxnSpPr>
        <p:spPr>
          <a:xfrm rot="10800000" flipH="1">
            <a:off x="1854955" y="3752075"/>
            <a:ext cx="2400" cy="696600"/>
          </a:xfrm>
          <a:prstGeom prst="straightConnector1">
            <a:avLst/>
          </a:prstGeom>
          <a:noFill/>
          <a:ln w="9525" cap="flat" cmpd="sng">
            <a:solidFill>
              <a:srgbClr val="0000FF"/>
            </a:solidFill>
            <a:prstDash val="solid"/>
            <a:round/>
            <a:headEnd type="none" w="med" len="med"/>
            <a:tailEnd type="triangle" w="med" len="med"/>
          </a:ln>
        </p:spPr>
      </p:cxnSp>
      <p:grpSp>
        <p:nvGrpSpPr>
          <p:cNvPr id="653" name="Google Shape;653;p85"/>
          <p:cNvGrpSpPr/>
          <p:nvPr/>
        </p:nvGrpSpPr>
        <p:grpSpPr>
          <a:xfrm>
            <a:off x="3317043" y="3727660"/>
            <a:ext cx="697800" cy="471367"/>
            <a:chOff x="1543350" y="1839908"/>
            <a:chExt cx="697800" cy="471367"/>
          </a:xfrm>
        </p:grpSpPr>
        <p:sp>
          <p:nvSpPr>
            <p:cNvPr id="654" name="Google Shape;654;p85"/>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655" name="Google Shape;655;p85"/>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656" name="Google Shape;656;p85"/>
          <p:cNvSpPr/>
          <p:nvPr/>
        </p:nvSpPr>
        <p:spPr>
          <a:xfrm>
            <a:off x="2858249" y="3843350"/>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657" name="Google Shape;657;p85"/>
          <p:cNvCxnSpPr>
            <a:endCxn id="656" idx="1"/>
          </p:cNvCxnSpPr>
          <p:nvPr/>
        </p:nvCxnSpPr>
        <p:spPr>
          <a:xfrm>
            <a:off x="2611949" y="3963350"/>
            <a:ext cx="246300" cy="0"/>
          </a:xfrm>
          <a:prstGeom prst="straightConnector1">
            <a:avLst/>
          </a:prstGeom>
          <a:noFill/>
          <a:ln w="9525" cap="flat" cmpd="sng">
            <a:solidFill>
              <a:srgbClr val="0000FF"/>
            </a:solidFill>
            <a:prstDash val="solid"/>
            <a:round/>
            <a:headEnd type="none" w="med" len="med"/>
            <a:tailEnd type="triangle" w="med" len="med"/>
          </a:ln>
        </p:spPr>
      </p:cxnSp>
      <p:grpSp>
        <p:nvGrpSpPr>
          <p:cNvPr id="658" name="Google Shape;658;p85"/>
          <p:cNvGrpSpPr/>
          <p:nvPr/>
        </p:nvGrpSpPr>
        <p:grpSpPr>
          <a:xfrm>
            <a:off x="4470905" y="4356813"/>
            <a:ext cx="874500" cy="485914"/>
            <a:chOff x="4118269" y="1292336"/>
            <a:chExt cx="874500" cy="485914"/>
          </a:xfrm>
        </p:grpSpPr>
        <p:sp>
          <p:nvSpPr>
            <p:cNvPr id="659" name="Google Shape;659;p85"/>
            <p:cNvSpPr txBox="1"/>
            <p:nvPr/>
          </p:nvSpPr>
          <p:spPr>
            <a:xfrm>
              <a:off x="4118269" y="15382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latin typeface="Didact Gothic"/>
                <a:ea typeface="Didact Gothic"/>
                <a:cs typeface="Didact Gothic"/>
                <a:sym typeface="Didact Gothic"/>
              </a:endParaRPr>
            </a:p>
          </p:txBody>
        </p:sp>
        <p:sp>
          <p:nvSpPr>
            <p:cNvPr id="629" name="Google Shape;629;p85"/>
            <p:cNvSpPr/>
            <p:nvPr/>
          </p:nvSpPr>
          <p:spPr>
            <a:xfrm>
              <a:off x="4418380" y="12923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660" name="Google Shape;660;p85"/>
          <p:cNvCxnSpPr>
            <a:stCxn id="656" idx="2"/>
            <a:endCxn id="623" idx="0"/>
          </p:cNvCxnSpPr>
          <p:nvPr/>
        </p:nvCxnSpPr>
        <p:spPr>
          <a:xfrm flipH="1">
            <a:off x="3076499" y="4083350"/>
            <a:ext cx="1200" cy="180600"/>
          </a:xfrm>
          <a:prstGeom prst="straightConnector1">
            <a:avLst/>
          </a:prstGeom>
          <a:noFill/>
          <a:ln w="9525" cap="flat" cmpd="sng">
            <a:solidFill>
              <a:srgbClr val="0000FF"/>
            </a:solidFill>
            <a:prstDash val="solid"/>
            <a:round/>
            <a:headEnd type="none" w="med" len="med"/>
            <a:tailEnd type="triangle" w="med" len="med"/>
          </a:ln>
        </p:spPr>
      </p:cxnSp>
      <p:sp>
        <p:nvSpPr>
          <p:cNvPr id="661" name="Google Shape;661;p85"/>
          <p:cNvSpPr/>
          <p:nvPr/>
        </p:nvSpPr>
        <p:spPr>
          <a:xfrm>
            <a:off x="4045123" y="4687762"/>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662" name="Google Shape;662;p85"/>
          <p:cNvCxnSpPr>
            <a:stCxn id="626" idx="2"/>
            <a:endCxn id="661" idx="0"/>
          </p:cNvCxnSpPr>
          <p:nvPr/>
        </p:nvCxnSpPr>
        <p:spPr>
          <a:xfrm>
            <a:off x="4261233" y="4513588"/>
            <a:ext cx="3300" cy="174300"/>
          </a:xfrm>
          <a:prstGeom prst="straightConnector1">
            <a:avLst/>
          </a:prstGeom>
          <a:noFill/>
          <a:ln w="9525" cap="flat" cmpd="sng">
            <a:solidFill>
              <a:srgbClr val="0000FF"/>
            </a:solidFill>
            <a:prstDash val="solid"/>
            <a:round/>
            <a:headEnd type="none" w="med" len="med"/>
            <a:tailEnd type="triangle" w="med" len="med"/>
          </a:ln>
        </p:spPr>
      </p:cxnSp>
      <p:sp>
        <p:nvSpPr>
          <p:cNvPr id="663" name="Google Shape;663;p85"/>
          <p:cNvSpPr/>
          <p:nvPr/>
        </p:nvSpPr>
        <p:spPr>
          <a:xfrm>
            <a:off x="2858517" y="4681600"/>
            <a:ext cx="438900" cy="2523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664" name="Google Shape;664;p85"/>
          <p:cNvCxnSpPr>
            <a:stCxn id="623" idx="2"/>
            <a:endCxn id="663" idx="0"/>
          </p:cNvCxnSpPr>
          <p:nvPr/>
        </p:nvCxnSpPr>
        <p:spPr>
          <a:xfrm>
            <a:off x="3076524" y="4518861"/>
            <a:ext cx="1500" cy="162600"/>
          </a:xfrm>
          <a:prstGeom prst="straightConnector1">
            <a:avLst/>
          </a:prstGeom>
          <a:noFill/>
          <a:ln w="9525" cap="flat" cmpd="sng">
            <a:solidFill>
              <a:srgbClr val="0000FF"/>
            </a:solidFill>
            <a:prstDash val="solid"/>
            <a:round/>
            <a:headEnd type="none" w="med" len="med"/>
            <a:tailEnd type="triangle" w="med" len="med"/>
          </a:ln>
        </p:spPr>
      </p:cxnSp>
      <p:cxnSp>
        <p:nvCxnSpPr>
          <p:cNvPr id="665" name="Google Shape;665;p85"/>
          <p:cNvCxnSpPr>
            <a:stCxn id="661" idx="3"/>
            <a:endCxn id="629" idx="2"/>
          </p:cNvCxnSpPr>
          <p:nvPr/>
        </p:nvCxnSpPr>
        <p:spPr>
          <a:xfrm rot="10800000" flipH="1">
            <a:off x="4484023" y="4521262"/>
            <a:ext cx="287100" cy="286500"/>
          </a:xfrm>
          <a:prstGeom prst="bentConnector3">
            <a:avLst>
              <a:gd name="adj1" fmla="val 49981"/>
            </a:avLst>
          </a:prstGeom>
          <a:noFill/>
          <a:ln w="9525" cap="flat" cmpd="sng">
            <a:solidFill>
              <a:srgbClr val="0000FF"/>
            </a:solidFill>
            <a:prstDash val="solid"/>
            <a:round/>
            <a:headEnd type="none" w="med" len="med"/>
            <a:tailEnd type="triangle" w="med" len="med"/>
          </a:ln>
        </p:spPr>
      </p:cxnSp>
      <p:cxnSp>
        <p:nvCxnSpPr>
          <p:cNvPr id="666" name="Google Shape;666;p85"/>
          <p:cNvCxnSpPr/>
          <p:nvPr/>
        </p:nvCxnSpPr>
        <p:spPr>
          <a:xfrm>
            <a:off x="3810248" y="3963350"/>
            <a:ext cx="246300" cy="0"/>
          </a:xfrm>
          <a:prstGeom prst="straightConnector1">
            <a:avLst/>
          </a:prstGeom>
          <a:noFill/>
          <a:ln w="9525" cap="flat" cmpd="sng">
            <a:solidFill>
              <a:srgbClr val="0000FF"/>
            </a:solidFill>
            <a:prstDash val="solid"/>
            <a:round/>
            <a:headEnd type="none" w="med" len="med"/>
            <a:tailEnd type="triangle" w="med" len="med"/>
          </a:ln>
        </p:spPr>
      </p:cxnSp>
      <p:sp>
        <p:nvSpPr>
          <p:cNvPr id="667" name="Google Shape;667;p85"/>
          <p:cNvSpPr txBox="1"/>
          <p:nvPr/>
        </p:nvSpPr>
        <p:spPr>
          <a:xfrm>
            <a:off x="5522275" y="377227"/>
            <a:ext cx="3416100" cy="923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800" b="1" u="sng">
                <a:latin typeface="Poppins"/>
                <a:ea typeface="Poppins"/>
                <a:cs typeface="Poppins"/>
                <a:sym typeface="Poppins"/>
              </a:rPr>
              <a:t>LEGEND</a:t>
            </a:r>
            <a:endParaRPr sz="800" b="1" u="sng">
              <a:latin typeface="Poppins"/>
              <a:ea typeface="Poppins"/>
              <a:cs typeface="Poppins"/>
              <a:sym typeface="Poppins"/>
            </a:endParaRPr>
          </a:p>
          <a:p>
            <a:pPr marL="0" lvl="0" indent="0" algn="l" rtl="0">
              <a:spcBef>
                <a:spcPts val="0"/>
              </a:spcBef>
              <a:spcAft>
                <a:spcPts val="0"/>
              </a:spcAft>
              <a:buNone/>
            </a:pPr>
            <a:r>
              <a:rPr lang="en" sz="800">
                <a:latin typeface="Poppins"/>
                <a:ea typeface="Poppins"/>
                <a:cs typeface="Poppins"/>
                <a:sym typeface="Poppins"/>
              </a:rPr>
              <a:t>→ 	Batches (Training + EOD Rolling updates)</a:t>
            </a:r>
            <a:endParaRPr sz="800">
              <a:latin typeface="Poppins"/>
              <a:ea typeface="Poppins"/>
              <a:cs typeface="Poppins"/>
              <a:sym typeface="Poppins"/>
            </a:endParaRPr>
          </a:p>
          <a:p>
            <a:pPr marL="0" lvl="0" indent="0" algn="l" rtl="0">
              <a:spcBef>
                <a:spcPts val="0"/>
              </a:spcBef>
              <a:spcAft>
                <a:spcPts val="0"/>
              </a:spcAft>
              <a:buNone/>
            </a:pPr>
            <a:r>
              <a:rPr lang="en" sz="800">
                <a:solidFill>
                  <a:srgbClr val="0000FF"/>
                </a:solidFill>
                <a:latin typeface="Poppins"/>
                <a:ea typeface="Poppins"/>
                <a:cs typeface="Poppins"/>
                <a:sym typeface="Poppins"/>
              </a:rPr>
              <a:t>→ 	Real-Time Feature Flow</a:t>
            </a:r>
            <a:endParaRPr sz="800">
              <a:solidFill>
                <a:srgbClr val="0000FF"/>
              </a:solidFill>
              <a:latin typeface="Poppins"/>
              <a:ea typeface="Poppins"/>
              <a:cs typeface="Poppins"/>
              <a:sym typeface="Poppins"/>
            </a:endParaRPr>
          </a:p>
          <a:p>
            <a:pPr marL="0" lvl="0" indent="0" algn="l" rtl="0">
              <a:spcBef>
                <a:spcPts val="0"/>
              </a:spcBef>
              <a:spcAft>
                <a:spcPts val="0"/>
              </a:spcAft>
              <a:buNone/>
            </a:pPr>
            <a:r>
              <a:rPr lang="en" sz="800">
                <a:solidFill>
                  <a:srgbClr val="A9283B"/>
                </a:solidFill>
                <a:latin typeface="Poppins"/>
                <a:ea typeface="Poppins"/>
                <a:cs typeface="Poppins"/>
                <a:sym typeface="Poppins"/>
              </a:rPr>
              <a:t>→ 	Real-Time Predictions</a:t>
            </a:r>
            <a:endParaRPr sz="800">
              <a:solidFill>
                <a:srgbClr val="A9283B"/>
              </a:solidFill>
              <a:latin typeface="Poppins"/>
              <a:ea typeface="Poppins"/>
              <a:cs typeface="Poppins"/>
              <a:sym typeface="Poppins"/>
            </a:endParaRPr>
          </a:p>
          <a:p>
            <a:pPr marL="0" lvl="0" indent="0" algn="l" rtl="0">
              <a:spcBef>
                <a:spcPts val="0"/>
              </a:spcBef>
              <a:spcAft>
                <a:spcPts val="0"/>
              </a:spcAft>
              <a:buNone/>
            </a:pPr>
            <a:r>
              <a:rPr lang="en" sz="800">
                <a:solidFill>
                  <a:srgbClr val="93C47D"/>
                </a:solidFill>
                <a:latin typeface="Poppins"/>
                <a:ea typeface="Poppins"/>
                <a:cs typeface="Poppins"/>
                <a:sym typeface="Poppins"/>
              </a:rPr>
              <a:t>→ 	Monitoring</a:t>
            </a:r>
            <a:endParaRPr sz="800">
              <a:solidFill>
                <a:srgbClr val="93C47D"/>
              </a:solidFill>
              <a:latin typeface="Poppins"/>
              <a:ea typeface="Poppins"/>
              <a:cs typeface="Poppins"/>
              <a:sym typeface="Poppins"/>
            </a:endParaRPr>
          </a:p>
          <a:p>
            <a:pPr marL="0" lvl="0" indent="0" algn="l" rtl="0">
              <a:spcBef>
                <a:spcPts val="0"/>
              </a:spcBef>
              <a:spcAft>
                <a:spcPts val="0"/>
              </a:spcAft>
              <a:buNone/>
            </a:pPr>
            <a:r>
              <a:rPr lang="en" sz="800">
                <a:solidFill>
                  <a:schemeClr val="dk1"/>
                </a:solidFill>
                <a:latin typeface="Poppins"/>
                <a:ea typeface="Poppins"/>
                <a:cs typeface="Poppins"/>
                <a:sym typeface="Poppins"/>
              </a:rPr>
              <a:t>sETL	Streaming ETL (Do minimal processing)</a:t>
            </a:r>
            <a:endParaRPr sz="800">
              <a:solidFill>
                <a:schemeClr val="dk1"/>
              </a:solidFill>
              <a:latin typeface="Poppins"/>
              <a:ea typeface="Poppins"/>
              <a:cs typeface="Poppins"/>
              <a:sym typeface="Poppins"/>
            </a:endParaRPr>
          </a:p>
        </p:txBody>
      </p:sp>
      <p:cxnSp>
        <p:nvCxnSpPr>
          <p:cNvPr id="668" name="Google Shape;668;p85"/>
          <p:cNvCxnSpPr/>
          <p:nvPr/>
        </p:nvCxnSpPr>
        <p:spPr>
          <a:xfrm>
            <a:off x="3392150" y="3971200"/>
            <a:ext cx="136800" cy="0"/>
          </a:xfrm>
          <a:prstGeom prst="straightConnector1">
            <a:avLst/>
          </a:prstGeom>
          <a:noFill/>
          <a:ln w="9525" cap="flat" cmpd="sng">
            <a:solidFill>
              <a:srgbClr val="0000FF"/>
            </a:solidFill>
            <a:prstDash val="solid"/>
            <a:round/>
            <a:headEnd type="none" w="med" len="med"/>
            <a:tailEnd type="triangle" w="med" len="med"/>
          </a:ln>
        </p:spPr>
      </p:cxnSp>
      <p:cxnSp>
        <p:nvCxnSpPr>
          <p:cNvPr id="669" name="Google Shape;669;p85"/>
          <p:cNvCxnSpPr/>
          <p:nvPr/>
        </p:nvCxnSpPr>
        <p:spPr>
          <a:xfrm>
            <a:off x="3397250" y="3970625"/>
            <a:ext cx="0" cy="839700"/>
          </a:xfrm>
          <a:prstGeom prst="straightConnector1">
            <a:avLst/>
          </a:prstGeom>
          <a:noFill/>
          <a:ln w="9525" cap="flat" cmpd="sng">
            <a:solidFill>
              <a:srgbClr val="0000FF"/>
            </a:solidFill>
            <a:prstDash val="solid"/>
            <a:round/>
            <a:headEnd type="none" w="med" len="med"/>
            <a:tailEnd type="none" w="med" len="med"/>
          </a:ln>
        </p:spPr>
      </p:cxnSp>
      <p:cxnSp>
        <p:nvCxnSpPr>
          <p:cNvPr id="670" name="Google Shape;670;p85"/>
          <p:cNvCxnSpPr>
            <a:endCxn id="663" idx="3"/>
          </p:cNvCxnSpPr>
          <p:nvPr/>
        </p:nvCxnSpPr>
        <p:spPr>
          <a:xfrm rot="10800000">
            <a:off x="3297417" y="4807750"/>
            <a:ext cx="103200" cy="0"/>
          </a:xfrm>
          <a:prstGeom prst="straightConnector1">
            <a:avLst/>
          </a:prstGeom>
          <a:noFill/>
          <a:ln w="9525" cap="flat" cmpd="sng">
            <a:solidFill>
              <a:srgbClr val="0000FF"/>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88"/>
          <p:cNvSpPr txBox="1">
            <a:spLocks noGrp="1"/>
          </p:cNvSpPr>
          <p:nvPr>
            <p:ph type="title"/>
          </p:nvPr>
        </p:nvSpPr>
        <p:spPr>
          <a:xfrm>
            <a:off x="273500" y="539500"/>
            <a:ext cx="859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Deployment &amp; Metrics</a:t>
            </a:r>
            <a:endParaRPr/>
          </a:p>
        </p:txBody>
      </p:sp>
      <p:graphicFrame>
        <p:nvGraphicFramePr>
          <p:cNvPr id="979" name="Google Shape;979;p88"/>
          <p:cNvGraphicFramePr/>
          <p:nvPr/>
        </p:nvGraphicFramePr>
        <p:xfrm>
          <a:off x="315050" y="1175131"/>
          <a:ext cx="8555550" cy="2575440"/>
        </p:xfrm>
        <a:graphic>
          <a:graphicData uri="http://schemas.openxmlformats.org/drawingml/2006/table">
            <a:tbl>
              <a:tblPr>
                <a:noFill/>
                <a:tableStyleId>{74E38131-4129-46C3-9160-80A10F144541}</a:tableStyleId>
              </a:tblPr>
              <a:tblGrid>
                <a:gridCol w="2169200">
                  <a:extLst>
                    <a:ext uri="{9D8B030D-6E8A-4147-A177-3AD203B41FA5}">
                      <a16:colId xmlns:a16="http://schemas.microsoft.com/office/drawing/2014/main" val="20000"/>
                    </a:ext>
                  </a:extLst>
                </a:gridCol>
                <a:gridCol w="1381850">
                  <a:extLst>
                    <a:ext uri="{9D8B030D-6E8A-4147-A177-3AD203B41FA5}">
                      <a16:colId xmlns:a16="http://schemas.microsoft.com/office/drawing/2014/main" val="20001"/>
                    </a:ext>
                  </a:extLst>
                </a:gridCol>
                <a:gridCol w="1737500">
                  <a:extLst>
                    <a:ext uri="{9D8B030D-6E8A-4147-A177-3AD203B41FA5}">
                      <a16:colId xmlns:a16="http://schemas.microsoft.com/office/drawing/2014/main" val="20002"/>
                    </a:ext>
                  </a:extLst>
                </a:gridCol>
                <a:gridCol w="1584925">
                  <a:extLst>
                    <a:ext uri="{9D8B030D-6E8A-4147-A177-3AD203B41FA5}">
                      <a16:colId xmlns:a16="http://schemas.microsoft.com/office/drawing/2014/main" val="20003"/>
                    </a:ext>
                  </a:extLst>
                </a:gridCol>
                <a:gridCol w="1682075">
                  <a:extLst>
                    <a:ext uri="{9D8B030D-6E8A-4147-A177-3AD203B41FA5}">
                      <a16:colId xmlns:a16="http://schemas.microsoft.com/office/drawing/2014/main" val="20004"/>
                    </a:ext>
                  </a:extLst>
                </a:gridCol>
              </a:tblGrid>
              <a:tr h="381000">
                <a:tc rowSpan="2">
                  <a:txBody>
                    <a:bodyPr/>
                    <a:lstStyle/>
                    <a:p>
                      <a:pPr marL="0" lvl="0" indent="0" algn="ctr" rtl="0">
                        <a:spcBef>
                          <a:spcPts val="0"/>
                        </a:spcBef>
                        <a:spcAft>
                          <a:spcPts val="0"/>
                        </a:spcAft>
                        <a:buNone/>
                      </a:pPr>
                      <a:r>
                        <a:rPr lang="en" sz="1100">
                          <a:latin typeface="Poppins SemiBold"/>
                          <a:ea typeface="Poppins SemiBold"/>
                          <a:cs typeface="Poppins SemiBold"/>
                          <a:sym typeface="Poppins SemiBold"/>
                        </a:rPr>
                        <a:t>Deployment Strategy:</a:t>
                      </a:r>
                      <a:br>
                        <a:rPr lang="en" sz="1100">
                          <a:latin typeface="Poppins SemiBold"/>
                          <a:ea typeface="Poppins SemiBold"/>
                          <a:cs typeface="Poppins SemiBold"/>
                          <a:sym typeface="Poppins SemiBold"/>
                        </a:rPr>
                      </a:br>
                      <a:endParaRPr sz="1100">
                        <a:latin typeface="Poppins SemiBold"/>
                        <a:ea typeface="Poppins SemiBold"/>
                        <a:cs typeface="Poppins SemiBold"/>
                        <a:sym typeface="Poppins SemiBold"/>
                      </a:endParaRPr>
                    </a:p>
                    <a:p>
                      <a:pPr marL="0" lvl="0" indent="0" algn="ctr" rtl="0">
                        <a:spcBef>
                          <a:spcPts val="0"/>
                        </a:spcBef>
                        <a:spcAft>
                          <a:spcPts val="0"/>
                        </a:spcAft>
                        <a:buNone/>
                      </a:pPr>
                      <a:r>
                        <a:rPr lang="en" sz="1100">
                          <a:latin typeface="Poppins SemiBold"/>
                          <a:ea typeface="Poppins SemiBold"/>
                          <a:cs typeface="Poppins SemiBold"/>
                          <a:sym typeface="Poppins SemiBold"/>
                        </a:rPr>
                        <a:t>Canary Model</a:t>
                      </a:r>
                      <a:endParaRPr sz="1100">
                        <a:latin typeface="Poppins SemiBold"/>
                        <a:ea typeface="Poppins SemiBold"/>
                        <a:cs typeface="Poppins SemiBold"/>
                        <a:sym typeface="Poppins SemiBold"/>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E3E7EA"/>
                    </a:solidFill>
                  </a:tcPr>
                </a:tc>
                <a:tc gridSpan="2">
                  <a:txBody>
                    <a:bodyPr/>
                    <a:lstStyle/>
                    <a:p>
                      <a:pPr marL="0" lvl="0" indent="0" algn="ctr" rtl="0">
                        <a:spcBef>
                          <a:spcPts val="0"/>
                        </a:spcBef>
                        <a:spcAft>
                          <a:spcPts val="0"/>
                        </a:spcAft>
                        <a:buNone/>
                      </a:pPr>
                      <a:r>
                        <a:rPr lang="en" sz="1200">
                          <a:latin typeface="Poppins Medium"/>
                          <a:ea typeface="Poppins Medium"/>
                          <a:cs typeface="Poppins Medium"/>
                          <a:sym typeface="Poppins Medium"/>
                        </a:rPr>
                        <a:t>Performance Metrics</a:t>
                      </a:r>
                      <a:endParaRPr sz="1200">
                        <a:latin typeface="Poppins Medium"/>
                        <a:ea typeface="Poppins Medium"/>
                        <a:cs typeface="Poppins Medium"/>
                        <a:sym typeface="Poppins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BACCA"/>
                    </a:solidFill>
                  </a:tcPr>
                </a:tc>
                <a:tc hMerge="1">
                  <a:txBody>
                    <a:bodyPr/>
                    <a:lstStyle/>
                    <a:p>
                      <a:endParaRPr lang="en-US"/>
                    </a:p>
                  </a:txBody>
                  <a:tcPr/>
                </a:tc>
                <a:tc gridSpan="2">
                  <a:txBody>
                    <a:bodyPr/>
                    <a:lstStyle/>
                    <a:p>
                      <a:pPr marL="0" lvl="0" indent="0" algn="ctr" rtl="0">
                        <a:spcBef>
                          <a:spcPts val="0"/>
                        </a:spcBef>
                        <a:spcAft>
                          <a:spcPts val="0"/>
                        </a:spcAft>
                        <a:buNone/>
                      </a:pPr>
                      <a:r>
                        <a:rPr lang="en" sz="1200">
                          <a:solidFill>
                            <a:schemeClr val="accent6"/>
                          </a:solidFill>
                          <a:latin typeface="Poppins Medium"/>
                          <a:ea typeface="Poppins Medium"/>
                          <a:cs typeface="Poppins Medium"/>
                          <a:sym typeface="Poppins Medium"/>
                        </a:rPr>
                        <a:t>Stability Metrics</a:t>
                      </a:r>
                      <a:endParaRPr sz="1200">
                        <a:solidFill>
                          <a:schemeClr val="accent6"/>
                        </a:solidFill>
                        <a:latin typeface="Poppins Medium"/>
                        <a:ea typeface="Poppins Medium"/>
                        <a:cs typeface="Poppins Medium"/>
                        <a:sym typeface="Poppins Medium"/>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hMerge="1">
                  <a:txBody>
                    <a:bodyPr/>
                    <a:lstStyle/>
                    <a:p>
                      <a:endParaRPr lang="en-US"/>
                    </a:p>
                  </a:txBody>
                  <a:tcPr/>
                </a:tc>
                <a:extLst>
                  <a:ext uri="{0D108BD9-81ED-4DB2-BD59-A6C34878D82A}">
                    <a16:rowId xmlns:a16="http://schemas.microsoft.com/office/drawing/2014/main" val="10000"/>
                  </a:ext>
                </a:extLst>
              </a:tr>
              <a:tr h="381000">
                <a:tc vMerge="1">
                  <a:txBody>
                    <a:bodyPr/>
                    <a:lstStyle/>
                    <a:p>
                      <a:endParaRPr lang="en-US"/>
                    </a:p>
                  </a:txBody>
                  <a:tcPr/>
                </a:tc>
                <a:tc>
                  <a:txBody>
                    <a:bodyPr/>
                    <a:lstStyle/>
                    <a:p>
                      <a:pPr marL="0" lvl="0" indent="0" algn="ctr" rtl="0">
                        <a:spcBef>
                          <a:spcPts val="0"/>
                        </a:spcBef>
                        <a:spcAft>
                          <a:spcPts val="0"/>
                        </a:spcAft>
                        <a:buNone/>
                      </a:pPr>
                      <a:r>
                        <a:rPr lang="en" sz="1200">
                          <a:latin typeface="Poppins"/>
                          <a:ea typeface="Poppins"/>
                          <a:cs typeface="Poppins"/>
                          <a:sym typeface="Poppins"/>
                        </a:rPr>
                        <a:t>P0</a:t>
                      </a:r>
                      <a:br>
                        <a:rPr lang="en" sz="1200">
                          <a:latin typeface="Poppins"/>
                          <a:ea typeface="Poppins"/>
                          <a:cs typeface="Poppins"/>
                          <a:sym typeface="Poppins"/>
                        </a:rPr>
                      </a:br>
                      <a:r>
                        <a:rPr lang="en" sz="1200">
                          <a:latin typeface="Poppins"/>
                          <a:ea typeface="Poppins"/>
                          <a:cs typeface="Poppins"/>
                          <a:sym typeface="Poppins"/>
                        </a:rPr>
                        <a:t>(PR-AUC Lift)</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BACCA"/>
                    </a:solidFill>
                  </a:tcPr>
                </a:tc>
                <a:tc>
                  <a:txBody>
                    <a:bodyPr/>
                    <a:lstStyle/>
                    <a:p>
                      <a:pPr marL="0" lvl="0" indent="0" algn="ctr" rtl="0">
                        <a:spcBef>
                          <a:spcPts val="0"/>
                        </a:spcBef>
                        <a:spcAft>
                          <a:spcPts val="0"/>
                        </a:spcAft>
                        <a:buNone/>
                      </a:pPr>
                      <a:r>
                        <a:rPr lang="en" sz="1200">
                          <a:latin typeface="Poppins"/>
                          <a:ea typeface="Poppins"/>
                          <a:cs typeface="Poppins"/>
                          <a:sym typeface="Poppins"/>
                        </a:rPr>
                        <a:t>P1</a:t>
                      </a:r>
                      <a:br>
                        <a:rPr lang="en" sz="1200">
                          <a:latin typeface="Poppins"/>
                          <a:ea typeface="Poppins"/>
                          <a:cs typeface="Poppins"/>
                          <a:sym typeface="Poppins"/>
                        </a:rPr>
                      </a:br>
                      <a:r>
                        <a:rPr lang="en" sz="1200">
                          <a:latin typeface="Poppins"/>
                          <a:ea typeface="Poppins"/>
                          <a:cs typeface="Poppins"/>
                          <a:sym typeface="Poppins"/>
                        </a:rPr>
                        <a:t>(ROC-AUC)</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BACCA"/>
                    </a:solidFill>
                  </a:tcPr>
                </a:tc>
                <a:tc>
                  <a:txBody>
                    <a:bodyPr/>
                    <a:lstStyle/>
                    <a:p>
                      <a:pPr marL="0" lvl="0" indent="0" algn="ctr" rtl="0">
                        <a:spcBef>
                          <a:spcPts val="0"/>
                        </a:spcBef>
                        <a:spcAft>
                          <a:spcPts val="0"/>
                        </a:spcAft>
                        <a:buNone/>
                      </a:pPr>
                      <a:r>
                        <a:rPr lang="en" sz="1200">
                          <a:solidFill>
                            <a:schemeClr val="accent6"/>
                          </a:solidFill>
                          <a:latin typeface="Poppins"/>
                          <a:ea typeface="Poppins"/>
                          <a:cs typeface="Poppins"/>
                          <a:sym typeface="Poppins"/>
                        </a:rPr>
                        <a:t>PSI</a:t>
                      </a:r>
                      <a:endParaRPr sz="1200">
                        <a:solidFill>
                          <a:schemeClr val="accent6"/>
                        </a:solidFill>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a:txBody>
                    <a:bodyPr/>
                    <a:lstStyle/>
                    <a:p>
                      <a:pPr marL="0" lvl="0" indent="0" algn="ctr" rtl="0">
                        <a:spcBef>
                          <a:spcPts val="0"/>
                        </a:spcBef>
                        <a:spcAft>
                          <a:spcPts val="0"/>
                        </a:spcAft>
                        <a:buNone/>
                      </a:pPr>
                      <a:r>
                        <a:rPr lang="en" sz="1200">
                          <a:solidFill>
                            <a:schemeClr val="accent6"/>
                          </a:solidFill>
                          <a:latin typeface="Poppins"/>
                          <a:ea typeface="Poppins"/>
                          <a:cs typeface="Poppins"/>
                          <a:sym typeface="Poppins"/>
                        </a:rPr>
                        <a:t>CSI</a:t>
                      </a:r>
                      <a:endParaRPr sz="1200">
                        <a:solidFill>
                          <a:schemeClr val="accent6"/>
                        </a:solidFill>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latin typeface="Poppins"/>
                          <a:ea typeface="Poppins"/>
                          <a:cs typeface="Poppins"/>
                          <a:sym typeface="Poppins"/>
                        </a:rPr>
                        <a:t>Green Zone</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sz="1200">
                          <a:latin typeface="Poppins"/>
                          <a:ea typeface="Poppins"/>
                          <a:cs typeface="Poppins"/>
                          <a:sym typeface="Poppins"/>
                        </a:rPr>
                        <a:t>≥ 3.0×</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sz="1200">
                          <a:latin typeface="Poppins"/>
                          <a:ea typeface="Poppins"/>
                          <a:cs typeface="Poppins"/>
                          <a:sym typeface="Poppins"/>
                        </a:rPr>
                        <a:t>≥ 0.70</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sz="1200">
                          <a:latin typeface="Poppins"/>
                          <a:ea typeface="Poppins"/>
                          <a:cs typeface="Poppins"/>
                          <a:sym typeface="Poppins"/>
                        </a:rPr>
                        <a:t>&lt; 0.10</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6D7A8"/>
                    </a:solidFill>
                  </a:tcPr>
                </a:tc>
                <a:tc>
                  <a:txBody>
                    <a:bodyPr/>
                    <a:lstStyle/>
                    <a:p>
                      <a:pPr marL="0" lvl="0" indent="0" algn="ctr" rtl="0">
                        <a:spcBef>
                          <a:spcPts val="0"/>
                        </a:spcBef>
                        <a:spcAft>
                          <a:spcPts val="0"/>
                        </a:spcAft>
                        <a:buNone/>
                      </a:pPr>
                      <a:r>
                        <a:rPr lang="en" sz="1200">
                          <a:latin typeface="Poppins"/>
                          <a:ea typeface="Poppins"/>
                          <a:cs typeface="Poppins"/>
                          <a:sym typeface="Poppins"/>
                        </a:rPr>
                        <a:t>≥ 0.25 </a:t>
                      </a:r>
                      <a:br>
                        <a:rPr lang="en" sz="1200">
                          <a:latin typeface="Poppins"/>
                          <a:ea typeface="Poppins"/>
                          <a:cs typeface="Poppins"/>
                          <a:sym typeface="Poppins"/>
                        </a:rPr>
                      </a:br>
                      <a:r>
                        <a:rPr lang="en" sz="1200">
                          <a:latin typeface="Poppins"/>
                          <a:ea typeface="Poppins"/>
                          <a:cs typeface="Poppins"/>
                          <a:sym typeface="Poppins"/>
                        </a:rPr>
                        <a:t>for &lt; 30% cols</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6D7A8"/>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latin typeface="Poppins"/>
                          <a:ea typeface="Poppins"/>
                          <a:cs typeface="Poppins"/>
                          <a:sym typeface="Poppins"/>
                        </a:rPr>
                        <a:t>Yellow Zone</a:t>
                      </a:r>
                      <a:br>
                        <a:rPr lang="en" sz="1200">
                          <a:latin typeface="Poppins"/>
                          <a:ea typeface="Poppins"/>
                          <a:cs typeface="Poppins"/>
                          <a:sym typeface="Poppins"/>
                        </a:rPr>
                      </a:br>
                      <a:r>
                        <a:rPr lang="en" sz="1200">
                          <a:latin typeface="Poppins"/>
                          <a:ea typeface="Poppins"/>
                          <a:cs typeface="Poppins"/>
                          <a:sym typeface="Poppins"/>
                        </a:rPr>
                        <a:t>(daily + 7-day rolling)</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E599"/>
                    </a:solidFill>
                  </a:tcPr>
                </a:tc>
                <a:tc>
                  <a:txBody>
                    <a:bodyPr/>
                    <a:lstStyle/>
                    <a:p>
                      <a:pPr marL="0" lvl="0" indent="0" algn="ctr" rtl="0">
                        <a:spcBef>
                          <a:spcPts val="0"/>
                        </a:spcBef>
                        <a:spcAft>
                          <a:spcPts val="0"/>
                        </a:spcAft>
                        <a:buNone/>
                      </a:pPr>
                      <a:r>
                        <a:rPr lang="en" sz="1200">
                          <a:latin typeface="Poppins"/>
                          <a:ea typeface="Poppins"/>
                          <a:cs typeface="Poppins"/>
                          <a:sym typeface="Poppins"/>
                        </a:rPr>
                        <a:t>1.5× – 3.0×</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E599"/>
                    </a:solidFill>
                  </a:tcPr>
                </a:tc>
                <a:tc>
                  <a:txBody>
                    <a:bodyPr/>
                    <a:lstStyle/>
                    <a:p>
                      <a:pPr marL="0" lvl="0" indent="0" algn="ctr" rtl="0">
                        <a:spcBef>
                          <a:spcPts val="0"/>
                        </a:spcBef>
                        <a:spcAft>
                          <a:spcPts val="0"/>
                        </a:spcAft>
                        <a:buNone/>
                      </a:pPr>
                      <a:r>
                        <a:rPr lang="en" sz="1200">
                          <a:latin typeface="Poppins"/>
                          <a:ea typeface="Poppins"/>
                          <a:cs typeface="Poppins"/>
                          <a:sym typeface="Poppins"/>
                        </a:rPr>
                        <a:t>0.60 – 0.70</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E599"/>
                    </a:solidFill>
                  </a:tcPr>
                </a:tc>
                <a:tc>
                  <a:txBody>
                    <a:bodyPr/>
                    <a:lstStyle/>
                    <a:p>
                      <a:pPr marL="0" lvl="0" indent="0" algn="ctr" rtl="0">
                        <a:spcBef>
                          <a:spcPts val="0"/>
                        </a:spcBef>
                        <a:spcAft>
                          <a:spcPts val="0"/>
                        </a:spcAft>
                        <a:buNone/>
                      </a:pPr>
                      <a:r>
                        <a:rPr lang="en" sz="1200">
                          <a:latin typeface="Poppins"/>
                          <a:ea typeface="Poppins"/>
                          <a:cs typeface="Poppins"/>
                          <a:sym typeface="Poppins"/>
                        </a:rPr>
                        <a:t>0.10 – 0.25</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E599"/>
                    </a:solidFill>
                  </a:tcPr>
                </a:tc>
                <a:tc>
                  <a:txBody>
                    <a:bodyPr/>
                    <a:lstStyle/>
                    <a:p>
                      <a:pPr marL="0" lvl="0" indent="0" algn="ctr" rtl="0">
                        <a:spcBef>
                          <a:spcPts val="0"/>
                        </a:spcBef>
                        <a:spcAft>
                          <a:spcPts val="0"/>
                        </a:spcAft>
                        <a:buNone/>
                      </a:pPr>
                      <a:r>
                        <a:rPr lang="en" sz="1200">
                          <a:latin typeface="Poppins"/>
                          <a:ea typeface="Poppins"/>
                          <a:cs typeface="Poppins"/>
                          <a:sym typeface="Poppins"/>
                        </a:rPr>
                        <a:t>≥ 0.25 </a:t>
                      </a:r>
                      <a:br>
                        <a:rPr lang="en" sz="1200">
                          <a:latin typeface="Poppins"/>
                          <a:ea typeface="Poppins"/>
                          <a:cs typeface="Poppins"/>
                          <a:sym typeface="Poppins"/>
                        </a:rPr>
                      </a:br>
                      <a:r>
                        <a:rPr lang="en" sz="1200">
                          <a:latin typeface="Poppins"/>
                          <a:ea typeface="Poppins"/>
                          <a:cs typeface="Poppins"/>
                          <a:sym typeface="Poppins"/>
                        </a:rPr>
                        <a:t>for 30% – 50% cols</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E5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latin typeface="Poppins"/>
                          <a:ea typeface="Poppins"/>
                          <a:cs typeface="Poppins"/>
                          <a:sym typeface="Poppins"/>
                        </a:rPr>
                        <a:t>Red Zone</a:t>
                      </a:r>
                      <a:br>
                        <a:rPr lang="en" sz="1200">
                          <a:latin typeface="Poppins"/>
                          <a:ea typeface="Poppins"/>
                          <a:cs typeface="Poppins"/>
                          <a:sym typeface="Poppins"/>
                        </a:rPr>
                      </a:br>
                      <a:r>
                        <a:rPr lang="en" sz="1200">
                          <a:latin typeface="Poppins"/>
                          <a:ea typeface="Poppins"/>
                          <a:cs typeface="Poppins"/>
                          <a:sym typeface="Poppins"/>
                        </a:rPr>
                        <a:t>(7-day rolling only)</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200">
                          <a:latin typeface="Poppins"/>
                          <a:ea typeface="Poppins"/>
                          <a:cs typeface="Poppins"/>
                          <a:sym typeface="Poppins"/>
                        </a:rPr>
                        <a:t>&lt; 1.5×</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200">
                          <a:latin typeface="Poppins"/>
                          <a:ea typeface="Poppins"/>
                          <a:cs typeface="Poppins"/>
                          <a:sym typeface="Poppins"/>
                        </a:rPr>
                        <a:t>&lt; 0.60</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200">
                          <a:latin typeface="Poppins"/>
                          <a:ea typeface="Poppins"/>
                          <a:cs typeface="Poppins"/>
                          <a:sym typeface="Poppins"/>
                        </a:rPr>
                        <a:t>≥ 0.25</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200">
                          <a:latin typeface="Poppins"/>
                          <a:ea typeface="Poppins"/>
                          <a:cs typeface="Poppins"/>
                          <a:sym typeface="Poppins"/>
                        </a:rPr>
                        <a:t>≥ 0.25 </a:t>
                      </a:r>
                      <a:br>
                        <a:rPr lang="en" sz="1200">
                          <a:latin typeface="Poppins"/>
                          <a:ea typeface="Poppins"/>
                          <a:cs typeface="Poppins"/>
                          <a:sym typeface="Poppins"/>
                        </a:rPr>
                      </a:br>
                      <a:r>
                        <a:rPr lang="en" sz="1200">
                          <a:latin typeface="Poppins"/>
                          <a:ea typeface="Poppins"/>
                          <a:cs typeface="Poppins"/>
                          <a:sym typeface="Poppins"/>
                        </a:rPr>
                        <a:t>for ≥ 50% cols</a:t>
                      </a:r>
                      <a:endParaRPr sz="12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4"/>
                  </a:ext>
                </a:extLst>
              </a:tr>
            </a:tbl>
          </a:graphicData>
        </a:graphic>
      </p:graphicFrame>
      <p:sp>
        <p:nvSpPr>
          <p:cNvPr id="980" name="Google Shape;980;p88"/>
          <p:cNvSpPr txBox="1"/>
          <p:nvPr/>
        </p:nvSpPr>
        <p:spPr>
          <a:xfrm>
            <a:off x="484632" y="3934374"/>
            <a:ext cx="3944700" cy="1094400"/>
          </a:xfrm>
          <a:prstGeom prst="rect">
            <a:avLst/>
          </a:prstGeom>
          <a:noFill/>
          <a:ln>
            <a:noFill/>
          </a:ln>
        </p:spPr>
        <p:txBody>
          <a:bodyPr spcFirstLastPara="1" wrap="square" lIns="91425" tIns="0" rIns="91425" bIns="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a:solidFill>
                  <a:schemeClr val="dk2"/>
                </a:solidFill>
                <a:latin typeface="Didact Gothic"/>
                <a:ea typeface="Didact Gothic"/>
                <a:cs typeface="Didact Gothic"/>
                <a:sym typeface="Didact Gothic"/>
              </a:rPr>
              <a:t>REVIEW &amp; RETRAIN CRITERIA</a:t>
            </a:r>
            <a:endParaRPr>
              <a:solidFill>
                <a:schemeClr val="dk2"/>
              </a:solidFill>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r>
              <a:rPr lang="en" sz="1100">
                <a:latin typeface="Didact Gothic"/>
                <a:ea typeface="Didact Gothic"/>
                <a:cs typeface="Didact Gothic"/>
                <a:sym typeface="Didact Gothic"/>
              </a:rPr>
              <a:t>Review &amp; retrain when any of the metrics hit </a:t>
            </a:r>
            <a:r>
              <a:rPr lang="en" sz="1100" b="1">
                <a:latin typeface="Didact Gothic"/>
                <a:ea typeface="Didact Gothic"/>
                <a:cs typeface="Didact Gothic"/>
                <a:sym typeface="Didact Gothic"/>
              </a:rPr>
              <a:t>red zone</a:t>
            </a:r>
            <a:r>
              <a:rPr lang="en" sz="1100">
                <a:latin typeface="Didact Gothic"/>
                <a:ea typeface="Didact Gothic"/>
                <a:cs typeface="Didact Gothic"/>
                <a:sym typeface="Didact Gothic"/>
              </a:rPr>
              <a:t>:</a:t>
            </a:r>
            <a:endParaRPr sz="1100">
              <a:latin typeface="Didact Gothic"/>
              <a:ea typeface="Didact Gothic"/>
              <a:cs typeface="Didact Gothic"/>
              <a:sym typeface="Didact Gothic"/>
            </a:endParaRPr>
          </a:p>
          <a:p>
            <a:pPr marL="182880" marR="0" lvl="0" indent="-207010" algn="l" rtl="0">
              <a:lnSpc>
                <a:spcPct val="100000"/>
              </a:lnSpc>
              <a:spcBef>
                <a:spcPts val="400"/>
              </a:spcBef>
              <a:spcAft>
                <a:spcPts val="0"/>
              </a:spcAft>
              <a:buSzPts val="1100"/>
              <a:buFont typeface="Didact Gothic"/>
              <a:buChar char="-"/>
            </a:pPr>
            <a:r>
              <a:rPr lang="en" sz="1100" b="1">
                <a:latin typeface="Didact Gothic"/>
                <a:ea typeface="Didact Gothic"/>
                <a:cs typeface="Didact Gothic"/>
                <a:sym typeface="Didact Gothic"/>
              </a:rPr>
              <a:t>P0 </a:t>
            </a:r>
            <a:r>
              <a:rPr lang="en" sz="1100">
                <a:latin typeface="Didact Gothic"/>
                <a:ea typeface="Didact Gothic"/>
                <a:cs typeface="Didact Gothic"/>
                <a:sym typeface="Didact Gothic"/>
              </a:rPr>
              <a:t>(PR-AUC Lift) or </a:t>
            </a:r>
            <a:r>
              <a:rPr lang="en" sz="1100" b="1">
                <a:latin typeface="Didact Gothic"/>
                <a:ea typeface="Didact Gothic"/>
                <a:cs typeface="Didact Gothic"/>
                <a:sym typeface="Didact Gothic"/>
              </a:rPr>
              <a:t>P1 </a:t>
            </a:r>
            <a:r>
              <a:rPr lang="en" sz="1100">
                <a:latin typeface="Didact Gothic"/>
                <a:ea typeface="Didact Gothic"/>
                <a:cs typeface="Didact Gothic"/>
                <a:sym typeface="Didact Gothic"/>
              </a:rPr>
              <a:t>(ROC-AUC) hits Red Zone</a:t>
            </a:r>
            <a:endParaRPr sz="1100">
              <a:latin typeface="Didact Gothic"/>
              <a:ea typeface="Didact Gothic"/>
              <a:cs typeface="Didact Gothic"/>
              <a:sym typeface="Didact Gothic"/>
            </a:endParaRPr>
          </a:p>
          <a:p>
            <a:pPr marL="182880" marR="0" lvl="0" indent="-207010" algn="l" rtl="0">
              <a:lnSpc>
                <a:spcPct val="100000"/>
              </a:lnSpc>
              <a:spcBef>
                <a:spcPts val="0"/>
              </a:spcBef>
              <a:spcAft>
                <a:spcPts val="0"/>
              </a:spcAft>
              <a:buSzPts val="1100"/>
              <a:buFont typeface="Didact Gothic"/>
              <a:buChar char="-"/>
            </a:pPr>
            <a:r>
              <a:rPr lang="en" sz="1100" b="1">
                <a:latin typeface="Didact Gothic"/>
                <a:ea typeface="Didact Gothic"/>
                <a:cs typeface="Didact Gothic"/>
                <a:sym typeface="Didact Gothic"/>
              </a:rPr>
              <a:t>PSI </a:t>
            </a:r>
            <a:r>
              <a:rPr lang="en" sz="1100">
                <a:latin typeface="Didact Gothic"/>
                <a:ea typeface="Didact Gothic"/>
                <a:cs typeface="Didact Gothic"/>
                <a:sym typeface="Didact Gothic"/>
              </a:rPr>
              <a:t>hits Red Zone — after ruling out a data pipeline issue</a:t>
            </a:r>
            <a:endParaRPr sz="1100">
              <a:latin typeface="Didact Gothic"/>
              <a:ea typeface="Didact Gothic"/>
              <a:cs typeface="Didact Gothic"/>
              <a:sym typeface="Didact Gothic"/>
            </a:endParaRPr>
          </a:p>
          <a:p>
            <a:pPr marL="182880" marR="0" lvl="0" indent="-207010" algn="l" rtl="0">
              <a:lnSpc>
                <a:spcPct val="100000"/>
              </a:lnSpc>
              <a:spcBef>
                <a:spcPts val="0"/>
              </a:spcBef>
              <a:spcAft>
                <a:spcPts val="0"/>
              </a:spcAft>
              <a:buSzPts val="1100"/>
              <a:buFont typeface="Didact Gothic"/>
              <a:buChar char="-"/>
            </a:pPr>
            <a:r>
              <a:rPr lang="en" sz="1100" b="1">
                <a:latin typeface="Didact Gothic"/>
                <a:ea typeface="Didact Gothic"/>
                <a:cs typeface="Didact Gothic"/>
                <a:sym typeface="Didact Gothic"/>
              </a:rPr>
              <a:t>CSI </a:t>
            </a:r>
            <a:r>
              <a:rPr lang="en" sz="1100">
                <a:latin typeface="Didact Gothic"/>
                <a:ea typeface="Didact Gothic"/>
                <a:cs typeface="Didact Gothic"/>
                <a:sym typeface="Didact Gothic"/>
              </a:rPr>
              <a:t>hits Red Zone — after ruling out a data pipeline issue</a:t>
            </a:r>
            <a:endParaRPr sz="1100">
              <a:latin typeface="Didact Gothic"/>
              <a:ea typeface="Didact Gothic"/>
              <a:cs typeface="Didact Gothic"/>
              <a:sym typeface="Didact Gothic"/>
            </a:endParaRPr>
          </a:p>
          <a:p>
            <a:pPr marL="0" marR="0" lvl="0" indent="0" algn="l" rtl="0">
              <a:lnSpc>
                <a:spcPct val="100000"/>
              </a:lnSpc>
              <a:spcBef>
                <a:spcPts val="400"/>
              </a:spcBef>
              <a:spcAft>
                <a:spcPts val="0"/>
              </a:spcAft>
              <a:buClr>
                <a:srgbClr val="000000"/>
              </a:buClr>
              <a:buSzPts val="1100"/>
              <a:buFont typeface="Arial"/>
              <a:buNone/>
            </a:pPr>
            <a:endParaRPr sz="1100">
              <a:latin typeface="Didact Gothic"/>
              <a:ea typeface="Didact Gothic"/>
              <a:cs typeface="Didact Gothic"/>
              <a:sym typeface="Didact Gothic"/>
            </a:endParaRPr>
          </a:p>
        </p:txBody>
      </p:sp>
      <p:sp>
        <p:nvSpPr>
          <p:cNvPr id="981" name="Google Shape;981;p88"/>
          <p:cNvSpPr/>
          <p:nvPr/>
        </p:nvSpPr>
        <p:spPr>
          <a:xfrm>
            <a:off x="311075" y="3934375"/>
            <a:ext cx="93900" cy="10944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2" name="Google Shape;982;p88"/>
          <p:cNvSpPr txBox="1"/>
          <p:nvPr/>
        </p:nvSpPr>
        <p:spPr>
          <a:xfrm>
            <a:off x="4755800" y="3934374"/>
            <a:ext cx="4114800" cy="1094400"/>
          </a:xfrm>
          <a:prstGeom prst="rect">
            <a:avLst/>
          </a:prstGeom>
          <a:noFill/>
          <a:ln>
            <a:noFill/>
          </a:ln>
        </p:spPr>
        <p:txBody>
          <a:bodyPr spcFirstLastPara="1" wrap="square" lIns="91425" tIns="0" rIns="91425" bIns="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a:solidFill>
                  <a:schemeClr val="dk2"/>
                </a:solidFill>
                <a:latin typeface="Didact Gothic"/>
                <a:ea typeface="Didact Gothic"/>
                <a:cs typeface="Didact Gothic"/>
                <a:sym typeface="Didact Gothic"/>
              </a:rPr>
              <a:t>RETRAIN &amp; DEPLOY LOGIC</a:t>
            </a:r>
            <a:endParaRPr>
              <a:solidFill>
                <a:srgbClr val="F15FBC"/>
              </a:solidFill>
              <a:latin typeface="Didact Gothic"/>
              <a:ea typeface="Didact Gothic"/>
              <a:cs typeface="Didact Gothic"/>
              <a:sym typeface="Didact Gothic"/>
            </a:endParaRPr>
          </a:p>
          <a:p>
            <a:pPr marL="182880" marR="0" lvl="0" indent="-207010" algn="l" rtl="0">
              <a:lnSpc>
                <a:spcPct val="100000"/>
              </a:lnSpc>
              <a:spcBef>
                <a:spcPts val="400"/>
              </a:spcBef>
              <a:spcAft>
                <a:spcPts val="0"/>
              </a:spcAft>
              <a:buSzPts val="1100"/>
              <a:buFont typeface="Didact Gothic"/>
              <a:buChar char="-"/>
            </a:pPr>
            <a:r>
              <a:rPr lang="en" sz="1100">
                <a:latin typeface="Didact Gothic"/>
                <a:ea typeface="Didact Gothic"/>
                <a:cs typeface="Didact Gothic"/>
                <a:sym typeface="Didact Gothic"/>
              </a:rPr>
              <a:t>Retrain a model based on </a:t>
            </a:r>
            <a:r>
              <a:rPr lang="en" sz="1100" b="1">
                <a:latin typeface="Didact Gothic"/>
                <a:ea typeface="Didact Gothic"/>
                <a:cs typeface="Didact Gothic"/>
                <a:sym typeface="Didact Gothic"/>
              </a:rPr>
              <a:t>recent (past 20 to 30 days) data</a:t>
            </a:r>
            <a:r>
              <a:rPr lang="en" sz="1100">
                <a:latin typeface="Didact Gothic"/>
                <a:ea typeface="Didact Gothic"/>
                <a:cs typeface="Didact Gothic"/>
                <a:sym typeface="Didact Gothic"/>
              </a:rPr>
              <a:t>.</a:t>
            </a:r>
            <a:endParaRPr sz="1100">
              <a:latin typeface="Didact Gothic"/>
              <a:ea typeface="Didact Gothic"/>
              <a:cs typeface="Didact Gothic"/>
              <a:sym typeface="Didact Gothic"/>
            </a:endParaRPr>
          </a:p>
          <a:p>
            <a:pPr marL="182880" marR="0" lvl="0" indent="-207010" algn="l" rtl="0">
              <a:lnSpc>
                <a:spcPct val="100000"/>
              </a:lnSpc>
              <a:spcBef>
                <a:spcPts val="0"/>
              </a:spcBef>
              <a:spcAft>
                <a:spcPts val="0"/>
              </a:spcAft>
              <a:buSzPts val="1100"/>
              <a:buFont typeface="Didact Gothic"/>
              <a:buChar char="-"/>
            </a:pPr>
            <a:r>
              <a:rPr lang="en" sz="1100">
                <a:latin typeface="Didact Gothic"/>
                <a:ea typeface="Didact Gothic"/>
                <a:cs typeface="Didact Gothic"/>
                <a:sym typeface="Didact Gothic"/>
              </a:rPr>
              <a:t>Try 2 candidate models - </a:t>
            </a:r>
            <a:r>
              <a:rPr lang="en" sz="1100" b="1">
                <a:latin typeface="Didact Gothic"/>
                <a:ea typeface="Didact Gothic"/>
                <a:cs typeface="Didact Gothic"/>
                <a:sym typeface="Didact Gothic"/>
              </a:rPr>
              <a:t>XGBoost and LightGBM</a:t>
            </a:r>
            <a:r>
              <a:rPr lang="en" sz="1100">
                <a:latin typeface="Didact Gothic"/>
                <a:ea typeface="Didact Gothic"/>
                <a:cs typeface="Didact Gothic"/>
                <a:sym typeface="Didact Gothic"/>
              </a:rPr>
              <a:t>. </a:t>
            </a:r>
            <a:endParaRPr sz="1100">
              <a:latin typeface="Didact Gothic"/>
              <a:ea typeface="Didact Gothic"/>
              <a:cs typeface="Didact Gothic"/>
              <a:sym typeface="Didact Gothic"/>
            </a:endParaRPr>
          </a:p>
          <a:p>
            <a:pPr marL="182880" marR="0" lvl="0" indent="-207010" algn="l" rtl="0">
              <a:lnSpc>
                <a:spcPct val="100000"/>
              </a:lnSpc>
              <a:spcBef>
                <a:spcPts val="0"/>
              </a:spcBef>
              <a:spcAft>
                <a:spcPts val="0"/>
              </a:spcAft>
              <a:buSzPts val="1100"/>
              <a:buFont typeface="Didact Gothic"/>
              <a:buChar char="-"/>
            </a:pPr>
            <a:r>
              <a:rPr lang="en" sz="1100">
                <a:latin typeface="Didact Gothic"/>
                <a:ea typeface="Didact Gothic"/>
                <a:cs typeface="Didact Gothic"/>
                <a:sym typeface="Didact Gothic"/>
              </a:rPr>
              <a:t>The better candidates when comparing </a:t>
            </a:r>
            <a:r>
              <a:rPr lang="en" sz="1100" b="1">
                <a:latin typeface="Didact Gothic"/>
                <a:ea typeface="Didact Gothic"/>
                <a:cs typeface="Didact Gothic"/>
                <a:sym typeface="Didact Gothic"/>
              </a:rPr>
              <a:t>P0</a:t>
            </a:r>
            <a:r>
              <a:rPr lang="en" sz="1100">
                <a:latin typeface="Didact Gothic"/>
                <a:ea typeface="Didact Gothic"/>
                <a:cs typeface="Didact Gothic"/>
                <a:sym typeface="Didact Gothic"/>
              </a:rPr>
              <a:t> will be deployed.</a:t>
            </a:r>
            <a:endParaRPr sz="1100">
              <a:latin typeface="Didact Gothic"/>
              <a:ea typeface="Didact Gothic"/>
              <a:cs typeface="Didact Gothic"/>
              <a:sym typeface="Didact Gothic"/>
            </a:endParaRPr>
          </a:p>
          <a:p>
            <a:pPr marL="182880" marR="0" lvl="0" indent="-207010" algn="l" rtl="0">
              <a:lnSpc>
                <a:spcPct val="100000"/>
              </a:lnSpc>
              <a:spcBef>
                <a:spcPts val="0"/>
              </a:spcBef>
              <a:spcAft>
                <a:spcPts val="0"/>
              </a:spcAft>
              <a:buSzPts val="1100"/>
              <a:buFont typeface="Didact Gothic"/>
              <a:buChar char="-"/>
            </a:pPr>
            <a:r>
              <a:rPr lang="en" sz="1100">
                <a:latin typeface="Didact Gothic"/>
                <a:ea typeface="Didact Gothic"/>
                <a:cs typeface="Didact Gothic"/>
                <a:sym typeface="Didact Gothic"/>
              </a:rPr>
              <a:t>Deploy the winning candidate via </a:t>
            </a:r>
            <a:r>
              <a:rPr lang="en" sz="1100" b="1">
                <a:latin typeface="Didact Gothic"/>
                <a:ea typeface="Didact Gothic"/>
                <a:cs typeface="Didact Gothic"/>
                <a:sym typeface="Didact Gothic"/>
              </a:rPr>
              <a:t>canary </a:t>
            </a:r>
            <a:r>
              <a:rPr lang="en" sz="1100">
                <a:latin typeface="Didact Gothic"/>
                <a:ea typeface="Didact Gothic"/>
                <a:cs typeface="Didact Gothic"/>
                <a:sym typeface="Didact Gothic"/>
              </a:rPr>
              <a:t>— promote if it outperforms the current production model on P0</a:t>
            </a:r>
            <a:endParaRPr sz="1100">
              <a:latin typeface="Didact Gothic"/>
              <a:ea typeface="Didact Gothic"/>
              <a:cs typeface="Didact Gothic"/>
              <a:sym typeface="Didact Gothic"/>
            </a:endParaRPr>
          </a:p>
        </p:txBody>
      </p:sp>
      <p:sp>
        <p:nvSpPr>
          <p:cNvPr id="983" name="Google Shape;983;p88"/>
          <p:cNvSpPr/>
          <p:nvPr/>
        </p:nvSpPr>
        <p:spPr>
          <a:xfrm>
            <a:off x="4525100" y="3968070"/>
            <a:ext cx="93900" cy="1026900"/>
          </a:xfrm>
          <a:prstGeom prst="rect">
            <a:avLst/>
          </a:prstGeom>
          <a:solidFill>
            <a:srgbClr val="37476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7"/>
        <p:cNvGrpSpPr/>
        <p:nvPr/>
      </p:nvGrpSpPr>
      <p:grpSpPr>
        <a:xfrm>
          <a:off x="0" y="0"/>
          <a:ext cx="0" cy="0"/>
          <a:chOff x="0" y="0"/>
          <a:chExt cx="0" cy="0"/>
        </a:xfrm>
      </p:grpSpPr>
      <p:grpSp>
        <p:nvGrpSpPr>
          <p:cNvPr id="988" name="Google Shape;988;p89"/>
          <p:cNvGrpSpPr/>
          <p:nvPr/>
        </p:nvGrpSpPr>
        <p:grpSpPr>
          <a:xfrm>
            <a:off x="0" y="0"/>
            <a:ext cx="9144000" cy="312600"/>
            <a:chOff x="0" y="0"/>
            <a:chExt cx="9144000" cy="312600"/>
          </a:xfrm>
        </p:grpSpPr>
        <p:sp>
          <p:nvSpPr>
            <p:cNvPr id="989" name="Google Shape;989;p89"/>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90" name="Google Shape;990;p89"/>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grpSp>
        <p:nvGrpSpPr>
          <p:cNvPr id="991" name="Google Shape;991;p89"/>
          <p:cNvGrpSpPr/>
          <p:nvPr/>
        </p:nvGrpSpPr>
        <p:grpSpPr>
          <a:xfrm>
            <a:off x="0" y="0"/>
            <a:ext cx="9144000" cy="312300"/>
            <a:chOff x="0" y="0"/>
            <a:chExt cx="9144000" cy="312300"/>
          </a:xfrm>
        </p:grpSpPr>
        <p:sp>
          <p:nvSpPr>
            <p:cNvPr id="992" name="Google Shape;992;p89"/>
            <p:cNvSpPr/>
            <p:nvPr/>
          </p:nvSpPr>
          <p:spPr>
            <a:xfrm>
              <a:off x="0" y="0"/>
              <a:ext cx="9144000" cy="312300"/>
            </a:xfrm>
            <a:prstGeom prst="rect">
              <a:avLst/>
            </a:prstGeom>
            <a:solidFill>
              <a:srgbClr val="37476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93" name="Google Shape;993;p89"/>
            <p:cNvSpPr/>
            <p:nvPr/>
          </p:nvSpPr>
          <p:spPr>
            <a:xfrm>
              <a:off x="0" y="0"/>
              <a:ext cx="713400" cy="312300"/>
            </a:xfrm>
            <a:prstGeom prst="rect">
              <a:avLst/>
            </a:prstGeom>
            <a:solidFill>
              <a:srgbClr val="9BACC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994" name="Google Shape;994;p89"/>
          <p:cNvGrpSpPr/>
          <p:nvPr/>
        </p:nvGrpSpPr>
        <p:grpSpPr>
          <a:xfrm>
            <a:off x="364133" y="1377816"/>
            <a:ext cx="2727179" cy="2789320"/>
            <a:chOff x="0" y="0"/>
            <a:chExt cx="2381400" cy="1714500"/>
          </a:xfrm>
        </p:grpSpPr>
        <p:sp>
          <p:nvSpPr>
            <p:cNvPr id="995" name="Google Shape;995;p89"/>
            <p:cNvSpPr/>
            <p:nvPr/>
          </p:nvSpPr>
          <p:spPr>
            <a:xfrm>
              <a:off x="0" y="0"/>
              <a:ext cx="2381400" cy="1714500"/>
            </a:xfrm>
            <a:prstGeom prst="roundRect">
              <a:avLst>
                <a:gd name="adj" fmla="val 6172"/>
              </a:avLst>
            </a:prstGeom>
            <a:solidFill>
              <a:srgbClr val="FFFFFF"/>
            </a:solidFill>
            <a:ln w="10900"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96" name="Google Shape;996;p89"/>
            <p:cNvSpPr txBox="1"/>
            <p:nvPr/>
          </p:nvSpPr>
          <p:spPr>
            <a:xfrm>
              <a:off x="0" y="0"/>
              <a:ext cx="2381400" cy="1714500"/>
            </a:xfrm>
            <a:prstGeom prst="rect">
              <a:avLst/>
            </a:prstGeom>
            <a:solidFill>
              <a:srgbClr val="000000">
                <a:alpha val="0"/>
              </a:srgbClr>
            </a:solidFill>
            <a:ln>
              <a:noFill/>
            </a:ln>
          </p:spPr>
          <p:txBody>
            <a:bodyPr spcFirstLastPara="1" wrap="square" lIns="163600" tIns="163600" rIns="163600" bIns="163600" anchor="ctr" anchorCtr="0">
              <a:noAutofit/>
            </a:bodyPr>
            <a:lstStyle/>
            <a:p>
              <a:pPr marL="0" lvl="0" indent="0" algn="ctr" rtl="0">
                <a:spcBef>
                  <a:spcPts val="458"/>
                </a:spcBef>
                <a:spcAft>
                  <a:spcPts val="0"/>
                </a:spcAft>
                <a:buNone/>
              </a:pPr>
              <a:endParaRPr lang="en" sz="2061" b="1" dirty="0">
                <a:solidFill>
                  <a:srgbClr val="1B1B1B"/>
                </a:solidFill>
                <a:latin typeface="Poppins"/>
                <a:ea typeface="Poppins"/>
                <a:cs typeface="Poppins"/>
                <a:sym typeface="Poppins"/>
              </a:endParaRPr>
            </a:p>
            <a:p>
              <a:pPr marL="0" lvl="0" indent="0" algn="ctr" rtl="0">
                <a:spcBef>
                  <a:spcPts val="458"/>
                </a:spcBef>
                <a:spcAft>
                  <a:spcPts val="0"/>
                </a:spcAft>
                <a:buNone/>
              </a:pPr>
              <a:r>
                <a:rPr lang="en" sz="2061" b="1" dirty="0">
                  <a:solidFill>
                    <a:srgbClr val="1B1B1B"/>
                  </a:solidFill>
                  <a:latin typeface="Poppins"/>
                  <a:ea typeface="Poppins"/>
                  <a:cs typeface="Poppins"/>
                  <a:sym typeface="Poppins"/>
                </a:rPr>
                <a:t>2 Raw Sources</a:t>
              </a:r>
              <a:endParaRPr sz="2061" b="1" dirty="0">
                <a:solidFill>
                  <a:srgbClr val="1B1B1B"/>
                </a:solidFill>
                <a:latin typeface="Poppins"/>
                <a:ea typeface="Poppins"/>
                <a:cs typeface="Poppins"/>
                <a:sym typeface="Poppins"/>
              </a:endParaRPr>
            </a:p>
            <a:p>
              <a:pPr marL="0" lvl="0" indent="0" algn="ctr" rtl="0">
                <a:spcBef>
                  <a:spcPts val="458"/>
                </a:spcBef>
                <a:spcAft>
                  <a:spcPts val="0"/>
                </a:spcAft>
                <a:buNone/>
              </a:pPr>
              <a:r>
                <a:rPr lang="en" sz="1603" b="0" dirty="0">
                  <a:solidFill>
                    <a:srgbClr val="4A4A4A"/>
                  </a:solidFill>
                  <a:latin typeface="Didact Gothic"/>
                  <a:ea typeface="Didact Gothic"/>
                  <a:cs typeface="Didact Gothic"/>
                  <a:sym typeface="Didact Gothic"/>
                </a:rPr>
                <a:t>Integrating data from </a:t>
              </a:r>
              <a:r>
                <a:rPr lang="en" sz="1603" b="1" dirty="0">
                  <a:solidFill>
                    <a:srgbClr val="4A4A4A"/>
                  </a:solidFill>
                  <a:latin typeface="Didact Gothic"/>
                  <a:ea typeface="Didact Gothic"/>
                  <a:cs typeface="Didact Gothic"/>
                  <a:sym typeface="Didact Gothic"/>
                </a:rPr>
                <a:t>Kuailive</a:t>
              </a:r>
              <a:r>
                <a:rPr lang="en" sz="1603" b="0" dirty="0">
                  <a:solidFill>
                    <a:srgbClr val="4A4A4A"/>
                  </a:solidFill>
                  <a:latin typeface="Didact Gothic"/>
                  <a:ea typeface="Didact Gothic"/>
                  <a:cs typeface="Didact Gothic"/>
                  <a:sym typeface="Didact Gothic"/>
                </a:rPr>
                <a:t> &amp; </a:t>
              </a:r>
              <a:r>
                <a:rPr lang="en" sz="1603" b="1" dirty="0">
                  <a:solidFill>
                    <a:srgbClr val="4A4A4A"/>
                  </a:solidFill>
                  <a:latin typeface="Didact Gothic"/>
                  <a:ea typeface="Didact Gothic"/>
                  <a:cs typeface="Didact Gothic"/>
                  <a:sym typeface="Didact Gothic"/>
                </a:rPr>
                <a:t>Omni</a:t>
              </a:r>
              <a:endParaRPr sz="1603" b="0" dirty="0">
                <a:solidFill>
                  <a:srgbClr val="4A4A4A"/>
                </a:solidFill>
                <a:latin typeface="Didact Gothic"/>
                <a:ea typeface="Didact Gothic"/>
                <a:cs typeface="Didact Gothic"/>
                <a:sym typeface="Didact Gothic"/>
              </a:endParaRPr>
            </a:p>
          </p:txBody>
        </p:sp>
      </p:grpSp>
      <p:grpSp>
        <p:nvGrpSpPr>
          <p:cNvPr id="997" name="Google Shape;997;p89"/>
          <p:cNvGrpSpPr/>
          <p:nvPr/>
        </p:nvGrpSpPr>
        <p:grpSpPr>
          <a:xfrm>
            <a:off x="3214274" y="1377816"/>
            <a:ext cx="2727179" cy="2789320"/>
            <a:chOff x="0" y="0"/>
            <a:chExt cx="2381400" cy="1714500"/>
          </a:xfrm>
        </p:grpSpPr>
        <p:sp>
          <p:nvSpPr>
            <p:cNvPr id="998" name="Google Shape;998;p89"/>
            <p:cNvSpPr/>
            <p:nvPr/>
          </p:nvSpPr>
          <p:spPr>
            <a:xfrm>
              <a:off x="0" y="0"/>
              <a:ext cx="2381400" cy="1714500"/>
            </a:xfrm>
            <a:prstGeom prst="roundRect">
              <a:avLst>
                <a:gd name="adj" fmla="val 6172"/>
              </a:avLst>
            </a:prstGeom>
            <a:solidFill>
              <a:srgbClr val="FFFFFF"/>
            </a:solidFill>
            <a:ln w="10900"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99" name="Google Shape;999;p89"/>
            <p:cNvSpPr txBox="1"/>
            <p:nvPr/>
          </p:nvSpPr>
          <p:spPr>
            <a:xfrm>
              <a:off x="0" y="0"/>
              <a:ext cx="2381400" cy="1714500"/>
            </a:xfrm>
            <a:prstGeom prst="rect">
              <a:avLst/>
            </a:prstGeom>
            <a:solidFill>
              <a:srgbClr val="000000">
                <a:alpha val="0"/>
              </a:srgbClr>
            </a:solidFill>
            <a:ln>
              <a:noFill/>
            </a:ln>
          </p:spPr>
          <p:txBody>
            <a:bodyPr spcFirstLastPara="1" wrap="square" lIns="163600" tIns="163600" rIns="163600" bIns="163600" anchor="ctr" anchorCtr="0">
              <a:noAutofit/>
            </a:bodyPr>
            <a:lstStyle/>
            <a:p>
              <a:pPr marL="0" lvl="0" indent="0" algn="ctr" rtl="0">
                <a:spcBef>
                  <a:spcPts val="458"/>
                </a:spcBef>
                <a:spcAft>
                  <a:spcPts val="0"/>
                </a:spcAft>
                <a:buNone/>
              </a:pPr>
              <a:endParaRPr lang="en" sz="1947" b="1" dirty="0">
                <a:solidFill>
                  <a:srgbClr val="1B1B1B"/>
                </a:solidFill>
                <a:latin typeface="Poppins"/>
                <a:ea typeface="Poppins"/>
                <a:cs typeface="Poppins"/>
                <a:sym typeface="Poppins"/>
              </a:endParaRPr>
            </a:p>
            <a:p>
              <a:pPr marL="0" lvl="0" indent="0" algn="ctr" rtl="0">
                <a:spcBef>
                  <a:spcPts val="458"/>
                </a:spcBef>
                <a:spcAft>
                  <a:spcPts val="0"/>
                </a:spcAft>
                <a:buNone/>
              </a:pPr>
              <a:endParaRPr lang="en" sz="1947" b="1" dirty="0">
                <a:solidFill>
                  <a:srgbClr val="1B1B1B"/>
                </a:solidFill>
                <a:latin typeface="Poppins"/>
                <a:ea typeface="Poppins"/>
                <a:cs typeface="Poppins"/>
                <a:sym typeface="Poppins"/>
              </a:endParaRPr>
            </a:p>
            <a:p>
              <a:pPr marL="0" lvl="0" indent="0" algn="ctr" rtl="0">
                <a:spcBef>
                  <a:spcPts val="458"/>
                </a:spcBef>
                <a:spcAft>
                  <a:spcPts val="0"/>
                </a:spcAft>
                <a:buNone/>
              </a:pPr>
              <a:r>
                <a:rPr lang="en" sz="1947" b="1" dirty="0">
                  <a:solidFill>
                    <a:srgbClr val="1B1B1B"/>
                  </a:solidFill>
                  <a:latin typeface="Poppins"/>
                  <a:ea typeface="Poppins"/>
                  <a:cs typeface="Poppins"/>
                  <a:sym typeface="Poppins"/>
                </a:rPr>
                <a:t>Real-Time Prediction</a:t>
              </a:r>
              <a:endParaRPr sz="1947" b="1" dirty="0">
                <a:solidFill>
                  <a:srgbClr val="1B1B1B"/>
                </a:solidFill>
                <a:latin typeface="Poppins"/>
                <a:ea typeface="Poppins"/>
                <a:cs typeface="Poppins"/>
                <a:sym typeface="Poppins"/>
              </a:endParaRPr>
            </a:p>
            <a:p>
              <a:pPr marL="0" lvl="0" indent="0" algn="ctr" rtl="0">
                <a:spcBef>
                  <a:spcPts val="458"/>
                </a:spcBef>
                <a:spcAft>
                  <a:spcPts val="0"/>
                </a:spcAft>
                <a:buNone/>
              </a:pPr>
              <a:r>
                <a:rPr lang="en" sz="1603" b="1" dirty="0">
                  <a:solidFill>
                    <a:srgbClr val="4A4A4A"/>
                  </a:solidFill>
                  <a:latin typeface="Didact Gothic"/>
                  <a:ea typeface="Didact Gothic"/>
                  <a:cs typeface="Didact Gothic"/>
                  <a:sym typeface="Didact Gothic"/>
                </a:rPr>
                <a:t>As-of snapshots </a:t>
              </a:r>
              <a:r>
                <a:rPr lang="en" sz="1603" dirty="0">
                  <a:solidFill>
                    <a:srgbClr val="4A4A4A"/>
                  </a:solidFill>
                  <a:latin typeface="Didact Gothic"/>
                  <a:ea typeface="Didact Gothic"/>
                  <a:cs typeface="Didact Gothic"/>
                  <a:sym typeface="Didact Gothic"/>
                </a:rPr>
                <a:t>to </a:t>
              </a:r>
              <a:endParaRPr sz="1603" dirty="0">
                <a:solidFill>
                  <a:srgbClr val="4A4A4A"/>
                </a:solidFill>
                <a:latin typeface="Didact Gothic"/>
                <a:ea typeface="Didact Gothic"/>
                <a:cs typeface="Didact Gothic"/>
                <a:sym typeface="Didact Gothic"/>
              </a:endParaRPr>
            </a:p>
            <a:p>
              <a:pPr marL="0" lvl="0" indent="0" algn="ctr" rtl="0">
                <a:spcBef>
                  <a:spcPts val="0"/>
                </a:spcBef>
                <a:spcAft>
                  <a:spcPts val="0"/>
                </a:spcAft>
                <a:buNone/>
              </a:pPr>
              <a:r>
                <a:rPr lang="en" sz="1603" dirty="0">
                  <a:solidFill>
                    <a:srgbClr val="4A4A4A"/>
                  </a:solidFill>
                  <a:latin typeface="Didact Gothic"/>
                  <a:ea typeface="Didact Gothic"/>
                  <a:cs typeface="Didact Gothic"/>
                  <a:sym typeface="Didact Gothic"/>
                </a:rPr>
                <a:t>prevent </a:t>
              </a:r>
              <a:r>
                <a:rPr lang="en" sz="1603" b="1" dirty="0">
                  <a:solidFill>
                    <a:srgbClr val="4A4A4A"/>
                  </a:solidFill>
                  <a:latin typeface="Didact Gothic"/>
                  <a:ea typeface="Didact Gothic"/>
                  <a:cs typeface="Didact Gothic"/>
                  <a:sym typeface="Didact Gothic"/>
                </a:rPr>
                <a:t>data leakage</a:t>
              </a:r>
              <a:r>
                <a:rPr lang="en" sz="1603" b="0" dirty="0">
                  <a:solidFill>
                    <a:srgbClr val="4A4A4A"/>
                  </a:solidFill>
                  <a:latin typeface="Didact Gothic"/>
                  <a:ea typeface="Didact Gothic"/>
                  <a:cs typeface="Didact Gothic"/>
                  <a:sym typeface="Didact Gothic"/>
                </a:rPr>
                <a:t> </a:t>
              </a:r>
              <a:endParaRPr sz="1603" b="0" dirty="0">
                <a:solidFill>
                  <a:srgbClr val="4A4A4A"/>
                </a:solidFill>
                <a:latin typeface="Didact Gothic"/>
                <a:ea typeface="Didact Gothic"/>
                <a:cs typeface="Didact Gothic"/>
                <a:sym typeface="Didact Gothic"/>
              </a:endParaRPr>
            </a:p>
            <a:p>
              <a:pPr marL="0" lvl="0" indent="0" algn="ctr" rtl="0">
                <a:spcBef>
                  <a:spcPts val="0"/>
                </a:spcBef>
                <a:spcAft>
                  <a:spcPts val="0"/>
                </a:spcAft>
                <a:buNone/>
              </a:pPr>
              <a:r>
                <a:rPr lang="en" sz="1603" b="0" dirty="0">
                  <a:solidFill>
                    <a:srgbClr val="4A4A4A"/>
                  </a:solidFill>
                  <a:latin typeface="Didact Gothic"/>
                  <a:ea typeface="Didact Gothic"/>
                  <a:cs typeface="Didact Gothic"/>
                  <a:sym typeface="Didact Gothic"/>
                </a:rPr>
                <a:t>for </a:t>
              </a:r>
              <a:r>
                <a:rPr lang="en" sz="1603" b="1" dirty="0">
                  <a:solidFill>
                    <a:srgbClr val="4A4A4A"/>
                  </a:solidFill>
                  <a:latin typeface="Didact Gothic"/>
                  <a:ea typeface="Didact Gothic"/>
                  <a:cs typeface="Didact Gothic"/>
                  <a:sym typeface="Didact Gothic"/>
                </a:rPr>
                <a:t>live propensity scoring</a:t>
              </a:r>
              <a:endParaRPr sz="1603" b="1" dirty="0">
                <a:solidFill>
                  <a:srgbClr val="4A4A4A"/>
                </a:solidFill>
                <a:latin typeface="Didact Gothic"/>
                <a:ea typeface="Didact Gothic"/>
                <a:cs typeface="Didact Gothic"/>
                <a:sym typeface="Didact Gothic"/>
              </a:endParaRPr>
            </a:p>
          </p:txBody>
        </p:sp>
      </p:grpSp>
      <p:grpSp>
        <p:nvGrpSpPr>
          <p:cNvPr id="1000" name="Google Shape;1000;p89"/>
          <p:cNvGrpSpPr/>
          <p:nvPr/>
        </p:nvGrpSpPr>
        <p:grpSpPr>
          <a:xfrm>
            <a:off x="6064415" y="1377816"/>
            <a:ext cx="2727179" cy="2789320"/>
            <a:chOff x="0" y="0"/>
            <a:chExt cx="2381400" cy="1714500"/>
          </a:xfrm>
        </p:grpSpPr>
        <p:sp>
          <p:nvSpPr>
            <p:cNvPr id="1001" name="Google Shape;1001;p89"/>
            <p:cNvSpPr/>
            <p:nvPr/>
          </p:nvSpPr>
          <p:spPr>
            <a:xfrm>
              <a:off x="0" y="0"/>
              <a:ext cx="2381400" cy="1714500"/>
            </a:xfrm>
            <a:prstGeom prst="roundRect">
              <a:avLst>
                <a:gd name="adj" fmla="val 6172"/>
              </a:avLst>
            </a:prstGeom>
            <a:solidFill>
              <a:srgbClr val="FFFFFF"/>
            </a:solidFill>
            <a:ln w="10900"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02" name="Google Shape;1002;p89"/>
            <p:cNvSpPr txBox="1"/>
            <p:nvPr/>
          </p:nvSpPr>
          <p:spPr>
            <a:xfrm>
              <a:off x="0" y="0"/>
              <a:ext cx="2381400" cy="1714500"/>
            </a:xfrm>
            <a:prstGeom prst="rect">
              <a:avLst/>
            </a:prstGeom>
            <a:solidFill>
              <a:srgbClr val="000000">
                <a:alpha val="0"/>
              </a:srgbClr>
            </a:solidFill>
            <a:ln>
              <a:noFill/>
            </a:ln>
          </p:spPr>
          <p:txBody>
            <a:bodyPr spcFirstLastPara="1" wrap="square" lIns="163600" tIns="163600" rIns="163600" bIns="163600" anchor="ctr" anchorCtr="0">
              <a:noAutofit/>
            </a:bodyPr>
            <a:lstStyle/>
            <a:p>
              <a:pPr marL="0" lvl="0" indent="0" algn="ctr" rtl="0">
                <a:spcBef>
                  <a:spcPts val="458"/>
                </a:spcBef>
                <a:spcAft>
                  <a:spcPts val="0"/>
                </a:spcAft>
                <a:buNone/>
              </a:pPr>
              <a:endParaRPr lang="en" sz="2061" b="1" dirty="0">
                <a:solidFill>
                  <a:srgbClr val="1B1B1B"/>
                </a:solidFill>
                <a:latin typeface="Poppins"/>
                <a:ea typeface="Poppins"/>
                <a:cs typeface="Poppins"/>
                <a:sym typeface="Poppins"/>
              </a:endParaRPr>
            </a:p>
            <a:p>
              <a:pPr marL="0" lvl="0" indent="0" algn="ctr" rtl="0">
                <a:spcBef>
                  <a:spcPts val="458"/>
                </a:spcBef>
                <a:spcAft>
                  <a:spcPts val="0"/>
                </a:spcAft>
                <a:buNone/>
              </a:pPr>
              <a:r>
                <a:rPr lang="en" sz="2061" b="1" dirty="0">
                  <a:solidFill>
                    <a:srgbClr val="1B1B1B"/>
                  </a:solidFill>
                  <a:latin typeface="Poppins"/>
                  <a:ea typeface="Poppins"/>
                  <a:cs typeface="Poppins"/>
                  <a:sym typeface="Poppins"/>
                </a:rPr>
                <a:t>Features Update</a:t>
              </a:r>
              <a:endParaRPr sz="2061" b="1" dirty="0">
                <a:solidFill>
                  <a:srgbClr val="1B1B1B"/>
                </a:solidFill>
                <a:latin typeface="Poppins"/>
                <a:ea typeface="Poppins"/>
                <a:cs typeface="Poppins"/>
                <a:sym typeface="Poppins"/>
              </a:endParaRPr>
            </a:p>
            <a:p>
              <a:pPr marL="0" lvl="0" indent="0" algn="ctr" rtl="0">
                <a:spcBef>
                  <a:spcPts val="458"/>
                </a:spcBef>
                <a:spcAft>
                  <a:spcPts val="0"/>
                </a:spcAft>
                <a:buNone/>
              </a:pPr>
              <a:r>
                <a:rPr lang="en" sz="1603" dirty="0">
                  <a:solidFill>
                    <a:srgbClr val="4A4A4A"/>
                  </a:solidFill>
                  <a:latin typeface="Didact Gothic"/>
                  <a:ea typeface="Didact Gothic"/>
                  <a:cs typeface="Didact Gothic"/>
                  <a:sym typeface="Didact Gothic"/>
                </a:rPr>
                <a:t>Different feature families have </a:t>
              </a:r>
              <a:r>
                <a:rPr lang="en" sz="1603" b="1" dirty="0">
                  <a:solidFill>
                    <a:srgbClr val="4A4A4A"/>
                  </a:solidFill>
                  <a:latin typeface="Didact Gothic"/>
                  <a:ea typeface="Didact Gothic"/>
                  <a:cs typeface="Didact Gothic"/>
                  <a:sym typeface="Didact Gothic"/>
                </a:rPr>
                <a:t>variable update frequencies</a:t>
              </a:r>
              <a:endParaRPr sz="1603" b="1" dirty="0">
                <a:solidFill>
                  <a:srgbClr val="4A4A4A"/>
                </a:solidFill>
                <a:latin typeface="Didact Gothic"/>
                <a:ea typeface="Didact Gothic"/>
                <a:cs typeface="Didact Gothic"/>
                <a:sym typeface="Didact Gothic"/>
              </a:endParaRPr>
            </a:p>
          </p:txBody>
        </p:sp>
      </p:grpSp>
      <p:sp>
        <p:nvSpPr>
          <p:cNvPr id="1003" name="Google Shape;1003;p89"/>
          <p:cNvSpPr txBox="1">
            <a:spLocks noGrp="1"/>
          </p:cNvSpPr>
          <p:nvPr>
            <p:ph type="title"/>
          </p:nvPr>
        </p:nvSpPr>
        <p:spPr>
          <a:xfrm>
            <a:off x="330075" y="539125"/>
            <a:ext cx="8483700" cy="572400"/>
          </a:xfrm>
          <a:prstGeom prst="rect">
            <a:avLst/>
          </a:prstGeom>
          <a:solidFill>
            <a:srgbClr val="000000">
              <a:alpha val="0"/>
            </a:srgb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1B1B1B"/>
                </a:solidFill>
                <a:latin typeface="Poppins"/>
                <a:ea typeface="Poppins"/>
                <a:cs typeface="Poppins"/>
                <a:sym typeface="Poppins"/>
              </a:rPr>
              <a:t>Feature Engineering - Overview</a:t>
            </a:r>
            <a:endParaRPr b="1">
              <a:solidFill>
                <a:srgbClr val="1B1B1B"/>
              </a:solidFill>
              <a:latin typeface="Poppins"/>
              <a:ea typeface="Poppins"/>
              <a:cs typeface="Poppins"/>
              <a:sym typeface="Poppins"/>
            </a:endParaRPr>
          </a:p>
        </p:txBody>
      </p:sp>
      <p:pic>
        <p:nvPicPr>
          <p:cNvPr id="5" name="Picture 4">
            <a:extLst>
              <a:ext uri="{FF2B5EF4-FFF2-40B4-BE49-F238E27FC236}">
                <a16:creationId xmlns:a16="http://schemas.microsoft.com/office/drawing/2014/main" id="{81E8C27E-FD6C-FBB9-894D-CEC5B0EEEFA4}"/>
              </a:ext>
            </a:extLst>
          </p:cNvPr>
          <p:cNvPicPr>
            <a:picLocks noChangeAspect="1"/>
          </p:cNvPicPr>
          <p:nvPr/>
        </p:nvPicPr>
        <p:blipFill>
          <a:blip r:embed="rId4"/>
          <a:stretch>
            <a:fillRect/>
          </a:stretch>
        </p:blipFill>
        <p:spPr>
          <a:xfrm>
            <a:off x="7037459" y="1613214"/>
            <a:ext cx="781090" cy="762039"/>
          </a:xfrm>
          <a:prstGeom prst="rect">
            <a:avLst/>
          </a:prstGeom>
        </p:spPr>
      </p:pic>
      <p:pic>
        <p:nvPicPr>
          <p:cNvPr id="7" name="Picture 6">
            <a:extLst>
              <a:ext uri="{FF2B5EF4-FFF2-40B4-BE49-F238E27FC236}">
                <a16:creationId xmlns:a16="http://schemas.microsoft.com/office/drawing/2014/main" id="{C130286F-A5D8-0107-3CE1-096793122982}"/>
              </a:ext>
            </a:extLst>
          </p:cNvPr>
          <p:cNvPicPr>
            <a:picLocks noChangeAspect="1"/>
          </p:cNvPicPr>
          <p:nvPr/>
        </p:nvPicPr>
        <p:blipFill>
          <a:blip r:embed="rId5"/>
          <a:stretch>
            <a:fillRect/>
          </a:stretch>
        </p:blipFill>
        <p:spPr>
          <a:xfrm>
            <a:off x="3999237" y="1613214"/>
            <a:ext cx="1047804" cy="749339"/>
          </a:xfrm>
          <a:prstGeom prst="rect">
            <a:avLst/>
          </a:prstGeom>
        </p:spPr>
      </p:pic>
      <p:pic>
        <p:nvPicPr>
          <p:cNvPr id="9" name="Picture 8">
            <a:extLst>
              <a:ext uri="{FF2B5EF4-FFF2-40B4-BE49-F238E27FC236}">
                <a16:creationId xmlns:a16="http://schemas.microsoft.com/office/drawing/2014/main" id="{C5BC2863-6DE0-D7F3-42CE-B07664EF0C7F}"/>
              </a:ext>
            </a:extLst>
          </p:cNvPr>
          <p:cNvPicPr>
            <a:picLocks noChangeAspect="1"/>
          </p:cNvPicPr>
          <p:nvPr/>
        </p:nvPicPr>
        <p:blipFill>
          <a:blip r:embed="rId6"/>
          <a:stretch>
            <a:fillRect/>
          </a:stretch>
        </p:blipFill>
        <p:spPr>
          <a:xfrm>
            <a:off x="1375279" y="1784673"/>
            <a:ext cx="704886" cy="577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90"/>
          <p:cNvSpPr txBox="1">
            <a:spLocks noGrp="1"/>
          </p:cNvSpPr>
          <p:nvPr>
            <p:ph type="title"/>
          </p:nvPr>
        </p:nvSpPr>
        <p:spPr>
          <a:xfrm>
            <a:off x="348925" y="530069"/>
            <a:ext cx="844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FeatEng - Data Harmonization</a:t>
            </a:r>
            <a:endParaRPr/>
          </a:p>
        </p:txBody>
      </p:sp>
      <p:grpSp>
        <p:nvGrpSpPr>
          <p:cNvPr id="1009" name="Google Shape;1009;p90"/>
          <p:cNvGrpSpPr/>
          <p:nvPr/>
        </p:nvGrpSpPr>
        <p:grpSpPr>
          <a:xfrm>
            <a:off x="404125" y="1505125"/>
            <a:ext cx="1714500" cy="1391660"/>
            <a:chOff x="0" y="0"/>
            <a:chExt cx="1714500" cy="1714500"/>
          </a:xfrm>
        </p:grpSpPr>
        <p:sp>
          <p:nvSpPr>
            <p:cNvPr id="1010" name="Google Shape;1010;p90"/>
            <p:cNvSpPr/>
            <p:nvPr/>
          </p:nvSpPr>
          <p:spPr>
            <a:xfrm>
              <a:off x="0" y="0"/>
              <a:ext cx="1714500" cy="1714500"/>
            </a:xfrm>
            <a:prstGeom prst="roundRect">
              <a:avLst>
                <a:gd name="adj" fmla="val 6666"/>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1" name="Google Shape;1011;p90"/>
            <p:cNvSpPr txBox="1"/>
            <p:nvPr/>
          </p:nvSpPr>
          <p:spPr>
            <a:xfrm>
              <a:off x="0" y="0"/>
              <a:ext cx="1714500" cy="1714500"/>
            </a:xfrm>
            <a:prstGeom prst="rect">
              <a:avLst/>
            </a:prstGeom>
            <a:noFill/>
            <a:ln>
              <a:noFill/>
            </a:ln>
          </p:spPr>
          <p:txBody>
            <a:bodyPr spcFirstLastPara="1" wrap="square" lIns="142875" tIns="142875" rIns="142875" bIns="142875" anchor="ctr" anchorCtr="0">
              <a:noAutofit/>
            </a:bodyPr>
            <a:lstStyle/>
            <a:p>
              <a:pPr marL="0" lvl="0" indent="0" algn="ctr" rtl="0">
                <a:spcBef>
                  <a:spcPts val="0"/>
                </a:spcBef>
                <a:spcAft>
                  <a:spcPts val="0"/>
                </a:spcAft>
                <a:buNone/>
              </a:pPr>
              <a:endParaRPr lang="en" sz="1400" b="1" dirty="0">
                <a:solidFill>
                  <a:srgbClr val="1B1B1B"/>
                </a:solidFill>
                <a:latin typeface="Poppins"/>
                <a:ea typeface="Poppins"/>
                <a:cs typeface="Poppins"/>
                <a:sym typeface="Poppins"/>
              </a:endParaRPr>
            </a:p>
            <a:p>
              <a:pPr marL="0" lvl="0" indent="0" algn="ctr" rtl="0">
                <a:spcBef>
                  <a:spcPts val="0"/>
                </a:spcBef>
                <a:spcAft>
                  <a:spcPts val="0"/>
                </a:spcAft>
                <a:buNone/>
              </a:pPr>
              <a:endParaRPr lang="en" b="1" dirty="0">
                <a:solidFill>
                  <a:srgbClr val="1B1B1B"/>
                </a:solidFill>
                <a:latin typeface="Poppins"/>
                <a:ea typeface="Poppins"/>
                <a:cs typeface="Poppins"/>
                <a:sym typeface="Poppins"/>
              </a:endParaRPr>
            </a:p>
            <a:p>
              <a:pPr marL="0" lvl="0" indent="0" algn="ctr" rtl="0">
                <a:spcBef>
                  <a:spcPts val="0"/>
                </a:spcBef>
                <a:spcAft>
                  <a:spcPts val="0"/>
                </a:spcAft>
                <a:buNone/>
              </a:pPr>
              <a:r>
                <a:rPr lang="en" sz="1400" b="1" dirty="0">
                  <a:solidFill>
                    <a:srgbClr val="1B1B1B"/>
                  </a:solidFill>
                  <a:latin typeface="Poppins"/>
                  <a:ea typeface="Poppins"/>
                  <a:cs typeface="Poppins"/>
                  <a:sym typeface="Poppins"/>
                </a:rPr>
                <a:t>Kualive </a:t>
              </a:r>
              <a:endParaRPr sz="1400" b="1" dirty="0">
                <a:solidFill>
                  <a:srgbClr val="1B1B1B"/>
                </a:solidFill>
                <a:latin typeface="Poppins"/>
                <a:ea typeface="Poppins"/>
                <a:cs typeface="Poppins"/>
                <a:sym typeface="Poppins"/>
              </a:endParaRPr>
            </a:p>
            <a:p>
              <a:pPr marL="0" lvl="0" indent="0" algn="ctr" rtl="0">
                <a:spcBef>
                  <a:spcPts val="0"/>
                </a:spcBef>
                <a:spcAft>
                  <a:spcPts val="0"/>
                </a:spcAft>
                <a:buNone/>
              </a:pPr>
              <a:r>
                <a:rPr lang="en" sz="1400" b="1" dirty="0">
                  <a:solidFill>
                    <a:srgbClr val="1B1B1B"/>
                  </a:solidFill>
                  <a:latin typeface="Poppins"/>
                  <a:ea typeface="Poppins"/>
                  <a:cs typeface="Poppins"/>
                  <a:sym typeface="Poppins"/>
                </a:rPr>
                <a:t>Silver Store</a:t>
              </a:r>
              <a:endParaRPr sz="1400" b="1" dirty="0">
                <a:solidFill>
                  <a:srgbClr val="1B1B1B"/>
                </a:solidFill>
                <a:latin typeface="Poppins"/>
                <a:ea typeface="Poppins"/>
                <a:cs typeface="Poppins"/>
                <a:sym typeface="Poppins"/>
              </a:endParaRPr>
            </a:p>
            <a:p>
              <a:pPr marL="0" lvl="0" indent="0" algn="ctr" rtl="0">
                <a:spcBef>
                  <a:spcPts val="375"/>
                </a:spcBef>
                <a:spcAft>
                  <a:spcPts val="0"/>
                </a:spcAft>
                <a:buNone/>
              </a:pPr>
              <a:r>
                <a:rPr lang="en" sz="1000" dirty="0">
                  <a:solidFill>
                    <a:srgbClr val="4A4A4A"/>
                  </a:solidFill>
                  <a:latin typeface="Didact Gothic"/>
                  <a:ea typeface="Didact Gothic"/>
                  <a:cs typeface="Didact Gothic"/>
                  <a:sym typeface="Didact Gothic"/>
                </a:rPr>
                <a:t>Watch, Comment, Gift, …</a:t>
              </a:r>
              <a:endParaRPr sz="1000" dirty="0">
                <a:solidFill>
                  <a:srgbClr val="4A4A4A"/>
                </a:solidFill>
                <a:latin typeface="Didact Gothic"/>
                <a:ea typeface="Didact Gothic"/>
                <a:cs typeface="Didact Gothic"/>
                <a:sym typeface="Didact Gothic"/>
              </a:endParaRPr>
            </a:p>
          </p:txBody>
        </p:sp>
      </p:grpSp>
      <p:grpSp>
        <p:nvGrpSpPr>
          <p:cNvPr id="1012" name="Google Shape;1012;p90"/>
          <p:cNvGrpSpPr/>
          <p:nvPr/>
        </p:nvGrpSpPr>
        <p:grpSpPr>
          <a:xfrm>
            <a:off x="404125" y="3030691"/>
            <a:ext cx="1714500" cy="1391641"/>
            <a:chOff x="0" y="0"/>
            <a:chExt cx="1714500" cy="762000"/>
          </a:xfrm>
        </p:grpSpPr>
        <p:sp>
          <p:nvSpPr>
            <p:cNvPr id="1013" name="Google Shape;1013;p90"/>
            <p:cNvSpPr/>
            <p:nvPr/>
          </p:nvSpPr>
          <p:spPr>
            <a:xfrm>
              <a:off x="0" y="0"/>
              <a:ext cx="1714500" cy="762000"/>
            </a:xfrm>
            <a:prstGeom prst="roundRect">
              <a:avLst>
                <a:gd name="adj" fmla="val 15000"/>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4" name="Google Shape;1014;p90"/>
            <p:cNvSpPr txBox="1"/>
            <p:nvPr/>
          </p:nvSpPr>
          <p:spPr>
            <a:xfrm>
              <a:off x="0" y="0"/>
              <a:ext cx="1714500" cy="762000"/>
            </a:xfrm>
            <a:prstGeom prst="rect">
              <a:avLst/>
            </a:prstGeom>
            <a:noFill/>
            <a:ln>
              <a:noFill/>
            </a:ln>
          </p:spPr>
          <p:txBody>
            <a:bodyPr spcFirstLastPara="1" wrap="square" lIns="95250" tIns="95250" rIns="95250" bIns="95250" anchor="ctr" anchorCtr="0">
              <a:noAutofit/>
            </a:bodyPr>
            <a:lstStyle/>
            <a:p>
              <a:pPr marL="0" lvl="0" indent="0" algn="ctr" rtl="0">
                <a:spcBef>
                  <a:spcPts val="0"/>
                </a:spcBef>
                <a:spcAft>
                  <a:spcPts val="0"/>
                </a:spcAft>
                <a:buNone/>
              </a:pPr>
              <a:endParaRPr lang="en" sz="1200" b="1" dirty="0">
                <a:solidFill>
                  <a:srgbClr val="1B1B1B"/>
                </a:solidFill>
                <a:latin typeface="Poppins"/>
                <a:ea typeface="Poppins"/>
                <a:cs typeface="Poppins"/>
                <a:sym typeface="Poppins"/>
              </a:endParaRPr>
            </a:p>
            <a:p>
              <a:pPr marL="0" lvl="0" indent="0" algn="ctr" rtl="0">
                <a:spcBef>
                  <a:spcPts val="0"/>
                </a:spcBef>
                <a:spcAft>
                  <a:spcPts val="0"/>
                </a:spcAft>
                <a:buNone/>
              </a:pPr>
              <a:endParaRPr lang="en" sz="1200" b="1" dirty="0">
                <a:solidFill>
                  <a:srgbClr val="1B1B1B"/>
                </a:solidFill>
                <a:latin typeface="Poppins"/>
                <a:ea typeface="Poppins"/>
                <a:cs typeface="Poppins"/>
                <a:sym typeface="Poppins"/>
              </a:endParaRPr>
            </a:p>
            <a:p>
              <a:pPr marL="0" lvl="0" indent="0" algn="ctr" rtl="0">
                <a:spcBef>
                  <a:spcPts val="0"/>
                </a:spcBef>
                <a:spcAft>
                  <a:spcPts val="0"/>
                </a:spcAft>
                <a:buNone/>
              </a:pPr>
              <a:r>
                <a:rPr lang="en" sz="1200" b="1" dirty="0">
                  <a:solidFill>
                    <a:srgbClr val="1B1B1B"/>
                  </a:solidFill>
                  <a:latin typeface="Poppins"/>
                  <a:ea typeface="Poppins"/>
                  <a:cs typeface="Poppins"/>
                  <a:sym typeface="Poppins"/>
                </a:rPr>
                <a:t>Validated Omni Eventstore/</a:t>
              </a:r>
              <a:endParaRPr sz="1200" b="1" dirty="0">
                <a:solidFill>
                  <a:srgbClr val="1B1B1B"/>
                </a:solidFill>
                <a:latin typeface="Poppins"/>
                <a:ea typeface="Poppins"/>
                <a:cs typeface="Poppins"/>
                <a:sym typeface="Poppins"/>
              </a:endParaRPr>
            </a:p>
            <a:p>
              <a:pPr marL="0" lvl="0" indent="0" algn="ctr" rtl="0">
                <a:spcBef>
                  <a:spcPts val="0"/>
                </a:spcBef>
                <a:spcAft>
                  <a:spcPts val="0"/>
                </a:spcAft>
                <a:buNone/>
              </a:pPr>
              <a:r>
                <a:rPr lang="en" sz="1200" b="1" dirty="0">
                  <a:solidFill>
                    <a:srgbClr val="1B1B1B"/>
                  </a:solidFill>
                  <a:latin typeface="Poppins"/>
                  <a:ea typeface="Poppins"/>
                  <a:cs typeface="Poppins"/>
                  <a:sym typeface="Poppins"/>
                </a:rPr>
                <a:t>Eventstream</a:t>
              </a:r>
              <a:endParaRPr sz="1200" b="1" dirty="0">
                <a:solidFill>
                  <a:srgbClr val="1B1B1B"/>
                </a:solidFill>
                <a:latin typeface="Poppins"/>
                <a:ea typeface="Poppins"/>
                <a:cs typeface="Poppins"/>
                <a:sym typeface="Poppins"/>
              </a:endParaRPr>
            </a:p>
          </p:txBody>
        </p:sp>
      </p:grpSp>
      <p:sp>
        <p:nvSpPr>
          <p:cNvPr id="1015" name="Google Shape;1015;p90"/>
          <p:cNvSpPr/>
          <p:nvPr/>
        </p:nvSpPr>
        <p:spPr>
          <a:xfrm>
            <a:off x="2351900" y="2010450"/>
            <a:ext cx="666900" cy="381000"/>
          </a:xfrm>
          <a:custGeom>
            <a:avLst/>
            <a:gdLst/>
            <a:ahLst/>
            <a:cxnLst/>
            <a:rect l="l" t="t" r="r" b="b"/>
            <a:pathLst>
              <a:path w="120000" h="120000" extrusionOk="0">
                <a:moveTo>
                  <a:pt x="0" y="30000"/>
                </a:moveTo>
                <a:lnTo>
                  <a:pt x="85714" y="30000"/>
                </a:lnTo>
                <a:lnTo>
                  <a:pt x="85714" y="0"/>
                </a:lnTo>
                <a:lnTo>
                  <a:pt x="120000" y="60000"/>
                </a:lnTo>
                <a:lnTo>
                  <a:pt x="85714" y="120000"/>
                </a:lnTo>
                <a:lnTo>
                  <a:pt x="85714" y="90000"/>
                </a:lnTo>
                <a:lnTo>
                  <a:pt x="0" y="90000"/>
                </a:lnTo>
                <a:close/>
              </a:path>
            </a:pathLst>
          </a:custGeom>
          <a:solidFill>
            <a:srgbClr val="9BACC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6" name="Google Shape;1016;p90"/>
          <p:cNvSpPr/>
          <p:nvPr/>
        </p:nvSpPr>
        <p:spPr>
          <a:xfrm>
            <a:off x="2351900" y="3536013"/>
            <a:ext cx="666900" cy="381000"/>
          </a:xfrm>
          <a:custGeom>
            <a:avLst/>
            <a:gdLst/>
            <a:ahLst/>
            <a:cxnLst/>
            <a:rect l="l" t="t" r="r" b="b"/>
            <a:pathLst>
              <a:path w="120000" h="120000" extrusionOk="0">
                <a:moveTo>
                  <a:pt x="0" y="30000"/>
                </a:moveTo>
                <a:lnTo>
                  <a:pt x="85714" y="30000"/>
                </a:lnTo>
                <a:lnTo>
                  <a:pt x="85714" y="0"/>
                </a:lnTo>
                <a:lnTo>
                  <a:pt x="120000" y="60000"/>
                </a:lnTo>
                <a:lnTo>
                  <a:pt x="85714" y="120000"/>
                </a:lnTo>
                <a:lnTo>
                  <a:pt x="85714" y="90000"/>
                </a:lnTo>
                <a:lnTo>
                  <a:pt x="0" y="90000"/>
                </a:lnTo>
                <a:close/>
              </a:path>
            </a:pathLst>
          </a:custGeom>
          <a:solidFill>
            <a:srgbClr val="9BACC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17" name="Google Shape;1017;p90"/>
          <p:cNvGrpSpPr/>
          <p:nvPr/>
        </p:nvGrpSpPr>
        <p:grpSpPr>
          <a:xfrm>
            <a:off x="3252075" y="1833487"/>
            <a:ext cx="2305200" cy="2286032"/>
            <a:chOff x="-9525" y="-9525"/>
            <a:chExt cx="2305200" cy="3829200"/>
          </a:xfrm>
        </p:grpSpPr>
        <p:pic>
          <p:nvPicPr>
            <p:cNvPr id="1018" name="Google Shape;1018;p90"/>
            <p:cNvPicPr preferRelativeResize="0"/>
            <p:nvPr/>
          </p:nvPicPr>
          <p:blipFill rotWithShape="1">
            <a:blip r:embed="rId3">
              <a:alphaModFix/>
            </a:blip>
            <a:srcRect/>
            <a:stretch/>
          </p:blipFill>
          <p:spPr>
            <a:xfrm>
              <a:off x="-9525" y="-9525"/>
              <a:ext cx="2305200" cy="3829200"/>
            </a:xfrm>
            <a:prstGeom prst="rect">
              <a:avLst/>
            </a:prstGeom>
            <a:noFill/>
            <a:ln>
              <a:noFill/>
            </a:ln>
          </p:spPr>
        </p:pic>
        <p:sp>
          <p:nvSpPr>
            <p:cNvPr id="1019" name="Google Shape;1019;p90"/>
            <p:cNvSpPr txBox="1"/>
            <p:nvPr/>
          </p:nvSpPr>
          <p:spPr>
            <a:xfrm>
              <a:off x="0" y="0"/>
              <a:ext cx="2286000" cy="3810000"/>
            </a:xfrm>
            <a:prstGeom prst="rect">
              <a:avLst/>
            </a:prstGeom>
            <a:noFill/>
            <a:ln>
              <a:noFill/>
            </a:ln>
          </p:spPr>
          <p:txBody>
            <a:bodyPr spcFirstLastPara="1" wrap="square" lIns="190500" tIns="190500" rIns="190500" bIns="190500" anchor="ctr" anchorCtr="0">
              <a:noAutofit/>
            </a:bodyPr>
            <a:lstStyle/>
            <a:p>
              <a:pPr marL="0" lvl="0" indent="0" algn="ctr" rtl="0">
                <a:spcBef>
                  <a:spcPts val="0"/>
                </a:spcBef>
                <a:spcAft>
                  <a:spcPts val="0"/>
                </a:spcAft>
                <a:buNone/>
              </a:pPr>
              <a:endParaRPr lang="en" sz="1600" b="1" dirty="0">
                <a:solidFill>
                  <a:srgbClr val="1B1B1B"/>
                </a:solidFill>
                <a:latin typeface="Poppins"/>
                <a:ea typeface="Poppins"/>
                <a:cs typeface="Poppins"/>
                <a:sym typeface="Poppins"/>
              </a:endParaRPr>
            </a:p>
            <a:p>
              <a:pPr marL="0" lvl="0" indent="0" algn="ctr" rtl="0">
                <a:spcBef>
                  <a:spcPts val="0"/>
                </a:spcBef>
                <a:spcAft>
                  <a:spcPts val="0"/>
                </a:spcAft>
                <a:buNone/>
              </a:pPr>
              <a:endParaRPr lang="en" sz="1600" b="1" dirty="0">
                <a:solidFill>
                  <a:srgbClr val="1B1B1B"/>
                </a:solidFill>
                <a:latin typeface="Poppins"/>
                <a:ea typeface="Poppins"/>
                <a:cs typeface="Poppins"/>
                <a:sym typeface="Poppins"/>
              </a:endParaRPr>
            </a:p>
            <a:p>
              <a:pPr marL="0" lvl="0" indent="0" algn="ctr" rtl="0">
                <a:spcBef>
                  <a:spcPts val="0"/>
                </a:spcBef>
                <a:spcAft>
                  <a:spcPts val="0"/>
                </a:spcAft>
                <a:buNone/>
              </a:pPr>
              <a:r>
                <a:rPr lang="en" sz="1600" b="1" dirty="0">
                  <a:solidFill>
                    <a:srgbClr val="1B1B1B"/>
                  </a:solidFill>
                  <a:latin typeface="Poppins"/>
                  <a:ea typeface="Poppins"/>
                  <a:cs typeface="Poppins"/>
                  <a:sym typeface="Poppins"/>
                </a:rPr>
                <a:t>Harmonized Projection</a:t>
              </a:r>
              <a:endParaRPr sz="1600" b="1" dirty="0">
                <a:solidFill>
                  <a:srgbClr val="1B1B1B"/>
                </a:solidFill>
                <a:latin typeface="Poppins"/>
                <a:ea typeface="Poppins"/>
                <a:cs typeface="Poppins"/>
                <a:sym typeface="Poppins"/>
              </a:endParaRPr>
            </a:p>
            <a:p>
              <a:pPr marL="0" lvl="0" indent="0" algn="ctr" rtl="0">
                <a:spcBef>
                  <a:spcPts val="750"/>
                </a:spcBef>
                <a:spcAft>
                  <a:spcPts val="0"/>
                </a:spcAft>
                <a:buNone/>
              </a:pPr>
              <a:r>
                <a:rPr lang="en" sz="1100" dirty="0">
                  <a:solidFill>
                    <a:srgbClr val="4A4A4A"/>
                  </a:solidFill>
                  <a:latin typeface="Didact Gothic"/>
                  <a:ea typeface="Didact Gothic"/>
                  <a:cs typeface="Didact Gothic"/>
                  <a:sym typeface="Didact Gothic"/>
                </a:rPr>
                <a:t>Transforming diverse raw schemas into a unified temporal view</a:t>
              </a:r>
              <a:endParaRPr sz="1100" dirty="0">
                <a:solidFill>
                  <a:srgbClr val="4A4A4A"/>
                </a:solidFill>
                <a:latin typeface="Didact Gothic"/>
                <a:ea typeface="Didact Gothic"/>
                <a:cs typeface="Didact Gothic"/>
                <a:sym typeface="Didact Gothic"/>
              </a:endParaRPr>
            </a:p>
            <a:p>
              <a:pPr marL="0" lvl="0" indent="0" algn="ctr" rtl="0">
                <a:spcBef>
                  <a:spcPts val="1125"/>
                </a:spcBef>
                <a:spcAft>
                  <a:spcPts val="0"/>
                </a:spcAft>
                <a:buNone/>
              </a:pPr>
              <a:r>
                <a:rPr lang="en" sz="900" dirty="0">
                  <a:solidFill>
                    <a:srgbClr val="0969DA"/>
                  </a:solidFill>
                  <a:highlight>
                    <a:srgbClr val="EBF1F5"/>
                  </a:highlight>
                  <a:latin typeface="Consolas"/>
                  <a:ea typeface="Consolas"/>
                  <a:cs typeface="Consolas"/>
                  <a:sym typeface="Consolas"/>
                </a:rPr>
                <a:t>Point-in-Time As-of Join</a:t>
              </a:r>
              <a:endParaRPr sz="900" dirty="0">
                <a:solidFill>
                  <a:srgbClr val="0969DA"/>
                </a:solidFill>
                <a:highlight>
                  <a:srgbClr val="EBF1F5"/>
                </a:highlight>
                <a:latin typeface="Consolas"/>
                <a:ea typeface="Consolas"/>
                <a:cs typeface="Consolas"/>
                <a:sym typeface="Consolas"/>
              </a:endParaRPr>
            </a:p>
          </p:txBody>
        </p:sp>
      </p:grpSp>
      <p:sp>
        <p:nvSpPr>
          <p:cNvPr id="1020" name="Google Shape;1020;p90"/>
          <p:cNvSpPr/>
          <p:nvPr/>
        </p:nvSpPr>
        <p:spPr>
          <a:xfrm>
            <a:off x="5719675" y="2716250"/>
            <a:ext cx="666900" cy="381000"/>
          </a:xfrm>
          <a:custGeom>
            <a:avLst/>
            <a:gdLst/>
            <a:ahLst/>
            <a:cxnLst/>
            <a:rect l="l" t="t" r="r" b="b"/>
            <a:pathLst>
              <a:path w="120000" h="120000" extrusionOk="0">
                <a:moveTo>
                  <a:pt x="0" y="30000"/>
                </a:moveTo>
                <a:lnTo>
                  <a:pt x="90000" y="30000"/>
                </a:lnTo>
                <a:lnTo>
                  <a:pt x="90000" y="0"/>
                </a:lnTo>
                <a:lnTo>
                  <a:pt x="120000" y="60000"/>
                </a:lnTo>
                <a:lnTo>
                  <a:pt x="90000" y="120000"/>
                </a:lnTo>
                <a:lnTo>
                  <a:pt x="90000" y="90000"/>
                </a:lnTo>
                <a:lnTo>
                  <a:pt x="0" y="90000"/>
                </a:lnTo>
                <a:close/>
              </a:path>
            </a:pathLst>
          </a:custGeom>
          <a:solidFill>
            <a:srgbClr val="37476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21" name="Google Shape;1021;p90"/>
          <p:cNvGrpSpPr/>
          <p:nvPr/>
        </p:nvGrpSpPr>
        <p:grpSpPr>
          <a:xfrm>
            <a:off x="6548975" y="1763750"/>
            <a:ext cx="2190900" cy="2286000"/>
            <a:chOff x="0" y="0"/>
            <a:chExt cx="2190900" cy="2286000"/>
          </a:xfrm>
        </p:grpSpPr>
        <p:sp>
          <p:nvSpPr>
            <p:cNvPr id="1022" name="Google Shape;1022;p90"/>
            <p:cNvSpPr/>
            <p:nvPr/>
          </p:nvSpPr>
          <p:spPr>
            <a:xfrm>
              <a:off x="0" y="0"/>
              <a:ext cx="2190900" cy="2286000"/>
            </a:xfrm>
            <a:prstGeom prst="roundRect">
              <a:avLst>
                <a:gd name="adj" fmla="val 5217"/>
              </a:avLst>
            </a:prstGeom>
            <a:solidFill>
              <a:srgbClr val="FFFFFF"/>
            </a:solidFill>
            <a:ln w="19050" cap="flat" cmpd="sng">
              <a:solidFill>
                <a:srgbClr val="37476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3" name="Google Shape;1023;p90"/>
            <p:cNvSpPr txBox="1"/>
            <p:nvPr/>
          </p:nvSpPr>
          <p:spPr>
            <a:xfrm>
              <a:off x="0" y="0"/>
              <a:ext cx="2190900" cy="2286000"/>
            </a:xfrm>
            <a:prstGeom prst="rect">
              <a:avLst/>
            </a:prstGeom>
            <a:noFill/>
            <a:ln>
              <a:noFill/>
            </a:ln>
          </p:spPr>
          <p:txBody>
            <a:bodyPr spcFirstLastPara="1" wrap="square" lIns="190500" tIns="190500" rIns="190500" bIns="190500" anchor="ctr" anchorCtr="0">
              <a:noAutofit/>
            </a:bodyPr>
            <a:lstStyle/>
            <a:p>
              <a:pPr marL="0" lvl="0" indent="0" algn="ctr" rtl="0">
                <a:spcBef>
                  <a:spcPts val="0"/>
                </a:spcBef>
                <a:spcAft>
                  <a:spcPts val="0"/>
                </a:spcAft>
                <a:buNone/>
              </a:pPr>
              <a:endParaRPr lang="en" sz="1400" b="1" dirty="0">
                <a:solidFill>
                  <a:srgbClr val="1B1B1B"/>
                </a:solidFill>
                <a:latin typeface="Poppins"/>
                <a:ea typeface="Poppins"/>
                <a:cs typeface="Poppins"/>
                <a:sym typeface="Poppins"/>
              </a:endParaRPr>
            </a:p>
            <a:p>
              <a:pPr marL="0" lvl="0" indent="0" algn="ctr" rtl="0">
                <a:spcBef>
                  <a:spcPts val="0"/>
                </a:spcBef>
                <a:spcAft>
                  <a:spcPts val="0"/>
                </a:spcAft>
                <a:buNone/>
              </a:pPr>
              <a:endParaRPr lang="en" b="1" dirty="0">
                <a:solidFill>
                  <a:srgbClr val="1B1B1B"/>
                </a:solidFill>
                <a:latin typeface="Poppins"/>
                <a:ea typeface="Poppins"/>
                <a:cs typeface="Poppins"/>
                <a:sym typeface="Poppins"/>
              </a:endParaRPr>
            </a:p>
            <a:p>
              <a:pPr marL="0" lvl="0" indent="0" algn="ctr" rtl="0">
                <a:spcBef>
                  <a:spcPts val="0"/>
                </a:spcBef>
                <a:spcAft>
                  <a:spcPts val="0"/>
                </a:spcAft>
                <a:buNone/>
              </a:pPr>
              <a:endParaRPr lang="en" sz="1400" b="1" dirty="0">
                <a:solidFill>
                  <a:srgbClr val="1B1B1B"/>
                </a:solidFill>
                <a:latin typeface="Poppins"/>
                <a:ea typeface="Poppins"/>
                <a:cs typeface="Poppins"/>
                <a:sym typeface="Poppins"/>
              </a:endParaRPr>
            </a:p>
            <a:p>
              <a:pPr marL="0" lvl="0" indent="0" algn="ctr" rtl="0">
                <a:spcBef>
                  <a:spcPts val="0"/>
                </a:spcBef>
                <a:spcAft>
                  <a:spcPts val="0"/>
                </a:spcAft>
                <a:buNone/>
              </a:pPr>
              <a:r>
                <a:rPr lang="en" sz="1400" b="1" dirty="0">
                  <a:solidFill>
                    <a:srgbClr val="1B1B1B"/>
                  </a:solidFill>
                  <a:latin typeface="Poppins"/>
                  <a:ea typeface="Poppins"/>
                  <a:cs typeface="Poppins"/>
                  <a:sym typeface="Poppins"/>
                </a:rPr>
                <a:t>Single Source of Truth</a:t>
              </a:r>
              <a:endParaRPr sz="1400" b="1" dirty="0">
                <a:solidFill>
                  <a:srgbClr val="1B1B1B"/>
                </a:solidFill>
                <a:latin typeface="Poppins"/>
                <a:ea typeface="Poppins"/>
                <a:cs typeface="Poppins"/>
                <a:sym typeface="Poppins"/>
              </a:endParaRPr>
            </a:p>
            <a:p>
              <a:pPr marL="0" lvl="0" indent="0" algn="ctr" rtl="0">
                <a:spcBef>
                  <a:spcPts val="600"/>
                </a:spcBef>
                <a:spcAft>
                  <a:spcPts val="0"/>
                </a:spcAft>
                <a:buNone/>
              </a:pPr>
              <a:r>
                <a:rPr lang="en" sz="1100" dirty="0">
                  <a:solidFill>
                    <a:srgbClr val="0969DA"/>
                  </a:solidFill>
                  <a:latin typeface="Consolas"/>
                  <a:ea typeface="Consolas"/>
                  <a:cs typeface="Consolas"/>
                  <a:sym typeface="Consolas"/>
                </a:rPr>
                <a:t>feature_columns.py</a:t>
              </a:r>
              <a:endParaRPr sz="1100" dirty="0">
                <a:solidFill>
                  <a:srgbClr val="0969DA"/>
                </a:solidFill>
                <a:latin typeface="Consolas"/>
                <a:ea typeface="Consolas"/>
                <a:cs typeface="Consolas"/>
                <a:sym typeface="Consolas"/>
              </a:endParaRPr>
            </a:p>
            <a:p>
              <a:pPr marL="0" lvl="0" indent="0" algn="ctr" rtl="0">
                <a:spcBef>
                  <a:spcPts val="1125"/>
                </a:spcBef>
                <a:spcAft>
                  <a:spcPts val="0"/>
                </a:spcAft>
                <a:buNone/>
              </a:pPr>
              <a:r>
                <a:rPr lang="en" sz="1000" i="1" dirty="0">
                  <a:solidFill>
                    <a:srgbClr val="4A4A4A"/>
                  </a:solidFill>
                  <a:latin typeface="Didact Gothic"/>
                  <a:ea typeface="Didact Gothic"/>
                  <a:cs typeface="Didact Gothic"/>
                  <a:sym typeface="Didact Gothic"/>
                </a:rPr>
                <a:t>Final Point-in-Time Feature Vectors</a:t>
              </a:r>
              <a:endParaRPr sz="1000" i="1" dirty="0">
                <a:solidFill>
                  <a:srgbClr val="4A4A4A"/>
                </a:solidFill>
                <a:latin typeface="Didact Gothic"/>
                <a:ea typeface="Didact Gothic"/>
                <a:cs typeface="Didact Gothic"/>
                <a:sym typeface="Didact Gothic"/>
              </a:endParaRPr>
            </a:p>
          </p:txBody>
        </p:sp>
      </p:grpSp>
      <p:pic>
        <p:nvPicPr>
          <p:cNvPr id="5" name="Picture 4">
            <a:extLst>
              <a:ext uri="{FF2B5EF4-FFF2-40B4-BE49-F238E27FC236}">
                <a16:creationId xmlns:a16="http://schemas.microsoft.com/office/drawing/2014/main" id="{46B93F7B-A28D-45B4-4141-92796F64781F}"/>
              </a:ext>
            </a:extLst>
          </p:cNvPr>
          <p:cNvPicPr>
            <a:picLocks noChangeAspect="1"/>
          </p:cNvPicPr>
          <p:nvPr/>
        </p:nvPicPr>
        <p:blipFill>
          <a:blip r:embed="rId4"/>
          <a:stretch>
            <a:fillRect/>
          </a:stretch>
        </p:blipFill>
        <p:spPr>
          <a:xfrm>
            <a:off x="7358660" y="1974819"/>
            <a:ext cx="571529" cy="596931"/>
          </a:xfrm>
          <a:prstGeom prst="rect">
            <a:avLst/>
          </a:prstGeom>
        </p:spPr>
      </p:pic>
      <p:pic>
        <p:nvPicPr>
          <p:cNvPr id="7" name="Picture 6">
            <a:extLst>
              <a:ext uri="{FF2B5EF4-FFF2-40B4-BE49-F238E27FC236}">
                <a16:creationId xmlns:a16="http://schemas.microsoft.com/office/drawing/2014/main" id="{EF144F44-F1DC-8E2A-202C-C8F5BCBED93A}"/>
              </a:ext>
            </a:extLst>
          </p:cNvPr>
          <p:cNvPicPr>
            <a:picLocks noChangeAspect="1"/>
          </p:cNvPicPr>
          <p:nvPr/>
        </p:nvPicPr>
        <p:blipFill>
          <a:blip r:embed="rId5"/>
          <a:stretch>
            <a:fillRect/>
          </a:stretch>
        </p:blipFill>
        <p:spPr>
          <a:xfrm>
            <a:off x="4020175" y="1974819"/>
            <a:ext cx="619220" cy="510856"/>
          </a:xfrm>
          <a:prstGeom prst="rect">
            <a:avLst/>
          </a:prstGeom>
        </p:spPr>
      </p:pic>
      <p:pic>
        <p:nvPicPr>
          <p:cNvPr id="9" name="Picture 8">
            <a:extLst>
              <a:ext uri="{FF2B5EF4-FFF2-40B4-BE49-F238E27FC236}">
                <a16:creationId xmlns:a16="http://schemas.microsoft.com/office/drawing/2014/main" id="{6EE99F49-49C8-2514-C6B1-43F4BEC62396}"/>
              </a:ext>
            </a:extLst>
          </p:cNvPr>
          <p:cNvPicPr>
            <a:picLocks noChangeAspect="1"/>
          </p:cNvPicPr>
          <p:nvPr/>
        </p:nvPicPr>
        <p:blipFill>
          <a:blip r:embed="rId6"/>
          <a:stretch>
            <a:fillRect/>
          </a:stretch>
        </p:blipFill>
        <p:spPr>
          <a:xfrm>
            <a:off x="945283" y="1590456"/>
            <a:ext cx="596931" cy="476274"/>
          </a:xfrm>
          <a:prstGeom prst="rect">
            <a:avLst/>
          </a:prstGeom>
        </p:spPr>
      </p:pic>
      <p:pic>
        <p:nvPicPr>
          <p:cNvPr id="11" name="Picture 10">
            <a:extLst>
              <a:ext uri="{FF2B5EF4-FFF2-40B4-BE49-F238E27FC236}">
                <a16:creationId xmlns:a16="http://schemas.microsoft.com/office/drawing/2014/main" id="{E602ED03-8D40-DAA5-8626-6E21A7A0C282}"/>
              </a:ext>
            </a:extLst>
          </p:cNvPr>
          <p:cNvPicPr>
            <a:picLocks noChangeAspect="1"/>
          </p:cNvPicPr>
          <p:nvPr/>
        </p:nvPicPr>
        <p:blipFill>
          <a:blip r:embed="rId7"/>
          <a:stretch>
            <a:fillRect/>
          </a:stretch>
        </p:blipFill>
        <p:spPr>
          <a:xfrm>
            <a:off x="992910" y="3177685"/>
            <a:ext cx="501676" cy="4381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92"/>
          <p:cNvSpPr txBox="1">
            <a:spLocks noGrp="1"/>
          </p:cNvSpPr>
          <p:nvPr>
            <p:ph type="title"/>
          </p:nvPr>
        </p:nvSpPr>
        <p:spPr>
          <a:xfrm>
            <a:off x="348925" y="530069"/>
            <a:ext cx="844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FeatEng - Feature Vector Generation</a:t>
            </a:r>
            <a:endParaRPr/>
          </a:p>
        </p:txBody>
      </p:sp>
      <p:sp>
        <p:nvSpPr>
          <p:cNvPr id="1065" name="Google Shape;1065;p92"/>
          <p:cNvSpPr txBox="1"/>
          <p:nvPr/>
        </p:nvSpPr>
        <p:spPr>
          <a:xfrm>
            <a:off x="-301225" y="-360425"/>
            <a:ext cx="3000000" cy="677100"/>
          </a:xfrm>
          <a:prstGeom prst="rect">
            <a:avLst/>
          </a:prstGeom>
          <a:noFill/>
          <a:ln>
            <a:noFill/>
          </a:ln>
        </p:spPr>
        <p:txBody>
          <a:bodyPr spcFirstLastPara="1" wrap="square" lIns="91425" tIns="91425" rIns="91425" bIns="91425" anchor="t" anchorCtr="0">
            <a:spAutoFit/>
          </a:bodyPr>
          <a:lstStyle/>
          <a:p>
            <a:pPr marL="190500" lvl="0" indent="0" algn="ctr" rtl="0">
              <a:spcBef>
                <a:spcPts val="0"/>
              </a:spcBef>
              <a:spcAft>
                <a:spcPts val="0"/>
              </a:spcAft>
              <a:buNone/>
            </a:pPr>
            <a:r>
              <a:rPr lang="en" sz="3200">
                <a:solidFill>
                  <a:schemeClr val="accent1"/>
                </a:solidFill>
                <a:latin typeface="Material Icons"/>
                <a:ea typeface="Material Icons"/>
                <a:cs typeface="Material Icons"/>
                <a:sym typeface="Material Icons"/>
              </a:rPr>
              <a:t>olt</a:t>
            </a:r>
            <a:endParaRPr/>
          </a:p>
        </p:txBody>
      </p:sp>
      <p:grpSp>
        <p:nvGrpSpPr>
          <p:cNvPr id="1066" name="Google Shape;1066;p92"/>
          <p:cNvGrpSpPr/>
          <p:nvPr/>
        </p:nvGrpSpPr>
        <p:grpSpPr>
          <a:xfrm>
            <a:off x="334396" y="1040946"/>
            <a:ext cx="5082845" cy="428700"/>
            <a:chOff x="0" y="0"/>
            <a:chExt cx="3048000" cy="428700"/>
          </a:xfrm>
        </p:grpSpPr>
        <p:sp>
          <p:nvSpPr>
            <p:cNvPr id="1067" name="Google Shape;1067;p92"/>
            <p:cNvSpPr/>
            <p:nvPr/>
          </p:nvSpPr>
          <p:spPr>
            <a:xfrm>
              <a:off x="0" y="0"/>
              <a:ext cx="3048000" cy="428700"/>
            </a:xfrm>
            <a:prstGeom prst="roundRect">
              <a:avLst>
                <a:gd name="adj" fmla="val 17777"/>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68" name="Google Shape;1068;p92"/>
            <p:cNvSpPr txBox="1"/>
            <p:nvPr/>
          </p:nvSpPr>
          <p:spPr>
            <a:xfrm>
              <a:off x="0" y="0"/>
              <a:ext cx="3048000" cy="428700"/>
            </a:xfrm>
            <a:prstGeom prst="rect">
              <a:avLst/>
            </a:prstGeom>
            <a:noFill/>
            <a:ln w="9525" cap="flat" cmpd="sng">
              <a:solidFill>
                <a:srgbClr val="D9EAD3"/>
              </a:solidFill>
              <a:prstDash val="solid"/>
              <a:round/>
              <a:headEnd type="none" w="sm" len="sm"/>
              <a:tailEnd type="none" w="sm" len="sm"/>
            </a:ln>
          </p:spPr>
          <p:txBody>
            <a:bodyPr spcFirstLastPara="1" wrap="square" lIns="142875" tIns="0" rIns="0" bIns="0" anchor="ctr" anchorCtr="0">
              <a:noAutofit/>
            </a:bodyPr>
            <a:lstStyle/>
            <a:p>
              <a:pPr marL="0" lvl="0" indent="0" algn="l" rtl="0">
                <a:spcBef>
                  <a:spcPts val="0"/>
                </a:spcBef>
                <a:spcAft>
                  <a:spcPts val="0"/>
                </a:spcAft>
                <a:buNone/>
              </a:pPr>
              <a:r>
                <a:rPr lang="en" sz="1100" b="1" i="1">
                  <a:solidFill>
                    <a:srgbClr val="374768"/>
                  </a:solidFill>
                  <a:latin typeface="Poppins"/>
                  <a:ea typeface="Poppins"/>
                  <a:cs typeface="Poppins"/>
                  <a:sym typeface="Poppins"/>
                </a:rPr>
                <a:t>User Static Information: </a:t>
              </a:r>
              <a:r>
                <a:rPr lang="en" sz="1100" b="0" i="1">
                  <a:solidFill>
                    <a:srgbClr val="1B1B1B"/>
                  </a:solidFill>
                  <a:highlight>
                    <a:srgbClr val="C9DAF8"/>
                  </a:highlight>
                  <a:latin typeface="Poppins"/>
                  <a:ea typeface="Poppins"/>
                  <a:cs typeface="Poppins"/>
                  <a:sym typeface="Poppins"/>
                </a:rPr>
                <a:t>age = 27, gender = F</a:t>
              </a:r>
              <a:r>
                <a:rPr lang="en" sz="1100" i="1">
                  <a:solidFill>
                    <a:srgbClr val="1B1B1B"/>
                  </a:solidFill>
                  <a:latin typeface="Poppins"/>
                  <a:ea typeface="Poppins"/>
                  <a:cs typeface="Poppins"/>
                  <a:sym typeface="Poppins"/>
                </a:rPr>
                <a:t> </a:t>
              </a:r>
              <a:endParaRPr sz="1100" b="0" i="1">
                <a:solidFill>
                  <a:srgbClr val="1B1B1B"/>
                </a:solidFill>
                <a:latin typeface="Poppins"/>
                <a:ea typeface="Poppins"/>
                <a:cs typeface="Poppins"/>
                <a:sym typeface="Poppins"/>
              </a:endParaRPr>
            </a:p>
            <a:p>
              <a:pPr marL="0" lvl="0" indent="0" algn="l" rtl="0">
                <a:spcBef>
                  <a:spcPts val="0"/>
                </a:spcBef>
                <a:spcAft>
                  <a:spcPts val="0"/>
                </a:spcAft>
                <a:buNone/>
              </a:pPr>
              <a:r>
                <a:rPr lang="en" sz="1100" b="1" i="1">
                  <a:solidFill>
                    <a:schemeClr val="dk2"/>
                  </a:solidFill>
                  <a:latin typeface="Poppins"/>
                  <a:ea typeface="Poppins"/>
                  <a:cs typeface="Poppins"/>
                  <a:sym typeface="Poppins"/>
                </a:rPr>
                <a:t>User Historical Information: </a:t>
              </a:r>
              <a:r>
                <a:rPr lang="en" sz="1100" b="0" i="1">
                  <a:solidFill>
                    <a:srgbClr val="1B1B1B"/>
                  </a:solidFill>
                  <a:highlight>
                    <a:srgbClr val="D9EAD3"/>
                  </a:highlight>
                  <a:latin typeface="Poppins"/>
                  <a:ea typeface="Poppins"/>
                  <a:cs typeface="Poppins"/>
                  <a:sym typeface="Poppins"/>
                </a:rPr>
                <a:t>gift_rate = 0.04</a:t>
              </a:r>
              <a:r>
                <a:rPr lang="en" sz="1100" b="0" i="1">
                  <a:solidFill>
                    <a:srgbClr val="1B1B1B"/>
                  </a:solidFill>
                  <a:latin typeface="Poppins"/>
                  <a:ea typeface="Poppins"/>
                  <a:cs typeface="Poppins"/>
                  <a:sym typeface="Poppins"/>
                </a:rPr>
                <a:t> </a:t>
              </a:r>
              <a:r>
                <a:rPr lang="en" sz="1100" i="1">
                  <a:solidFill>
                    <a:srgbClr val="1B1B1B"/>
                  </a:solidFill>
                  <a:latin typeface="Poppins"/>
                  <a:ea typeface="Poppins"/>
                  <a:cs typeface="Poppins"/>
                  <a:sym typeface="Poppins"/>
                </a:rPr>
                <a:t>← </a:t>
              </a:r>
              <a:r>
                <a:rPr lang="en" sz="1100">
                  <a:solidFill>
                    <a:srgbClr val="1B1B1B"/>
                  </a:solidFill>
                  <a:latin typeface="Poppins"/>
                  <a:ea typeface="Poppins"/>
                  <a:cs typeface="Poppins"/>
                  <a:sym typeface="Poppins"/>
                </a:rPr>
                <a:t>Updated daily!</a:t>
              </a:r>
              <a:endParaRPr sz="1100" b="1">
                <a:solidFill>
                  <a:srgbClr val="374768"/>
                </a:solidFill>
                <a:latin typeface="Poppins"/>
                <a:ea typeface="Poppins"/>
                <a:cs typeface="Poppins"/>
                <a:sym typeface="Poppins"/>
              </a:endParaRPr>
            </a:p>
          </p:txBody>
        </p:sp>
      </p:grpSp>
      <p:graphicFrame>
        <p:nvGraphicFramePr>
          <p:cNvPr id="1069" name="Google Shape;1069;p92"/>
          <p:cNvGraphicFramePr/>
          <p:nvPr/>
        </p:nvGraphicFramePr>
        <p:xfrm>
          <a:off x="172803" y="1714500"/>
          <a:ext cx="2155000" cy="3354875"/>
        </p:xfrm>
        <a:graphic>
          <a:graphicData uri="http://schemas.openxmlformats.org/drawingml/2006/table">
            <a:tbl>
              <a:tblPr>
                <a:noFill/>
                <a:tableStyleId>{E1AA1288-DD1A-40F9-8BB8-854D2D3CAF72}</a:tableStyleId>
              </a:tblPr>
              <a:tblGrid>
                <a:gridCol w="297425">
                  <a:extLst>
                    <a:ext uri="{9D8B030D-6E8A-4147-A177-3AD203B41FA5}">
                      <a16:colId xmlns:a16="http://schemas.microsoft.com/office/drawing/2014/main" val="20000"/>
                    </a:ext>
                  </a:extLst>
                </a:gridCol>
                <a:gridCol w="574025">
                  <a:extLst>
                    <a:ext uri="{9D8B030D-6E8A-4147-A177-3AD203B41FA5}">
                      <a16:colId xmlns:a16="http://schemas.microsoft.com/office/drawing/2014/main" val="20001"/>
                    </a:ext>
                  </a:extLst>
                </a:gridCol>
                <a:gridCol w="1283550">
                  <a:extLst>
                    <a:ext uri="{9D8B030D-6E8A-4147-A177-3AD203B41FA5}">
                      <a16:colId xmlns:a16="http://schemas.microsoft.com/office/drawing/2014/main" val="20002"/>
                    </a:ext>
                  </a:extLst>
                </a:gridCol>
              </a:tblGrid>
              <a:tr h="338650">
                <a:tc>
                  <a:txBody>
                    <a:bodyPr/>
                    <a:lstStyle/>
                    <a:p>
                      <a:pPr marL="0" lvl="0" indent="0" algn="ctr" rtl="0">
                        <a:spcBef>
                          <a:spcPts val="0"/>
                        </a:spcBef>
                        <a:spcAft>
                          <a:spcPts val="0"/>
                        </a:spcAft>
                        <a:buNone/>
                      </a:pPr>
                      <a:r>
                        <a:rPr lang="en" sz="1000" b="1">
                          <a:solidFill>
                            <a:srgbClr val="374768"/>
                          </a:solidFill>
                          <a:latin typeface="Inter"/>
                          <a:ea typeface="Inter"/>
                          <a:cs typeface="Inter"/>
                          <a:sym typeface="Inter"/>
                        </a:rPr>
                        <a:t>#</a:t>
                      </a:r>
                      <a:endParaRPr sz="1000" b="1">
                        <a:solidFill>
                          <a:srgbClr val="374768"/>
                        </a:solidFill>
                        <a:latin typeface="Inter"/>
                        <a:ea typeface="Inter"/>
                        <a:cs typeface="Inter"/>
                        <a:sym typeface="Inter"/>
                      </a:endParaRPr>
                    </a:p>
                  </a:txBody>
                  <a:tcPr marL="19050" marR="19050" marT="47625" marB="47625">
                    <a:solidFill>
                      <a:schemeClr val="accent6"/>
                    </a:solidFill>
                  </a:tcPr>
                </a:tc>
                <a:tc>
                  <a:txBody>
                    <a:bodyPr/>
                    <a:lstStyle/>
                    <a:p>
                      <a:pPr marL="0" lvl="0" indent="0" algn="ctr" rtl="0">
                        <a:spcBef>
                          <a:spcPts val="0"/>
                        </a:spcBef>
                        <a:spcAft>
                          <a:spcPts val="0"/>
                        </a:spcAft>
                        <a:buNone/>
                      </a:pPr>
                      <a:r>
                        <a:rPr lang="en" sz="1000" b="1">
                          <a:solidFill>
                            <a:srgbClr val="374768"/>
                          </a:solidFill>
                          <a:latin typeface="Inter"/>
                          <a:ea typeface="Inter"/>
                          <a:cs typeface="Inter"/>
                          <a:sym typeface="Inter"/>
                        </a:rPr>
                        <a:t>event_ts</a:t>
                      </a:r>
                      <a:endParaRPr sz="1000" b="1">
                        <a:solidFill>
                          <a:srgbClr val="374768"/>
                        </a:solidFill>
                        <a:latin typeface="Inter"/>
                        <a:ea typeface="Inter"/>
                        <a:cs typeface="Inter"/>
                        <a:sym typeface="Inter"/>
                      </a:endParaRPr>
                    </a:p>
                  </a:txBody>
                  <a:tcPr marL="19050" marR="19050" marT="47625" marB="47625">
                    <a:solidFill>
                      <a:schemeClr val="accent6"/>
                    </a:solidFill>
                  </a:tcPr>
                </a:tc>
                <a:tc>
                  <a:txBody>
                    <a:bodyPr/>
                    <a:lstStyle/>
                    <a:p>
                      <a:pPr marL="0" lvl="0" indent="0" algn="ctr" rtl="0">
                        <a:spcBef>
                          <a:spcPts val="0"/>
                        </a:spcBef>
                        <a:spcAft>
                          <a:spcPts val="0"/>
                        </a:spcAft>
                        <a:buNone/>
                      </a:pPr>
                      <a:r>
                        <a:rPr lang="en" sz="1000" b="1">
                          <a:solidFill>
                            <a:srgbClr val="374768"/>
                          </a:solidFill>
                          <a:latin typeface="Inter"/>
                          <a:ea typeface="Inter"/>
                          <a:cs typeface="Inter"/>
                          <a:sym typeface="Inter"/>
                        </a:rPr>
                        <a:t>action</a:t>
                      </a:r>
                      <a:endParaRPr sz="1000" b="1">
                        <a:solidFill>
                          <a:srgbClr val="374768"/>
                        </a:solidFill>
                        <a:latin typeface="Inter"/>
                        <a:ea typeface="Inter"/>
                        <a:cs typeface="Inter"/>
                        <a:sym typeface="Inter"/>
                      </a:endParaRPr>
                    </a:p>
                  </a:txBody>
                  <a:tcPr marL="19050" marR="19050" marT="47625" marB="47625">
                    <a:solidFill>
                      <a:schemeClr val="accent6"/>
                    </a:solidFill>
                  </a:tcPr>
                </a:tc>
                <a:extLst>
                  <a:ext uri="{0D108BD9-81ED-4DB2-BD59-A6C34878D82A}">
                    <a16:rowId xmlns:a16="http://schemas.microsoft.com/office/drawing/2014/main" val="10000"/>
                  </a:ext>
                </a:extLst>
              </a:tr>
              <a:tr h="338675">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1</a:t>
                      </a:r>
                      <a:endParaRPr sz="10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10:00:00</a:t>
                      </a:r>
                      <a:endParaRPr sz="10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ENTER</a:t>
                      </a:r>
                      <a:endParaRPr sz="10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EAD1DC"/>
                    </a:solidFill>
                  </a:tcPr>
                </a:tc>
                <a:extLst>
                  <a:ext uri="{0D108BD9-81ED-4DB2-BD59-A6C34878D82A}">
                    <a16:rowId xmlns:a16="http://schemas.microsoft.com/office/drawing/2014/main" val="10001"/>
                  </a:ext>
                </a:extLst>
              </a:tr>
              <a:tr h="338675">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2</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10:00:08</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LIKE</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extLst>
                  <a:ext uri="{0D108BD9-81ED-4DB2-BD59-A6C34878D82A}">
                    <a16:rowId xmlns:a16="http://schemas.microsoft.com/office/drawing/2014/main" val="10002"/>
                  </a:ext>
                </a:extLst>
              </a:tr>
              <a:tr h="338650">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3</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10:00:19</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LIKE</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extLst>
                  <a:ext uri="{0D108BD9-81ED-4DB2-BD59-A6C34878D82A}">
                    <a16:rowId xmlns:a16="http://schemas.microsoft.com/office/drawing/2014/main" val="10003"/>
                  </a:ext>
                </a:extLst>
              </a:tr>
              <a:tr h="338675">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4</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10:00:25</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COMMENT</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extLst>
                  <a:ext uri="{0D108BD9-81ED-4DB2-BD59-A6C34878D82A}">
                    <a16:rowId xmlns:a16="http://schemas.microsoft.com/office/drawing/2014/main" val="10004"/>
                  </a:ext>
                </a:extLst>
              </a:tr>
              <a:tr h="338675">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5</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10:00:59</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LIKE</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extLst>
                  <a:ext uri="{0D108BD9-81ED-4DB2-BD59-A6C34878D82A}">
                    <a16:rowId xmlns:a16="http://schemas.microsoft.com/office/drawing/2014/main" val="10005"/>
                  </a:ext>
                </a:extLst>
              </a:tr>
              <a:tr h="338650">
                <a:tc>
                  <a:txBody>
                    <a:bodyPr/>
                    <a:lstStyle/>
                    <a:p>
                      <a:pPr marL="0" lvl="0" indent="0" algn="ctr" rtl="0">
                        <a:spcBef>
                          <a:spcPts val="0"/>
                        </a:spcBef>
                        <a:spcAft>
                          <a:spcPts val="0"/>
                        </a:spcAft>
                        <a:buNone/>
                      </a:pPr>
                      <a:r>
                        <a:rPr lang="en" sz="1000" b="1">
                          <a:solidFill>
                            <a:srgbClr val="DC2626"/>
                          </a:solidFill>
                          <a:latin typeface="Inter"/>
                          <a:ea typeface="Inter"/>
                          <a:cs typeface="Inter"/>
                          <a:sym typeface="Inter"/>
                        </a:rPr>
                        <a:t>6</a:t>
                      </a:r>
                      <a:endParaRPr sz="1000" b="1">
                        <a:solidFill>
                          <a:srgbClr val="DC2626"/>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0E0E0"/>
                    </a:solidFill>
                  </a:tcPr>
                </a:tc>
                <a:tc>
                  <a:txBody>
                    <a:bodyPr/>
                    <a:lstStyle/>
                    <a:p>
                      <a:pPr marL="0" lvl="0" indent="0" algn="ctr" rtl="0">
                        <a:spcBef>
                          <a:spcPts val="0"/>
                        </a:spcBef>
                        <a:spcAft>
                          <a:spcPts val="0"/>
                        </a:spcAft>
                        <a:buNone/>
                      </a:pPr>
                      <a:r>
                        <a:rPr lang="en" sz="1000" b="1">
                          <a:solidFill>
                            <a:srgbClr val="DC2626"/>
                          </a:solidFill>
                          <a:latin typeface="Inter"/>
                          <a:ea typeface="Inter"/>
                          <a:cs typeface="Inter"/>
                          <a:sym typeface="Inter"/>
                        </a:rPr>
                        <a:t>10:01:10</a:t>
                      </a:r>
                      <a:endParaRPr sz="1000" b="1">
                        <a:solidFill>
                          <a:srgbClr val="DC2626"/>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0E0E0"/>
                    </a:solidFill>
                  </a:tcPr>
                </a:tc>
                <a:tc>
                  <a:txBody>
                    <a:bodyPr/>
                    <a:lstStyle/>
                    <a:p>
                      <a:pPr marL="0" lvl="0" indent="0" algn="ctr" rtl="0">
                        <a:spcBef>
                          <a:spcPts val="0"/>
                        </a:spcBef>
                        <a:spcAft>
                          <a:spcPts val="0"/>
                        </a:spcAft>
                        <a:buNone/>
                      </a:pPr>
                      <a:r>
                        <a:rPr lang="en" sz="1000" b="1">
                          <a:solidFill>
                            <a:srgbClr val="DC2626"/>
                          </a:solidFill>
                          <a:latin typeface="Inter"/>
                          <a:ea typeface="Inter"/>
                          <a:cs typeface="Inter"/>
                          <a:sym typeface="Inter"/>
                        </a:rPr>
                        <a:t>GIFT</a:t>
                      </a:r>
                      <a:endParaRPr sz="1000" b="1">
                        <a:solidFill>
                          <a:srgbClr val="DC2626"/>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0E0E0"/>
                    </a:solidFill>
                  </a:tcPr>
                </a:tc>
                <a:extLst>
                  <a:ext uri="{0D108BD9-81ED-4DB2-BD59-A6C34878D82A}">
                    <a16:rowId xmlns:a16="http://schemas.microsoft.com/office/drawing/2014/main" val="10006"/>
                  </a:ext>
                </a:extLst>
              </a:tr>
              <a:tr h="338675">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7</a:t>
                      </a:r>
                      <a:endParaRPr sz="10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E0E0E0"/>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10:01:35</a:t>
                      </a:r>
                      <a:endParaRPr sz="10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E0E0E0"/>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LIKE</a:t>
                      </a:r>
                      <a:endParaRPr sz="10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E0E0E0"/>
                    </a:solidFill>
                  </a:tcPr>
                </a:tc>
                <a:extLst>
                  <a:ext uri="{0D108BD9-81ED-4DB2-BD59-A6C34878D82A}">
                    <a16:rowId xmlns:a16="http://schemas.microsoft.com/office/drawing/2014/main" val="10007"/>
                  </a:ext>
                </a:extLst>
              </a:tr>
              <a:tr h="338675">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8</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0E0E0"/>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10:02:00</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0E0E0"/>
                    </a:solidFill>
                  </a:tcPr>
                </a:tc>
                <a:tc>
                  <a:txBody>
                    <a:bodyPr/>
                    <a:lstStyle/>
                    <a:p>
                      <a:pPr marL="0" lvl="0" indent="0" algn="ctr" rtl="0">
                        <a:spcBef>
                          <a:spcPts val="0"/>
                        </a:spcBef>
                        <a:spcAft>
                          <a:spcPts val="0"/>
                        </a:spcAft>
                        <a:buNone/>
                      </a:pPr>
                      <a:r>
                        <a:rPr lang="en" sz="1000">
                          <a:solidFill>
                            <a:srgbClr val="1B1B1B"/>
                          </a:solidFill>
                          <a:latin typeface="Inter"/>
                          <a:ea typeface="Inter"/>
                          <a:cs typeface="Inter"/>
                          <a:sym typeface="Inter"/>
                        </a:rPr>
                        <a:t>COMMENT</a:t>
                      </a:r>
                      <a:endParaRPr sz="10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0E0E0"/>
                    </a:solidFill>
                  </a:tcPr>
                </a:tc>
                <a:extLst>
                  <a:ext uri="{0D108BD9-81ED-4DB2-BD59-A6C34878D82A}">
                    <a16:rowId xmlns:a16="http://schemas.microsoft.com/office/drawing/2014/main" val="10008"/>
                  </a:ext>
                </a:extLst>
              </a:tr>
            </a:tbl>
          </a:graphicData>
        </a:graphic>
      </p:graphicFrame>
      <p:graphicFrame>
        <p:nvGraphicFramePr>
          <p:cNvPr id="1070" name="Google Shape;1070;p92"/>
          <p:cNvGraphicFramePr/>
          <p:nvPr/>
        </p:nvGraphicFramePr>
        <p:xfrm>
          <a:off x="2924600" y="1714500"/>
          <a:ext cx="5995550" cy="1561250"/>
        </p:xfrm>
        <a:graphic>
          <a:graphicData uri="http://schemas.openxmlformats.org/drawingml/2006/table">
            <a:tbl>
              <a:tblPr>
                <a:noFill/>
                <a:tableStyleId>{E1AA1288-DD1A-40F9-8BB8-854D2D3CAF72}</a:tableStyleId>
              </a:tblPr>
              <a:tblGrid>
                <a:gridCol w="842075">
                  <a:extLst>
                    <a:ext uri="{9D8B030D-6E8A-4147-A177-3AD203B41FA5}">
                      <a16:colId xmlns:a16="http://schemas.microsoft.com/office/drawing/2014/main" val="20000"/>
                    </a:ext>
                  </a:extLst>
                </a:gridCol>
                <a:gridCol w="487650">
                  <a:extLst>
                    <a:ext uri="{9D8B030D-6E8A-4147-A177-3AD203B41FA5}">
                      <a16:colId xmlns:a16="http://schemas.microsoft.com/office/drawing/2014/main" val="20001"/>
                    </a:ext>
                  </a:extLst>
                </a:gridCol>
                <a:gridCol w="49870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gridCol w="678025">
                  <a:extLst>
                    <a:ext uri="{9D8B030D-6E8A-4147-A177-3AD203B41FA5}">
                      <a16:colId xmlns:a16="http://schemas.microsoft.com/office/drawing/2014/main" val="20004"/>
                    </a:ext>
                  </a:extLst>
                </a:gridCol>
                <a:gridCol w="868775">
                  <a:extLst>
                    <a:ext uri="{9D8B030D-6E8A-4147-A177-3AD203B41FA5}">
                      <a16:colId xmlns:a16="http://schemas.microsoft.com/office/drawing/2014/main" val="20005"/>
                    </a:ext>
                  </a:extLst>
                </a:gridCol>
                <a:gridCol w="875775">
                  <a:extLst>
                    <a:ext uri="{9D8B030D-6E8A-4147-A177-3AD203B41FA5}">
                      <a16:colId xmlns:a16="http://schemas.microsoft.com/office/drawing/2014/main" val="20006"/>
                    </a:ext>
                  </a:extLst>
                </a:gridCol>
                <a:gridCol w="773000">
                  <a:extLst>
                    <a:ext uri="{9D8B030D-6E8A-4147-A177-3AD203B41FA5}">
                      <a16:colId xmlns:a16="http://schemas.microsoft.com/office/drawing/2014/main" val="20007"/>
                    </a:ext>
                  </a:extLst>
                </a:gridCol>
              </a:tblGrid>
              <a:tr h="192225">
                <a:tc>
                  <a:txBody>
                    <a:bodyPr/>
                    <a:lstStyle/>
                    <a:p>
                      <a:pPr marL="0" lvl="0" indent="0" algn="ctr" rtl="0">
                        <a:spcBef>
                          <a:spcPts val="0"/>
                        </a:spcBef>
                        <a:spcAft>
                          <a:spcPts val="0"/>
                        </a:spcAft>
                        <a:buNone/>
                      </a:pPr>
                      <a:r>
                        <a:rPr lang="en" sz="1100" b="1">
                          <a:solidFill>
                            <a:srgbClr val="374768"/>
                          </a:solidFill>
                          <a:latin typeface="Inter"/>
                          <a:ea typeface="Inter"/>
                          <a:cs typeface="Inter"/>
                          <a:sym typeface="Inter"/>
                        </a:rPr>
                        <a:t>emit_ts</a:t>
                      </a:r>
                      <a:endParaRPr sz="1100" b="1">
                        <a:solidFill>
                          <a:srgbClr val="374768"/>
                        </a:solidFill>
                        <a:latin typeface="Inter"/>
                        <a:ea typeface="Inter"/>
                        <a:cs typeface="Inter"/>
                        <a:sym typeface="Inter"/>
                      </a:endParaRPr>
                    </a:p>
                  </a:txBody>
                  <a:tcPr marL="19050" marR="19050" marT="47625" marB="47625">
                    <a:solidFill>
                      <a:srgbClr val="F3F3F3"/>
                    </a:solidFill>
                  </a:tcPr>
                </a:tc>
                <a:tc>
                  <a:txBody>
                    <a:bodyPr/>
                    <a:lstStyle/>
                    <a:p>
                      <a:pPr marL="0" lvl="0" indent="0" algn="ctr" rtl="0">
                        <a:spcBef>
                          <a:spcPts val="0"/>
                        </a:spcBef>
                        <a:spcAft>
                          <a:spcPts val="0"/>
                        </a:spcAft>
                        <a:buNone/>
                      </a:pPr>
                      <a:r>
                        <a:rPr lang="en" sz="1100" b="1">
                          <a:solidFill>
                            <a:srgbClr val="374768"/>
                          </a:solidFill>
                          <a:latin typeface="Inter"/>
                          <a:ea typeface="Inter"/>
                          <a:cs typeface="Inter"/>
                          <a:sym typeface="Inter"/>
                        </a:rPr>
                        <a:t>age</a:t>
                      </a:r>
                      <a:endParaRPr sz="1100" b="1">
                        <a:solidFill>
                          <a:srgbClr val="374768"/>
                        </a:solidFill>
                        <a:latin typeface="Inter"/>
                        <a:ea typeface="Inter"/>
                        <a:cs typeface="Inter"/>
                        <a:sym typeface="Inter"/>
                      </a:endParaRPr>
                    </a:p>
                  </a:txBody>
                  <a:tcPr marL="19050" marR="19050" marT="47625" marB="47625">
                    <a:solidFill>
                      <a:srgbClr val="C9DAF8"/>
                    </a:solidFill>
                  </a:tcPr>
                </a:tc>
                <a:tc>
                  <a:txBody>
                    <a:bodyPr/>
                    <a:lstStyle/>
                    <a:p>
                      <a:pPr marL="0" lvl="0" indent="0" algn="ctr" rtl="0">
                        <a:spcBef>
                          <a:spcPts val="0"/>
                        </a:spcBef>
                        <a:spcAft>
                          <a:spcPts val="0"/>
                        </a:spcAft>
                        <a:buNone/>
                      </a:pPr>
                      <a:r>
                        <a:rPr lang="en" sz="1100" b="1">
                          <a:solidFill>
                            <a:srgbClr val="374768"/>
                          </a:solidFill>
                          <a:latin typeface="Inter"/>
                          <a:ea typeface="Inter"/>
                          <a:cs typeface="Inter"/>
                          <a:sym typeface="Inter"/>
                        </a:rPr>
                        <a:t>G</a:t>
                      </a:r>
                      <a:endParaRPr sz="1100" b="1">
                        <a:solidFill>
                          <a:srgbClr val="374768"/>
                        </a:solidFill>
                        <a:latin typeface="Inter"/>
                        <a:ea typeface="Inter"/>
                        <a:cs typeface="Inter"/>
                        <a:sym typeface="Inter"/>
                      </a:endParaRPr>
                    </a:p>
                  </a:txBody>
                  <a:tcPr marL="19050" marR="19050" marT="47625" marB="47625">
                    <a:solidFill>
                      <a:srgbClr val="C9DAF8"/>
                    </a:solidFill>
                  </a:tcPr>
                </a:tc>
                <a:tc>
                  <a:txBody>
                    <a:bodyPr/>
                    <a:lstStyle/>
                    <a:p>
                      <a:pPr marL="0" lvl="0" indent="0" algn="ctr" rtl="0">
                        <a:spcBef>
                          <a:spcPts val="0"/>
                        </a:spcBef>
                        <a:spcAft>
                          <a:spcPts val="0"/>
                        </a:spcAft>
                        <a:buNone/>
                      </a:pPr>
                      <a:r>
                        <a:rPr lang="en" sz="1100" b="1">
                          <a:solidFill>
                            <a:srgbClr val="374768"/>
                          </a:solidFill>
                          <a:latin typeface="Inter"/>
                          <a:ea typeface="Inter"/>
                          <a:cs typeface="Inter"/>
                          <a:sym typeface="Inter"/>
                        </a:rPr>
                        <a:t>gift_rate</a:t>
                      </a:r>
                      <a:endParaRPr sz="1100" b="1">
                        <a:solidFill>
                          <a:srgbClr val="374768"/>
                        </a:solidFill>
                        <a:latin typeface="Inter"/>
                        <a:ea typeface="Inter"/>
                        <a:cs typeface="Inter"/>
                        <a:sym typeface="Inter"/>
                      </a:endParaRPr>
                    </a:p>
                  </a:txBody>
                  <a:tcPr marL="19050" marR="19050" marT="47625" marB="47625">
                    <a:solidFill>
                      <a:srgbClr val="D9EAD3"/>
                    </a:solidFill>
                  </a:tcPr>
                </a:tc>
                <a:tc>
                  <a:txBody>
                    <a:bodyPr/>
                    <a:lstStyle/>
                    <a:p>
                      <a:pPr marL="0" lvl="0" indent="0" algn="ctr" rtl="0">
                        <a:spcBef>
                          <a:spcPts val="0"/>
                        </a:spcBef>
                        <a:spcAft>
                          <a:spcPts val="0"/>
                        </a:spcAft>
                        <a:buNone/>
                      </a:pPr>
                      <a:r>
                        <a:rPr lang="en" sz="1100" b="1">
                          <a:solidFill>
                            <a:srgbClr val="374768"/>
                          </a:solidFill>
                          <a:latin typeface="Inter"/>
                          <a:ea typeface="Inter"/>
                          <a:cs typeface="Inter"/>
                          <a:sym typeface="Inter"/>
                        </a:rPr>
                        <a:t>likes</a:t>
                      </a:r>
                      <a:endParaRPr sz="1100" b="1">
                        <a:solidFill>
                          <a:srgbClr val="374768"/>
                        </a:solidFill>
                        <a:latin typeface="Inter"/>
                        <a:ea typeface="Inter"/>
                        <a:cs typeface="Inter"/>
                        <a:sym typeface="Inter"/>
                      </a:endParaRPr>
                    </a:p>
                  </a:txBody>
                  <a:tcPr marL="19050" marR="19050" marT="47625" marB="47625">
                    <a:solidFill>
                      <a:srgbClr val="EAD1DC"/>
                    </a:solidFill>
                  </a:tcPr>
                </a:tc>
                <a:tc>
                  <a:txBody>
                    <a:bodyPr/>
                    <a:lstStyle/>
                    <a:p>
                      <a:pPr marL="0" lvl="0" indent="0" algn="ctr" rtl="0">
                        <a:spcBef>
                          <a:spcPts val="0"/>
                        </a:spcBef>
                        <a:spcAft>
                          <a:spcPts val="0"/>
                        </a:spcAft>
                        <a:buNone/>
                      </a:pPr>
                      <a:r>
                        <a:rPr lang="en" sz="1100" b="1">
                          <a:solidFill>
                            <a:srgbClr val="374768"/>
                          </a:solidFill>
                          <a:latin typeface="Inter"/>
                          <a:ea typeface="Inter"/>
                          <a:cs typeface="Inter"/>
                          <a:sym typeface="Inter"/>
                        </a:rPr>
                        <a:t>has_cmnt</a:t>
                      </a:r>
                      <a:endParaRPr sz="1100" b="1">
                        <a:solidFill>
                          <a:srgbClr val="374768"/>
                        </a:solidFill>
                        <a:latin typeface="Inter"/>
                        <a:ea typeface="Inter"/>
                        <a:cs typeface="Inter"/>
                        <a:sym typeface="Inter"/>
                      </a:endParaRPr>
                    </a:p>
                  </a:txBody>
                  <a:tcPr marL="19050" marR="19050" marT="47625" marB="47625">
                    <a:solidFill>
                      <a:srgbClr val="EAD1DC"/>
                    </a:solidFill>
                  </a:tcPr>
                </a:tc>
                <a:tc>
                  <a:txBody>
                    <a:bodyPr/>
                    <a:lstStyle/>
                    <a:p>
                      <a:pPr marL="0" lvl="0" indent="0" algn="ctr" rtl="0">
                        <a:spcBef>
                          <a:spcPts val="0"/>
                        </a:spcBef>
                        <a:spcAft>
                          <a:spcPts val="0"/>
                        </a:spcAft>
                        <a:buNone/>
                      </a:pPr>
                      <a:r>
                        <a:rPr lang="en" sz="1100" b="1">
                          <a:solidFill>
                            <a:srgbClr val="374768"/>
                          </a:solidFill>
                          <a:latin typeface="Inter"/>
                          <a:ea typeface="Inter"/>
                          <a:cs typeface="Inter"/>
                          <a:sym typeface="Inter"/>
                        </a:rPr>
                        <a:t>last_event</a:t>
                      </a:r>
                      <a:endParaRPr sz="1100" b="1">
                        <a:solidFill>
                          <a:srgbClr val="374768"/>
                        </a:solidFill>
                        <a:latin typeface="Inter"/>
                        <a:ea typeface="Inter"/>
                        <a:cs typeface="Inter"/>
                        <a:sym typeface="Inter"/>
                      </a:endParaRPr>
                    </a:p>
                  </a:txBody>
                  <a:tcPr marL="19050" marR="19050" marT="47625" marB="47625">
                    <a:solidFill>
                      <a:srgbClr val="EAD1DC"/>
                    </a:solidFill>
                  </a:tcPr>
                </a:tc>
                <a:tc>
                  <a:txBody>
                    <a:bodyPr/>
                    <a:lstStyle/>
                    <a:p>
                      <a:pPr marL="0" lvl="0" indent="0" algn="ctr" rtl="0">
                        <a:spcBef>
                          <a:spcPts val="0"/>
                        </a:spcBef>
                        <a:spcAft>
                          <a:spcPts val="0"/>
                        </a:spcAft>
                        <a:buNone/>
                      </a:pPr>
                      <a:r>
                        <a:rPr lang="en" sz="1100" b="1">
                          <a:solidFill>
                            <a:srgbClr val="374768"/>
                          </a:solidFill>
                          <a:latin typeface="Inter"/>
                          <a:ea typeface="Inter"/>
                          <a:cs typeface="Inter"/>
                          <a:sym typeface="Inter"/>
                        </a:rPr>
                        <a:t>Label</a:t>
                      </a:r>
                      <a:endParaRPr sz="1100" b="1">
                        <a:solidFill>
                          <a:srgbClr val="374768"/>
                        </a:solidFill>
                        <a:latin typeface="Inter"/>
                        <a:ea typeface="Inter"/>
                        <a:cs typeface="Inter"/>
                        <a:sym typeface="Inter"/>
                      </a:endParaRPr>
                    </a:p>
                  </a:txBody>
                  <a:tcPr marL="19050" marR="19050" marT="47625" marB="47625"/>
                </a:tc>
                <a:extLst>
                  <a:ext uri="{0D108BD9-81ED-4DB2-BD59-A6C34878D82A}">
                    <a16:rowId xmlns:a16="http://schemas.microsoft.com/office/drawing/2014/main" val="10000"/>
                  </a:ext>
                </a:extLst>
              </a:tr>
              <a:tr h="192225">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10:00:00</a:t>
                      </a:r>
                      <a:endParaRPr sz="12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27</a:t>
                      </a:r>
                      <a:endParaRPr sz="12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M</a:t>
                      </a:r>
                      <a:endParaRPr sz="12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0.04</a:t>
                      </a:r>
                      <a:endParaRPr sz="12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0</a:t>
                      </a:r>
                      <a:endParaRPr sz="12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F</a:t>
                      </a:r>
                      <a:endParaRPr sz="1200">
                        <a:solidFill>
                          <a:srgbClr val="1B1B1B"/>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a:solidFill>
                            <a:srgbClr val="166534"/>
                          </a:solidFill>
                          <a:latin typeface="Inter"/>
                          <a:ea typeface="Inter"/>
                          <a:cs typeface="Inter"/>
                          <a:sym typeface="Inter"/>
                        </a:rPr>
                        <a:t>ENTER</a:t>
                      </a:r>
                      <a:endParaRPr sz="1200">
                        <a:solidFill>
                          <a:srgbClr val="166534"/>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b="1">
                          <a:solidFill>
                            <a:srgbClr val="166534"/>
                          </a:solidFill>
                          <a:latin typeface="Inter"/>
                          <a:ea typeface="Inter"/>
                          <a:cs typeface="Inter"/>
                          <a:sym typeface="Inter"/>
                        </a:rPr>
                        <a:t>True</a:t>
                      </a:r>
                      <a:endParaRPr sz="1200" b="1">
                        <a:solidFill>
                          <a:srgbClr val="7B7C7F"/>
                        </a:solidFill>
                        <a:latin typeface="Inter"/>
                        <a:ea typeface="Inter"/>
                        <a:cs typeface="Inter"/>
                        <a:sym typeface="Inter"/>
                      </a:endParaRPr>
                    </a:p>
                  </a:txBody>
                  <a:tcPr marL="19050" marR="19050" marT="47625" marB="47625">
                    <a:lnB w="9525" cap="flat" cmpd="sng">
                      <a:solidFill>
                        <a:srgbClr val="F1F5F9"/>
                      </a:solidFill>
                      <a:prstDash val="solid"/>
                      <a:round/>
                      <a:headEnd type="none" w="sm" len="sm"/>
                      <a:tailEnd type="none" w="sm" len="sm"/>
                    </a:lnB>
                  </a:tcPr>
                </a:tc>
                <a:extLst>
                  <a:ext uri="{0D108BD9-81ED-4DB2-BD59-A6C34878D82A}">
                    <a16:rowId xmlns:a16="http://schemas.microsoft.com/office/drawing/2014/main" val="10001"/>
                  </a:ext>
                </a:extLst>
              </a:tr>
              <a:tr h="222275">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10:00:08</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27</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M</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0.04</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1</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F</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a:solidFill>
                            <a:srgbClr val="166534"/>
                          </a:solidFill>
                          <a:latin typeface="Inter"/>
                          <a:ea typeface="Inter"/>
                          <a:cs typeface="Inter"/>
                          <a:sym typeface="Inter"/>
                        </a:rPr>
                        <a:t>LIKE</a:t>
                      </a:r>
                      <a:endParaRPr sz="1200">
                        <a:solidFill>
                          <a:srgbClr val="166534"/>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b="1">
                          <a:solidFill>
                            <a:srgbClr val="166534"/>
                          </a:solidFill>
                          <a:latin typeface="Inter"/>
                          <a:ea typeface="Inter"/>
                          <a:cs typeface="Inter"/>
                          <a:sym typeface="Inter"/>
                        </a:rPr>
                        <a:t>True</a:t>
                      </a:r>
                      <a:endParaRPr sz="1200" b="1">
                        <a:solidFill>
                          <a:srgbClr val="166534"/>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extLst>
                  <a:ext uri="{0D108BD9-81ED-4DB2-BD59-A6C34878D82A}">
                    <a16:rowId xmlns:a16="http://schemas.microsoft.com/office/drawing/2014/main" val="10002"/>
                  </a:ext>
                </a:extLst>
              </a:tr>
              <a:tr h="330200">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10:00:38</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F3F3F3"/>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27</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M</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0.04</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D9EAD3"/>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2</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T</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a:solidFill>
                            <a:srgbClr val="166534"/>
                          </a:solidFill>
                          <a:latin typeface="Inter"/>
                          <a:ea typeface="Inter"/>
                          <a:cs typeface="Inter"/>
                          <a:sym typeface="Inter"/>
                        </a:rPr>
                        <a:t>COMMENT</a:t>
                      </a:r>
                      <a:endParaRPr sz="1200">
                        <a:solidFill>
                          <a:srgbClr val="166534"/>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solidFill>
                      <a:srgbClr val="EAD1DC"/>
                    </a:solidFill>
                  </a:tcPr>
                </a:tc>
                <a:tc>
                  <a:txBody>
                    <a:bodyPr/>
                    <a:lstStyle/>
                    <a:p>
                      <a:pPr marL="0" lvl="0" indent="0" algn="ctr" rtl="0">
                        <a:spcBef>
                          <a:spcPts val="0"/>
                        </a:spcBef>
                        <a:spcAft>
                          <a:spcPts val="0"/>
                        </a:spcAft>
                        <a:buNone/>
                      </a:pPr>
                      <a:r>
                        <a:rPr lang="en" sz="1200" b="1">
                          <a:solidFill>
                            <a:srgbClr val="166534"/>
                          </a:solidFill>
                          <a:latin typeface="Inter"/>
                          <a:ea typeface="Inter"/>
                          <a:cs typeface="Inter"/>
                          <a:sym typeface="Inter"/>
                        </a:rPr>
                        <a:t>True</a:t>
                      </a:r>
                      <a:endParaRPr sz="1200" b="1">
                        <a:solidFill>
                          <a:srgbClr val="166534"/>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extLst>
                  <a:ext uri="{0D108BD9-81ED-4DB2-BD59-A6C34878D82A}">
                    <a16:rowId xmlns:a16="http://schemas.microsoft.com/office/drawing/2014/main" val="10003"/>
                  </a:ext>
                </a:extLst>
              </a:tr>
              <a:tr h="411900">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10:00:59</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F3F3F3"/>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27</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C9DAF8"/>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M</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C9DAF8"/>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0.04</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D9EAD3"/>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3</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AD1DC"/>
                    </a:solidFill>
                  </a:tcPr>
                </a:tc>
                <a:tc>
                  <a:txBody>
                    <a:bodyPr/>
                    <a:lstStyle/>
                    <a:p>
                      <a:pPr marL="0" lvl="0" indent="0" algn="ctr" rtl="0">
                        <a:spcBef>
                          <a:spcPts val="0"/>
                        </a:spcBef>
                        <a:spcAft>
                          <a:spcPts val="0"/>
                        </a:spcAft>
                        <a:buNone/>
                      </a:pPr>
                      <a:r>
                        <a:rPr lang="en" sz="1200">
                          <a:solidFill>
                            <a:srgbClr val="1B1B1B"/>
                          </a:solidFill>
                          <a:latin typeface="Inter"/>
                          <a:ea typeface="Inter"/>
                          <a:cs typeface="Inter"/>
                          <a:sym typeface="Inter"/>
                        </a:rPr>
                        <a:t>T</a:t>
                      </a:r>
                      <a:endParaRPr sz="1200">
                        <a:solidFill>
                          <a:srgbClr val="1B1B1B"/>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AD1DC"/>
                    </a:solidFill>
                  </a:tcPr>
                </a:tc>
                <a:tc>
                  <a:txBody>
                    <a:bodyPr/>
                    <a:lstStyle/>
                    <a:p>
                      <a:pPr marL="0" lvl="0" indent="0" algn="ctr" rtl="0">
                        <a:spcBef>
                          <a:spcPts val="0"/>
                        </a:spcBef>
                        <a:spcAft>
                          <a:spcPts val="0"/>
                        </a:spcAft>
                        <a:buNone/>
                      </a:pPr>
                      <a:r>
                        <a:rPr lang="en" sz="1200">
                          <a:solidFill>
                            <a:srgbClr val="166534"/>
                          </a:solidFill>
                          <a:latin typeface="Inter"/>
                          <a:ea typeface="Inter"/>
                          <a:cs typeface="Inter"/>
                          <a:sym typeface="Inter"/>
                        </a:rPr>
                        <a:t>LIKE</a:t>
                      </a:r>
                      <a:endParaRPr sz="1200">
                        <a:solidFill>
                          <a:srgbClr val="166534"/>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solidFill>
                      <a:srgbClr val="EAD1DC"/>
                    </a:solidFill>
                  </a:tcPr>
                </a:tc>
                <a:tc>
                  <a:txBody>
                    <a:bodyPr/>
                    <a:lstStyle/>
                    <a:p>
                      <a:pPr marL="0" lvl="0" indent="0" algn="ctr" rtl="0">
                        <a:spcBef>
                          <a:spcPts val="0"/>
                        </a:spcBef>
                        <a:spcAft>
                          <a:spcPts val="0"/>
                        </a:spcAft>
                        <a:buNone/>
                      </a:pPr>
                      <a:r>
                        <a:rPr lang="en" sz="1200" b="1">
                          <a:solidFill>
                            <a:srgbClr val="166534"/>
                          </a:solidFill>
                          <a:latin typeface="Inter"/>
                          <a:ea typeface="Inter"/>
                          <a:cs typeface="Inter"/>
                          <a:sym typeface="Inter"/>
                        </a:rPr>
                        <a:t>True</a:t>
                      </a:r>
                      <a:endParaRPr sz="1200" b="1">
                        <a:solidFill>
                          <a:srgbClr val="166534"/>
                        </a:solidFill>
                        <a:latin typeface="Inter"/>
                        <a:ea typeface="Inter"/>
                        <a:cs typeface="Inter"/>
                        <a:sym typeface="Inter"/>
                      </a:endParaRPr>
                    </a:p>
                  </a:txBody>
                  <a:tcPr marL="19050" marR="19050" marT="47625" marB="47625">
                    <a:lnT w="9525" cap="flat" cmpd="sng">
                      <a:solidFill>
                        <a:srgbClr val="F1F5F9"/>
                      </a:solidFill>
                      <a:prstDash val="solid"/>
                      <a:round/>
                      <a:headEnd type="none" w="sm" len="sm"/>
                      <a:tailEnd type="none" w="sm" len="sm"/>
                    </a:lnT>
                  </a:tcPr>
                </a:tc>
                <a:extLst>
                  <a:ext uri="{0D108BD9-81ED-4DB2-BD59-A6C34878D82A}">
                    <a16:rowId xmlns:a16="http://schemas.microsoft.com/office/drawing/2014/main" val="10004"/>
                  </a:ext>
                </a:extLst>
              </a:tr>
            </a:tbl>
          </a:graphicData>
        </a:graphic>
      </p:graphicFrame>
      <p:cxnSp>
        <p:nvCxnSpPr>
          <p:cNvPr id="1071" name="Google Shape;1071;p92"/>
          <p:cNvCxnSpPr/>
          <p:nvPr/>
        </p:nvCxnSpPr>
        <p:spPr>
          <a:xfrm rot="10800000" flipH="1">
            <a:off x="2321725" y="2134550"/>
            <a:ext cx="595200" cy="68100"/>
          </a:xfrm>
          <a:prstGeom prst="straightConnector1">
            <a:avLst/>
          </a:prstGeom>
          <a:noFill/>
          <a:ln w="9525" cap="flat" cmpd="sng">
            <a:solidFill>
              <a:schemeClr val="dk2"/>
            </a:solidFill>
            <a:prstDash val="solid"/>
            <a:round/>
            <a:headEnd type="none" w="med" len="med"/>
            <a:tailEnd type="triangle" w="med" len="med"/>
          </a:ln>
        </p:spPr>
      </p:cxnSp>
      <p:cxnSp>
        <p:nvCxnSpPr>
          <p:cNvPr id="1072" name="Google Shape;1072;p92"/>
          <p:cNvCxnSpPr/>
          <p:nvPr/>
        </p:nvCxnSpPr>
        <p:spPr>
          <a:xfrm rot="10800000" flipH="1">
            <a:off x="2347225" y="2432350"/>
            <a:ext cx="578400" cy="127500"/>
          </a:xfrm>
          <a:prstGeom prst="straightConnector1">
            <a:avLst/>
          </a:prstGeom>
          <a:noFill/>
          <a:ln w="9525" cap="flat" cmpd="sng">
            <a:solidFill>
              <a:schemeClr val="dk2"/>
            </a:solidFill>
            <a:prstDash val="solid"/>
            <a:round/>
            <a:headEnd type="none" w="med" len="med"/>
            <a:tailEnd type="triangle" w="med" len="med"/>
          </a:ln>
        </p:spPr>
      </p:cxnSp>
      <p:cxnSp>
        <p:nvCxnSpPr>
          <p:cNvPr id="1073" name="Google Shape;1073;p92"/>
          <p:cNvCxnSpPr/>
          <p:nvPr/>
        </p:nvCxnSpPr>
        <p:spPr>
          <a:xfrm rot="10800000" flipH="1">
            <a:off x="2347225" y="2695875"/>
            <a:ext cx="569700" cy="705900"/>
          </a:xfrm>
          <a:prstGeom prst="straightConnector1">
            <a:avLst/>
          </a:prstGeom>
          <a:noFill/>
          <a:ln w="9525" cap="flat" cmpd="sng">
            <a:solidFill>
              <a:schemeClr val="dk2"/>
            </a:solidFill>
            <a:prstDash val="solid"/>
            <a:round/>
            <a:headEnd type="none" w="med" len="med"/>
            <a:tailEnd type="triangle" w="med" len="med"/>
          </a:ln>
        </p:spPr>
      </p:cxnSp>
      <p:cxnSp>
        <p:nvCxnSpPr>
          <p:cNvPr id="1074" name="Google Shape;1074;p92"/>
          <p:cNvCxnSpPr/>
          <p:nvPr/>
        </p:nvCxnSpPr>
        <p:spPr>
          <a:xfrm rot="10800000" flipH="1">
            <a:off x="2347225" y="3036175"/>
            <a:ext cx="578400" cy="544200"/>
          </a:xfrm>
          <a:prstGeom prst="straightConnector1">
            <a:avLst/>
          </a:prstGeom>
          <a:noFill/>
          <a:ln w="9525" cap="flat" cmpd="sng">
            <a:solidFill>
              <a:schemeClr val="dk2"/>
            </a:solidFill>
            <a:prstDash val="solid"/>
            <a:round/>
            <a:headEnd type="none" w="med" len="med"/>
            <a:tailEnd type="triangle" w="med" len="med"/>
          </a:ln>
        </p:spPr>
      </p:cxnSp>
      <p:sp>
        <p:nvSpPr>
          <p:cNvPr id="1075" name="Google Shape;1075;p92"/>
          <p:cNvSpPr/>
          <p:nvPr/>
        </p:nvSpPr>
        <p:spPr>
          <a:xfrm>
            <a:off x="2925625" y="3401775"/>
            <a:ext cx="5995500" cy="1360500"/>
          </a:xfrm>
          <a:prstGeom prst="roundRect">
            <a:avLst>
              <a:gd name="adj" fmla="val 4166"/>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457200" lvl="0" indent="-317500" algn="l" rtl="0">
              <a:spcBef>
                <a:spcPts val="0"/>
              </a:spcBef>
              <a:spcAft>
                <a:spcPts val="0"/>
              </a:spcAft>
              <a:buSzPts val="1400"/>
              <a:buFont typeface="Didact Gothic"/>
              <a:buAutoNum type="alphaUcPeriod"/>
            </a:pPr>
            <a:r>
              <a:rPr lang="en">
                <a:latin typeface="Didact Gothic"/>
                <a:ea typeface="Didact Gothic"/>
                <a:cs typeface="Didact Gothic"/>
                <a:sym typeface="Didact Gothic"/>
              </a:rPr>
              <a:t>Event Emitted at entry time (user baseline)</a:t>
            </a:r>
            <a:endParaRPr>
              <a:latin typeface="Didact Gothic"/>
              <a:ea typeface="Didact Gothic"/>
              <a:cs typeface="Didact Gothic"/>
              <a:sym typeface="Didact Gothic"/>
            </a:endParaRPr>
          </a:p>
          <a:p>
            <a:pPr marL="457200" lvl="0" indent="-317500" algn="l" rtl="0">
              <a:spcBef>
                <a:spcPts val="0"/>
              </a:spcBef>
              <a:spcAft>
                <a:spcPts val="0"/>
              </a:spcAft>
              <a:buSzPts val="1400"/>
              <a:buFont typeface="Didact Gothic"/>
              <a:buAutoNum type="alphaUcPeriod"/>
            </a:pPr>
            <a:r>
              <a:rPr lang="en">
                <a:latin typeface="Didact Gothic"/>
                <a:ea typeface="Didact Gothic"/>
                <a:cs typeface="Didact Gothic"/>
                <a:sym typeface="Didact Gothic"/>
              </a:rPr>
              <a:t>1st Event</a:t>
            </a:r>
            <a:endParaRPr>
              <a:latin typeface="Didact Gothic"/>
              <a:ea typeface="Didact Gothic"/>
              <a:cs typeface="Didact Gothic"/>
              <a:sym typeface="Didact Gothic"/>
            </a:endParaRPr>
          </a:p>
          <a:p>
            <a:pPr marL="457200" lvl="0" indent="-317500" algn="l" rtl="0">
              <a:spcBef>
                <a:spcPts val="0"/>
              </a:spcBef>
              <a:spcAft>
                <a:spcPts val="0"/>
              </a:spcAft>
              <a:buSzPts val="1400"/>
              <a:buFont typeface="Didact Gothic"/>
              <a:buAutoNum type="alphaUcPeriod"/>
            </a:pPr>
            <a:r>
              <a:rPr lang="en">
                <a:latin typeface="Didact Gothic"/>
                <a:ea typeface="Didact Gothic"/>
                <a:cs typeface="Didact Gothic"/>
                <a:sym typeface="Didact Gothic"/>
              </a:rPr>
              <a:t>30s delay after 1st Event (if high velocity)</a:t>
            </a:r>
            <a:endParaRPr>
              <a:latin typeface="Didact Gothic"/>
              <a:ea typeface="Didact Gothic"/>
              <a:cs typeface="Didact Gothic"/>
              <a:sym typeface="Didact Gothic"/>
            </a:endParaRPr>
          </a:p>
          <a:p>
            <a:pPr marL="457200" lvl="0" indent="-317500" algn="l" rtl="0">
              <a:spcBef>
                <a:spcPts val="0"/>
              </a:spcBef>
              <a:spcAft>
                <a:spcPts val="0"/>
              </a:spcAft>
              <a:buSzPts val="1400"/>
              <a:buFont typeface="Didact Gothic"/>
              <a:buAutoNum type="alphaUcPeriod"/>
            </a:pPr>
            <a:r>
              <a:rPr lang="en">
                <a:latin typeface="Didact Gothic"/>
                <a:ea typeface="Didact Gothic"/>
                <a:cs typeface="Didact Gothic"/>
                <a:sym typeface="Didact Gothic"/>
              </a:rPr>
              <a:t>All events including and after 1st gift do not generate feature vectors</a:t>
            </a:r>
            <a:endParaRPr>
              <a:latin typeface="Didact Gothic"/>
              <a:ea typeface="Didact Gothic"/>
              <a:cs typeface="Didact Gothic"/>
              <a:sym typeface="Didact Gothic"/>
            </a:endParaRPr>
          </a:p>
          <a:p>
            <a:pPr marL="457200" lvl="0" indent="-317500" algn="l" rtl="0">
              <a:spcBef>
                <a:spcPts val="0"/>
              </a:spcBef>
              <a:spcAft>
                <a:spcPts val="0"/>
              </a:spcAft>
              <a:buSzPts val="1400"/>
              <a:buFont typeface="Didact Gothic"/>
              <a:buAutoNum type="alphaUcPeriod"/>
            </a:pPr>
            <a:r>
              <a:rPr lang="en">
                <a:latin typeface="Didact Gothic"/>
                <a:ea typeface="Didact Gothic"/>
                <a:cs typeface="Didact Gothic"/>
                <a:sym typeface="Didact Gothic"/>
              </a:rPr>
              <a:t>Label (unknown for real time prediction)</a:t>
            </a:r>
            <a:endParaRPr>
              <a:latin typeface="Didact Gothic"/>
              <a:ea typeface="Didact Gothic"/>
              <a:cs typeface="Didact Gothic"/>
              <a:sym typeface="Didact Gothic"/>
            </a:endParaRPr>
          </a:p>
        </p:txBody>
      </p:sp>
      <p:cxnSp>
        <p:nvCxnSpPr>
          <p:cNvPr id="1076" name="Google Shape;1076;p92"/>
          <p:cNvCxnSpPr>
            <a:endCxn id="1077" idx="1"/>
          </p:cNvCxnSpPr>
          <p:nvPr/>
        </p:nvCxnSpPr>
        <p:spPr>
          <a:xfrm>
            <a:off x="209836" y="3391261"/>
            <a:ext cx="768900" cy="0"/>
          </a:xfrm>
          <a:prstGeom prst="straightConnector1">
            <a:avLst/>
          </a:prstGeom>
          <a:noFill/>
          <a:ln w="19050" cap="flat" cmpd="sng">
            <a:solidFill>
              <a:srgbClr val="4A86E8"/>
            </a:solidFill>
            <a:prstDash val="dash"/>
            <a:round/>
            <a:headEnd type="none" w="med" len="med"/>
            <a:tailEnd type="none" w="med" len="med"/>
          </a:ln>
        </p:spPr>
      </p:cxnSp>
      <p:cxnSp>
        <p:nvCxnSpPr>
          <p:cNvPr id="1078" name="Google Shape;1078;p92"/>
          <p:cNvCxnSpPr>
            <a:stCxn id="1077" idx="3"/>
          </p:cNvCxnSpPr>
          <p:nvPr/>
        </p:nvCxnSpPr>
        <p:spPr>
          <a:xfrm>
            <a:off x="1532536" y="3391261"/>
            <a:ext cx="795300" cy="7500"/>
          </a:xfrm>
          <a:prstGeom prst="straightConnector1">
            <a:avLst/>
          </a:prstGeom>
          <a:noFill/>
          <a:ln w="19050" cap="flat" cmpd="sng">
            <a:solidFill>
              <a:srgbClr val="4A86E8"/>
            </a:solidFill>
            <a:prstDash val="dash"/>
            <a:round/>
            <a:headEnd type="none" w="med" len="med"/>
            <a:tailEnd type="none" w="med" len="med"/>
          </a:ln>
        </p:spPr>
      </p:cxnSp>
      <p:sp>
        <p:nvSpPr>
          <p:cNvPr id="1077" name="Google Shape;1077;p92"/>
          <p:cNvSpPr txBox="1"/>
          <p:nvPr/>
        </p:nvSpPr>
        <p:spPr>
          <a:xfrm>
            <a:off x="978736" y="3214261"/>
            <a:ext cx="553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i="1">
                <a:solidFill>
                  <a:srgbClr val="4A86E8"/>
                </a:solidFill>
                <a:latin typeface="Didact Gothic"/>
                <a:ea typeface="Didact Gothic"/>
                <a:cs typeface="Didact Gothic"/>
                <a:sym typeface="Didact Gothic"/>
              </a:rPr>
              <a:t>30sec</a:t>
            </a:r>
            <a:endParaRPr sz="1100" i="1">
              <a:solidFill>
                <a:srgbClr val="4A86E8"/>
              </a:solidFill>
              <a:latin typeface="Didact Gothic"/>
              <a:ea typeface="Didact Gothic"/>
              <a:cs typeface="Didact Gothic"/>
              <a:sym typeface="Didact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93"/>
          <p:cNvSpPr txBox="1">
            <a:spLocks noGrp="1"/>
          </p:cNvSpPr>
          <p:nvPr>
            <p:ph type="title"/>
          </p:nvPr>
        </p:nvSpPr>
        <p:spPr>
          <a:xfrm>
            <a:off x="348925" y="530069"/>
            <a:ext cx="8446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Model Results</a:t>
            </a:r>
            <a:endParaRPr/>
          </a:p>
        </p:txBody>
      </p:sp>
      <p:sp>
        <p:nvSpPr>
          <p:cNvPr id="1084" name="Google Shape;1084;p93"/>
          <p:cNvSpPr/>
          <p:nvPr/>
        </p:nvSpPr>
        <p:spPr>
          <a:xfrm>
            <a:off x="342900" y="1333500"/>
            <a:ext cx="8458200" cy="3238500"/>
          </a:xfrm>
          <a:prstGeom prst="roundRect">
            <a:avLst>
              <a:gd name="adj" fmla="val 3529"/>
            </a:avLst>
          </a:prstGeom>
          <a:solidFill>
            <a:srgbClr val="FFFFFF"/>
          </a:solidFill>
          <a:ln w="9525" cap="flat" cmpd="sng">
            <a:solidFill>
              <a:srgbClr val="E0E0E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85" name="Google Shape;1085;p93"/>
          <p:cNvGrpSpPr/>
          <p:nvPr/>
        </p:nvGrpSpPr>
        <p:grpSpPr>
          <a:xfrm>
            <a:off x="342900" y="1333500"/>
            <a:ext cx="4229100" cy="571500"/>
            <a:chOff x="0" y="0"/>
            <a:chExt cx="4229100" cy="571500"/>
          </a:xfrm>
        </p:grpSpPr>
        <p:sp>
          <p:nvSpPr>
            <p:cNvPr id="1086" name="Google Shape;1086;p93"/>
            <p:cNvSpPr/>
            <p:nvPr/>
          </p:nvSpPr>
          <p:spPr>
            <a:xfrm>
              <a:off x="0" y="0"/>
              <a:ext cx="42291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87" name="Google Shape;1087;p93"/>
            <p:cNvSpPr txBox="1"/>
            <p:nvPr/>
          </p:nvSpPr>
          <p:spPr>
            <a:xfrm>
              <a:off x="0" y="0"/>
              <a:ext cx="4229100" cy="571500"/>
            </a:xfrm>
            <a:prstGeom prst="rect">
              <a:avLst/>
            </a:prstGeom>
            <a:noFill/>
            <a:ln>
              <a:noFill/>
            </a:ln>
          </p:spPr>
          <p:txBody>
            <a:bodyPr spcFirstLastPara="1" wrap="square" lIns="285750" tIns="0" rIns="0" bIns="0" anchor="ctr" anchorCtr="0">
              <a:noAutofit/>
            </a:bodyPr>
            <a:lstStyle/>
            <a:p>
              <a:pPr marL="0" lvl="0" indent="0" algn="l" rtl="0">
                <a:spcBef>
                  <a:spcPts val="0"/>
                </a:spcBef>
                <a:spcAft>
                  <a:spcPts val="0"/>
                </a:spcAft>
                <a:buNone/>
              </a:pPr>
              <a:r>
                <a:rPr lang="en" sz="1800" b="1">
                  <a:solidFill>
                    <a:srgbClr val="374768"/>
                  </a:solidFill>
                  <a:latin typeface="Poppins"/>
                  <a:ea typeface="Poppins"/>
                  <a:cs typeface="Poppins"/>
                  <a:sym typeface="Poppins"/>
                </a:rPr>
                <a:t>KuaiLive Model Performance</a:t>
              </a:r>
              <a:endParaRPr sz="1800" b="1">
                <a:solidFill>
                  <a:srgbClr val="374768"/>
                </a:solidFill>
                <a:latin typeface="Poppins"/>
                <a:ea typeface="Poppins"/>
                <a:cs typeface="Poppins"/>
                <a:sym typeface="Poppins"/>
              </a:endParaRPr>
            </a:p>
          </p:txBody>
        </p:sp>
      </p:grpSp>
      <p:grpSp>
        <p:nvGrpSpPr>
          <p:cNvPr id="1088" name="Google Shape;1088;p93"/>
          <p:cNvGrpSpPr/>
          <p:nvPr/>
        </p:nvGrpSpPr>
        <p:grpSpPr>
          <a:xfrm>
            <a:off x="4572000" y="1333500"/>
            <a:ext cx="4229100" cy="571500"/>
            <a:chOff x="0" y="0"/>
            <a:chExt cx="4229100" cy="571500"/>
          </a:xfrm>
        </p:grpSpPr>
        <p:sp>
          <p:nvSpPr>
            <p:cNvPr id="1089" name="Google Shape;1089;p93"/>
            <p:cNvSpPr/>
            <p:nvPr/>
          </p:nvSpPr>
          <p:spPr>
            <a:xfrm>
              <a:off x="0" y="0"/>
              <a:ext cx="42291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90" name="Google Shape;1090;p93"/>
            <p:cNvSpPr txBox="1"/>
            <p:nvPr/>
          </p:nvSpPr>
          <p:spPr>
            <a:xfrm>
              <a:off x="0" y="0"/>
              <a:ext cx="4229100" cy="571500"/>
            </a:xfrm>
            <a:prstGeom prst="rect">
              <a:avLst/>
            </a:prstGeom>
            <a:noFill/>
            <a:ln>
              <a:noFill/>
            </a:ln>
          </p:spPr>
          <p:txBody>
            <a:bodyPr spcFirstLastPara="1" wrap="square" lIns="285750" tIns="0" rIns="0" bIns="0" anchor="ctr" anchorCtr="0">
              <a:noAutofit/>
            </a:bodyPr>
            <a:lstStyle/>
            <a:p>
              <a:pPr marL="0" lvl="0" indent="0" algn="l" rtl="0">
                <a:spcBef>
                  <a:spcPts val="0"/>
                </a:spcBef>
                <a:spcAft>
                  <a:spcPts val="0"/>
                </a:spcAft>
                <a:buNone/>
              </a:pPr>
              <a:r>
                <a:rPr lang="en" sz="1800" b="1">
                  <a:solidFill>
                    <a:srgbClr val="374768"/>
                  </a:solidFill>
                  <a:latin typeface="Poppins"/>
                  <a:ea typeface="Poppins"/>
                  <a:cs typeface="Poppins"/>
                  <a:sym typeface="Poppins"/>
                </a:rPr>
                <a:t>Omni Model Performance</a:t>
              </a:r>
              <a:endParaRPr sz="1800" b="1">
                <a:solidFill>
                  <a:srgbClr val="374768"/>
                </a:solidFill>
                <a:latin typeface="Poppins"/>
                <a:ea typeface="Poppins"/>
                <a:cs typeface="Poppins"/>
                <a:sym typeface="Poppins"/>
              </a:endParaRPr>
            </a:p>
          </p:txBody>
        </p:sp>
      </p:grpSp>
      <p:graphicFrame>
        <p:nvGraphicFramePr>
          <p:cNvPr id="1091" name="Google Shape;1091;p93"/>
          <p:cNvGraphicFramePr/>
          <p:nvPr/>
        </p:nvGraphicFramePr>
        <p:xfrm>
          <a:off x="533400" y="2000250"/>
          <a:ext cx="3810000" cy="2407920"/>
        </p:xfrm>
        <a:graphic>
          <a:graphicData uri="http://schemas.openxmlformats.org/drawingml/2006/table">
            <a:tbl>
              <a:tblPr>
                <a:noFill/>
                <a:tableStyleId>{E1AA1288-DD1A-40F9-8BB8-854D2D3CAF72}</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tblGrid>
              <a:tr h="457200">
                <a:tc>
                  <a:txBody>
                    <a:bodyPr/>
                    <a:lstStyle/>
                    <a:p>
                      <a:pPr marL="0" lvl="0" indent="0" algn="l" rtl="0">
                        <a:spcBef>
                          <a:spcPts val="0"/>
                        </a:spcBef>
                        <a:spcAft>
                          <a:spcPts val="0"/>
                        </a:spcAft>
                        <a:buNone/>
                      </a:pPr>
                      <a:r>
                        <a:rPr lang="en" b="1"/>
                        <a:t>Split</a:t>
                      </a:r>
                      <a:endParaRPr b="1"/>
                    </a:p>
                  </a:txBody>
                  <a:tcPr marL="76200" marR="76200" marT="76200" marB="76200" anchor="ctr">
                    <a:lnB w="19050" cap="flat" cmpd="sng">
                      <a:solidFill>
                        <a:srgbClr val="374768"/>
                      </a:solidFill>
                      <a:prstDash val="solid"/>
                      <a:round/>
                      <a:headEnd type="none" w="sm" len="sm"/>
                      <a:tailEnd type="none" w="sm" len="sm"/>
                    </a:lnB>
                  </a:tcPr>
                </a:tc>
                <a:tc>
                  <a:txBody>
                    <a:bodyPr/>
                    <a:lstStyle/>
                    <a:p>
                      <a:pPr marL="0" lvl="0" indent="0" algn="r" rtl="0">
                        <a:spcBef>
                          <a:spcPts val="0"/>
                        </a:spcBef>
                        <a:spcAft>
                          <a:spcPts val="0"/>
                        </a:spcAft>
                        <a:buNone/>
                      </a:pPr>
                      <a:r>
                        <a:rPr lang="en" b="1"/>
                        <a:t>N</a:t>
                      </a:r>
                      <a:endParaRPr b="1"/>
                    </a:p>
                  </a:txBody>
                  <a:tcPr marL="76200" marR="76200" marT="76200" marB="76200" anchor="ctr">
                    <a:lnB w="19050" cap="flat" cmpd="sng">
                      <a:solidFill>
                        <a:srgbClr val="374768"/>
                      </a:solidFill>
                      <a:prstDash val="solid"/>
                      <a:round/>
                      <a:headEnd type="none" w="sm" len="sm"/>
                      <a:tailEnd type="none" w="sm" len="sm"/>
                    </a:lnB>
                  </a:tcPr>
                </a:tc>
                <a:tc>
                  <a:txBody>
                    <a:bodyPr/>
                    <a:lstStyle/>
                    <a:p>
                      <a:pPr marL="0" lvl="0" indent="0" algn="r" rtl="0">
                        <a:spcBef>
                          <a:spcPts val="0"/>
                        </a:spcBef>
                        <a:spcAft>
                          <a:spcPts val="0"/>
                        </a:spcAft>
                        <a:buNone/>
                      </a:pPr>
                      <a:r>
                        <a:rPr lang="en" b="1"/>
                        <a:t>PR</a:t>
                      </a:r>
                      <a:endParaRPr b="1"/>
                    </a:p>
                    <a:p>
                      <a:pPr marL="0" lvl="0" indent="0" algn="r" rtl="0">
                        <a:spcBef>
                          <a:spcPts val="0"/>
                        </a:spcBef>
                        <a:spcAft>
                          <a:spcPts val="0"/>
                        </a:spcAft>
                        <a:buNone/>
                      </a:pPr>
                      <a:r>
                        <a:rPr lang="en" b="1"/>
                        <a:t>-AUC</a:t>
                      </a:r>
                      <a:endParaRPr b="1"/>
                    </a:p>
                  </a:txBody>
                  <a:tcPr marL="76200" marR="76200" marT="76200" marB="76200" anchor="ctr">
                    <a:lnB w="19050" cap="flat" cmpd="sng">
                      <a:solidFill>
                        <a:srgbClr val="374768"/>
                      </a:solidFill>
                      <a:prstDash val="solid"/>
                      <a:round/>
                      <a:headEnd type="none" w="sm" len="sm"/>
                      <a:tailEnd type="none" w="sm" len="sm"/>
                    </a:lnB>
                  </a:tcPr>
                </a:tc>
                <a:tc>
                  <a:txBody>
                    <a:bodyPr/>
                    <a:lstStyle/>
                    <a:p>
                      <a:pPr marL="0" lvl="0" indent="0" algn="r" rtl="0">
                        <a:spcBef>
                          <a:spcPts val="0"/>
                        </a:spcBef>
                        <a:spcAft>
                          <a:spcPts val="0"/>
                        </a:spcAft>
                        <a:buNone/>
                      </a:pPr>
                      <a:r>
                        <a:rPr lang="en" b="1"/>
                        <a:t>Lift</a:t>
                      </a:r>
                      <a:endParaRPr b="1"/>
                    </a:p>
                  </a:txBody>
                  <a:tcPr marL="76200" marR="76200" marT="76200" marB="76200" anchor="ctr">
                    <a:lnB w="19050" cap="flat" cmpd="sng">
                      <a:solidFill>
                        <a:srgbClr val="374768"/>
                      </a:solidFill>
                      <a:prstDash val="solid"/>
                      <a:round/>
                      <a:headEnd type="none" w="sm" len="sm"/>
                      <a:tailEnd type="none" w="sm" len="sm"/>
                    </a:lnB>
                  </a:tcPr>
                </a:tc>
                <a:tc>
                  <a:txBody>
                    <a:bodyPr/>
                    <a:lstStyle/>
                    <a:p>
                      <a:pPr marL="0" lvl="0" indent="0" algn="r" rtl="0">
                        <a:spcBef>
                          <a:spcPts val="0"/>
                        </a:spcBef>
                        <a:spcAft>
                          <a:spcPts val="0"/>
                        </a:spcAft>
                        <a:buNone/>
                      </a:pPr>
                      <a:r>
                        <a:rPr lang="en" b="1"/>
                        <a:t>ROC</a:t>
                      </a:r>
                      <a:endParaRPr b="1"/>
                    </a:p>
                  </a:txBody>
                  <a:tcPr marL="76200" marR="76200" marT="76200" marB="76200" anchor="ctr"/>
                </a:tc>
                <a:extLst>
                  <a:ext uri="{0D108BD9-81ED-4DB2-BD59-A6C34878D82A}">
                    <a16:rowId xmlns:a16="http://schemas.microsoft.com/office/drawing/2014/main" val="10000"/>
                  </a:ext>
                </a:extLst>
              </a:tr>
              <a:tr h="457200">
                <a:tc>
                  <a:txBody>
                    <a:bodyPr/>
                    <a:lstStyle/>
                    <a:p>
                      <a:pPr marL="0" lvl="0" indent="0" algn="l" rtl="0">
                        <a:spcBef>
                          <a:spcPts val="0"/>
                        </a:spcBef>
                        <a:spcAft>
                          <a:spcPts val="0"/>
                        </a:spcAft>
                        <a:buNone/>
                      </a:pPr>
                      <a:r>
                        <a:rPr lang="en" b="1"/>
                        <a:t>TRAIN</a:t>
                      </a:r>
                      <a:endParaRPr b="1"/>
                    </a:p>
                  </a:txBody>
                  <a:tcPr marL="76200" marR="76200" marT="76200" marB="76200">
                    <a:lnT w="19050" cap="flat" cmpd="sng">
                      <a:solidFill>
                        <a:srgbClr val="374768"/>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solidFill>
                            <a:srgbClr val="6B7280"/>
                          </a:solidFill>
                        </a:rPr>
                        <a:t>2.8M</a:t>
                      </a:r>
                      <a:endParaRPr>
                        <a:solidFill>
                          <a:srgbClr val="6B7280"/>
                        </a:solidFill>
                      </a:endParaRPr>
                    </a:p>
                  </a:txBody>
                  <a:tcPr marL="76200" marR="76200" marT="76200" marB="76200">
                    <a:lnT w="19050" cap="flat" cmpd="sng">
                      <a:solidFill>
                        <a:srgbClr val="374768"/>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t>0.4487</a:t>
                      </a:r>
                      <a:endParaRPr/>
                    </a:p>
                  </a:txBody>
                  <a:tcPr marL="76200" marR="76200" marT="76200" marB="76200">
                    <a:lnT w="19050" cap="flat" cmpd="sng">
                      <a:solidFill>
                        <a:srgbClr val="374768"/>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t>6599</a:t>
                      </a:r>
                      <a:endParaRPr/>
                    </a:p>
                  </a:txBody>
                  <a:tcPr marL="76200" marR="76200" marT="76200" marB="76200">
                    <a:lnT w="19050" cap="flat" cmpd="sng">
                      <a:solidFill>
                        <a:srgbClr val="374768"/>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
                        <a:t>0.999</a:t>
                      </a:r>
                      <a:endParaRPr/>
                    </a:p>
                  </a:txBody>
                  <a:tcPr marL="91425" marR="91425" marT="91425" marB="91425"/>
                </a:tc>
                <a:extLst>
                  <a:ext uri="{0D108BD9-81ED-4DB2-BD59-A6C34878D82A}">
                    <a16:rowId xmlns:a16="http://schemas.microsoft.com/office/drawing/2014/main" val="10001"/>
                  </a:ext>
                </a:extLst>
              </a:tr>
              <a:tr h="457200">
                <a:tc>
                  <a:txBody>
                    <a:bodyPr/>
                    <a:lstStyle/>
                    <a:p>
                      <a:pPr marL="0" lvl="0" indent="0" algn="l" rtl="0">
                        <a:spcBef>
                          <a:spcPts val="0"/>
                        </a:spcBef>
                        <a:spcAft>
                          <a:spcPts val="0"/>
                        </a:spcAft>
                        <a:buNone/>
                      </a:pPr>
                      <a:r>
                        <a:rPr lang="en" b="1"/>
                        <a:t>VAL</a:t>
                      </a:r>
                      <a:endParaRPr b="1"/>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solidFill>
                            <a:srgbClr val="6B7280"/>
                          </a:solidFill>
                        </a:rPr>
                        <a:t>815k</a:t>
                      </a:r>
                      <a:endParaRPr>
                        <a:solidFill>
                          <a:srgbClr val="6B7280"/>
                        </a:solidFill>
                      </a:endParaRPr>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t>.3751</a:t>
                      </a:r>
                      <a:endParaRPr/>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a:t>5460</a:t>
                      </a:r>
                      <a:endParaRPr/>
                    </a:p>
                  </a:txBody>
                  <a:tcPr marL="91425" marR="91425" marT="91425" marB="91425"/>
                </a:tc>
                <a:tc>
                  <a:txBody>
                    <a:bodyPr/>
                    <a:lstStyle/>
                    <a:p>
                      <a:pPr marL="0" lvl="0" indent="0" algn="r" rtl="0">
                        <a:lnSpc>
                          <a:spcPct val="115000"/>
                        </a:lnSpc>
                        <a:spcBef>
                          <a:spcPts val="0"/>
                        </a:spcBef>
                        <a:spcAft>
                          <a:spcPts val="0"/>
                        </a:spcAft>
                        <a:buNone/>
                      </a:pPr>
                      <a:r>
                        <a:rPr lang="en"/>
                        <a:t>0.9684</a:t>
                      </a:r>
                      <a:endParaRPr/>
                    </a:p>
                  </a:txBody>
                  <a:tcPr marL="91425" marR="91425" marT="91425" marB="91425"/>
                </a:tc>
                <a:extLst>
                  <a:ext uri="{0D108BD9-81ED-4DB2-BD59-A6C34878D82A}">
                    <a16:rowId xmlns:a16="http://schemas.microsoft.com/office/drawing/2014/main" val="10002"/>
                  </a:ext>
                </a:extLst>
              </a:tr>
              <a:tr h="457200">
                <a:tc>
                  <a:txBody>
                    <a:bodyPr/>
                    <a:lstStyle/>
                    <a:p>
                      <a:pPr marL="0" lvl="0" indent="0" algn="l" rtl="0">
                        <a:spcBef>
                          <a:spcPts val="0"/>
                        </a:spcBef>
                        <a:spcAft>
                          <a:spcPts val="0"/>
                        </a:spcAft>
                        <a:buNone/>
                      </a:pPr>
                      <a:r>
                        <a:rPr lang="en" b="1"/>
                        <a:t>TEST</a:t>
                      </a:r>
                      <a:endParaRPr b="1"/>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solidFill>
                            <a:srgbClr val="6B7280"/>
                          </a:solidFill>
                        </a:rPr>
                        <a:t>407k</a:t>
                      </a:r>
                      <a:endParaRPr>
                        <a:solidFill>
                          <a:srgbClr val="6B7280"/>
                        </a:solidFill>
                      </a:endParaRPr>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t>.2958</a:t>
                      </a:r>
                      <a:endParaRPr/>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a:t>4305</a:t>
                      </a:r>
                      <a:endParaRPr/>
                    </a:p>
                  </a:txBody>
                  <a:tcPr marL="91425" marR="91425" marT="91425" marB="91425"/>
                </a:tc>
                <a:tc>
                  <a:txBody>
                    <a:bodyPr/>
                    <a:lstStyle/>
                    <a:p>
                      <a:pPr marL="0" lvl="0" indent="0" algn="r" rtl="0">
                        <a:lnSpc>
                          <a:spcPct val="115000"/>
                        </a:lnSpc>
                        <a:spcBef>
                          <a:spcPts val="0"/>
                        </a:spcBef>
                        <a:spcAft>
                          <a:spcPts val="0"/>
                        </a:spcAft>
                        <a:buNone/>
                      </a:pPr>
                      <a:r>
                        <a:rPr lang="en"/>
                        <a:t>0.9557</a:t>
                      </a:r>
                      <a:endParaRPr/>
                    </a:p>
                  </a:txBody>
                  <a:tcPr marL="91425" marR="91425" marT="91425" marB="91425"/>
                </a:tc>
                <a:extLst>
                  <a:ext uri="{0D108BD9-81ED-4DB2-BD59-A6C34878D82A}">
                    <a16:rowId xmlns:a16="http://schemas.microsoft.com/office/drawing/2014/main" val="10003"/>
                  </a:ext>
                </a:extLst>
              </a:tr>
              <a:tr h="457200">
                <a:tc>
                  <a:txBody>
                    <a:bodyPr/>
                    <a:lstStyle/>
                    <a:p>
                      <a:pPr marL="0" lvl="0" indent="0" algn="l" rtl="0">
                        <a:spcBef>
                          <a:spcPts val="0"/>
                        </a:spcBef>
                        <a:spcAft>
                          <a:spcPts val="0"/>
                        </a:spcAft>
                        <a:buNone/>
                      </a:pPr>
                      <a:r>
                        <a:rPr lang="en" b="1">
                          <a:solidFill>
                            <a:srgbClr val="0969DA"/>
                          </a:solidFill>
                        </a:rPr>
                        <a:t>OOT</a:t>
                      </a:r>
                      <a:endParaRPr b="1">
                        <a:solidFill>
                          <a:srgbClr val="0969DA"/>
                        </a:solidFill>
                      </a:endParaRPr>
                    </a:p>
                  </a:txBody>
                  <a:tcPr marL="76200" marR="76200" marT="76200" marB="76200">
                    <a:lnT w="9525" cap="flat" cmpd="sng">
                      <a:solidFill>
                        <a:srgbClr val="F1F5F9"/>
                      </a:solidFill>
                      <a:prstDash val="solid"/>
                      <a:round/>
                      <a:headEnd type="none" w="sm" len="sm"/>
                      <a:tailEnd type="none" w="sm" len="sm"/>
                    </a:lnT>
                  </a:tcPr>
                </a:tc>
                <a:tc>
                  <a:txBody>
                    <a:bodyPr/>
                    <a:lstStyle/>
                    <a:p>
                      <a:pPr marL="0" lvl="0" indent="0" algn="r" rtl="0">
                        <a:spcBef>
                          <a:spcPts val="0"/>
                        </a:spcBef>
                        <a:spcAft>
                          <a:spcPts val="0"/>
                        </a:spcAft>
                        <a:buNone/>
                      </a:pPr>
                      <a:r>
                        <a:rPr lang="en">
                          <a:solidFill>
                            <a:srgbClr val="6B7280"/>
                          </a:solidFill>
                        </a:rPr>
                        <a:t>896k</a:t>
                      </a:r>
                      <a:endParaRPr>
                        <a:solidFill>
                          <a:srgbClr val="6B7280"/>
                        </a:solidFill>
                      </a:endParaRPr>
                    </a:p>
                  </a:txBody>
                  <a:tcPr marL="76200" marR="76200" marT="76200" marB="76200">
                    <a:lnT w="9525" cap="flat" cmpd="sng">
                      <a:solidFill>
                        <a:srgbClr val="F1F5F9"/>
                      </a:solidFill>
                      <a:prstDash val="solid"/>
                      <a:round/>
                      <a:headEnd type="none" w="sm" len="sm"/>
                      <a:tailEnd type="none" w="sm" len="sm"/>
                    </a:lnT>
                  </a:tcPr>
                </a:tc>
                <a:tc>
                  <a:txBody>
                    <a:bodyPr/>
                    <a:lstStyle/>
                    <a:p>
                      <a:pPr marL="0" lvl="0" indent="0" algn="r" rtl="0">
                        <a:spcBef>
                          <a:spcPts val="0"/>
                        </a:spcBef>
                        <a:spcAft>
                          <a:spcPts val="0"/>
                        </a:spcAft>
                        <a:buNone/>
                      </a:pPr>
                      <a:r>
                        <a:rPr lang="en" b="1">
                          <a:solidFill>
                            <a:srgbClr val="0969DA"/>
                          </a:solidFill>
                        </a:rPr>
                        <a:t>.0737</a:t>
                      </a:r>
                      <a:endParaRPr b="1">
                        <a:solidFill>
                          <a:srgbClr val="0969DA"/>
                        </a:solidFill>
                      </a:endParaRPr>
                    </a:p>
                  </a:txBody>
                  <a:tcPr marL="76200" marR="76200" marT="76200" marB="76200">
                    <a:lnT w="9525" cap="flat" cmpd="sng">
                      <a:solidFill>
                        <a:srgbClr val="F1F5F9"/>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
                        <a:t>971</a:t>
                      </a:r>
                      <a:endParaRPr/>
                    </a:p>
                  </a:txBody>
                  <a:tcPr marL="91425" marR="91425" marT="91425" marB="91425"/>
                </a:tc>
                <a:tc>
                  <a:txBody>
                    <a:bodyPr/>
                    <a:lstStyle/>
                    <a:p>
                      <a:pPr marL="0" lvl="0" indent="0" algn="r" rtl="0">
                        <a:lnSpc>
                          <a:spcPct val="115000"/>
                        </a:lnSpc>
                        <a:spcBef>
                          <a:spcPts val="0"/>
                        </a:spcBef>
                        <a:spcAft>
                          <a:spcPts val="0"/>
                        </a:spcAft>
                        <a:buNone/>
                      </a:pPr>
                      <a:r>
                        <a:rPr lang="en" b="1">
                          <a:solidFill>
                            <a:srgbClr val="0969DA"/>
                          </a:solidFill>
                        </a:rPr>
                        <a:t>0.9329</a:t>
                      </a:r>
                      <a:endParaRPr/>
                    </a:p>
                  </a:txBody>
                  <a:tcPr marL="91425" marR="91425" marT="91425" marB="91425"/>
                </a:tc>
                <a:extLst>
                  <a:ext uri="{0D108BD9-81ED-4DB2-BD59-A6C34878D82A}">
                    <a16:rowId xmlns:a16="http://schemas.microsoft.com/office/drawing/2014/main" val="10004"/>
                  </a:ext>
                </a:extLst>
              </a:tr>
            </a:tbl>
          </a:graphicData>
        </a:graphic>
      </p:graphicFrame>
      <p:graphicFrame>
        <p:nvGraphicFramePr>
          <p:cNvPr id="1092" name="Google Shape;1092;p93"/>
          <p:cNvGraphicFramePr/>
          <p:nvPr/>
        </p:nvGraphicFramePr>
        <p:xfrm>
          <a:off x="4800600" y="2000250"/>
          <a:ext cx="3810000" cy="2407920"/>
        </p:xfrm>
        <a:graphic>
          <a:graphicData uri="http://schemas.openxmlformats.org/drawingml/2006/table">
            <a:tbl>
              <a:tblPr>
                <a:noFill/>
                <a:tableStyleId>{E1AA1288-DD1A-40F9-8BB8-854D2D3CAF72}</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tblGrid>
              <a:tr h="457200">
                <a:tc>
                  <a:txBody>
                    <a:bodyPr/>
                    <a:lstStyle/>
                    <a:p>
                      <a:pPr marL="0" lvl="0" indent="0" algn="ctr" rtl="0">
                        <a:spcBef>
                          <a:spcPts val="0"/>
                        </a:spcBef>
                        <a:spcAft>
                          <a:spcPts val="0"/>
                        </a:spcAft>
                        <a:buNone/>
                      </a:pPr>
                      <a:r>
                        <a:rPr lang="en" b="1"/>
                        <a:t>Split</a:t>
                      </a:r>
                      <a:endParaRPr b="1"/>
                    </a:p>
                  </a:txBody>
                  <a:tcPr marL="76200" marR="76200" marT="76200" marB="76200">
                    <a:lnB w="19050" cap="flat" cmpd="sng">
                      <a:solidFill>
                        <a:srgbClr val="374768"/>
                      </a:solidFill>
                      <a:prstDash val="solid"/>
                      <a:round/>
                      <a:headEnd type="none" w="sm" len="sm"/>
                      <a:tailEnd type="none" w="sm" len="sm"/>
                    </a:lnB>
                  </a:tcPr>
                </a:tc>
                <a:tc>
                  <a:txBody>
                    <a:bodyPr/>
                    <a:lstStyle/>
                    <a:p>
                      <a:pPr marL="0" lvl="0" indent="0" algn="ctr" rtl="0">
                        <a:spcBef>
                          <a:spcPts val="0"/>
                        </a:spcBef>
                        <a:spcAft>
                          <a:spcPts val="0"/>
                        </a:spcAft>
                        <a:buNone/>
                      </a:pPr>
                      <a:r>
                        <a:rPr lang="en" b="1"/>
                        <a:t>N</a:t>
                      </a:r>
                      <a:endParaRPr b="1"/>
                    </a:p>
                  </a:txBody>
                  <a:tcPr marL="76200" marR="76200" marT="76200" marB="76200">
                    <a:lnB w="19050" cap="flat" cmpd="sng">
                      <a:solidFill>
                        <a:srgbClr val="374768"/>
                      </a:solidFill>
                      <a:prstDash val="solid"/>
                      <a:round/>
                      <a:headEnd type="none" w="sm" len="sm"/>
                      <a:tailEnd type="none" w="sm" len="sm"/>
                    </a:lnB>
                  </a:tcPr>
                </a:tc>
                <a:tc>
                  <a:txBody>
                    <a:bodyPr/>
                    <a:lstStyle/>
                    <a:p>
                      <a:pPr marL="0" lvl="0" indent="0" algn="ctr" rtl="0">
                        <a:spcBef>
                          <a:spcPts val="0"/>
                        </a:spcBef>
                        <a:spcAft>
                          <a:spcPts val="0"/>
                        </a:spcAft>
                        <a:buNone/>
                      </a:pPr>
                      <a:r>
                        <a:rPr lang="en" b="1"/>
                        <a:t>PR</a:t>
                      </a:r>
                      <a:endParaRPr b="1"/>
                    </a:p>
                    <a:p>
                      <a:pPr marL="0" lvl="0" indent="0" algn="ctr" rtl="0">
                        <a:spcBef>
                          <a:spcPts val="0"/>
                        </a:spcBef>
                        <a:spcAft>
                          <a:spcPts val="0"/>
                        </a:spcAft>
                        <a:buNone/>
                      </a:pPr>
                      <a:r>
                        <a:rPr lang="en" b="1"/>
                        <a:t>-AUC</a:t>
                      </a:r>
                      <a:endParaRPr b="1"/>
                    </a:p>
                  </a:txBody>
                  <a:tcPr marL="76200" marR="76200" marT="76200" marB="76200"/>
                </a:tc>
                <a:tc>
                  <a:txBody>
                    <a:bodyPr/>
                    <a:lstStyle/>
                    <a:p>
                      <a:pPr marL="0" lvl="0" indent="0" algn="ctr" rtl="0">
                        <a:spcBef>
                          <a:spcPts val="0"/>
                        </a:spcBef>
                        <a:spcAft>
                          <a:spcPts val="0"/>
                        </a:spcAft>
                        <a:buNone/>
                      </a:pPr>
                      <a:r>
                        <a:rPr lang="en" b="1"/>
                        <a:t>Lift</a:t>
                      </a:r>
                      <a:endParaRPr b="1"/>
                    </a:p>
                  </a:txBody>
                  <a:tcPr marL="76200" marR="76200" marT="76200" marB="76200"/>
                </a:tc>
                <a:tc>
                  <a:txBody>
                    <a:bodyPr/>
                    <a:lstStyle/>
                    <a:p>
                      <a:pPr marL="0" lvl="0" indent="0" algn="ctr" rtl="0">
                        <a:spcBef>
                          <a:spcPts val="0"/>
                        </a:spcBef>
                        <a:spcAft>
                          <a:spcPts val="0"/>
                        </a:spcAft>
                        <a:buNone/>
                      </a:pPr>
                      <a:r>
                        <a:rPr lang="en" b="1"/>
                        <a:t>ROC</a:t>
                      </a:r>
                      <a:endParaRPr b="1"/>
                    </a:p>
                  </a:txBody>
                  <a:tcPr marL="76200" marR="76200" marT="76200" marB="76200"/>
                </a:tc>
                <a:extLst>
                  <a:ext uri="{0D108BD9-81ED-4DB2-BD59-A6C34878D82A}">
                    <a16:rowId xmlns:a16="http://schemas.microsoft.com/office/drawing/2014/main" val="10000"/>
                  </a:ext>
                </a:extLst>
              </a:tr>
              <a:tr h="457200">
                <a:tc>
                  <a:txBody>
                    <a:bodyPr/>
                    <a:lstStyle/>
                    <a:p>
                      <a:pPr marL="0" lvl="0" indent="0" algn="l" rtl="0">
                        <a:spcBef>
                          <a:spcPts val="0"/>
                        </a:spcBef>
                        <a:spcAft>
                          <a:spcPts val="0"/>
                        </a:spcAft>
                        <a:buNone/>
                      </a:pPr>
                      <a:r>
                        <a:rPr lang="en" b="1"/>
                        <a:t>TRAIN</a:t>
                      </a:r>
                      <a:endParaRPr b="1"/>
                    </a:p>
                  </a:txBody>
                  <a:tcPr marL="76200" marR="76200" marT="76200" marB="76200">
                    <a:lnT w="19050" cap="flat" cmpd="sng">
                      <a:solidFill>
                        <a:srgbClr val="374768"/>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solidFill>
                            <a:srgbClr val="6B7280"/>
                          </a:solidFill>
                        </a:rPr>
                        <a:t>902k</a:t>
                      </a:r>
                      <a:endParaRPr>
                        <a:solidFill>
                          <a:srgbClr val="6B7280"/>
                        </a:solidFill>
                      </a:endParaRPr>
                    </a:p>
                  </a:txBody>
                  <a:tcPr marL="76200" marR="76200" marT="76200" marB="76200">
                    <a:lnT w="19050" cap="flat" cmpd="sng">
                      <a:solidFill>
                        <a:srgbClr val="374768"/>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a:t>0.8928</a:t>
                      </a:r>
                      <a:endParaRPr/>
                    </a:p>
                  </a:txBody>
                  <a:tcPr marL="91425" marR="91425" marT="91425" marB="91425"/>
                </a:tc>
                <a:tc>
                  <a:txBody>
                    <a:bodyPr/>
                    <a:lstStyle/>
                    <a:p>
                      <a:pPr marL="0" lvl="0" indent="0" algn="r" rtl="0">
                        <a:lnSpc>
                          <a:spcPct val="115000"/>
                        </a:lnSpc>
                        <a:spcBef>
                          <a:spcPts val="0"/>
                        </a:spcBef>
                        <a:spcAft>
                          <a:spcPts val="0"/>
                        </a:spcAft>
                        <a:buNone/>
                      </a:pPr>
                      <a:r>
                        <a:rPr lang="en"/>
                        <a:t>91.072</a:t>
                      </a:r>
                      <a:endParaRPr/>
                    </a:p>
                  </a:txBody>
                  <a:tcPr marL="91425" marR="91425" marT="91425" marB="91425"/>
                </a:tc>
                <a:tc>
                  <a:txBody>
                    <a:bodyPr/>
                    <a:lstStyle/>
                    <a:p>
                      <a:pPr marL="0" lvl="0" indent="0" algn="r" rtl="0">
                        <a:lnSpc>
                          <a:spcPct val="115000"/>
                        </a:lnSpc>
                        <a:spcBef>
                          <a:spcPts val="0"/>
                        </a:spcBef>
                        <a:spcAft>
                          <a:spcPts val="0"/>
                        </a:spcAft>
                        <a:buNone/>
                      </a:pPr>
                      <a:r>
                        <a:rPr lang="en"/>
                        <a:t>0.9983</a:t>
                      </a:r>
                      <a:endParaRPr/>
                    </a:p>
                  </a:txBody>
                  <a:tcPr marL="91425" marR="91425" marT="91425" marB="91425"/>
                </a:tc>
                <a:extLst>
                  <a:ext uri="{0D108BD9-81ED-4DB2-BD59-A6C34878D82A}">
                    <a16:rowId xmlns:a16="http://schemas.microsoft.com/office/drawing/2014/main" val="10001"/>
                  </a:ext>
                </a:extLst>
              </a:tr>
              <a:tr h="457200">
                <a:tc>
                  <a:txBody>
                    <a:bodyPr/>
                    <a:lstStyle/>
                    <a:p>
                      <a:pPr marL="0" lvl="0" indent="0" algn="l" rtl="0">
                        <a:spcBef>
                          <a:spcPts val="0"/>
                        </a:spcBef>
                        <a:spcAft>
                          <a:spcPts val="0"/>
                        </a:spcAft>
                        <a:buNone/>
                      </a:pPr>
                      <a:r>
                        <a:rPr lang="en" b="1"/>
                        <a:t>VAL</a:t>
                      </a:r>
                      <a:endParaRPr b="1"/>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solidFill>
                            <a:srgbClr val="6B7280"/>
                          </a:solidFill>
                        </a:rPr>
                        <a:t>257k</a:t>
                      </a:r>
                      <a:endParaRPr>
                        <a:solidFill>
                          <a:srgbClr val="6B7280"/>
                        </a:solidFill>
                      </a:endParaRPr>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a:t>0.8891</a:t>
                      </a:r>
                      <a:endParaRPr/>
                    </a:p>
                  </a:txBody>
                  <a:tcPr marL="91425" marR="91425" marT="91425" marB="91425"/>
                </a:tc>
                <a:tc>
                  <a:txBody>
                    <a:bodyPr/>
                    <a:lstStyle/>
                    <a:p>
                      <a:pPr marL="0" lvl="0" indent="0" algn="r" rtl="0">
                        <a:lnSpc>
                          <a:spcPct val="115000"/>
                        </a:lnSpc>
                        <a:spcBef>
                          <a:spcPts val="0"/>
                        </a:spcBef>
                        <a:spcAft>
                          <a:spcPts val="0"/>
                        </a:spcAft>
                        <a:buNone/>
                      </a:pPr>
                      <a:r>
                        <a:rPr lang="en"/>
                        <a:t>90.69</a:t>
                      </a:r>
                      <a:endParaRPr/>
                    </a:p>
                  </a:txBody>
                  <a:tcPr marL="91425" marR="91425" marT="91425" marB="91425"/>
                </a:tc>
                <a:tc>
                  <a:txBody>
                    <a:bodyPr/>
                    <a:lstStyle/>
                    <a:p>
                      <a:pPr marL="0" lvl="0" indent="0" algn="r" rtl="0">
                        <a:lnSpc>
                          <a:spcPct val="115000"/>
                        </a:lnSpc>
                        <a:spcBef>
                          <a:spcPts val="0"/>
                        </a:spcBef>
                        <a:spcAft>
                          <a:spcPts val="0"/>
                        </a:spcAft>
                        <a:buNone/>
                      </a:pPr>
                      <a:r>
                        <a:rPr lang="en"/>
                        <a:t>0.9982</a:t>
                      </a:r>
                      <a:endParaRPr/>
                    </a:p>
                  </a:txBody>
                  <a:tcPr marL="91425" marR="91425" marT="91425" marB="91425"/>
                </a:tc>
                <a:extLst>
                  <a:ext uri="{0D108BD9-81ED-4DB2-BD59-A6C34878D82A}">
                    <a16:rowId xmlns:a16="http://schemas.microsoft.com/office/drawing/2014/main" val="10002"/>
                  </a:ext>
                </a:extLst>
              </a:tr>
              <a:tr h="457200">
                <a:tc>
                  <a:txBody>
                    <a:bodyPr/>
                    <a:lstStyle/>
                    <a:p>
                      <a:pPr marL="0" lvl="0" indent="0" algn="l" rtl="0">
                        <a:spcBef>
                          <a:spcPts val="0"/>
                        </a:spcBef>
                        <a:spcAft>
                          <a:spcPts val="0"/>
                        </a:spcAft>
                        <a:buNone/>
                      </a:pPr>
                      <a:r>
                        <a:rPr lang="en" b="1"/>
                        <a:t>TEST</a:t>
                      </a:r>
                      <a:endParaRPr b="1"/>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spcBef>
                          <a:spcPts val="0"/>
                        </a:spcBef>
                        <a:spcAft>
                          <a:spcPts val="0"/>
                        </a:spcAft>
                        <a:buNone/>
                      </a:pPr>
                      <a:r>
                        <a:rPr lang="en">
                          <a:solidFill>
                            <a:srgbClr val="6B7280"/>
                          </a:solidFill>
                        </a:rPr>
                        <a:t>128k</a:t>
                      </a:r>
                      <a:endParaRPr>
                        <a:solidFill>
                          <a:srgbClr val="6B7280"/>
                        </a:solidFill>
                      </a:endParaRPr>
                    </a:p>
                  </a:txBody>
                  <a:tcPr marL="76200" marR="76200" marT="76200" marB="76200">
                    <a:lnT w="9525" cap="flat" cmpd="sng">
                      <a:solidFill>
                        <a:srgbClr val="F1F5F9"/>
                      </a:solidFill>
                      <a:prstDash val="solid"/>
                      <a:round/>
                      <a:headEnd type="none" w="sm" len="sm"/>
                      <a:tailEnd type="none" w="sm" len="sm"/>
                    </a:lnT>
                    <a:lnB w="9525" cap="flat" cmpd="sng">
                      <a:solidFill>
                        <a:srgbClr val="F1F5F9"/>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a:t>0.8956</a:t>
                      </a:r>
                      <a:endParaRPr/>
                    </a:p>
                  </a:txBody>
                  <a:tcPr marL="91425" marR="91425" marT="91425" marB="91425"/>
                </a:tc>
                <a:tc>
                  <a:txBody>
                    <a:bodyPr/>
                    <a:lstStyle/>
                    <a:p>
                      <a:pPr marL="0" lvl="0" indent="0" algn="r" rtl="0">
                        <a:lnSpc>
                          <a:spcPct val="115000"/>
                        </a:lnSpc>
                        <a:spcBef>
                          <a:spcPts val="0"/>
                        </a:spcBef>
                        <a:spcAft>
                          <a:spcPts val="0"/>
                        </a:spcAft>
                        <a:buNone/>
                      </a:pPr>
                      <a:r>
                        <a:rPr lang="en"/>
                        <a:t>91.317</a:t>
                      </a:r>
                      <a:endParaRPr/>
                    </a:p>
                  </a:txBody>
                  <a:tcPr marL="91425" marR="91425" marT="91425" marB="91425"/>
                </a:tc>
                <a:tc>
                  <a:txBody>
                    <a:bodyPr/>
                    <a:lstStyle/>
                    <a:p>
                      <a:pPr marL="0" lvl="0" indent="0" algn="r" rtl="0">
                        <a:lnSpc>
                          <a:spcPct val="115000"/>
                        </a:lnSpc>
                        <a:spcBef>
                          <a:spcPts val="0"/>
                        </a:spcBef>
                        <a:spcAft>
                          <a:spcPts val="0"/>
                        </a:spcAft>
                        <a:buNone/>
                      </a:pPr>
                      <a:r>
                        <a:rPr lang="en"/>
                        <a:t>0.9981</a:t>
                      </a:r>
                      <a:endParaRPr/>
                    </a:p>
                  </a:txBody>
                  <a:tcPr marL="91425" marR="91425" marT="91425" marB="91425"/>
                </a:tc>
                <a:extLst>
                  <a:ext uri="{0D108BD9-81ED-4DB2-BD59-A6C34878D82A}">
                    <a16:rowId xmlns:a16="http://schemas.microsoft.com/office/drawing/2014/main" val="10003"/>
                  </a:ext>
                </a:extLst>
              </a:tr>
              <a:tr h="457200">
                <a:tc>
                  <a:txBody>
                    <a:bodyPr/>
                    <a:lstStyle/>
                    <a:p>
                      <a:pPr marL="0" lvl="0" indent="0" algn="l" rtl="0">
                        <a:spcBef>
                          <a:spcPts val="0"/>
                        </a:spcBef>
                        <a:spcAft>
                          <a:spcPts val="0"/>
                        </a:spcAft>
                        <a:buNone/>
                      </a:pPr>
                      <a:r>
                        <a:rPr lang="en" b="1">
                          <a:solidFill>
                            <a:srgbClr val="DC2626"/>
                          </a:solidFill>
                        </a:rPr>
                        <a:t>OOT</a:t>
                      </a:r>
                      <a:endParaRPr b="1">
                        <a:solidFill>
                          <a:srgbClr val="DC2626"/>
                        </a:solidFill>
                      </a:endParaRPr>
                    </a:p>
                  </a:txBody>
                  <a:tcPr marL="76200" marR="76200" marT="76200" marB="76200">
                    <a:lnT w="9525" cap="flat" cmpd="sng">
                      <a:solidFill>
                        <a:srgbClr val="F1F5F9"/>
                      </a:solidFill>
                      <a:prstDash val="solid"/>
                      <a:round/>
                      <a:headEnd type="none" w="sm" len="sm"/>
                      <a:tailEnd type="none" w="sm" len="sm"/>
                    </a:lnT>
                  </a:tcPr>
                </a:tc>
                <a:tc>
                  <a:txBody>
                    <a:bodyPr/>
                    <a:lstStyle/>
                    <a:p>
                      <a:pPr marL="0" lvl="0" indent="0" algn="r" rtl="0">
                        <a:spcBef>
                          <a:spcPts val="0"/>
                        </a:spcBef>
                        <a:spcAft>
                          <a:spcPts val="0"/>
                        </a:spcAft>
                        <a:buNone/>
                      </a:pPr>
                      <a:r>
                        <a:rPr lang="en">
                          <a:solidFill>
                            <a:srgbClr val="6B7280"/>
                          </a:solidFill>
                        </a:rPr>
                        <a:t>126k</a:t>
                      </a:r>
                      <a:endParaRPr>
                        <a:solidFill>
                          <a:srgbClr val="6B7280"/>
                        </a:solidFill>
                      </a:endParaRPr>
                    </a:p>
                  </a:txBody>
                  <a:tcPr marL="76200" marR="76200" marT="76200" marB="76200">
                    <a:lnT w="9525" cap="flat" cmpd="sng">
                      <a:solidFill>
                        <a:srgbClr val="F1F5F9"/>
                      </a:solidFill>
                      <a:prstDash val="solid"/>
                      <a:round/>
                      <a:headEnd type="none" w="sm" len="sm"/>
                      <a:tailEnd type="none" w="sm" len="sm"/>
                    </a:lnT>
                  </a:tcPr>
                </a:tc>
                <a:tc>
                  <a:txBody>
                    <a:bodyPr/>
                    <a:lstStyle/>
                    <a:p>
                      <a:pPr marL="0" lvl="0" indent="0" algn="r" rtl="0">
                        <a:lnSpc>
                          <a:spcPct val="115000"/>
                        </a:lnSpc>
                        <a:spcBef>
                          <a:spcPts val="0"/>
                        </a:spcBef>
                        <a:spcAft>
                          <a:spcPts val="0"/>
                        </a:spcAft>
                        <a:buNone/>
                      </a:pPr>
                      <a:r>
                        <a:rPr lang="en">
                          <a:solidFill>
                            <a:srgbClr val="DC2626"/>
                          </a:solidFill>
                        </a:rPr>
                        <a:t>0.0976</a:t>
                      </a:r>
                      <a:endParaRPr>
                        <a:solidFill>
                          <a:srgbClr val="DC2626"/>
                        </a:solidFill>
                      </a:endParaRPr>
                    </a:p>
                  </a:txBody>
                  <a:tcPr marL="91425" marR="91425" marT="91425" marB="91425"/>
                </a:tc>
                <a:tc>
                  <a:txBody>
                    <a:bodyPr/>
                    <a:lstStyle/>
                    <a:p>
                      <a:pPr marL="0" lvl="0" indent="0" algn="r" rtl="0">
                        <a:lnSpc>
                          <a:spcPct val="115000"/>
                        </a:lnSpc>
                        <a:spcBef>
                          <a:spcPts val="0"/>
                        </a:spcBef>
                        <a:spcAft>
                          <a:spcPts val="0"/>
                        </a:spcAft>
                        <a:buNone/>
                      </a:pPr>
                      <a:r>
                        <a:rPr lang="en"/>
                        <a:t>7.817</a:t>
                      </a:r>
                      <a:endParaRPr/>
                    </a:p>
                  </a:txBody>
                  <a:tcPr marL="91425" marR="91425" marT="91425" marB="91425"/>
                </a:tc>
                <a:tc>
                  <a:txBody>
                    <a:bodyPr/>
                    <a:lstStyle/>
                    <a:p>
                      <a:pPr marL="0" lvl="0" indent="0" algn="r" rtl="0">
                        <a:lnSpc>
                          <a:spcPct val="115000"/>
                        </a:lnSpc>
                        <a:spcBef>
                          <a:spcPts val="0"/>
                        </a:spcBef>
                        <a:spcAft>
                          <a:spcPts val="0"/>
                        </a:spcAft>
                        <a:buNone/>
                      </a:pPr>
                      <a:r>
                        <a:rPr lang="en">
                          <a:solidFill>
                            <a:srgbClr val="DC2626"/>
                          </a:solidFill>
                        </a:rPr>
                        <a:t>0.6707</a:t>
                      </a:r>
                      <a:endParaRPr>
                        <a:solidFill>
                          <a:srgbClr val="DC2626"/>
                        </a:solidFill>
                      </a:endParaRPr>
                    </a:p>
                  </a:txBody>
                  <a:tcPr marL="91425" marR="91425" marT="91425" marB="91425"/>
                </a:tc>
                <a:extLst>
                  <a:ext uri="{0D108BD9-81ED-4DB2-BD59-A6C34878D82A}">
                    <a16:rowId xmlns:a16="http://schemas.microsoft.com/office/drawing/2014/main" val="10004"/>
                  </a:ext>
                </a:extLst>
              </a:tr>
            </a:tbl>
          </a:graphicData>
        </a:graphic>
      </p:graphicFrame>
      <p:pic>
        <p:nvPicPr>
          <p:cNvPr id="1093" name="Google Shape;1093;p93"/>
          <p:cNvPicPr preferRelativeResize="0"/>
          <p:nvPr/>
        </p:nvPicPr>
        <p:blipFill rotWithShape="1">
          <a:blip r:embed="rId3">
            <a:alphaModFix/>
          </a:blip>
          <a:srcRect/>
          <a:stretch/>
        </p:blipFill>
        <p:spPr>
          <a:xfrm>
            <a:off x="4567238" y="1524000"/>
            <a:ext cx="9600" cy="2857500"/>
          </a:xfrm>
          <a:prstGeom prst="rect">
            <a:avLst/>
          </a:prstGeom>
          <a:noFill/>
          <a:ln>
            <a:noFill/>
          </a:ln>
        </p:spPr>
      </p:pic>
      <p:grpSp>
        <p:nvGrpSpPr>
          <p:cNvPr id="1094" name="Google Shape;1094;p93"/>
          <p:cNvGrpSpPr/>
          <p:nvPr/>
        </p:nvGrpSpPr>
        <p:grpSpPr>
          <a:xfrm>
            <a:off x="342900" y="4667250"/>
            <a:ext cx="8458200" cy="285900"/>
            <a:chOff x="0" y="0"/>
            <a:chExt cx="8458200" cy="285900"/>
          </a:xfrm>
        </p:grpSpPr>
        <p:sp>
          <p:nvSpPr>
            <p:cNvPr id="1095" name="Google Shape;1095;p93"/>
            <p:cNvSpPr/>
            <p:nvPr/>
          </p:nvSpPr>
          <p:spPr>
            <a:xfrm>
              <a:off x="0" y="0"/>
              <a:ext cx="8458200" cy="285900"/>
            </a:xfrm>
            <a:prstGeom prst="roundRect">
              <a:avLst>
                <a:gd name="adj" fmla="val 13333"/>
              </a:avLst>
            </a:prstGeom>
            <a:solidFill>
              <a:srgbClr val="374768">
                <a:alpha val="1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96" name="Google Shape;1096;p93"/>
            <p:cNvSpPr txBox="1"/>
            <p:nvPr/>
          </p:nvSpPr>
          <p:spPr>
            <a:xfrm>
              <a:off x="0" y="0"/>
              <a:ext cx="84582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000" i="1">
                  <a:solidFill>
                    <a:srgbClr val="374768"/>
                  </a:solidFill>
                  <a:latin typeface="Poppins"/>
                  <a:ea typeface="Poppins"/>
                  <a:cs typeface="Poppins"/>
                  <a:sym typeface="Poppins"/>
                </a:rPr>
                <a:t>Key Finding: KuaiLive maintains strong OOT lift (147x) while Omni model collapses (0.8x)</a:t>
              </a:r>
              <a:endParaRPr sz="1000" i="1">
                <a:solidFill>
                  <a:srgbClr val="374768"/>
                </a:solidFill>
                <a:latin typeface="Poppins"/>
                <a:ea typeface="Poppins"/>
                <a:cs typeface="Poppins"/>
                <a:sym typeface="Poppi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p95"/>
          <p:cNvSpPr/>
          <p:nvPr/>
        </p:nvSpPr>
        <p:spPr>
          <a:xfrm>
            <a:off x="223588" y="3188242"/>
            <a:ext cx="5115300" cy="10599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idact Gothic"/>
              <a:ea typeface="Didact Gothic"/>
              <a:cs typeface="Didact Gothic"/>
              <a:sym typeface="Didact Gothic"/>
            </a:endParaRPr>
          </a:p>
        </p:txBody>
      </p:sp>
      <p:sp>
        <p:nvSpPr>
          <p:cNvPr id="1116" name="Google Shape;1116;p95"/>
          <p:cNvSpPr txBox="1">
            <a:spLocks noGrp="1"/>
          </p:cNvSpPr>
          <p:nvPr>
            <p:ph type="title"/>
          </p:nvPr>
        </p:nvSpPr>
        <p:spPr>
          <a:xfrm>
            <a:off x="273500" y="539500"/>
            <a:ext cx="859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Architecture Overview</a:t>
            </a:r>
            <a:endParaRPr/>
          </a:p>
        </p:txBody>
      </p:sp>
      <p:sp>
        <p:nvSpPr>
          <p:cNvPr id="1117" name="Google Shape;1117;p95"/>
          <p:cNvSpPr/>
          <p:nvPr/>
        </p:nvSpPr>
        <p:spPr>
          <a:xfrm>
            <a:off x="4563250" y="1168850"/>
            <a:ext cx="652200" cy="3837000"/>
          </a:xfrm>
          <a:prstGeom prst="rect">
            <a:avLst/>
          </a:prstGeom>
          <a:solidFill>
            <a:srgbClr val="F2D6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18" name="Google Shape;1118;p95"/>
          <p:cNvSpPr/>
          <p:nvPr/>
        </p:nvSpPr>
        <p:spPr>
          <a:xfrm>
            <a:off x="3347796" y="1168850"/>
            <a:ext cx="652200" cy="3064500"/>
          </a:xfrm>
          <a:prstGeom prst="rect">
            <a:avLst/>
          </a:prstGeom>
          <a:solidFill>
            <a:srgbClr val="9FA0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19" name="Google Shape;1119;p95"/>
          <p:cNvSpPr/>
          <p:nvPr/>
        </p:nvSpPr>
        <p:spPr>
          <a:xfrm>
            <a:off x="2155363" y="1168850"/>
            <a:ext cx="652200" cy="3064500"/>
          </a:xfrm>
          <a:prstGeom prst="rect">
            <a:avLst/>
          </a:prstGeom>
          <a:solidFill>
            <a:srgbClr val="BF9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20" name="Google Shape;1120;p95"/>
          <p:cNvSpPr/>
          <p:nvPr/>
        </p:nvSpPr>
        <p:spPr>
          <a:xfrm>
            <a:off x="223600" y="4244750"/>
            <a:ext cx="5115300" cy="7611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idact Gothic"/>
              <a:ea typeface="Didact Gothic"/>
              <a:cs typeface="Didact Gothic"/>
              <a:sym typeface="Didact Gothic"/>
            </a:endParaRPr>
          </a:p>
        </p:txBody>
      </p:sp>
      <p:sp>
        <p:nvSpPr>
          <p:cNvPr id="1121" name="Google Shape;1121;p95"/>
          <p:cNvSpPr/>
          <p:nvPr/>
        </p:nvSpPr>
        <p:spPr>
          <a:xfrm>
            <a:off x="223600" y="1174825"/>
            <a:ext cx="5115300" cy="20133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idact Gothic"/>
              <a:ea typeface="Didact Gothic"/>
              <a:cs typeface="Didact Gothic"/>
              <a:sym typeface="Didact Gothic"/>
            </a:endParaRPr>
          </a:p>
        </p:txBody>
      </p:sp>
      <p:grpSp>
        <p:nvGrpSpPr>
          <p:cNvPr id="1122" name="Google Shape;1122;p95"/>
          <p:cNvGrpSpPr/>
          <p:nvPr/>
        </p:nvGrpSpPr>
        <p:grpSpPr>
          <a:xfrm>
            <a:off x="998311" y="1383858"/>
            <a:ext cx="697800" cy="496489"/>
            <a:chOff x="234600" y="1308478"/>
            <a:chExt cx="697800" cy="496489"/>
          </a:xfrm>
        </p:grpSpPr>
        <p:sp>
          <p:nvSpPr>
            <p:cNvPr id="1123" name="Google Shape;1123;p95"/>
            <p:cNvSpPr txBox="1"/>
            <p:nvPr/>
          </p:nvSpPr>
          <p:spPr>
            <a:xfrm>
              <a:off x="23460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pic>
          <p:nvPicPr>
            <p:cNvPr id="1124" name="Google Shape;1124;p95"/>
            <p:cNvPicPr preferRelativeResize="0"/>
            <p:nvPr/>
          </p:nvPicPr>
          <p:blipFill rotWithShape="1">
            <a:blip r:embed="rId3">
              <a:alphaModFix/>
            </a:blip>
            <a:srcRect l="18635" r="18622"/>
            <a:stretch/>
          </p:blipFill>
          <p:spPr>
            <a:xfrm>
              <a:off x="461413" y="1308478"/>
              <a:ext cx="244175" cy="389150"/>
            </a:xfrm>
            <a:prstGeom prst="rect">
              <a:avLst/>
            </a:prstGeom>
            <a:noFill/>
            <a:ln>
              <a:noFill/>
            </a:ln>
          </p:spPr>
        </p:pic>
      </p:grpSp>
      <p:grpSp>
        <p:nvGrpSpPr>
          <p:cNvPr id="1125" name="Google Shape;1125;p95"/>
          <p:cNvGrpSpPr/>
          <p:nvPr/>
        </p:nvGrpSpPr>
        <p:grpSpPr>
          <a:xfrm>
            <a:off x="998311" y="1885275"/>
            <a:ext cx="697800" cy="501379"/>
            <a:chOff x="234600" y="1809895"/>
            <a:chExt cx="697800" cy="501379"/>
          </a:xfrm>
        </p:grpSpPr>
        <p:pic>
          <p:nvPicPr>
            <p:cNvPr id="1126" name="Google Shape;1126;p95"/>
            <p:cNvPicPr preferRelativeResize="0"/>
            <p:nvPr/>
          </p:nvPicPr>
          <p:blipFill rotWithShape="1">
            <a:blip r:embed="rId3">
              <a:alphaModFix/>
            </a:blip>
            <a:srcRect l="18635" r="18622"/>
            <a:stretch/>
          </p:blipFill>
          <p:spPr>
            <a:xfrm>
              <a:off x="461413" y="1809895"/>
              <a:ext cx="244175" cy="389150"/>
            </a:xfrm>
            <a:prstGeom prst="rect">
              <a:avLst/>
            </a:prstGeom>
            <a:noFill/>
            <a:ln>
              <a:noFill/>
            </a:ln>
          </p:spPr>
        </p:pic>
        <p:sp>
          <p:nvSpPr>
            <p:cNvPr id="1127" name="Google Shape;1127;p95"/>
            <p:cNvSpPr txBox="1"/>
            <p:nvPr/>
          </p:nvSpPr>
          <p:spPr>
            <a:xfrm>
              <a:off x="23460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grpSp>
      <p:grpSp>
        <p:nvGrpSpPr>
          <p:cNvPr id="1128" name="Google Shape;1128;p95"/>
          <p:cNvGrpSpPr/>
          <p:nvPr/>
        </p:nvGrpSpPr>
        <p:grpSpPr>
          <a:xfrm>
            <a:off x="763711" y="2386676"/>
            <a:ext cx="1167000" cy="674557"/>
            <a:chOff x="0" y="2311296"/>
            <a:chExt cx="1167000" cy="674557"/>
          </a:xfrm>
        </p:grpSpPr>
        <p:sp>
          <p:nvSpPr>
            <p:cNvPr id="1129" name="Google Shape;1129;p95"/>
            <p:cNvSpPr txBox="1"/>
            <p:nvPr/>
          </p:nvSpPr>
          <p:spPr>
            <a:xfrm>
              <a:off x="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like, gift, </a:t>
              </a:r>
              <a:endParaRPr sz="900">
                <a:solidFill>
                  <a:srgbClr val="000000"/>
                </a:solidFill>
                <a:latin typeface="Didact Gothic"/>
                <a:ea typeface="Didact Gothic"/>
                <a:cs typeface="Didact Gothic"/>
                <a:sym typeface="Didact Gothic"/>
              </a:endParaRPr>
            </a:p>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comment</a:t>
              </a:r>
              <a:endParaRPr sz="900">
                <a:solidFill>
                  <a:srgbClr val="000000"/>
                </a:solidFill>
                <a:latin typeface="Didact Gothic"/>
                <a:ea typeface="Didact Gothic"/>
                <a:cs typeface="Didact Gothic"/>
                <a:sym typeface="Didact Gothic"/>
              </a:endParaRPr>
            </a:p>
          </p:txBody>
        </p:sp>
        <p:pic>
          <p:nvPicPr>
            <p:cNvPr id="1130" name="Google Shape;1130;p95"/>
            <p:cNvPicPr preferRelativeResize="0"/>
            <p:nvPr/>
          </p:nvPicPr>
          <p:blipFill rotWithShape="1">
            <a:blip r:embed="rId3">
              <a:alphaModFix/>
            </a:blip>
            <a:srcRect l="18635" r="18622"/>
            <a:stretch/>
          </p:blipFill>
          <p:spPr>
            <a:xfrm>
              <a:off x="461413" y="2311296"/>
              <a:ext cx="244175" cy="389150"/>
            </a:xfrm>
            <a:prstGeom prst="rect">
              <a:avLst/>
            </a:prstGeom>
            <a:noFill/>
            <a:ln>
              <a:noFill/>
            </a:ln>
          </p:spPr>
        </p:pic>
      </p:grpSp>
      <p:sp>
        <p:nvSpPr>
          <p:cNvPr id="1131" name="Google Shape;1131;p95"/>
          <p:cNvSpPr/>
          <p:nvPr/>
        </p:nvSpPr>
        <p:spPr>
          <a:xfrm>
            <a:off x="1663731" y="1960783"/>
            <a:ext cx="3804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grpSp>
        <p:nvGrpSpPr>
          <p:cNvPr id="1132" name="Google Shape;1132;p95"/>
          <p:cNvGrpSpPr/>
          <p:nvPr/>
        </p:nvGrpSpPr>
        <p:grpSpPr>
          <a:xfrm>
            <a:off x="2121618" y="1413870"/>
            <a:ext cx="697800" cy="466476"/>
            <a:chOff x="1543350" y="1338491"/>
            <a:chExt cx="697800" cy="466476"/>
          </a:xfrm>
        </p:grpSpPr>
        <p:sp>
          <p:nvSpPr>
            <p:cNvPr id="1133" name="Google Shape;1133;p95"/>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134" name="Google Shape;1134;p95"/>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135" name="Google Shape;1135;p95"/>
          <p:cNvGrpSpPr/>
          <p:nvPr/>
        </p:nvGrpSpPr>
        <p:grpSpPr>
          <a:xfrm>
            <a:off x="2121618" y="1915287"/>
            <a:ext cx="697800" cy="471367"/>
            <a:chOff x="1543350" y="1839908"/>
            <a:chExt cx="697800" cy="471367"/>
          </a:xfrm>
        </p:grpSpPr>
        <p:sp>
          <p:nvSpPr>
            <p:cNvPr id="1136" name="Google Shape;1136;p95"/>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137" name="Google Shape;1137;p95"/>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138" name="Google Shape;1138;p95"/>
          <p:cNvGrpSpPr/>
          <p:nvPr/>
        </p:nvGrpSpPr>
        <p:grpSpPr>
          <a:xfrm>
            <a:off x="1887018" y="2416688"/>
            <a:ext cx="1167000" cy="644545"/>
            <a:chOff x="1308750" y="2341309"/>
            <a:chExt cx="1167000" cy="644545"/>
          </a:xfrm>
        </p:grpSpPr>
        <p:sp>
          <p:nvSpPr>
            <p:cNvPr id="1139" name="Google Shape;1139;p95"/>
            <p:cNvSpPr txBox="1"/>
            <p:nvPr/>
          </p:nvSpPr>
          <p:spPr>
            <a:xfrm>
              <a:off x="130875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140" name="Google Shape;1140;p95"/>
            <p:cNvSpPr/>
            <p:nvPr/>
          </p:nvSpPr>
          <p:spPr>
            <a:xfrm>
              <a:off x="1755111"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141" name="Google Shape;1141;p95"/>
          <p:cNvCxnSpPr>
            <a:stCxn id="1124" idx="3"/>
            <a:endCxn id="1131" idx="1"/>
          </p:cNvCxnSpPr>
          <p:nvPr/>
        </p:nvCxnSpPr>
        <p:spPr>
          <a:xfrm>
            <a:off x="1469298" y="1578433"/>
            <a:ext cx="194400" cy="5025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142" name="Google Shape;1142;p95"/>
          <p:cNvCxnSpPr>
            <a:stCxn id="1126" idx="3"/>
            <a:endCxn id="1131" idx="1"/>
          </p:cNvCxnSpPr>
          <p:nvPr/>
        </p:nvCxnSpPr>
        <p:spPr>
          <a:xfrm>
            <a:off x="1469298" y="2079850"/>
            <a:ext cx="194400" cy="9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143" name="Google Shape;1143;p95"/>
          <p:cNvCxnSpPr>
            <a:stCxn id="1130" idx="3"/>
            <a:endCxn id="1131" idx="1"/>
          </p:cNvCxnSpPr>
          <p:nvPr/>
        </p:nvCxnSpPr>
        <p:spPr>
          <a:xfrm rot="10800000" flipH="1">
            <a:off x="1469298" y="2080851"/>
            <a:ext cx="194400" cy="5004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144" name="Google Shape;1144;p95"/>
          <p:cNvCxnSpPr>
            <a:stCxn id="1131" idx="3"/>
            <a:endCxn id="1134" idx="2"/>
          </p:cNvCxnSpPr>
          <p:nvPr/>
        </p:nvCxnSpPr>
        <p:spPr>
          <a:xfrm rot="10800000" flipH="1">
            <a:off x="2044131" y="1578283"/>
            <a:ext cx="289200" cy="5025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145" name="Google Shape;1145;p95"/>
          <p:cNvCxnSpPr>
            <a:stCxn id="1131" idx="3"/>
            <a:endCxn id="1137" idx="2"/>
          </p:cNvCxnSpPr>
          <p:nvPr/>
        </p:nvCxnSpPr>
        <p:spPr>
          <a:xfrm rot="10800000" flipH="1">
            <a:off x="2044131" y="2079883"/>
            <a:ext cx="289200" cy="9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146" name="Google Shape;1146;p95"/>
          <p:cNvCxnSpPr>
            <a:stCxn id="1131" idx="3"/>
            <a:endCxn id="1140" idx="2"/>
          </p:cNvCxnSpPr>
          <p:nvPr/>
        </p:nvCxnSpPr>
        <p:spPr>
          <a:xfrm>
            <a:off x="2044131" y="2080783"/>
            <a:ext cx="289200" cy="500400"/>
          </a:xfrm>
          <a:prstGeom prst="bentConnector3">
            <a:avLst>
              <a:gd name="adj1" fmla="val 50008"/>
            </a:avLst>
          </a:prstGeom>
          <a:noFill/>
          <a:ln w="9525" cap="flat" cmpd="sng">
            <a:solidFill>
              <a:srgbClr val="000000"/>
            </a:solidFill>
            <a:prstDash val="solid"/>
            <a:round/>
            <a:headEnd type="none" w="med" len="med"/>
            <a:tailEnd type="triangle" w="med" len="med"/>
          </a:ln>
        </p:spPr>
      </p:cxnSp>
      <p:sp>
        <p:nvSpPr>
          <p:cNvPr id="1147" name="Google Shape;1147;p95"/>
          <p:cNvSpPr/>
          <p:nvPr/>
        </p:nvSpPr>
        <p:spPr>
          <a:xfrm>
            <a:off x="2893542" y="1962882"/>
            <a:ext cx="380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grpSp>
        <p:nvGrpSpPr>
          <p:cNvPr id="1148" name="Google Shape;1148;p95"/>
          <p:cNvGrpSpPr/>
          <p:nvPr/>
        </p:nvGrpSpPr>
        <p:grpSpPr>
          <a:xfrm>
            <a:off x="3317043" y="1413870"/>
            <a:ext cx="697800" cy="466476"/>
            <a:chOff x="3151806" y="1338491"/>
            <a:chExt cx="697800" cy="466476"/>
          </a:xfrm>
        </p:grpSpPr>
        <p:sp>
          <p:nvSpPr>
            <p:cNvPr id="1149" name="Google Shape;1149;p95"/>
            <p:cNvSpPr txBox="1"/>
            <p:nvPr/>
          </p:nvSpPr>
          <p:spPr>
            <a:xfrm>
              <a:off x="3151806"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150" name="Google Shape;1150;p95"/>
            <p:cNvSpPr/>
            <p:nvPr/>
          </p:nvSpPr>
          <p:spPr>
            <a:xfrm>
              <a:off x="3363567"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151" name="Google Shape;1151;p95"/>
          <p:cNvGrpSpPr/>
          <p:nvPr/>
        </p:nvGrpSpPr>
        <p:grpSpPr>
          <a:xfrm>
            <a:off x="3317043" y="1915287"/>
            <a:ext cx="697800" cy="471367"/>
            <a:chOff x="3151806" y="1839908"/>
            <a:chExt cx="697800" cy="471367"/>
          </a:xfrm>
        </p:grpSpPr>
        <p:sp>
          <p:nvSpPr>
            <p:cNvPr id="1152" name="Google Shape;1152;p95"/>
            <p:cNvSpPr txBox="1"/>
            <p:nvPr/>
          </p:nvSpPr>
          <p:spPr>
            <a:xfrm>
              <a:off x="3151806"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153" name="Google Shape;1153;p95"/>
            <p:cNvSpPr/>
            <p:nvPr/>
          </p:nvSpPr>
          <p:spPr>
            <a:xfrm>
              <a:off x="3363567"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154" name="Google Shape;1154;p95"/>
          <p:cNvGrpSpPr/>
          <p:nvPr/>
        </p:nvGrpSpPr>
        <p:grpSpPr>
          <a:xfrm>
            <a:off x="3082443" y="2416688"/>
            <a:ext cx="1167000" cy="607945"/>
            <a:chOff x="2917206" y="2341309"/>
            <a:chExt cx="1167000" cy="607945"/>
          </a:xfrm>
        </p:grpSpPr>
        <p:sp>
          <p:nvSpPr>
            <p:cNvPr id="1155" name="Google Shape;1155;p95"/>
            <p:cNvSpPr txBox="1"/>
            <p:nvPr/>
          </p:nvSpPr>
          <p:spPr>
            <a:xfrm>
              <a:off x="2917206" y="2633353"/>
              <a:ext cx="1167000" cy="31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156" name="Google Shape;1156;p95"/>
            <p:cNvSpPr/>
            <p:nvPr/>
          </p:nvSpPr>
          <p:spPr>
            <a:xfrm>
              <a:off x="3363567"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157" name="Google Shape;1157;p95"/>
          <p:cNvGrpSpPr/>
          <p:nvPr/>
        </p:nvGrpSpPr>
        <p:grpSpPr>
          <a:xfrm>
            <a:off x="4474896" y="1413873"/>
            <a:ext cx="874500" cy="486902"/>
            <a:chOff x="4118269" y="1397498"/>
            <a:chExt cx="874500" cy="486902"/>
          </a:xfrm>
        </p:grpSpPr>
        <p:sp>
          <p:nvSpPr>
            <p:cNvPr id="1158" name="Google Shape;1158;p95"/>
            <p:cNvSpPr txBox="1"/>
            <p:nvPr/>
          </p:nvSpPr>
          <p:spPr>
            <a:xfrm>
              <a:off x="4118269" y="164440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label</a:t>
              </a:r>
              <a:endParaRPr sz="900">
                <a:solidFill>
                  <a:srgbClr val="000000"/>
                </a:solidFill>
                <a:latin typeface="Didact Gothic"/>
                <a:ea typeface="Didact Gothic"/>
                <a:cs typeface="Didact Gothic"/>
                <a:sym typeface="Didact Gothic"/>
              </a:endParaRPr>
            </a:p>
          </p:txBody>
        </p:sp>
        <p:sp>
          <p:nvSpPr>
            <p:cNvPr id="1159" name="Google Shape;1159;p95"/>
            <p:cNvSpPr/>
            <p:nvPr/>
          </p:nvSpPr>
          <p:spPr>
            <a:xfrm>
              <a:off x="4418380" y="139749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160" name="Google Shape;1160;p95"/>
          <p:cNvGrpSpPr/>
          <p:nvPr/>
        </p:nvGrpSpPr>
        <p:grpSpPr>
          <a:xfrm>
            <a:off x="4464394" y="1916807"/>
            <a:ext cx="874500" cy="485914"/>
            <a:chOff x="4118269" y="1901936"/>
            <a:chExt cx="874500" cy="485914"/>
          </a:xfrm>
        </p:grpSpPr>
        <p:sp>
          <p:nvSpPr>
            <p:cNvPr id="1161" name="Google Shape;1161;p95"/>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static</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162" name="Google Shape;1162;p95"/>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163" name="Google Shape;1163;p95"/>
          <p:cNvCxnSpPr>
            <a:stCxn id="1134" idx="4"/>
            <a:endCxn id="1147" idx="1"/>
          </p:cNvCxnSpPr>
          <p:nvPr/>
        </p:nvCxnSpPr>
        <p:spPr>
          <a:xfrm>
            <a:off x="2607657" y="1578433"/>
            <a:ext cx="285900" cy="504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164" name="Google Shape;1164;p95"/>
          <p:cNvCxnSpPr>
            <a:stCxn id="1137" idx="4"/>
            <a:endCxn id="1147" idx="1"/>
          </p:cNvCxnSpPr>
          <p:nvPr/>
        </p:nvCxnSpPr>
        <p:spPr>
          <a:xfrm>
            <a:off x="2607657" y="2079850"/>
            <a:ext cx="285900" cy="30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165" name="Google Shape;1165;p95"/>
          <p:cNvCxnSpPr>
            <a:stCxn id="1140" idx="4"/>
            <a:endCxn id="1147" idx="1"/>
          </p:cNvCxnSpPr>
          <p:nvPr/>
        </p:nvCxnSpPr>
        <p:spPr>
          <a:xfrm rot="10800000" flipH="1">
            <a:off x="2607657" y="2082951"/>
            <a:ext cx="285900" cy="498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166" name="Google Shape;1166;p95"/>
          <p:cNvCxnSpPr>
            <a:stCxn id="1147" idx="3"/>
            <a:endCxn id="1153" idx="2"/>
          </p:cNvCxnSpPr>
          <p:nvPr/>
        </p:nvCxnSpPr>
        <p:spPr>
          <a:xfrm rot="10800000" flipH="1">
            <a:off x="3273942" y="2079882"/>
            <a:ext cx="255000" cy="3000"/>
          </a:xfrm>
          <a:prstGeom prst="bentConnector3">
            <a:avLst>
              <a:gd name="adj1" fmla="val 49973"/>
            </a:avLst>
          </a:prstGeom>
          <a:noFill/>
          <a:ln w="9525" cap="flat" cmpd="sng">
            <a:solidFill>
              <a:srgbClr val="000000"/>
            </a:solidFill>
            <a:prstDash val="solid"/>
            <a:round/>
            <a:headEnd type="none" w="med" len="med"/>
            <a:tailEnd type="triangle" w="med" len="med"/>
          </a:ln>
        </p:spPr>
      </p:cxnSp>
      <p:cxnSp>
        <p:nvCxnSpPr>
          <p:cNvPr id="1167" name="Google Shape;1167;p95"/>
          <p:cNvCxnSpPr>
            <a:stCxn id="1147" idx="3"/>
            <a:endCxn id="1150" idx="2"/>
          </p:cNvCxnSpPr>
          <p:nvPr/>
        </p:nvCxnSpPr>
        <p:spPr>
          <a:xfrm rot="10800000" flipH="1">
            <a:off x="3273942" y="1578582"/>
            <a:ext cx="255000" cy="504300"/>
          </a:xfrm>
          <a:prstGeom prst="bentConnector3">
            <a:avLst>
              <a:gd name="adj1" fmla="val 43694"/>
            </a:avLst>
          </a:prstGeom>
          <a:noFill/>
          <a:ln w="9525" cap="flat" cmpd="sng">
            <a:solidFill>
              <a:srgbClr val="000000"/>
            </a:solidFill>
            <a:prstDash val="solid"/>
            <a:round/>
            <a:headEnd type="none" w="med" len="med"/>
            <a:tailEnd type="triangle" w="med" len="med"/>
          </a:ln>
        </p:spPr>
      </p:cxnSp>
      <p:cxnSp>
        <p:nvCxnSpPr>
          <p:cNvPr id="1168" name="Google Shape;1168;p95"/>
          <p:cNvCxnSpPr>
            <a:stCxn id="1147" idx="3"/>
            <a:endCxn id="1156" idx="2"/>
          </p:cNvCxnSpPr>
          <p:nvPr/>
        </p:nvCxnSpPr>
        <p:spPr>
          <a:xfrm>
            <a:off x="3273942" y="2082882"/>
            <a:ext cx="255000" cy="498300"/>
          </a:xfrm>
          <a:prstGeom prst="bentConnector3">
            <a:avLst>
              <a:gd name="adj1" fmla="val 42307"/>
            </a:avLst>
          </a:prstGeom>
          <a:noFill/>
          <a:ln w="9525" cap="flat" cmpd="sng">
            <a:solidFill>
              <a:srgbClr val="000000"/>
            </a:solidFill>
            <a:prstDash val="solid"/>
            <a:round/>
            <a:headEnd type="none" w="med" len="med"/>
            <a:tailEnd type="triangle" w="med" len="med"/>
          </a:ln>
        </p:spPr>
      </p:cxnSp>
      <p:cxnSp>
        <p:nvCxnSpPr>
          <p:cNvPr id="1169" name="Google Shape;1169;p95"/>
          <p:cNvCxnSpPr>
            <a:stCxn id="1150" idx="4"/>
            <a:endCxn id="1170"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171" name="Google Shape;1171;p95"/>
          <p:cNvCxnSpPr>
            <a:stCxn id="1156" idx="4"/>
            <a:endCxn id="1170"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1170" name="Google Shape;1170;p95"/>
          <p:cNvSpPr/>
          <p:nvPr/>
        </p:nvSpPr>
        <p:spPr>
          <a:xfrm>
            <a:off x="4123385" y="1952550"/>
            <a:ext cx="380400" cy="2523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1172" name="Google Shape;1172;p95"/>
          <p:cNvCxnSpPr>
            <a:stCxn id="1153" idx="4"/>
            <a:endCxn id="1170" idx="1"/>
          </p:cNvCxnSpPr>
          <p:nvPr/>
        </p:nvCxnSpPr>
        <p:spPr>
          <a:xfrm rot="10800000" flipH="1">
            <a:off x="3803082" y="2078650"/>
            <a:ext cx="320400" cy="12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173" name="Google Shape;1173;p95"/>
          <p:cNvCxnSpPr>
            <a:stCxn id="1156" idx="4"/>
            <a:endCxn id="1170"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174" name="Google Shape;1174;p95"/>
          <p:cNvCxnSpPr>
            <a:stCxn id="1150" idx="4"/>
            <a:endCxn id="1170"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1175" name="Google Shape;1175;p95"/>
          <p:cNvSpPr txBox="1"/>
          <p:nvPr/>
        </p:nvSpPr>
        <p:spPr>
          <a:xfrm>
            <a:off x="2158683" y="1112208"/>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Bronze</a:t>
            </a:r>
            <a:endParaRPr sz="900" b="1">
              <a:solidFill>
                <a:srgbClr val="000000"/>
              </a:solidFill>
              <a:latin typeface="Didact Gothic"/>
              <a:ea typeface="Didact Gothic"/>
              <a:cs typeface="Didact Gothic"/>
              <a:sym typeface="Didact Gothic"/>
            </a:endParaRPr>
          </a:p>
        </p:txBody>
      </p:sp>
      <p:sp>
        <p:nvSpPr>
          <p:cNvPr id="1176" name="Google Shape;1176;p95"/>
          <p:cNvSpPr txBox="1"/>
          <p:nvPr/>
        </p:nvSpPr>
        <p:spPr>
          <a:xfrm>
            <a:off x="3360483"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Silver</a:t>
            </a:r>
            <a:endParaRPr sz="900" b="1">
              <a:solidFill>
                <a:srgbClr val="000000"/>
              </a:solidFill>
              <a:latin typeface="Didact Gothic"/>
              <a:ea typeface="Didact Gothic"/>
              <a:cs typeface="Didact Gothic"/>
              <a:sym typeface="Didact Gothic"/>
            </a:endParaRPr>
          </a:p>
        </p:txBody>
      </p:sp>
      <p:grpSp>
        <p:nvGrpSpPr>
          <p:cNvPr id="1177" name="Google Shape;1177;p95"/>
          <p:cNvGrpSpPr/>
          <p:nvPr/>
        </p:nvGrpSpPr>
        <p:grpSpPr>
          <a:xfrm>
            <a:off x="2121618" y="3217246"/>
            <a:ext cx="697800" cy="466476"/>
            <a:chOff x="1543350" y="1338491"/>
            <a:chExt cx="697800" cy="466476"/>
          </a:xfrm>
        </p:grpSpPr>
        <p:sp>
          <p:nvSpPr>
            <p:cNvPr id="1178" name="Google Shape;1178;p95"/>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179" name="Google Shape;1179;p95"/>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180" name="Google Shape;1180;p95"/>
          <p:cNvGrpSpPr/>
          <p:nvPr/>
        </p:nvGrpSpPr>
        <p:grpSpPr>
          <a:xfrm>
            <a:off x="2121618" y="3728551"/>
            <a:ext cx="697800" cy="471367"/>
            <a:chOff x="1543350" y="1839908"/>
            <a:chExt cx="697800" cy="471367"/>
          </a:xfrm>
        </p:grpSpPr>
        <p:sp>
          <p:nvSpPr>
            <p:cNvPr id="1181" name="Google Shape;1181;p95"/>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182" name="Google Shape;1182;p95"/>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183" name="Google Shape;1183;p95"/>
          <p:cNvSpPr/>
          <p:nvPr/>
        </p:nvSpPr>
        <p:spPr>
          <a:xfrm>
            <a:off x="1637949" y="3512163"/>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sp>
        <p:nvSpPr>
          <p:cNvPr id="1184" name="Google Shape;1184;p95"/>
          <p:cNvSpPr txBox="1"/>
          <p:nvPr/>
        </p:nvSpPr>
        <p:spPr>
          <a:xfrm>
            <a:off x="205713" y="1112200"/>
            <a:ext cx="14055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Didact Gothic"/>
                <a:ea typeface="Didact Gothic"/>
                <a:cs typeface="Didact Gothic"/>
                <a:sym typeface="Didact Gothic"/>
              </a:rPr>
              <a:t>DAG 1: Training</a:t>
            </a:r>
            <a:endParaRPr sz="900" b="1">
              <a:solidFill>
                <a:schemeClr val="dk1"/>
              </a:solidFill>
              <a:latin typeface="Didact Gothic"/>
              <a:ea typeface="Didact Gothic"/>
              <a:cs typeface="Didact Gothic"/>
              <a:sym typeface="Didact Gothic"/>
            </a:endParaRPr>
          </a:p>
        </p:txBody>
      </p:sp>
      <p:sp>
        <p:nvSpPr>
          <p:cNvPr id="1185" name="Google Shape;1185;p95"/>
          <p:cNvSpPr txBox="1"/>
          <p:nvPr/>
        </p:nvSpPr>
        <p:spPr>
          <a:xfrm>
            <a:off x="205713" y="3136310"/>
            <a:ext cx="1490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Didact Gothic"/>
                <a:ea typeface="Didact Gothic"/>
                <a:cs typeface="Didact Gothic"/>
                <a:sym typeface="Didact Gothic"/>
              </a:rPr>
              <a:t>DAG 2: Feature Update</a:t>
            </a:r>
            <a:endParaRPr sz="900" b="1">
              <a:solidFill>
                <a:schemeClr val="dk1"/>
              </a:solidFill>
              <a:latin typeface="Didact Gothic"/>
              <a:ea typeface="Didact Gothic"/>
              <a:cs typeface="Didact Gothic"/>
              <a:sym typeface="Didact Gothic"/>
            </a:endParaRPr>
          </a:p>
        </p:txBody>
      </p:sp>
      <p:cxnSp>
        <p:nvCxnSpPr>
          <p:cNvPr id="1186" name="Google Shape;1186;p95"/>
          <p:cNvCxnSpPr>
            <a:stCxn id="1183" idx="3"/>
            <a:endCxn id="1179" idx="2"/>
          </p:cNvCxnSpPr>
          <p:nvPr/>
        </p:nvCxnSpPr>
        <p:spPr>
          <a:xfrm rot="10800000" flipH="1">
            <a:off x="2076849" y="3381663"/>
            <a:ext cx="256500" cy="250500"/>
          </a:xfrm>
          <a:prstGeom prst="bentConnector3">
            <a:avLst>
              <a:gd name="adj1" fmla="val 50006"/>
            </a:avLst>
          </a:prstGeom>
          <a:noFill/>
          <a:ln w="9525" cap="flat" cmpd="sng">
            <a:solidFill>
              <a:schemeClr val="dk1"/>
            </a:solidFill>
            <a:prstDash val="solid"/>
            <a:round/>
            <a:headEnd type="none" w="med" len="med"/>
            <a:tailEnd type="triangle" w="med" len="med"/>
          </a:ln>
        </p:spPr>
      </p:cxnSp>
      <p:cxnSp>
        <p:nvCxnSpPr>
          <p:cNvPr id="1187" name="Google Shape;1187;p95"/>
          <p:cNvCxnSpPr>
            <a:stCxn id="1183" idx="3"/>
            <a:endCxn id="1182" idx="2"/>
          </p:cNvCxnSpPr>
          <p:nvPr/>
        </p:nvCxnSpPr>
        <p:spPr>
          <a:xfrm>
            <a:off x="2076849" y="3632163"/>
            <a:ext cx="256500" cy="261000"/>
          </a:xfrm>
          <a:prstGeom prst="bentConnector3">
            <a:avLst>
              <a:gd name="adj1" fmla="val 50006"/>
            </a:avLst>
          </a:prstGeom>
          <a:noFill/>
          <a:ln w="9525" cap="flat" cmpd="sng">
            <a:solidFill>
              <a:srgbClr val="0000FF"/>
            </a:solidFill>
            <a:prstDash val="solid"/>
            <a:round/>
            <a:headEnd type="none" w="med" len="med"/>
            <a:tailEnd type="triangle" w="med" len="med"/>
          </a:ln>
        </p:spPr>
      </p:cxnSp>
      <p:sp>
        <p:nvSpPr>
          <p:cNvPr id="1188" name="Google Shape;1188;p95"/>
          <p:cNvSpPr/>
          <p:nvPr/>
        </p:nvSpPr>
        <p:spPr>
          <a:xfrm>
            <a:off x="5749788" y="147284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ml_train.py</a:t>
            </a:r>
            <a:endParaRPr sz="900">
              <a:latin typeface="Didact Gothic"/>
              <a:ea typeface="Didact Gothic"/>
              <a:cs typeface="Didact Gothic"/>
              <a:sym typeface="Didact Gothic"/>
            </a:endParaRPr>
          </a:p>
        </p:txBody>
      </p:sp>
      <p:sp>
        <p:nvSpPr>
          <p:cNvPr id="1189" name="Google Shape;1189;p95"/>
          <p:cNvSpPr/>
          <p:nvPr/>
        </p:nvSpPr>
        <p:spPr>
          <a:xfrm>
            <a:off x="7185214" y="4281575"/>
            <a:ext cx="739200" cy="682200"/>
          </a:xfrm>
          <a:prstGeom prst="ellipse">
            <a:avLst/>
          </a:prstGeom>
          <a:solidFill>
            <a:schemeClr val="accent1"/>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800">
                <a:latin typeface="Roboto"/>
                <a:ea typeface="Roboto"/>
                <a:cs typeface="Roboto"/>
                <a:sym typeface="Roboto"/>
              </a:rPr>
              <a:t>Dashboard</a:t>
            </a:r>
            <a:endParaRPr sz="800">
              <a:latin typeface="Roboto"/>
              <a:ea typeface="Roboto"/>
              <a:cs typeface="Roboto"/>
              <a:sym typeface="Roboto"/>
            </a:endParaRPr>
          </a:p>
        </p:txBody>
      </p:sp>
      <p:cxnSp>
        <p:nvCxnSpPr>
          <p:cNvPr id="1190" name="Google Shape;1190;p95"/>
          <p:cNvCxnSpPr/>
          <p:nvPr/>
        </p:nvCxnSpPr>
        <p:spPr>
          <a:xfrm>
            <a:off x="6385018" y="1680116"/>
            <a:ext cx="6300" cy="369900"/>
          </a:xfrm>
          <a:prstGeom prst="straightConnector1">
            <a:avLst/>
          </a:prstGeom>
          <a:noFill/>
          <a:ln w="9525" cap="flat" cmpd="sng">
            <a:solidFill>
              <a:srgbClr val="000000"/>
            </a:solidFill>
            <a:prstDash val="solid"/>
            <a:round/>
            <a:headEnd type="none" w="med" len="med"/>
            <a:tailEnd type="stealth" w="med" len="med"/>
          </a:ln>
        </p:spPr>
      </p:cxnSp>
      <p:sp>
        <p:nvSpPr>
          <p:cNvPr id="1191" name="Google Shape;1191;p95"/>
          <p:cNvSpPr/>
          <p:nvPr/>
        </p:nvSpPr>
        <p:spPr>
          <a:xfrm>
            <a:off x="5746138" y="271635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ml_predict.py</a:t>
            </a:r>
            <a:endParaRPr sz="900">
              <a:latin typeface="Didact Gothic"/>
              <a:ea typeface="Didact Gothic"/>
              <a:cs typeface="Didact Gothic"/>
              <a:sym typeface="Didact Gothic"/>
            </a:endParaRPr>
          </a:p>
        </p:txBody>
      </p:sp>
      <p:sp>
        <p:nvSpPr>
          <p:cNvPr id="1192" name="Google Shape;1192;p95"/>
          <p:cNvSpPr/>
          <p:nvPr/>
        </p:nvSpPr>
        <p:spPr>
          <a:xfrm>
            <a:off x="6192301" y="2048420"/>
            <a:ext cx="320400" cy="324000"/>
          </a:xfrm>
          <a:prstGeom prst="cube">
            <a:avLst>
              <a:gd name="adj" fmla="val 25000"/>
            </a:avLst>
          </a:prstGeom>
          <a:solidFill>
            <a:srgbClr val="FCFDF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93" name="Google Shape;1193;p95"/>
          <p:cNvSpPr txBox="1"/>
          <p:nvPr/>
        </p:nvSpPr>
        <p:spPr>
          <a:xfrm>
            <a:off x="5590421" y="2015880"/>
            <a:ext cx="784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model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bank</a:t>
            </a:r>
            <a:endParaRPr sz="900">
              <a:solidFill>
                <a:srgbClr val="000000"/>
              </a:solidFill>
              <a:latin typeface="Didact Gothic"/>
              <a:ea typeface="Didact Gothic"/>
              <a:cs typeface="Didact Gothic"/>
              <a:sym typeface="Didact Gothic"/>
            </a:endParaRPr>
          </a:p>
        </p:txBody>
      </p:sp>
      <p:cxnSp>
        <p:nvCxnSpPr>
          <p:cNvPr id="1194" name="Google Shape;1194;p95"/>
          <p:cNvCxnSpPr/>
          <p:nvPr/>
        </p:nvCxnSpPr>
        <p:spPr>
          <a:xfrm>
            <a:off x="6381913" y="2374525"/>
            <a:ext cx="4800" cy="348000"/>
          </a:xfrm>
          <a:prstGeom prst="straightConnector1">
            <a:avLst/>
          </a:prstGeom>
          <a:noFill/>
          <a:ln w="9525" cap="flat" cmpd="sng">
            <a:solidFill>
              <a:srgbClr val="000000"/>
            </a:solidFill>
            <a:prstDash val="solid"/>
            <a:round/>
            <a:headEnd type="none" w="med" len="med"/>
            <a:tailEnd type="triangle" w="med" len="med"/>
          </a:ln>
        </p:spPr>
      </p:cxnSp>
      <p:sp>
        <p:nvSpPr>
          <p:cNvPr id="1195" name="Google Shape;1195;p95"/>
          <p:cNvSpPr txBox="1"/>
          <p:nvPr/>
        </p:nvSpPr>
        <p:spPr>
          <a:xfrm>
            <a:off x="4564228"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latin typeface="Didact Gothic"/>
                <a:ea typeface="Didact Gothic"/>
                <a:cs typeface="Didact Gothic"/>
                <a:sym typeface="Didact Gothic"/>
              </a:rPr>
              <a:t>Gold</a:t>
            </a:r>
            <a:endParaRPr sz="900" b="1">
              <a:solidFill>
                <a:srgbClr val="000000"/>
              </a:solidFill>
              <a:latin typeface="Didact Gothic"/>
              <a:ea typeface="Didact Gothic"/>
              <a:cs typeface="Didact Gothic"/>
              <a:sym typeface="Didact Gothic"/>
            </a:endParaRPr>
          </a:p>
        </p:txBody>
      </p:sp>
      <p:cxnSp>
        <p:nvCxnSpPr>
          <p:cNvPr id="1196" name="Google Shape;1196;p95"/>
          <p:cNvCxnSpPr>
            <a:stCxn id="1170" idx="3"/>
            <a:endCxn id="1159" idx="2"/>
          </p:cNvCxnSpPr>
          <p:nvPr/>
        </p:nvCxnSpPr>
        <p:spPr>
          <a:xfrm rot="10800000" flipH="1">
            <a:off x="4503785" y="1578300"/>
            <a:ext cx="271200" cy="500400"/>
          </a:xfrm>
          <a:prstGeom prst="bentConnector3">
            <a:avLst>
              <a:gd name="adj1" fmla="val 50004"/>
            </a:avLst>
          </a:prstGeom>
          <a:noFill/>
          <a:ln w="9525" cap="flat" cmpd="sng">
            <a:solidFill>
              <a:schemeClr val="dk1"/>
            </a:solidFill>
            <a:prstDash val="solid"/>
            <a:round/>
            <a:headEnd type="none" w="med" len="med"/>
            <a:tailEnd type="triangle" w="med" len="med"/>
          </a:ln>
        </p:spPr>
      </p:cxnSp>
      <p:cxnSp>
        <p:nvCxnSpPr>
          <p:cNvPr id="1197" name="Google Shape;1197;p95"/>
          <p:cNvCxnSpPr>
            <a:stCxn id="1170" idx="3"/>
            <a:endCxn id="1162" idx="2"/>
          </p:cNvCxnSpPr>
          <p:nvPr/>
        </p:nvCxnSpPr>
        <p:spPr>
          <a:xfrm>
            <a:off x="4503785" y="2078700"/>
            <a:ext cx="260700" cy="2700"/>
          </a:xfrm>
          <a:prstGeom prst="straightConnector1">
            <a:avLst/>
          </a:prstGeom>
          <a:noFill/>
          <a:ln w="9525" cap="flat" cmpd="sng">
            <a:solidFill>
              <a:schemeClr val="dk1"/>
            </a:solidFill>
            <a:prstDash val="solid"/>
            <a:round/>
            <a:headEnd type="none" w="med" len="med"/>
            <a:tailEnd type="triangle" w="med" len="med"/>
          </a:ln>
        </p:spPr>
      </p:cxnSp>
      <p:grpSp>
        <p:nvGrpSpPr>
          <p:cNvPr id="1198" name="Google Shape;1198;p95"/>
          <p:cNvGrpSpPr/>
          <p:nvPr/>
        </p:nvGrpSpPr>
        <p:grpSpPr>
          <a:xfrm>
            <a:off x="4470905" y="2580338"/>
            <a:ext cx="874500" cy="485914"/>
            <a:chOff x="4118269" y="1901936"/>
            <a:chExt cx="874500" cy="485914"/>
          </a:xfrm>
        </p:grpSpPr>
        <p:sp>
          <p:nvSpPr>
            <p:cNvPr id="1199" name="Google Shape;1199;p95"/>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rolling</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200" name="Google Shape;1200;p95"/>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201" name="Google Shape;1201;p95"/>
          <p:cNvCxnSpPr>
            <a:stCxn id="1170" idx="3"/>
            <a:endCxn id="1200" idx="2"/>
          </p:cNvCxnSpPr>
          <p:nvPr/>
        </p:nvCxnSpPr>
        <p:spPr>
          <a:xfrm>
            <a:off x="4503785" y="2078700"/>
            <a:ext cx="267300" cy="666300"/>
          </a:xfrm>
          <a:prstGeom prst="bentConnector3">
            <a:avLst>
              <a:gd name="adj1" fmla="val 49987"/>
            </a:avLst>
          </a:prstGeom>
          <a:noFill/>
          <a:ln w="9525" cap="flat" cmpd="sng">
            <a:solidFill>
              <a:schemeClr val="dk1"/>
            </a:solidFill>
            <a:prstDash val="solid"/>
            <a:round/>
            <a:headEnd type="none" w="med" len="med"/>
            <a:tailEnd type="triangle" w="med" len="med"/>
          </a:ln>
        </p:spPr>
      </p:cxnSp>
      <p:sp>
        <p:nvSpPr>
          <p:cNvPr id="1202" name="Google Shape;1202;p95"/>
          <p:cNvSpPr/>
          <p:nvPr/>
        </p:nvSpPr>
        <p:spPr>
          <a:xfrm>
            <a:off x="2864199" y="3262225"/>
            <a:ext cx="413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1203" name="Google Shape;1203;p95"/>
          <p:cNvCxnSpPr>
            <a:stCxn id="1179" idx="4"/>
            <a:endCxn id="1202" idx="1"/>
          </p:cNvCxnSpPr>
          <p:nvPr/>
        </p:nvCxnSpPr>
        <p:spPr>
          <a:xfrm>
            <a:off x="2607657" y="3381809"/>
            <a:ext cx="256500" cy="600"/>
          </a:xfrm>
          <a:prstGeom prst="bentConnector3">
            <a:avLst>
              <a:gd name="adj1" fmla="val 50008"/>
            </a:avLst>
          </a:prstGeom>
          <a:noFill/>
          <a:ln w="9525" cap="flat" cmpd="sng">
            <a:solidFill>
              <a:schemeClr val="dk1"/>
            </a:solidFill>
            <a:prstDash val="solid"/>
            <a:round/>
            <a:headEnd type="none" w="med" len="med"/>
            <a:tailEnd type="triangle" w="med" len="med"/>
          </a:ln>
        </p:spPr>
      </p:cxnSp>
      <p:cxnSp>
        <p:nvCxnSpPr>
          <p:cNvPr id="1204" name="Google Shape;1204;p95"/>
          <p:cNvCxnSpPr>
            <a:stCxn id="1182" idx="4"/>
            <a:endCxn id="1202" idx="1"/>
          </p:cNvCxnSpPr>
          <p:nvPr/>
        </p:nvCxnSpPr>
        <p:spPr>
          <a:xfrm rot="10800000" flipH="1">
            <a:off x="2607657" y="3382213"/>
            <a:ext cx="256500" cy="510900"/>
          </a:xfrm>
          <a:prstGeom prst="bentConnector3">
            <a:avLst>
              <a:gd name="adj1" fmla="val 50008"/>
            </a:avLst>
          </a:prstGeom>
          <a:noFill/>
          <a:ln w="9525" cap="flat" cmpd="sng">
            <a:solidFill>
              <a:schemeClr val="dk1"/>
            </a:solidFill>
            <a:prstDash val="solid"/>
            <a:round/>
            <a:headEnd type="none" w="med" len="med"/>
            <a:tailEnd type="triangle" w="med" len="med"/>
          </a:ln>
        </p:spPr>
      </p:cxnSp>
      <p:cxnSp>
        <p:nvCxnSpPr>
          <p:cNvPr id="1205" name="Google Shape;1205;p95"/>
          <p:cNvCxnSpPr>
            <a:stCxn id="1202" idx="3"/>
            <a:endCxn id="1150" idx="2"/>
          </p:cNvCxnSpPr>
          <p:nvPr/>
        </p:nvCxnSpPr>
        <p:spPr>
          <a:xfrm rot="10800000" flipH="1">
            <a:off x="3277599" y="1578325"/>
            <a:ext cx="251100" cy="1803900"/>
          </a:xfrm>
          <a:prstGeom prst="bentConnector3">
            <a:avLst>
              <a:gd name="adj1" fmla="val 42772"/>
            </a:avLst>
          </a:prstGeom>
          <a:noFill/>
          <a:ln w="9525" cap="flat" cmpd="sng">
            <a:solidFill>
              <a:schemeClr val="dk1"/>
            </a:solidFill>
            <a:prstDash val="solid"/>
            <a:round/>
            <a:headEnd type="none" w="med" len="med"/>
            <a:tailEnd type="triangle" w="med" len="med"/>
          </a:ln>
        </p:spPr>
      </p:cxnSp>
      <p:cxnSp>
        <p:nvCxnSpPr>
          <p:cNvPr id="1206" name="Google Shape;1206;p95"/>
          <p:cNvCxnSpPr>
            <a:stCxn id="1202" idx="3"/>
            <a:endCxn id="1153" idx="2"/>
          </p:cNvCxnSpPr>
          <p:nvPr/>
        </p:nvCxnSpPr>
        <p:spPr>
          <a:xfrm rot="10800000" flipH="1">
            <a:off x="3277599" y="2079925"/>
            <a:ext cx="251100" cy="1302300"/>
          </a:xfrm>
          <a:prstGeom prst="bentConnector3">
            <a:avLst>
              <a:gd name="adj1" fmla="val 41916"/>
            </a:avLst>
          </a:prstGeom>
          <a:noFill/>
          <a:ln w="9525" cap="flat" cmpd="sng">
            <a:solidFill>
              <a:schemeClr val="dk1"/>
            </a:solidFill>
            <a:prstDash val="solid"/>
            <a:round/>
            <a:headEnd type="none" w="med" len="med"/>
            <a:tailEnd type="triangle" w="med" len="med"/>
          </a:ln>
        </p:spPr>
      </p:cxnSp>
      <p:cxnSp>
        <p:nvCxnSpPr>
          <p:cNvPr id="1207" name="Google Shape;1207;p95"/>
          <p:cNvCxnSpPr>
            <a:stCxn id="1202" idx="3"/>
            <a:endCxn id="1156" idx="2"/>
          </p:cNvCxnSpPr>
          <p:nvPr/>
        </p:nvCxnSpPr>
        <p:spPr>
          <a:xfrm rot="10800000" flipH="1">
            <a:off x="3277599" y="2581225"/>
            <a:ext cx="251100" cy="801000"/>
          </a:xfrm>
          <a:prstGeom prst="bentConnector3">
            <a:avLst>
              <a:gd name="adj1" fmla="val 40224"/>
            </a:avLst>
          </a:prstGeom>
          <a:noFill/>
          <a:ln w="9525" cap="flat" cmpd="sng">
            <a:solidFill>
              <a:schemeClr val="dk1"/>
            </a:solidFill>
            <a:prstDash val="solid"/>
            <a:round/>
            <a:headEnd type="none" w="med" len="med"/>
            <a:tailEnd type="triangle" w="med" len="med"/>
          </a:ln>
        </p:spPr>
      </p:cxnSp>
      <p:cxnSp>
        <p:nvCxnSpPr>
          <p:cNvPr id="1208" name="Google Shape;1208;p95"/>
          <p:cNvCxnSpPr>
            <a:stCxn id="1159" idx="4"/>
            <a:endCxn id="1188" idx="1"/>
          </p:cNvCxnSpPr>
          <p:nvPr/>
        </p:nvCxnSpPr>
        <p:spPr>
          <a:xfrm>
            <a:off x="5049285" y="1578436"/>
            <a:ext cx="700500" cy="15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1209" name="Google Shape;1209;p95"/>
          <p:cNvCxnSpPr>
            <a:stCxn id="1162" idx="4"/>
            <a:endCxn id="1188" idx="1"/>
          </p:cNvCxnSpPr>
          <p:nvPr/>
        </p:nvCxnSpPr>
        <p:spPr>
          <a:xfrm rot="10800000" flipH="1">
            <a:off x="5038783" y="1579770"/>
            <a:ext cx="711000" cy="5016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1210" name="Google Shape;1210;p95"/>
          <p:cNvCxnSpPr>
            <a:stCxn id="1200" idx="4"/>
            <a:endCxn id="1188" idx="1"/>
          </p:cNvCxnSpPr>
          <p:nvPr/>
        </p:nvCxnSpPr>
        <p:spPr>
          <a:xfrm rot="10800000" flipH="1">
            <a:off x="5045294" y="1579701"/>
            <a:ext cx="704400" cy="1165200"/>
          </a:xfrm>
          <a:prstGeom prst="bentConnector3">
            <a:avLst>
              <a:gd name="adj1" fmla="val 50007"/>
            </a:avLst>
          </a:prstGeom>
          <a:noFill/>
          <a:ln w="9525" cap="flat" cmpd="sng">
            <a:solidFill>
              <a:schemeClr val="dk1"/>
            </a:solidFill>
            <a:prstDash val="solid"/>
            <a:round/>
            <a:headEnd type="none" w="med" len="med"/>
            <a:tailEnd type="triangle" w="med" len="med"/>
          </a:ln>
        </p:spPr>
      </p:cxnSp>
      <p:grpSp>
        <p:nvGrpSpPr>
          <p:cNvPr id="1211" name="Google Shape;1211;p95"/>
          <p:cNvGrpSpPr/>
          <p:nvPr/>
        </p:nvGrpSpPr>
        <p:grpSpPr>
          <a:xfrm>
            <a:off x="4470905" y="3214801"/>
            <a:ext cx="874500" cy="485914"/>
            <a:chOff x="4118269" y="1901936"/>
            <a:chExt cx="874500" cy="485914"/>
          </a:xfrm>
        </p:grpSpPr>
        <p:sp>
          <p:nvSpPr>
            <p:cNvPr id="1212" name="Google Shape;1212;p95"/>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sp>
          <p:nvSpPr>
            <p:cNvPr id="1213" name="Google Shape;1213;p95"/>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214" name="Google Shape;1214;p95"/>
          <p:cNvGrpSpPr/>
          <p:nvPr/>
        </p:nvGrpSpPr>
        <p:grpSpPr>
          <a:xfrm>
            <a:off x="4470905" y="3747213"/>
            <a:ext cx="874500" cy="485914"/>
            <a:chOff x="4118269" y="1901936"/>
            <a:chExt cx="874500" cy="485914"/>
          </a:xfrm>
        </p:grpSpPr>
        <p:sp>
          <p:nvSpPr>
            <p:cNvPr id="1215" name="Google Shape;1215;p95"/>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metric</a:t>
              </a:r>
              <a:endParaRPr sz="900">
                <a:solidFill>
                  <a:srgbClr val="000000"/>
                </a:solidFill>
                <a:latin typeface="Didact Gothic"/>
                <a:ea typeface="Didact Gothic"/>
                <a:cs typeface="Didact Gothic"/>
                <a:sym typeface="Didact Gothic"/>
              </a:endParaRPr>
            </a:p>
          </p:txBody>
        </p:sp>
        <p:sp>
          <p:nvSpPr>
            <p:cNvPr id="1216" name="Google Shape;1216;p95"/>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217" name="Google Shape;1217;p95"/>
          <p:cNvCxnSpPr>
            <a:endCxn id="1213" idx="4"/>
          </p:cNvCxnSpPr>
          <p:nvPr/>
        </p:nvCxnSpPr>
        <p:spPr>
          <a:xfrm flipH="1">
            <a:off x="5045294" y="2932063"/>
            <a:ext cx="1026900" cy="447300"/>
          </a:xfrm>
          <a:prstGeom prst="bentConnector3">
            <a:avLst>
              <a:gd name="adj1" fmla="val -9"/>
            </a:avLst>
          </a:prstGeom>
          <a:noFill/>
          <a:ln w="9525" cap="flat" cmpd="sng">
            <a:solidFill>
              <a:srgbClr val="A9283B"/>
            </a:solidFill>
            <a:prstDash val="solid"/>
            <a:round/>
            <a:headEnd type="none" w="med" len="med"/>
            <a:tailEnd type="triangle" w="med" len="med"/>
          </a:ln>
        </p:spPr>
      </p:cxnSp>
      <p:cxnSp>
        <p:nvCxnSpPr>
          <p:cNvPr id="1218" name="Google Shape;1218;p95"/>
          <p:cNvCxnSpPr/>
          <p:nvPr/>
        </p:nvCxnSpPr>
        <p:spPr>
          <a:xfrm>
            <a:off x="5034963" y="2161629"/>
            <a:ext cx="741000" cy="671400"/>
          </a:xfrm>
          <a:prstGeom prst="bentConnector3">
            <a:avLst>
              <a:gd name="adj1" fmla="val 68289"/>
            </a:avLst>
          </a:prstGeom>
          <a:noFill/>
          <a:ln w="9525" cap="flat" cmpd="sng">
            <a:solidFill>
              <a:srgbClr val="A9283B"/>
            </a:solidFill>
            <a:prstDash val="solid"/>
            <a:round/>
            <a:headEnd type="none" w="med" len="med"/>
            <a:tailEnd type="triangle" w="med" len="med"/>
          </a:ln>
        </p:spPr>
      </p:cxnSp>
      <p:cxnSp>
        <p:nvCxnSpPr>
          <p:cNvPr id="1219" name="Google Shape;1219;p95"/>
          <p:cNvCxnSpPr/>
          <p:nvPr/>
        </p:nvCxnSpPr>
        <p:spPr>
          <a:xfrm rot="10800000" flipH="1">
            <a:off x="5044088" y="2830509"/>
            <a:ext cx="733800" cy="4500"/>
          </a:xfrm>
          <a:prstGeom prst="straightConnector1">
            <a:avLst/>
          </a:prstGeom>
          <a:noFill/>
          <a:ln w="9525" cap="flat" cmpd="sng">
            <a:solidFill>
              <a:srgbClr val="A9283B"/>
            </a:solidFill>
            <a:prstDash val="solid"/>
            <a:round/>
            <a:headEnd type="none" w="med" len="med"/>
            <a:tailEnd type="triangle" w="med" len="med"/>
          </a:ln>
        </p:spPr>
      </p:cxnSp>
      <p:sp>
        <p:nvSpPr>
          <p:cNvPr id="1220" name="Google Shape;1220;p95"/>
          <p:cNvSpPr/>
          <p:nvPr/>
        </p:nvSpPr>
        <p:spPr>
          <a:xfrm>
            <a:off x="352238" y="4486394"/>
            <a:ext cx="961800" cy="5091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OmniBehaviour</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Simulation</a:t>
            </a:r>
            <a:endParaRPr sz="900">
              <a:latin typeface="Didact Gothic"/>
              <a:ea typeface="Didact Gothic"/>
              <a:cs typeface="Didact Gothic"/>
              <a:sym typeface="Didact Gothic"/>
            </a:endParaRPr>
          </a:p>
        </p:txBody>
      </p:sp>
      <p:cxnSp>
        <p:nvCxnSpPr>
          <p:cNvPr id="1221" name="Google Shape;1221;p95"/>
          <p:cNvCxnSpPr>
            <a:stCxn id="1220" idx="3"/>
            <a:endCxn id="1222" idx="1"/>
          </p:cNvCxnSpPr>
          <p:nvPr/>
        </p:nvCxnSpPr>
        <p:spPr>
          <a:xfrm rot="10800000" flipH="1">
            <a:off x="1314038" y="4576244"/>
            <a:ext cx="413400" cy="164700"/>
          </a:xfrm>
          <a:prstGeom prst="bentConnector3">
            <a:avLst>
              <a:gd name="adj1" fmla="val 50002"/>
            </a:avLst>
          </a:prstGeom>
          <a:noFill/>
          <a:ln w="9525" cap="flat" cmpd="sng">
            <a:solidFill>
              <a:schemeClr val="dk1"/>
            </a:solidFill>
            <a:prstDash val="solid"/>
            <a:round/>
            <a:headEnd type="none" w="med" len="med"/>
            <a:tailEnd type="triangle" w="med" len="med"/>
          </a:ln>
        </p:spPr>
      </p:cxnSp>
      <p:sp>
        <p:nvSpPr>
          <p:cNvPr id="1223" name="Google Shape;1223;p95"/>
          <p:cNvSpPr/>
          <p:nvPr/>
        </p:nvSpPr>
        <p:spPr>
          <a:xfrm>
            <a:off x="4062172" y="3831819"/>
            <a:ext cx="438900" cy="2526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grpSp>
        <p:nvGrpSpPr>
          <p:cNvPr id="1224" name="Google Shape;1224;p95"/>
          <p:cNvGrpSpPr/>
          <p:nvPr/>
        </p:nvGrpSpPr>
        <p:grpSpPr>
          <a:xfrm>
            <a:off x="1417705" y="4448675"/>
            <a:ext cx="874500" cy="417568"/>
            <a:chOff x="1928393" y="4432300"/>
            <a:chExt cx="874500" cy="417568"/>
          </a:xfrm>
        </p:grpSpPr>
        <p:sp>
          <p:nvSpPr>
            <p:cNvPr id="1225" name="Google Shape;1225;p95"/>
            <p:cNvSpPr txBox="1"/>
            <p:nvPr/>
          </p:nvSpPr>
          <p:spPr>
            <a:xfrm>
              <a:off x="19283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raw</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event</a:t>
              </a:r>
              <a:endParaRPr sz="900">
                <a:latin typeface="Didact Gothic"/>
                <a:ea typeface="Didact Gothic"/>
                <a:cs typeface="Didact Gothic"/>
                <a:sym typeface="Didact Gothic"/>
              </a:endParaRPr>
            </a:p>
          </p:txBody>
        </p:sp>
        <p:pic>
          <p:nvPicPr>
            <p:cNvPr id="1222" name="Google Shape;1222;p95"/>
            <p:cNvPicPr preferRelativeResize="0"/>
            <p:nvPr/>
          </p:nvPicPr>
          <p:blipFill>
            <a:blip r:embed="rId4">
              <a:alphaModFix/>
            </a:blip>
            <a:stretch>
              <a:fillRect/>
            </a:stretch>
          </p:blipFill>
          <p:spPr>
            <a:xfrm>
              <a:off x="2238143" y="4432300"/>
              <a:ext cx="255000" cy="255000"/>
            </a:xfrm>
            <a:prstGeom prst="rect">
              <a:avLst/>
            </a:prstGeom>
            <a:noFill/>
            <a:ln>
              <a:noFill/>
            </a:ln>
          </p:spPr>
        </p:pic>
      </p:grpSp>
      <p:pic>
        <p:nvPicPr>
          <p:cNvPr id="1226" name="Google Shape;1226;p95"/>
          <p:cNvPicPr preferRelativeResize="0"/>
          <p:nvPr/>
        </p:nvPicPr>
        <p:blipFill>
          <a:blip r:embed="rId4">
            <a:alphaModFix/>
          </a:blip>
          <a:stretch>
            <a:fillRect/>
          </a:stretch>
        </p:blipFill>
        <p:spPr>
          <a:xfrm>
            <a:off x="2949024" y="4263862"/>
            <a:ext cx="255000" cy="255000"/>
          </a:xfrm>
          <a:prstGeom prst="rect">
            <a:avLst/>
          </a:prstGeom>
          <a:noFill/>
          <a:ln>
            <a:noFill/>
          </a:ln>
        </p:spPr>
      </p:pic>
      <p:grpSp>
        <p:nvGrpSpPr>
          <p:cNvPr id="1227" name="Google Shape;1227;p95"/>
          <p:cNvGrpSpPr/>
          <p:nvPr/>
        </p:nvGrpSpPr>
        <p:grpSpPr>
          <a:xfrm>
            <a:off x="3823983" y="4258589"/>
            <a:ext cx="874500" cy="382505"/>
            <a:chOff x="4963793" y="4467363"/>
            <a:chExt cx="874500" cy="382505"/>
          </a:xfrm>
        </p:grpSpPr>
        <p:sp>
          <p:nvSpPr>
            <p:cNvPr id="1228" name="Google Shape;1228;p95"/>
            <p:cNvSpPr txBox="1"/>
            <p:nvPr/>
          </p:nvSpPr>
          <p:spPr>
            <a:xfrm>
              <a:off x="49637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a:latin typeface="Didact Gothic"/>
                <a:ea typeface="Didact Gothic"/>
                <a:cs typeface="Didact Gothic"/>
                <a:sym typeface="Didact Gothic"/>
              </a:endParaRPr>
            </a:p>
          </p:txBody>
        </p:sp>
        <p:pic>
          <p:nvPicPr>
            <p:cNvPr id="1229" name="Google Shape;1229;p95"/>
            <p:cNvPicPr preferRelativeResize="0"/>
            <p:nvPr/>
          </p:nvPicPr>
          <p:blipFill>
            <a:blip r:embed="rId4">
              <a:alphaModFix/>
            </a:blip>
            <a:stretch>
              <a:fillRect/>
            </a:stretch>
          </p:blipFill>
          <p:spPr>
            <a:xfrm>
              <a:off x="5273543" y="4467363"/>
              <a:ext cx="255000" cy="255000"/>
            </a:xfrm>
            <a:prstGeom prst="rect">
              <a:avLst/>
            </a:prstGeom>
            <a:noFill/>
            <a:ln>
              <a:noFill/>
            </a:ln>
          </p:spPr>
        </p:pic>
      </p:grpSp>
      <p:cxnSp>
        <p:nvCxnSpPr>
          <p:cNvPr id="1230" name="Google Shape;1230;p95"/>
          <p:cNvCxnSpPr>
            <a:endCxn id="1229" idx="0"/>
          </p:cNvCxnSpPr>
          <p:nvPr/>
        </p:nvCxnSpPr>
        <p:spPr>
          <a:xfrm>
            <a:off x="4257333" y="4087289"/>
            <a:ext cx="3900" cy="171300"/>
          </a:xfrm>
          <a:prstGeom prst="straightConnector1">
            <a:avLst/>
          </a:prstGeom>
          <a:noFill/>
          <a:ln w="9525" cap="flat" cmpd="sng">
            <a:solidFill>
              <a:srgbClr val="0000FF"/>
            </a:solidFill>
            <a:prstDash val="solid"/>
            <a:round/>
            <a:headEnd type="none" w="med" len="med"/>
            <a:tailEnd type="triangle" w="med" len="med"/>
          </a:ln>
        </p:spPr>
      </p:cxnSp>
      <p:cxnSp>
        <p:nvCxnSpPr>
          <p:cNvPr id="1231" name="Google Shape;1231;p95"/>
          <p:cNvCxnSpPr>
            <a:stCxn id="1232" idx="4"/>
          </p:cNvCxnSpPr>
          <p:nvPr/>
        </p:nvCxnSpPr>
        <p:spPr>
          <a:xfrm rot="10800000" flipH="1">
            <a:off x="5045294" y="2914876"/>
            <a:ext cx="1146900" cy="1606500"/>
          </a:xfrm>
          <a:prstGeom prst="bentConnector2">
            <a:avLst/>
          </a:prstGeom>
          <a:noFill/>
          <a:ln w="9525" cap="flat" cmpd="sng">
            <a:solidFill>
              <a:srgbClr val="A9283B"/>
            </a:solidFill>
            <a:prstDash val="solid"/>
            <a:round/>
            <a:headEnd type="none" w="med" len="med"/>
            <a:tailEnd type="triangle" w="med" len="med"/>
          </a:ln>
        </p:spPr>
      </p:cxnSp>
      <p:sp>
        <p:nvSpPr>
          <p:cNvPr id="1233" name="Google Shape;1233;p95"/>
          <p:cNvSpPr txBox="1"/>
          <p:nvPr/>
        </p:nvSpPr>
        <p:spPr>
          <a:xfrm>
            <a:off x="285786" y="191715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KuaiLive</a:t>
            </a:r>
            <a:endParaRPr sz="900">
              <a:solidFill>
                <a:srgbClr val="000000"/>
              </a:solidFill>
              <a:latin typeface="Didact Gothic"/>
              <a:ea typeface="Didact Gothic"/>
              <a:cs typeface="Didact Gothic"/>
              <a:sym typeface="Didact Gothic"/>
            </a:endParaRPr>
          </a:p>
        </p:txBody>
      </p:sp>
      <p:grpSp>
        <p:nvGrpSpPr>
          <p:cNvPr id="1234" name="Google Shape;1234;p95"/>
          <p:cNvGrpSpPr/>
          <p:nvPr/>
        </p:nvGrpSpPr>
        <p:grpSpPr>
          <a:xfrm>
            <a:off x="5965526" y="4474050"/>
            <a:ext cx="874500" cy="453918"/>
            <a:chOff x="6512501" y="4457725"/>
            <a:chExt cx="874500" cy="453918"/>
          </a:xfrm>
        </p:grpSpPr>
        <p:pic>
          <p:nvPicPr>
            <p:cNvPr id="1235" name="Google Shape;1235;p95"/>
            <p:cNvPicPr preferRelativeResize="0"/>
            <p:nvPr/>
          </p:nvPicPr>
          <p:blipFill rotWithShape="1">
            <a:blip r:embed="rId5">
              <a:alphaModFix/>
            </a:blip>
            <a:srcRect t="8291"/>
            <a:stretch/>
          </p:blipFill>
          <p:spPr>
            <a:xfrm>
              <a:off x="6789551" y="4457725"/>
              <a:ext cx="320399" cy="293825"/>
            </a:xfrm>
            <a:prstGeom prst="rect">
              <a:avLst/>
            </a:prstGeom>
            <a:noFill/>
            <a:ln>
              <a:noFill/>
            </a:ln>
          </p:spPr>
        </p:pic>
        <p:sp>
          <p:nvSpPr>
            <p:cNvPr id="1236" name="Google Shape;1236;p95"/>
            <p:cNvSpPr txBox="1"/>
            <p:nvPr/>
          </p:nvSpPr>
          <p:spPr>
            <a:xfrm>
              <a:off x="6512501" y="4671643"/>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redis</a:t>
              </a:r>
              <a:endParaRPr sz="900">
                <a:latin typeface="Didact Gothic"/>
                <a:ea typeface="Didact Gothic"/>
                <a:cs typeface="Didact Gothic"/>
                <a:sym typeface="Didact Gothic"/>
              </a:endParaRPr>
            </a:p>
          </p:txBody>
        </p:sp>
      </p:grpSp>
      <p:cxnSp>
        <p:nvCxnSpPr>
          <p:cNvPr id="1237" name="Google Shape;1237;p95"/>
          <p:cNvCxnSpPr>
            <a:stCxn id="1191" idx="2"/>
            <a:endCxn id="1235" idx="0"/>
          </p:cNvCxnSpPr>
          <p:nvPr/>
        </p:nvCxnSpPr>
        <p:spPr>
          <a:xfrm flipH="1">
            <a:off x="6402688" y="2930250"/>
            <a:ext cx="3600" cy="1543800"/>
          </a:xfrm>
          <a:prstGeom prst="straightConnector1">
            <a:avLst/>
          </a:prstGeom>
          <a:noFill/>
          <a:ln w="9525" cap="flat" cmpd="sng">
            <a:solidFill>
              <a:srgbClr val="A9283B"/>
            </a:solidFill>
            <a:prstDash val="solid"/>
            <a:round/>
            <a:headEnd type="none" w="med" len="med"/>
            <a:tailEnd type="triangle" w="med" len="med"/>
          </a:ln>
        </p:spPr>
      </p:cxnSp>
      <p:sp>
        <p:nvSpPr>
          <p:cNvPr id="1238" name="Google Shape;1238;p95"/>
          <p:cNvSpPr/>
          <p:nvPr/>
        </p:nvSpPr>
        <p:spPr>
          <a:xfrm>
            <a:off x="937988" y="1413875"/>
            <a:ext cx="149700" cy="1331100"/>
          </a:xfrm>
          <a:prstGeom prst="leftBrace">
            <a:avLst>
              <a:gd name="adj1" fmla="val 50000"/>
              <a:gd name="adj2" fmla="val 5053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idact Gothic"/>
              <a:ea typeface="Didact Gothic"/>
              <a:cs typeface="Didact Gothic"/>
              <a:sym typeface="Didact Gothic"/>
            </a:endParaRPr>
          </a:p>
        </p:txBody>
      </p:sp>
      <p:sp>
        <p:nvSpPr>
          <p:cNvPr id="1239" name="Google Shape;1239;p95"/>
          <p:cNvSpPr txBox="1"/>
          <p:nvPr/>
        </p:nvSpPr>
        <p:spPr>
          <a:xfrm>
            <a:off x="6287605" y="2849177"/>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cxnSp>
        <p:nvCxnSpPr>
          <p:cNvPr id="1240" name="Google Shape;1240;p95"/>
          <p:cNvCxnSpPr>
            <a:stCxn id="1235" idx="3"/>
            <a:endCxn id="1189" idx="2"/>
          </p:cNvCxnSpPr>
          <p:nvPr/>
        </p:nvCxnSpPr>
        <p:spPr>
          <a:xfrm>
            <a:off x="6562976" y="4620963"/>
            <a:ext cx="622200" cy="1800"/>
          </a:xfrm>
          <a:prstGeom prst="straightConnector1">
            <a:avLst/>
          </a:prstGeom>
          <a:noFill/>
          <a:ln w="9525" cap="flat" cmpd="sng">
            <a:solidFill>
              <a:schemeClr val="dk1"/>
            </a:solidFill>
            <a:prstDash val="solid"/>
            <a:round/>
            <a:headEnd type="none" w="med" len="med"/>
            <a:tailEnd type="triangle" w="med" len="med"/>
          </a:ln>
        </p:spPr>
      </p:cxnSp>
      <p:sp>
        <p:nvSpPr>
          <p:cNvPr id="1241" name="Google Shape;1241;p95"/>
          <p:cNvSpPr/>
          <p:nvPr/>
        </p:nvSpPr>
        <p:spPr>
          <a:xfrm>
            <a:off x="7117575" y="3343538"/>
            <a:ext cx="8745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ml_monitor.py</a:t>
            </a:r>
            <a:endParaRPr sz="900">
              <a:latin typeface="Didact Gothic"/>
              <a:ea typeface="Didact Gothic"/>
              <a:cs typeface="Didact Gothic"/>
              <a:sym typeface="Didact Gothic"/>
            </a:endParaRPr>
          </a:p>
        </p:txBody>
      </p:sp>
      <p:cxnSp>
        <p:nvCxnSpPr>
          <p:cNvPr id="1242" name="Google Shape;1242;p95"/>
          <p:cNvCxnSpPr>
            <a:endCxn id="1241" idx="0"/>
          </p:cNvCxnSpPr>
          <p:nvPr/>
        </p:nvCxnSpPr>
        <p:spPr>
          <a:xfrm>
            <a:off x="5128125" y="1362938"/>
            <a:ext cx="2426700" cy="1980600"/>
          </a:xfrm>
          <a:prstGeom prst="bentConnector2">
            <a:avLst/>
          </a:prstGeom>
          <a:noFill/>
          <a:ln w="9525" cap="flat" cmpd="sng">
            <a:solidFill>
              <a:srgbClr val="6AA84F"/>
            </a:solidFill>
            <a:prstDash val="solid"/>
            <a:round/>
            <a:headEnd type="none" w="med" len="med"/>
            <a:tailEnd type="triangle" w="med" len="med"/>
          </a:ln>
        </p:spPr>
      </p:cxnSp>
      <p:cxnSp>
        <p:nvCxnSpPr>
          <p:cNvPr id="1243" name="Google Shape;1243;p95"/>
          <p:cNvCxnSpPr/>
          <p:nvPr/>
        </p:nvCxnSpPr>
        <p:spPr>
          <a:xfrm rot="-5400000">
            <a:off x="5017063" y="1389300"/>
            <a:ext cx="141300" cy="78600"/>
          </a:xfrm>
          <a:prstGeom prst="bentConnector3">
            <a:avLst>
              <a:gd name="adj1" fmla="val 2212"/>
            </a:avLst>
          </a:prstGeom>
          <a:noFill/>
          <a:ln w="9525" cap="flat" cmpd="sng">
            <a:solidFill>
              <a:srgbClr val="6AA84F"/>
            </a:solidFill>
            <a:prstDash val="solid"/>
            <a:round/>
            <a:headEnd type="none" w="med" len="med"/>
            <a:tailEnd type="none" w="med" len="med"/>
          </a:ln>
        </p:spPr>
      </p:cxnSp>
      <p:cxnSp>
        <p:nvCxnSpPr>
          <p:cNvPr id="1244" name="Google Shape;1244;p95"/>
          <p:cNvCxnSpPr>
            <a:endCxn id="1241" idx="1"/>
          </p:cNvCxnSpPr>
          <p:nvPr/>
        </p:nvCxnSpPr>
        <p:spPr>
          <a:xfrm rot="10800000" flipH="1">
            <a:off x="5046675" y="3450488"/>
            <a:ext cx="2070900" cy="12900"/>
          </a:xfrm>
          <a:prstGeom prst="straightConnector1">
            <a:avLst/>
          </a:prstGeom>
          <a:noFill/>
          <a:ln w="9525" cap="flat" cmpd="sng">
            <a:solidFill>
              <a:srgbClr val="6AA84F"/>
            </a:solidFill>
            <a:prstDash val="solid"/>
            <a:round/>
            <a:headEnd type="none" w="med" len="med"/>
            <a:tailEnd type="triangle" w="med" len="med"/>
          </a:ln>
        </p:spPr>
      </p:cxnSp>
      <p:cxnSp>
        <p:nvCxnSpPr>
          <p:cNvPr id="1245" name="Google Shape;1245;p95"/>
          <p:cNvCxnSpPr>
            <a:stCxn id="1241" idx="2"/>
            <a:endCxn id="1216" idx="4"/>
          </p:cNvCxnSpPr>
          <p:nvPr/>
        </p:nvCxnSpPr>
        <p:spPr>
          <a:xfrm rot="5400000">
            <a:off x="6122925" y="2479838"/>
            <a:ext cx="354300" cy="2509500"/>
          </a:xfrm>
          <a:prstGeom prst="bentConnector2">
            <a:avLst/>
          </a:prstGeom>
          <a:noFill/>
          <a:ln w="9525" cap="flat" cmpd="sng">
            <a:solidFill>
              <a:srgbClr val="6AA84F"/>
            </a:solidFill>
            <a:prstDash val="solid"/>
            <a:round/>
            <a:headEnd type="none" w="med" len="med"/>
            <a:tailEnd type="triangle" w="med" len="med"/>
          </a:ln>
        </p:spPr>
      </p:cxnSp>
      <p:cxnSp>
        <p:nvCxnSpPr>
          <p:cNvPr id="1246" name="Google Shape;1246;p95"/>
          <p:cNvCxnSpPr>
            <a:endCxn id="1189" idx="0"/>
          </p:cNvCxnSpPr>
          <p:nvPr/>
        </p:nvCxnSpPr>
        <p:spPr>
          <a:xfrm>
            <a:off x="5046814" y="4028975"/>
            <a:ext cx="2508000" cy="252600"/>
          </a:xfrm>
          <a:prstGeom prst="bentConnector2">
            <a:avLst/>
          </a:prstGeom>
          <a:noFill/>
          <a:ln w="9525" cap="flat" cmpd="sng">
            <a:solidFill>
              <a:srgbClr val="6AA84F"/>
            </a:solidFill>
            <a:prstDash val="solid"/>
            <a:round/>
            <a:headEnd type="none" w="med" len="med"/>
            <a:tailEnd type="triangle" w="med" len="med"/>
          </a:ln>
        </p:spPr>
      </p:cxnSp>
      <p:sp>
        <p:nvSpPr>
          <p:cNvPr id="1247" name="Google Shape;1247;p95"/>
          <p:cNvSpPr/>
          <p:nvPr/>
        </p:nvSpPr>
        <p:spPr>
          <a:xfrm>
            <a:off x="8063763" y="2578199"/>
            <a:ext cx="874500" cy="5091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Manual Review &amp; Retrain</a:t>
            </a:r>
            <a:endParaRPr sz="900">
              <a:latin typeface="Didact Gothic"/>
              <a:ea typeface="Didact Gothic"/>
              <a:cs typeface="Didact Gothic"/>
              <a:sym typeface="Didact Gothic"/>
            </a:endParaRPr>
          </a:p>
        </p:txBody>
      </p:sp>
      <p:sp>
        <p:nvSpPr>
          <p:cNvPr id="1248" name="Google Shape;1248;p95"/>
          <p:cNvSpPr/>
          <p:nvPr/>
        </p:nvSpPr>
        <p:spPr>
          <a:xfrm>
            <a:off x="8063763" y="1967525"/>
            <a:ext cx="874500" cy="369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Canary Deployment</a:t>
            </a:r>
            <a:endParaRPr sz="900">
              <a:latin typeface="Didact Gothic"/>
              <a:ea typeface="Didact Gothic"/>
              <a:cs typeface="Didact Gothic"/>
              <a:sym typeface="Didact Gothic"/>
            </a:endParaRPr>
          </a:p>
        </p:txBody>
      </p:sp>
      <p:sp>
        <p:nvSpPr>
          <p:cNvPr id="1249" name="Google Shape;1249;p95"/>
          <p:cNvSpPr/>
          <p:nvPr/>
        </p:nvSpPr>
        <p:spPr>
          <a:xfrm>
            <a:off x="8063763" y="1354925"/>
            <a:ext cx="874500" cy="369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Promote / Rollback</a:t>
            </a:r>
            <a:endParaRPr sz="900">
              <a:latin typeface="Didact Gothic"/>
              <a:ea typeface="Didact Gothic"/>
              <a:cs typeface="Didact Gothic"/>
              <a:sym typeface="Didact Gothic"/>
            </a:endParaRPr>
          </a:p>
        </p:txBody>
      </p:sp>
      <p:cxnSp>
        <p:nvCxnSpPr>
          <p:cNvPr id="1250" name="Google Shape;1250;p95"/>
          <p:cNvCxnSpPr>
            <a:stCxn id="1241" idx="3"/>
            <a:endCxn id="1247" idx="2"/>
          </p:cNvCxnSpPr>
          <p:nvPr/>
        </p:nvCxnSpPr>
        <p:spPr>
          <a:xfrm rot="10800000" flipH="1">
            <a:off x="7992075" y="3087188"/>
            <a:ext cx="508800" cy="363300"/>
          </a:xfrm>
          <a:prstGeom prst="bentConnector2">
            <a:avLst/>
          </a:prstGeom>
          <a:noFill/>
          <a:ln w="9525" cap="flat" cmpd="sng">
            <a:solidFill>
              <a:schemeClr val="dk1"/>
            </a:solidFill>
            <a:prstDash val="solid"/>
            <a:round/>
            <a:headEnd type="none" w="med" len="med"/>
            <a:tailEnd type="triangle" w="med" len="med"/>
          </a:ln>
        </p:spPr>
      </p:cxnSp>
      <p:cxnSp>
        <p:nvCxnSpPr>
          <p:cNvPr id="1251" name="Google Shape;1251;p95"/>
          <p:cNvCxnSpPr>
            <a:endCxn id="1248" idx="2"/>
          </p:cNvCxnSpPr>
          <p:nvPr/>
        </p:nvCxnSpPr>
        <p:spPr>
          <a:xfrm rot="10800000">
            <a:off x="8501013" y="2337425"/>
            <a:ext cx="0" cy="240900"/>
          </a:xfrm>
          <a:prstGeom prst="straightConnector1">
            <a:avLst/>
          </a:prstGeom>
          <a:noFill/>
          <a:ln w="9525" cap="flat" cmpd="sng">
            <a:solidFill>
              <a:schemeClr val="dk1"/>
            </a:solidFill>
            <a:prstDash val="solid"/>
            <a:round/>
            <a:headEnd type="none" w="med" len="med"/>
            <a:tailEnd type="triangle" w="med" len="med"/>
          </a:ln>
        </p:spPr>
      </p:cxnSp>
      <p:cxnSp>
        <p:nvCxnSpPr>
          <p:cNvPr id="1252" name="Google Shape;1252;p95"/>
          <p:cNvCxnSpPr>
            <a:stCxn id="1248" idx="0"/>
            <a:endCxn id="1249" idx="2"/>
          </p:cNvCxnSpPr>
          <p:nvPr/>
        </p:nvCxnSpPr>
        <p:spPr>
          <a:xfrm rot="10800000">
            <a:off x="8501013" y="1724825"/>
            <a:ext cx="0" cy="242700"/>
          </a:xfrm>
          <a:prstGeom prst="straightConnector1">
            <a:avLst/>
          </a:prstGeom>
          <a:noFill/>
          <a:ln w="9525" cap="flat" cmpd="sng">
            <a:solidFill>
              <a:schemeClr val="dk1"/>
            </a:solidFill>
            <a:prstDash val="solid"/>
            <a:round/>
            <a:headEnd type="none" w="med" len="med"/>
            <a:tailEnd type="triangle" w="med" len="med"/>
          </a:ln>
        </p:spPr>
      </p:cxnSp>
      <p:cxnSp>
        <p:nvCxnSpPr>
          <p:cNvPr id="1253" name="Google Shape;1253;p95"/>
          <p:cNvCxnSpPr>
            <a:stCxn id="1247" idx="1"/>
            <a:endCxn id="1192" idx="5"/>
          </p:cNvCxnSpPr>
          <p:nvPr/>
        </p:nvCxnSpPr>
        <p:spPr>
          <a:xfrm rot="10800000">
            <a:off x="6512763" y="2170349"/>
            <a:ext cx="1551000" cy="662400"/>
          </a:xfrm>
          <a:prstGeom prst="bentConnector3">
            <a:avLst>
              <a:gd name="adj1" fmla="val 50002"/>
            </a:avLst>
          </a:prstGeom>
          <a:noFill/>
          <a:ln w="9525" cap="flat" cmpd="sng">
            <a:solidFill>
              <a:schemeClr val="dk2"/>
            </a:solidFill>
            <a:prstDash val="solid"/>
            <a:round/>
            <a:headEnd type="none" w="med" len="med"/>
            <a:tailEnd type="triangle" w="med" len="med"/>
          </a:ln>
        </p:spPr>
      </p:cxnSp>
      <p:sp>
        <p:nvSpPr>
          <p:cNvPr id="1254" name="Google Shape;1254;p95"/>
          <p:cNvSpPr txBox="1"/>
          <p:nvPr/>
        </p:nvSpPr>
        <p:spPr>
          <a:xfrm>
            <a:off x="205713" y="4203110"/>
            <a:ext cx="1490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Didact Gothic"/>
                <a:ea typeface="Didact Gothic"/>
                <a:cs typeface="Didact Gothic"/>
                <a:sym typeface="Didact Gothic"/>
              </a:rPr>
              <a:t>Inference</a:t>
            </a:r>
            <a:endParaRPr sz="900" b="1">
              <a:solidFill>
                <a:schemeClr val="dk1"/>
              </a:solidFill>
              <a:latin typeface="Didact Gothic"/>
              <a:ea typeface="Didact Gothic"/>
              <a:cs typeface="Didact Gothic"/>
              <a:sym typeface="Didact Gothic"/>
            </a:endParaRPr>
          </a:p>
        </p:txBody>
      </p:sp>
      <p:cxnSp>
        <p:nvCxnSpPr>
          <p:cNvPr id="1255" name="Google Shape;1255;p95"/>
          <p:cNvCxnSpPr>
            <a:stCxn id="1222" idx="0"/>
            <a:endCxn id="1183" idx="2"/>
          </p:cNvCxnSpPr>
          <p:nvPr/>
        </p:nvCxnSpPr>
        <p:spPr>
          <a:xfrm rot="10800000" flipH="1">
            <a:off x="1854955" y="3752075"/>
            <a:ext cx="2400" cy="696600"/>
          </a:xfrm>
          <a:prstGeom prst="straightConnector1">
            <a:avLst/>
          </a:prstGeom>
          <a:noFill/>
          <a:ln w="9525" cap="flat" cmpd="sng">
            <a:solidFill>
              <a:srgbClr val="0000FF"/>
            </a:solidFill>
            <a:prstDash val="solid"/>
            <a:round/>
            <a:headEnd type="none" w="med" len="med"/>
            <a:tailEnd type="triangle" w="med" len="med"/>
          </a:ln>
        </p:spPr>
      </p:cxnSp>
      <p:grpSp>
        <p:nvGrpSpPr>
          <p:cNvPr id="1256" name="Google Shape;1256;p95"/>
          <p:cNvGrpSpPr/>
          <p:nvPr/>
        </p:nvGrpSpPr>
        <p:grpSpPr>
          <a:xfrm>
            <a:off x="3317043" y="3727660"/>
            <a:ext cx="697800" cy="471367"/>
            <a:chOff x="1543350" y="1839908"/>
            <a:chExt cx="697800" cy="471367"/>
          </a:xfrm>
        </p:grpSpPr>
        <p:sp>
          <p:nvSpPr>
            <p:cNvPr id="1257" name="Google Shape;1257;p95"/>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258" name="Google Shape;1258;p95"/>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259" name="Google Shape;1259;p95"/>
          <p:cNvSpPr/>
          <p:nvPr/>
        </p:nvSpPr>
        <p:spPr>
          <a:xfrm>
            <a:off x="2858249" y="3843350"/>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260" name="Google Shape;1260;p95"/>
          <p:cNvCxnSpPr>
            <a:endCxn id="1259" idx="1"/>
          </p:cNvCxnSpPr>
          <p:nvPr/>
        </p:nvCxnSpPr>
        <p:spPr>
          <a:xfrm>
            <a:off x="2611949" y="3963350"/>
            <a:ext cx="246300" cy="0"/>
          </a:xfrm>
          <a:prstGeom prst="straightConnector1">
            <a:avLst/>
          </a:prstGeom>
          <a:noFill/>
          <a:ln w="9525" cap="flat" cmpd="sng">
            <a:solidFill>
              <a:srgbClr val="0000FF"/>
            </a:solidFill>
            <a:prstDash val="solid"/>
            <a:round/>
            <a:headEnd type="none" w="med" len="med"/>
            <a:tailEnd type="triangle" w="med" len="med"/>
          </a:ln>
        </p:spPr>
      </p:cxnSp>
      <p:grpSp>
        <p:nvGrpSpPr>
          <p:cNvPr id="1261" name="Google Shape;1261;p95"/>
          <p:cNvGrpSpPr/>
          <p:nvPr/>
        </p:nvGrpSpPr>
        <p:grpSpPr>
          <a:xfrm>
            <a:off x="4470905" y="4356813"/>
            <a:ext cx="874500" cy="485914"/>
            <a:chOff x="4118269" y="1292336"/>
            <a:chExt cx="874500" cy="485914"/>
          </a:xfrm>
        </p:grpSpPr>
        <p:sp>
          <p:nvSpPr>
            <p:cNvPr id="1262" name="Google Shape;1262;p95"/>
            <p:cNvSpPr txBox="1"/>
            <p:nvPr/>
          </p:nvSpPr>
          <p:spPr>
            <a:xfrm>
              <a:off x="4118269" y="15382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latin typeface="Didact Gothic"/>
                <a:ea typeface="Didact Gothic"/>
                <a:cs typeface="Didact Gothic"/>
                <a:sym typeface="Didact Gothic"/>
              </a:endParaRPr>
            </a:p>
          </p:txBody>
        </p:sp>
        <p:sp>
          <p:nvSpPr>
            <p:cNvPr id="1232" name="Google Shape;1232;p95"/>
            <p:cNvSpPr/>
            <p:nvPr/>
          </p:nvSpPr>
          <p:spPr>
            <a:xfrm>
              <a:off x="4418380" y="12923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263" name="Google Shape;1263;p95"/>
          <p:cNvCxnSpPr>
            <a:stCxn id="1259" idx="2"/>
            <a:endCxn id="1226" idx="0"/>
          </p:cNvCxnSpPr>
          <p:nvPr/>
        </p:nvCxnSpPr>
        <p:spPr>
          <a:xfrm flipH="1">
            <a:off x="3076499" y="4083350"/>
            <a:ext cx="1200" cy="180600"/>
          </a:xfrm>
          <a:prstGeom prst="straightConnector1">
            <a:avLst/>
          </a:prstGeom>
          <a:noFill/>
          <a:ln w="9525" cap="flat" cmpd="sng">
            <a:solidFill>
              <a:srgbClr val="0000FF"/>
            </a:solidFill>
            <a:prstDash val="solid"/>
            <a:round/>
            <a:headEnd type="none" w="med" len="med"/>
            <a:tailEnd type="triangle" w="med" len="med"/>
          </a:ln>
        </p:spPr>
      </p:cxnSp>
      <p:sp>
        <p:nvSpPr>
          <p:cNvPr id="1264" name="Google Shape;1264;p95"/>
          <p:cNvSpPr/>
          <p:nvPr/>
        </p:nvSpPr>
        <p:spPr>
          <a:xfrm>
            <a:off x="4045123" y="4687762"/>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265" name="Google Shape;1265;p95"/>
          <p:cNvCxnSpPr>
            <a:stCxn id="1229" idx="2"/>
            <a:endCxn id="1264" idx="0"/>
          </p:cNvCxnSpPr>
          <p:nvPr/>
        </p:nvCxnSpPr>
        <p:spPr>
          <a:xfrm>
            <a:off x="4261233" y="4513588"/>
            <a:ext cx="3300" cy="174300"/>
          </a:xfrm>
          <a:prstGeom prst="straightConnector1">
            <a:avLst/>
          </a:prstGeom>
          <a:noFill/>
          <a:ln w="9525" cap="flat" cmpd="sng">
            <a:solidFill>
              <a:srgbClr val="0000FF"/>
            </a:solidFill>
            <a:prstDash val="solid"/>
            <a:round/>
            <a:headEnd type="none" w="med" len="med"/>
            <a:tailEnd type="triangle" w="med" len="med"/>
          </a:ln>
        </p:spPr>
      </p:cxnSp>
      <p:sp>
        <p:nvSpPr>
          <p:cNvPr id="1266" name="Google Shape;1266;p95"/>
          <p:cNvSpPr/>
          <p:nvPr/>
        </p:nvSpPr>
        <p:spPr>
          <a:xfrm>
            <a:off x="2850632" y="4681600"/>
            <a:ext cx="438900" cy="2523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267" name="Google Shape;1267;p95"/>
          <p:cNvCxnSpPr>
            <a:stCxn id="1226" idx="2"/>
            <a:endCxn id="1266" idx="0"/>
          </p:cNvCxnSpPr>
          <p:nvPr/>
        </p:nvCxnSpPr>
        <p:spPr>
          <a:xfrm flipH="1">
            <a:off x="3070224" y="4518861"/>
            <a:ext cx="6300" cy="162600"/>
          </a:xfrm>
          <a:prstGeom prst="straightConnector1">
            <a:avLst/>
          </a:prstGeom>
          <a:noFill/>
          <a:ln w="9525" cap="flat" cmpd="sng">
            <a:solidFill>
              <a:srgbClr val="0000FF"/>
            </a:solidFill>
            <a:prstDash val="solid"/>
            <a:round/>
            <a:headEnd type="none" w="med" len="med"/>
            <a:tailEnd type="triangle" w="med" len="med"/>
          </a:ln>
        </p:spPr>
      </p:cxnSp>
      <p:cxnSp>
        <p:nvCxnSpPr>
          <p:cNvPr id="1268" name="Google Shape;1268;p95"/>
          <p:cNvCxnSpPr>
            <a:stCxn id="1266" idx="3"/>
            <a:endCxn id="1258" idx="2"/>
          </p:cNvCxnSpPr>
          <p:nvPr/>
        </p:nvCxnSpPr>
        <p:spPr>
          <a:xfrm rot="10800000" flipH="1">
            <a:off x="3289532" y="3892150"/>
            <a:ext cx="239400" cy="915600"/>
          </a:xfrm>
          <a:prstGeom prst="bentConnector3">
            <a:avLst>
              <a:gd name="adj1" fmla="val 49973"/>
            </a:avLst>
          </a:prstGeom>
          <a:noFill/>
          <a:ln w="9525" cap="flat" cmpd="sng">
            <a:solidFill>
              <a:srgbClr val="0000FF"/>
            </a:solidFill>
            <a:prstDash val="solid"/>
            <a:round/>
            <a:headEnd type="none" w="med" len="med"/>
            <a:tailEnd type="triangle" w="med" len="med"/>
          </a:ln>
        </p:spPr>
      </p:cxnSp>
      <p:cxnSp>
        <p:nvCxnSpPr>
          <p:cNvPr id="1269" name="Google Shape;1269;p95"/>
          <p:cNvCxnSpPr>
            <a:stCxn id="1264" idx="3"/>
            <a:endCxn id="1232" idx="2"/>
          </p:cNvCxnSpPr>
          <p:nvPr/>
        </p:nvCxnSpPr>
        <p:spPr>
          <a:xfrm rot="10800000" flipH="1">
            <a:off x="4484023" y="4521262"/>
            <a:ext cx="287100" cy="286500"/>
          </a:xfrm>
          <a:prstGeom prst="bentConnector3">
            <a:avLst>
              <a:gd name="adj1" fmla="val 49981"/>
            </a:avLst>
          </a:prstGeom>
          <a:noFill/>
          <a:ln w="9525" cap="flat" cmpd="sng">
            <a:solidFill>
              <a:srgbClr val="0000FF"/>
            </a:solidFill>
            <a:prstDash val="solid"/>
            <a:round/>
            <a:headEnd type="none" w="med" len="med"/>
            <a:tailEnd type="triangle" w="med" len="med"/>
          </a:ln>
        </p:spPr>
      </p:cxnSp>
      <p:cxnSp>
        <p:nvCxnSpPr>
          <p:cNvPr id="1270" name="Google Shape;1270;p95"/>
          <p:cNvCxnSpPr/>
          <p:nvPr/>
        </p:nvCxnSpPr>
        <p:spPr>
          <a:xfrm>
            <a:off x="3810248" y="3963350"/>
            <a:ext cx="246300" cy="0"/>
          </a:xfrm>
          <a:prstGeom prst="straightConnector1">
            <a:avLst/>
          </a:prstGeom>
          <a:noFill/>
          <a:ln w="9525" cap="flat" cmpd="sng">
            <a:solidFill>
              <a:srgbClr val="0000FF"/>
            </a:solidFill>
            <a:prstDash val="solid"/>
            <a:round/>
            <a:headEnd type="none" w="med" len="med"/>
            <a:tailEnd type="triangle" w="med" len="med"/>
          </a:ln>
        </p:spPr>
      </p:cxnSp>
      <p:sp>
        <p:nvSpPr>
          <p:cNvPr id="1271" name="Google Shape;1271;p95"/>
          <p:cNvSpPr txBox="1"/>
          <p:nvPr/>
        </p:nvSpPr>
        <p:spPr>
          <a:xfrm>
            <a:off x="5522275" y="377227"/>
            <a:ext cx="3416100" cy="923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800" b="1" u="sng">
                <a:latin typeface="Poppins"/>
                <a:ea typeface="Poppins"/>
                <a:cs typeface="Poppins"/>
                <a:sym typeface="Poppins"/>
              </a:rPr>
              <a:t>LEGEND</a:t>
            </a:r>
            <a:endParaRPr sz="800" b="1" u="sng">
              <a:latin typeface="Poppins"/>
              <a:ea typeface="Poppins"/>
              <a:cs typeface="Poppins"/>
              <a:sym typeface="Poppins"/>
            </a:endParaRPr>
          </a:p>
          <a:p>
            <a:pPr marL="0" lvl="0" indent="0" algn="l" rtl="0">
              <a:spcBef>
                <a:spcPts val="0"/>
              </a:spcBef>
              <a:spcAft>
                <a:spcPts val="0"/>
              </a:spcAft>
              <a:buNone/>
            </a:pPr>
            <a:r>
              <a:rPr lang="en" sz="800">
                <a:latin typeface="Poppins"/>
                <a:ea typeface="Poppins"/>
                <a:cs typeface="Poppins"/>
                <a:sym typeface="Poppins"/>
              </a:rPr>
              <a:t>→ 	Batches (Training + EOD Rolling updates)</a:t>
            </a:r>
            <a:endParaRPr sz="800">
              <a:latin typeface="Poppins"/>
              <a:ea typeface="Poppins"/>
              <a:cs typeface="Poppins"/>
              <a:sym typeface="Poppins"/>
            </a:endParaRPr>
          </a:p>
          <a:p>
            <a:pPr marL="0" lvl="0" indent="0" algn="l" rtl="0">
              <a:spcBef>
                <a:spcPts val="0"/>
              </a:spcBef>
              <a:spcAft>
                <a:spcPts val="0"/>
              </a:spcAft>
              <a:buNone/>
            </a:pPr>
            <a:r>
              <a:rPr lang="en" sz="800">
                <a:solidFill>
                  <a:srgbClr val="0000FF"/>
                </a:solidFill>
                <a:latin typeface="Poppins"/>
                <a:ea typeface="Poppins"/>
                <a:cs typeface="Poppins"/>
                <a:sym typeface="Poppins"/>
              </a:rPr>
              <a:t>→ 	Real-Time Feature Flow</a:t>
            </a:r>
            <a:endParaRPr sz="800">
              <a:solidFill>
                <a:srgbClr val="0000FF"/>
              </a:solidFill>
              <a:latin typeface="Poppins"/>
              <a:ea typeface="Poppins"/>
              <a:cs typeface="Poppins"/>
              <a:sym typeface="Poppins"/>
            </a:endParaRPr>
          </a:p>
          <a:p>
            <a:pPr marL="0" lvl="0" indent="0" algn="l" rtl="0">
              <a:spcBef>
                <a:spcPts val="0"/>
              </a:spcBef>
              <a:spcAft>
                <a:spcPts val="0"/>
              </a:spcAft>
              <a:buNone/>
            </a:pPr>
            <a:r>
              <a:rPr lang="en" sz="800">
                <a:solidFill>
                  <a:srgbClr val="A9283B"/>
                </a:solidFill>
                <a:latin typeface="Poppins"/>
                <a:ea typeface="Poppins"/>
                <a:cs typeface="Poppins"/>
                <a:sym typeface="Poppins"/>
              </a:rPr>
              <a:t>→ 	Real-Time Predictions</a:t>
            </a:r>
            <a:endParaRPr sz="800">
              <a:solidFill>
                <a:srgbClr val="A9283B"/>
              </a:solidFill>
              <a:latin typeface="Poppins"/>
              <a:ea typeface="Poppins"/>
              <a:cs typeface="Poppins"/>
              <a:sym typeface="Poppins"/>
            </a:endParaRPr>
          </a:p>
          <a:p>
            <a:pPr marL="0" lvl="0" indent="0" algn="l" rtl="0">
              <a:spcBef>
                <a:spcPts val="0"/>
              </a:spcBef>
              <a:spcAft>
                <a:spcPts val="0"/>
              </a:spcAft>
              <a:buNone/>
            </a:pPr>
            <a:r>
              <a:rPr lang="en" sz="800">
                <a:solidFill>
                  <a:srgbClr val="93C47D"/>
                </a:solidFill>
                <a:latin typeface="Poppins"/>
                <a:ea typeface="Poppins"/>
                <a:cs typeface="Poppins"/>
                <a:sym typeface="Poppins"/>
              </a:rPr>
              <a:t>→ 	Monitoring</a:t>
            </a:r>
            <a:endParaRPr sz="800">
              <a:solidFill>
                <a:srgbClr val="93C47D"/>
              </a:solidFill>
              <a:latin typeface="Poppins"/>
              <a:ea typeface="Poppins"/>
              <a:cs typeface="Poppins"/>
              <a:sym typeface="Poppins"/>
            </a:endParaRPr>
          </a:p>
          <a:p>
            <a:pPr marL="0" lvl="0" indent="0" algn="l" rtl="0">
              <a:spcBef>
                <a:spcPts val="0"/>
              </a:spcBef>
              <a:spcAft>
                <a:spcPts val="0"/>
              </a:spcAft>
              <a:buNone/>
            </a:pPr>
            <a:r>
              <a:rPr lang="en" sz="800">
                <a:solidFill>
                  <a:schemeClr val="dk1"/>
                </a:solidFill>
                <a:latin typeface="Poppins"/>
                <a:ea typeface="Poppins"/>
                <a:cs typeface="Poppins"/>
                <a:sym typeface="Poppins"/>
              </a:rPr>
              <a:t>sETL	Streaming ETL (Do minimal processing)</a:t>
            </a:r>
            <a:endParaRPr sz="800">
              <a:solidFill>
                <a:schemeClr val="dk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5"/>
        <p:cNvGrpSpPr/>
        <p:nvPr/>
      </p:nvGrpSpPr>
      <p:grpSpPr>
        <a:xfrm>
          <a:off x="0" y="0"/>
          <a:ext cx="0" cy="0"/>
          <a:chOff x="0" y="0"/>
          <a:chExt cx="0" cy="0"/>
        </a:xfrm>
      </p:grpSpPr>
      <p:sp>
        <p:nvSpPr>
          <p:cNvPr id="1276" name="Google Shape;1276;p96"/>
          <p:cNvSpPr txBox="1">
            <a:spLocks noGrp="1"/>
          </p:cNvSpPr>
          <p:nvPr>
            <p:ph type="title"/>
          </p:nvPr>
        </p:nvSpPr>
        <p:spPr>
          <a:xfrm>
            <a:off x="273500" y="539500"/>
            <a:ext cx="859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Model Pipeline &amp; Training</a:t>
            </a:r>
            <a:endParaRPr/>
          </a:p>
        </p:txBody>
      </p:sp>
      <p:sp>
        <p:nvSpPr>
          <p:cNvPr id="1277" name="Google Shape;1277;p96"/>
          <p:cNvSpPr/>
          <p:nvPr/>
        </p:nvSpPr>
        <p:spPr>
          <a:xfrm>
            <a:off x="4563238" y="1168850"/>
            <a:ext cx="652200" cy="3064500"/>
          </a:xfrm>
          <a:prstGeom prst="rect">
            <a:avLst/>
          </a:prstGeom>
          <a:solidFill>
            <a:srgbClr val="F2D6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78" name="Google Shape;1278;p96"/>
          <p:cNvSpPr/>
          <p:nvPr/>
        </p:nvSpPr>
        <p:spPr>
          <a:xfrm>
            <a:off x="3347800" y="1168850"/>
            <a:ext cx="652200" cy="3064500"/>
          </a:xfrm>
          <a:prstGeom prst="rect">
            <a:avLst/>
          </a:prstGeom>
          <a:solidFill>
            <a:srgbClr val="9FA0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79" name="Google Shape;1279;p96"/>
          <p:cNvSpPr/>
          <p:nvPr/>
        </p:nvSpPr>
        <p:spPr>
          <a:xfrm>
            <a:off x="2893542" y="1962882"/>
            <a:ext cx="380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grpSp>
        <p:nvGrpSpPr>
          <p:cNvPr id="1280" name="Google Shape;1280;p96"/>
          <p:cNvGrpSpPr/>
          <p:nvPr/>
        </p:nvGrpSpPr>
        <p:grpSpPr>
          <a:xfrm>
            <a:off x="3317043" y="1413870"/>
            <a:ext cx="697800" cy="466476"/>
            <a:chOff x="3151806" y="1338491"/>
            <a:chExt cx="697800" cy="466476"/>
          </a:xfrm>
        </p:grpSpPr>
        <p:sp>
          <p:nvSpPr>
            <p:cNvPr id="1281" name="Google Shape;1281;p96"/>
            <p:cNvSpPr txBox="1"/>
            <p:nvPr/>
          </p:nvSpPr>
          <p:spPr>
            <a:xfrm>
              <a:off x="3151806"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282" name="Google Shape;1282;p96"/>
            <p:cNvSpPr/>
            <p:nvPr/>
          </p:nvSpPr>
          <p:spPr>
            <a:xfrm>
              <a:off x="3363567"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283" name="Google Shape;1283;p96"/>
          <p:cNvGrpSpPr/>
          <p:nvPr/>
        </p:nvGrpSpPr>
        <p:grpSpPr>
          <a:xfrm>
            <a:off x="3317043" y="1915287"/>
            <a:ext cx="697800" cy="477760"/>
            <a:chOff x="3151806" y="1839908"/>
            <a:chExt cx="697800" cy="477760"/>
          </a:xfrm>
        </p:grpSpPr>
        <p:sp>
          <p:nvSpPr>
            <p:cNvPr id="1284" name="Google Shape;1284;p96"/>
            <p:cNvSpPr txBox="1"/>
            <p:nvPr/>
          </p:nvSpPr>
          <p:spPr>
            <a:xfrm>
              <a:off x="3151806" y="20776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285" name="Google Shape;1285;p96"/>
            <p:cNvSpPr/>
            <p:nvPr/>
          </p:nvSpPr>
          <p:spPr>
            <a:xfrm>
              <a:off x="3363567"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286" name="Google Shape;1286;p96"/>
          <p:cNvGrpSpPr/>
          <p:nvPr/>
        </p:nvGrpSpPr>
        <p:grpSpPr>
          <a:xfrm>
            <a:off x="3082443" y="2416688"/>
            <a:ext cx="1167000" cy="607945"/>
            <a:chOff x="2917206" y="2341309"/>
            <a:chExt cx="1167000" cy="607945"/>
          </a:xfrm>
        </p:grpSpPr>
        <p:sp>
          <p:nvSpPr>
            <p:cNvPr id="1287" name="Google Shape;1287;p96"/>
            <p:cNvSpPr txBox="1"/>
            <p:nvPr/>
          </p:nvSpPr>
          <p:spPr>
            <a:xfrm>
              <a:off x="2917206" y="2633353"/>
              <a:ext cx="1167000" cy="31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288" name="Google Shape;1288;p96"/>
            <p:cNvSpPr/>
            <p:nvPr/>
          </p:nvSpPr>
          <p:spPr>
            <a:xfrm>
              <a:off x="3363567"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289" name="Google Shape;1289;p96"/>
          <p:cNvGrpSpPr/>
          <p:nvPr/>
        </p:nvGrpSpPr>
        <p:grpSpPr>
          <a:xfrm>
            <a:off x="4474896" y="1413873"/>
            <a:ext cx="874500" cy="486902"/>
            <a:chOff x="4118269" y="1397498"/>
            <a:chExt cx="874500" cy="486902"/>
          </a:xfrm>
        </p:grpSpPr>
        <p:sp>
          <p:nvSpPr>
            <p:cNvPr id="1290" name="Google Shape;1290;p96"/>
            <p:cNvSpPr txBox="1"/>
            <p:nvPr/>
          </p:nvSpPr>
          <p:spPr>
            <a:xfrm>
              <a:off x="4118269" y="164440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label</a:t>
              </a:r>
              <a:endParaRPr sz="900">
                <a:solidFill>
                  <a:srgbClr val="000000"/>
                </a:solidFill>
                <a:latin typeface="Didact Gothic"/>
                <a:ea typeface="Didact Gothic"/>
                <a:cs typeface="Didact Gothic"/>
                <a:sym typeface="Didact Gothic"/>
              </a:endParaRPr>
            </a:p>
          </p:txBody>
        </p:sp>
        <p:sp>
          <p:nvSpPr>
            <p:cNvPr id="1291" name="Google Shape;1291;p96"/>
            <p:cNvSpPr/>
            <p:nvPr/>
          </p:nvSpPr>
          <p:spPr>
            <a:xfrm>
              <a:off x="4418380" y="139749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292" name="Google Shape;1292;p96"/>
          <p:cNvGrpSpPr/>
          <p:nvPr/>
        </p:nvGrpSpPr>
        <p:grpSpPr>
          <a:xfrm>
            <a:off x="4464394" y="1916807"/>
            <a:ext cx="874500" cy="485914"/>
            <a:chOff x="4118269" y="1901936"/>
            <a:chExt cx="874500" cy="485914"/>
          </a:xfrm>
        </p:grpSpPr>
        <p:sp>
          <p:nvSpPr>
            <p:cNvPr id="1293" name="Google Shape;1293;p96"/>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static</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294" name="Google Shape;1294;p96"/>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295" name="Google Shape;1295;p96"/>
          <p:cNvCxnSpPr>
            <a:stCxn id="1279" idx="3"/>
            <a:endCxn id="1285" idx="2"/>
          </p:cNvCxnSpPr>
          <p:nvPr/>
        </p:nvCxnSpPr>
        <p:spPr>
          <a:xfrm rot="10800000" flipH="1">
            <a:off x="3273942" y="2079882"/>
            <a:ext cx="255000" cy="3000"/>
          </a:xfrm>
          <a:prstGeom prst="bentConnector3">
            <a:avLst>
              <a:gd name="adj1" fmla="val 49973"/>
            </a:avLst>
          </a:prstGeom>
          <a:noFill/>
          <a:ln w="9525" cap="flat" cmpd="sng">
            <a:solidFill>
              <a:srgbClr val="000000"/>
            </a:solidFill>
            <a:prstDash val="solid"/>
            <a:round/>
            <a:headEnd type="none" w="med" len="med"/>
            <a:tailEnd type="triangle" w="med" len="med"/>
          </a:ln>
        </p:spPr>
      </p:cxnSp>
      <p:cxnSp>
        <p:nvCxnSpPr>
          <p:cNvPr id="1296" name="Google Shape;1296;p96"/>
          <p:cNvCxnSpPr>
            <a:stCxn id="1279" idx="3"/>
            <a:endCxn id="1282" idx="2"/>
          </p:cNvCxnSpPr>
          <p:nvPr/>
        </p:nvCxnSpPr>
        <p:spPr>
          <a:xfrm rot="10800000" flipH="1">
            <a:off x="3273942" y="1578582"/>
            <a:ext cx="255000" cy="504300"/>
          </a:xfrm>
          <a:prstGeom prst="bentConnector3">
            <a:avLst>
              <a:gd name="adj1" fmla="val 43694"/>
            </a:avLst>
          </a:prstGeom>
          <a:noFill/>
          <a:ln w="9525" cap="flat" cmpd="sng">
            <a:solidFill>
              <a:srgbClr val="000000"/>
            </a:solidFill>
            <a:prstDash val="solid"/>
            <a:round/>
            <a:headEnd type="none" w="med" len="med"/>
            <a:tailEnd type="triangle" w="med" len="med"/>
          </a:ln>
        </p:spPr>
      </p:cxnSp>
      <p:cxnSp>
        <p:nvCxnSpPr>
          <p:cNvPr id="1297" name="Google Shape;1297;p96"/>
          <p:cNvCxnSpPr>
            <a:stCxn id="1279" idx="3"/>
            <a:endCxn id="1288" idx="2"/>
          </p:cNvCxnSpPr>
          <p:nvPr/>
        </p:nvCxnSpPr>
        <p:spPr>
          <a:xfrm>
            <a:off x="3273942" y="2082882"/>
            <a:ext cx="255000" cy="498300"/>
          </a:xfrm>
          <a:prstGeom prst="bentConnector3">
            <a:avLst>
              <a:gd name="adj1" fmla="val 43694"/>
            </a:avLst>
          </a:prstGeom>
          <a:noFill/>
          <a:ln w="9525" cap="flat" cmpd="sng">
            <a:solidFill>
              <a:srgbClr val="000000"/>
            </a:solidFill>
            <a:prstDash val="solid"/>
            <a:round/>
            <a:headEnd type="none" w="med" len="med"/>
            <a:tailEnd type="triangle" w="med" len="med"/>
          </a:ln>
        </p:spPr>
      </p:cxnSp>
      <p:cxnSp>
        <p:nvCxnSpPr>
          <p:cNvPr id="1298" name="Google Shape;1298;p96"/>
          <p:cNvCxnSpPr>
            <a:stCxn id="1282" idx="4"/>
            <a:endCxn id="1299"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300" name="Google Shape;1300;p96"/>
          <p:cNvCxnSpPr>
            <a:stCxn id="1288" idx="4"/>
            <a:endCxn id="1299"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1299" name="Google Shape;1299;p96"/>
          <p:cNvSpPr/>
          <p:nvPr/>
        </p:nvSpPr>
        <p:spPr>
          <a:xfrm>
            <a:off x="4123385" y="1952550"/>
            <a:ext cx="380400" cy="2523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1301" name="Google Shape;1301;p96"/>
          <p:cNvCxnSpPr>
            <a:stCxn id="1285" idx="4"/>
            <a:endCxn id="1299" idx="1"/>
          </p:cNvCxnSpPr>
          <p:nvPr/>
        </p:nvCxnSpPr>
        <p:spPr>
          <a:xfrm rot="10800000" flipH="1">
            <a:off x="3803082" y="2078650"/>
            <a:ext cx="320400" cy="12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302" name="Google Shape;1302;p96"/>
          <p:cNvCxnSpPr>
            <a:stCxn id="1288" idx="4"/>
            <a:endCxn id="1299"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303" name="Google Shape;1303;p96"/>
          <p:cNvCxnSpPr>
            <a:stCxn id="1282" idx="4"/>
            <a:endCxn id="1299"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1304" name="Google Shape;1304;p96"/>
          <p:cNvSpPr txBox="1"/>
          <p:nvPr/>
        </p:nvSpPr>
        <p:spPr>
          <a:xfrm>
            <a:off x="3360483"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Silver</a:t>
            </a:r>
            <a:endParaRPr sz="900" b="1">
              <a:solidFill>
                <a:srgbClr val="000000"/>
              </a:solidFill>
              <a:latin typeface="Didact Gothic"/>
              <a:ea typeface="Didact Gothic"/>
              <a:cs typeface="Didact Gothic"/>
              <a:sym typeface="Didact Gothic"/>
            </a:endParaRPr>
          </a:p>
        </p:txBody>
      </p:sp>
      <p:sp>
        <p:nvSpPr>
          <p:cNvPr id="1305" name="Google Shape;1305;p96"/>
          <p:cNvSpPr/>
          <p:nvPr/>
        </p:nvSpPr>
        <p:spPr>
          <a:xfrm>
            <a:off x="5749788" y="147284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ml_train.py</a:t>
            </a:r>
            <a:endParaRPr sz="900">
              <a:latin typeface="Didact Gothic"/>
              <a:ea typeface="Didact Gothic"/>
              <a:cs typeface="Didact Gothic"/>
              <a:sym typeface="Didact Gothic"/>
            </a:endParaRPr>
          </a:p>
        </p:txBody>
      </p:sp>
      <p:cxnSp>
        <p:nvCxnSpPr>
          <p:cNvPr id="1306" name="Google Shape;1306;p96"/>
          <p:cNvCxnSpPr/>
          <p:nvPr/>
        </p:nvCxnSpPr>
        <p:spPr>
          <a:xfrm>
            <a:off x="6385018" y="1680116"/>
            <a:ext cx="6300" cy="369900"/>
          </a:xfrm>
          <a:prstGeom prst="straightConnector1">
            <a:avLst/>
          </a:prstGeom>
          <a:noFill/>
          <a:ln w="9525" cap="flat" cmpd="sng">
            <a:solidFill>
              <a:srgbClr val="000000"/>
            </a:solidFill>
            <a:prstDash val="solid"/>
            <a:round/>
            <a:headEnd type="none" w="med" len="med"/>
            <a:tailEnd type="stealth" w="med" len="med"/>
          </a:ln>
        </p:spPr>
      </p:cxnSp>
      <p:sp>
        <p:nvSpPr>
          <p:cNvPr id="1307" name="Google Shape;1307;p96"/>
          <p:cNvSpPr/>
          <p:nvPr/>
        </p:nvSpPr>
        <p:spPr>
          <a:xfrm>
            <a:off x="6192301" y="2048420"/>
            <a:ext cx="320400" cy="324000"/>
          </a:xfrm>
          <a:prstGeom prst="cube">
            <a:avLst>
              <a:gd name="adj" fmla="val 25000"/>
            </a:avLst>
          </a:prstGeom>
          <a:solidFill>
            <a:srgbClr val="FCFDF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08" name="Google Shape;1308;p96"/>
          <p:cNvSpPr txBox="1"/>
          <p:nvPr/>
        </p:nvSpPr>
        <p:spPr>
          <a:xfrm>
            <a:off x="5590421" y="2015880"/>
            <a:ext cx="784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model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bank</a:t>
            </a:r>
            <a:endParaRPr sz="900">
              <a:solidFill>
                <a:srgbClr val="000000"/>
              </a:solidFill>
              <a:latin typeface="Didact Gothic"/>
              <a:ea typeface="Didact Gothic"/>
              <a:cs typeface="Didact Gothic"/>
              <a:sym typeface="Didact Gothic"/>
            </a:endParaRPr>
          </a:p>
        </p:txBody>
      </p:sp>
      <p:sp>
        <p:nvSpPr>
          <p:cNvPr id="1309" name="Google Shape;1309;p96"/>
          <p:cNvSpPr txBox="1"/>
          <p:nvPr/>
        </p:nvSpPr>
        <p:spPr>
          <a:xfrm>
            <a:off x="4564228"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latin typeface="Didact Gothic"/>
                <a:ea typeface="Didact Gothic"/>
                <a:cs typeface="Didact Gothic"/>
                <a:sym typeface="Didact Gothic"/>
              </a:rPr>
              <a:t>Gold</a:t>
            </a:r>
            <a:endParaRPr sz="900" b="1">
              <a:solidFill>
                <a:srgbClr val="000000"/>
              </a:solidFill>
              <a:latin typeface="Didact Gothic"/>
              <a:ea typeface="Didact Gothic"/>
              <a:cs typeface="Didact Gothic"/>
              <a:sym typeface="Didact Gothic"/>
            </a:endParaRPr>
          </a:p>
        </p:txBody>
      </p:sp>
      <p:cxnSp>
        <p:nvCxnSpPr>
          <p:cNvPr id="1310" name="Google Shape;1310;p96"/>
          <p:cNvCxnSpPr>
            <a:stCxn id="1299" idx="3"/>
            <a:endCxn id="1291" idx="2"/>
          </p:cNvCxnSpPr>
          <p:nvPr/>
        </p:nvCxnSpPr>
        <p:spPr>
          <a:xfrm rot="10800000" flipH="1">
            <a:off x="4503785" y="1578300"/>
            <a:ext cx="271200" cy="500400"/>
          </a:xfrm>
          <a:prstGeom prst="bentConnector3">
            <a:avLst>
              <a:gd name="adj1" fmla="val 50004"/>
            </a:avLst>
          </a:prstGeom>
          <a:noFill/>
          <a:ln w="9525" cap="flat" cmpd="sng">
            <a:solidFill>
              <a:schemeClr val="dk1"/>
            </a:solidFill>
            <a:prstDash val="solid"/>
            <a:round/>
            <a:headEnd type="none" w="med" len="med"/>
            <a:tailEnd type="triangle" w="med" len="med"/>
          </a:ln>
        </p:spPr>
      </p:cxnSp>
      <p:cxnSp>
        <p:nvCxnSpPr>
          <p:cNvPr id="1311" name="Google Shape;1311;p96"/>
          <p:cNvCxnSpPr>
            <a:stCxn id="1299" idx="3"/>
            <a:endCxn id="1294" idx="2"/>
          </p:cNvCxnSpPr>
          <p:nvPr/>
        </p:nvCxnSpPr>
        <p:spPr>
          <a:xfrm>
            <a:off x="4503785" y="2078700"/>
            <a:ext cx="260700" cy="2700"/>
          </a:xfrm>
          <a:prstGeom prst="straightConnector1">
            <a:avLst/>
          </a:prstGeom>
          <a:noFill/>
          <a:ln w="9525" cap="flat" cmpd="sng">
            <a:solidFill>
              <a:schemeClr val="dk1"/>
            </a:solidFill>
            <a:prstDash val="solid"/>
            <a:round/>
            <a:headEnd type="none" w="med" len="med"/>
            <a:tailEnd type="triangle" w="med" len="med"/>
          </a:ln>
        </p:spPr>
      </p:cxnSp>
      <p:grpSp>
        <p:nvGrpSpPr>
          <p:cNvPr id="1312" name="Google Shape;1312;p96"/>
          <p:cNvGrpSpPr/>
          <p:nvPr/>
        </p:nvGrpSpPr>
        <p:grpSpPr>
          <a:xfrm>
            <a:off x="4470905" y="2580338"/>
            <a:ext cx="874500" cy="485914"/>
            <a:chOff x="4118269" y="1901936"/>
            <a:chExt cx="874500" cy="485914"/>
          </a:xfrm>
        </p:grpSpPr>
        <p:sp>
          <p:nvSpPr>
            <p:cNvPr id="1313" name="Google Shape;1313;p96"/>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rolling</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314" name="Google Shape;1314;p96"/>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315" name="Google Shape;1315;p96"/>
          <p:cNvCxnSpPr>
            <a:stCxn id="1299" idx="3"/>
            <a:endCxn id="1314" idx="2"/>
          </p:cNvCxnSpPr>
          <p:nvPr/>
        </p:nvCxnSpPr>
        <p:spPr>
          <a:xfrm>
            <a:off x="4503785" y="2078700"/>
            <a:ext cx="267300" cy="666300"/>
          </a:xfrm>
          <a:prstGeom prst="bentConnector3">
            <a:avLst>
              <a:gd name="adj1" fmla="val 49987"/>
            </a:avLst>
          </a:prstGeom>
          <a:noFill/>
          <a:ln w="9525" cap="flat" cmpd="sng">
            <a:solidFill>
              <a:schemeClr val="dk1"/>
            </a:solidFill>
            <a:prstDash val="solid"/>
            <a:round/>
            <a:headEnd type="none" w="med" len="med"/>
            <a:tailEnd type="triangle" w="med" len="med"/>
          </a:ln>
        </p:spPr>
      </p:cxnSp>
      <p:cxnSp>
        <p:nvCxnSpPr>
          <p:cNvPr id="1316" name="Google Shape;1316;p96"/>
          <p:cNvCxnSpPr>
            <a:stCxn id="1279" idx="3"/>
            <a:endCxn id="1285" idx="2"/>
          </p:cNvCxnSpPr>
          <p:nvPr/>
        </p:nvCxnSpPr>
        <p:spPr>
          <a:xfrm rot="10800000" flipH="1">
            <a:off x="3273942" y="2079882"/>
            <a:ext cx="255000" cy="3000"/>
          </a:xfrm>
          <a:prstGeom prst="bentConnector3">
            <a:avLst>
              <a:gd name="adj1" fmla="val 49973"/>
            </a:avLst>
          </a:prstGeom>
          <a:noFill/>
          <a:ln w="9525" cap="flat" cmpd="sng">
            <a:solidFill>
              <a:schemeClr val="dk1"/>
            </a:solidFill>
            <a:prstDash val="solid"/>
            <a:round/>
            <a:headEnd type="none" w="med" len="med"/>
            <a:tailEnd type="triangle" w="med" len="med"/>
          </a:ln>
        </p:spPr>
      </p:cxnSp>
      <p:cxnSp>
        <p:nvCxnSpPr>
          <p:cNvPr id="1317" name="Google Shape;1317;p96"/>
          <p:cNvCxnSpPr>
            <a:stCxn id="1291" idx="4"/>
            <a:endCxn id="1305" idx="1"/>
          </p:cNvCxnSpPr>
          <p:nvPr/>
        </p:nvCxnSpPr>
        <p:spPr>
          <a:xfrm>
            <a:off x="5049285" y="1578436"/>
            <a:ext cx="700500" cy="15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1318" name="Google Shape;1318;p96"/>
          <p:cNvCxnSpPr>
            <a:stCxn id="1294" idx="4"/>
            <a:endCxn id="1305" idx="1"/>
          </p:cNvCxnSpPr>
          <p:nvPr/>
        </p:nvCxnSpPr>
        <p:spPr>
          <a:xfrm rot="10800000" flipH="1">
            <a:off x="5038783" y="1579770"/>
            <a:ext cx="711000" cy="5016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1319" name="Google Shape;1319;p96"/>
          <p:cNvCxnSpPr>
            <a:stCxn id="1314" idx="4"/>
            <a:endCxn id="1305" idx="1"/>
          </p:cNvCxnSpPr>
          <p:nvPr/>
        </p:nvCxnSpPr>
        <p:spPr>
          <a:xfrm rot="10800000" flipH="1">
            <a:off x="5045294" y="1579701"/>
            <a:ext cx="704400" cy="1165200"/>
          </a:xfrm>
          <a:prstGeom prst="bentConnector3">
            <a:avLst>
              <a:gd name="adj1" fmla="val 50007"/>
            </a:avLst>
          </a:prstGeom>
          <a:noFill/>
          <a:ln w="9525" cap="flat" cmpd="sng">
            <a:solidFill>
              <a:schemeClr val="dk1"/>
            </a:solidFill>
            <a:prstDash val="solid"/>
            <a:round/>
            <a:headEnd type="none" w="med" len="med"/>
            <a:tailEnd type="triangle" w="med" len="med"/>
          </a:ln>
        </p:spPr>
      </p:cxnSp>
      <p:grpSp>
        <p:nvGrpSpPr>
          <p:cNvPr id="1320" name="Google Shape;1320;p96"/>
          <p:cNvGrpSpPr/>
          <p:nvPr/>
        </p:nvGrpSpPr>
        <p:grpSpPr>
          <a:xfrm>
            <a:off x="4470905" y="3214801"/>
            <a:ext cx="874500" cy="485914"/>
            <a:chOff x="4118269" y="1901936"/>
            <a:chExt cx="874500" cy="485914"/>
          </a:xfrm>
        </p:grpSpPr>
        <p:sp>
          <p:nvSpPr>
            <p:cNvPr id="1321" name="Google Shape;1321;p96"/>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sp>
          <p:nvSpPr>
            <p:cNvPr id="1322" name="Google Shape;1322;p96"/>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23" name="Google Shape;1323;p96"/>
          <p:cNvGrpSpPr/>
          <p:nvPr/>
        </p:nvGrpSpPr>
        <p:grpSpPr>
          <a:xfrm>
            <a:off x="4470905" y="3747213"/>
            <a:ext cx="874500" cy="485914"/>
            <a:chOff x="4118269" y="1901936"/>
            <a:chExt cx="874500" cy="485914"/>
          </a:xfrm>
        </p:grpSpPr>
        <p:sp>
          <p:nvSpPr>
            <p:cNvPr id="1324" name="Google Shape;1324;p96"/>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metric</a:t>
              </a:r>
              <a:endParaRPr sz="900">
                <a:solidFill>
                  <a:srgbClr val="000000"/>
                </a:solidFill>
                <a:latin typeface="Didact Gothic"/>
                <a:ea typeface="Didact Gothic"/>
                <a:cs typeface="Didact Gothic"/>
                <a:sym typeface="Didact Gothic"/>
              </a:endParaRPr>
            </a:p>
          </p:txBody>
        </p:sp>
        <p:sp>
          <p:nvSpPr>
            <p:cNvPr id="1325" name="Google Shape;1325;p96"/>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326" name="Google Shape;1326;p96"/>
          <p:cNvSpPr/>
          <p:nvPr/>
        </p:nvSpPr>
        <p:spPr>
          <a:xfrm>
            <a:off x="2155363" y="1168850"/>
            <a:ext cx="652200" cy="3064500"/>
          </a:xfrm>
          <a:prstGeom prst="rect">
            <a:avLst/>
          </a:prstGeom>
          <a:solidFill>
            <a:srgbClr val="BF9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327" name="Google Shape;1327;p96"/>
          <p:cNvGrpSpPr/>
          <p:nvPr/>
        </p:nvGrpSpPr>
        <p:grpSpPr>
          <a:xfrm>
            <a:off x="998311" y="1383858"/>
            <a:ext cx="697800" cy="496489"/>
            <a:chOff x="234600" y="1308478"/>
            <a:chExt cx="697800" cy="496489"/>
          </a:xfrm>
        </p:grpSpPr>
        <p:sp>
          <p:nvSpPr>
            <p:cNvPr id="1328" name="Google Shape;1328;p96"/>
            <p:cNvSpPr txBox="1"/>
            <p:nvPr/>
          </p:nvSpPr>
          <p:spPr>
            <a:xfrm>
              <a:off x="23460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pic>
          <p:nvPicPr>
            <p:cNvPr id="1329" name="Google Shape;1329;p96"/>
            <p:cNvPicPr preferRelativeResize="0"/>
            <p:nvPr/>
          </p:nvPicPr>
          <p:blipFill rotWithShape="1">
            <a:blip r:embed="rId3">
              <a:alphaModFix/>
            </a:blip>
            <a:srcRect l="18635" r="18622"/>
            <a:stretch/>
          </p:blipFill>
          <p:spPr>
            <a:xfrm>
              <a:off x="461413" y="1308478"/>
              <a:ext cx="244175" cy="389150"/>
            </a:xfrm>
            <a:prstGeom prst="rect">
              <a:avLst/>
            </a:prstGeom>
            <a:noFill/>
            <a:ln>
              <a:noFill/>
            </a:ln>
          </p:spPr>
        </p:pic>
      </p:grpSp>
      <p:grpSp>
        <p:nvGrpSpPr>
          <p:cNvPr id="1330" name="Google Shape;1330;p96"/>
          <p:cNvGrpSpPr/>
          <p:nvPr/>
        </p:nvGrpSpPr>
        <p:grpSpPr>
          <a:xfrm>
            <a:off x="998311" y="1885275"/>
            <a:ext cx="697800" cy="501379"/>
            <a:chOff x="234600" y="1809895"/>
            <a:chExt cx="697800" cy="501379"/>
          </a:xfrm>
        </p:grpSpPr>
        <p:pic>
          <p:nvPicPr>
            <p:cNvPr id="1331" name="Google Shape;1331;p96"/>
            <p:cNvPicPr preferRelativeResize="0"/>
            <p:nvPr/>
          </p:nvPicPr>
          <p:blipFill rotWithShape="1">
            <a:blip r:embed="rId3">
              <a:alphaModFix/>
            </a:blip>
            <a:srcRect l="18635" r="18622"/>
            <a:stretch/>
          </p:blipFill>
          <p:spPr>
            <a:xfrm>
              <a:off x="461413" y="1809895"/>
              <a:ext cx="244175" cy="389150"/>
            </a:xfrm>
            <a:prstGeom prst="rect">
              <a:avLst/>
            </a:prstGeom>
            <a:noFill/>
            <a:ln>
              <a:noFill/>
            </a:ln>
          </p:spPr>
        </p:pic>
        <p:sp>
          <p:nvSpPr>
            <p:cNvPr id="1332" name="Google Shape;1332;p96"/>
            <p:cNvSpPr txBox="1"/>
            <p:nvPr/>
          </p:nvSpPr>
          <p:spPr>
            <a:xfrm>
              <a:off x="23460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grpSp>
      <p:grpSp>
        <p:nvGrpSpPr>
          <p:cNvPr id="1333" name="Google Shape;1333;p96"/>
          <p:cNvGrpSpPr/>
          <p:nvPr/>
        </p:nvGrpSpPr>
        <p:grpSpPr>
          <a:xfrm>
            <a:off x="763711" y="2386676"/>
            <a:ext cx="1167000" cy="674557"/>
            <a:chOff x="0" y="2311296"/>
            <a:chExt cx="1167000" cy="674557"/>
          </a:xfrm>
        </p:grpSpPr>
        <p:sp>
          <p:nvSpPr>
            <p:cNvPr id="1334" name="Google Shape;1334;p96"/>
            <p:cNvSpPr txBox="1"/>
            <p:nvPr/>
          </p:nvSpPr>
          <p:spPr>
            <a:xfrm>
              <a:off x="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like, gift, </a:t>
              </a:r>
              <a:endParaRPr sz="900">
                <a:solidFill>
                  <a:srgbClr val="000000"/>
                </a:solidFill>
                <a:latin typeface="Didact Gothic"/>
                <a:ea typeface="Didact Gothic"/>
                <a:cs typeface="Didact Gothic"/>
                <a:sym typeface="Didact Gothic"/>
              </a:endParaRPr>
            </a:p>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comment</a:t>
              </a:r>
              <a:endParaRPr sz="900">
                <a:solidFill>
                  <a:srgbClr val="000000"/>
                </a:solidFill>
                <a:latin typeface="Didact Gothic"/>
                <a:ea typeface="Didact Gothic"/>
                <a:cs typeface="Didact Gothic"/>
                <a:sym typeface="Didact Gothic"/>
              </a:endParaRPr>
            </a:p>
          </p:txBody>
        </p:sp>
        <p:pic>
          <p:nvPicPr>
            <p:cNvPr id="1335" name="Google Shape;1335;p96"/>
            <p:cNvPicPr preferRelativeResize="0"/>
            <p:nvPr/>
          </p:nvPicPr>
          <p:blipFill rotWithShape="1">
            <a:blip r:embed="rId3">
              <a:alphaModFix/>
            </a:blip>
            <a:srcRect l="18635" r="18622"/>
            <a:stretch/>
          </p:blipFill>
          <p:spPr>
            <a:xfrm>
              <a:off x="461413" y="2311296"/>
              <a:ext cx="244175" cy="389150"/>
            </a:xfrm>
            <a:prstGeom prst="rect">
              <a:avLst/>
            </a:prstGeom>
            <a:noFill/>
            <a:ln>
              <a:noFill/>
            </a:ln>
          </p:spPr>
        </p:pic>
      </p:grpSp>
      <p:sp>
        <p:nvSpPr>
          <p:cNvPr id="1336" name="Google Shape;1336;p96"/>
          <p:cNvSpPr/>
          <p:nvPr/>
        </p:nvSpPr>
        <p:spPr>
          <a:xfrm>
            <a:off x="1663731" y="1960783"/>
            <a:ext cx="3804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grpSp>
        <p:nvGrpSpPr>
          <p:cNvPr id="1337" name="Google Shape;1337;p96"/>
          <p:cNvGrpSpPr/>
          <p:nvPr/>
        </p:nvGrpSpPr>
        <p:grpSpPr>
          <a:xfrm>
            <a:off x="2121618" y="1413870"/>
            <a:ext cx="697800" cy="466476"/>
            <a:chOff x="1543350" y="1338491"/>
            <a:chExt cx="697800" cy="466476"/>
          </a:xfrm>
        </p:grpSpPr>
        <p:sp>
          <p:nvSpPr>
            <p:cNvPr id="1338" name="Google Shape;1338;p96"/>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339" name="Google Shape;1339;p96"/>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40" name="Google Shape;1340;p96"/>
          <p:cNvGrpSpPr/>
          <p:nvPr/>
        </p:nvGrpSpPr>
        <p:grpSpPr>
          <a:xfrm>
            <a:off x="2121618" y="1915287"/>
            <a:ext cx="697800" cy="471367"/>
            <a:chOff x="1543350" y="1839908"/>
            <a:chExt cx="697800" cy="471367"/>
          </a:xfrm>
        </p:grpSpPr>
        <p:sp>
          <p:nvSpPr>
            <p:cNvPr id="1341" name="Google Shape;1341;p96"/>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342" name="Google Shape;1342;p96"/>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43" name="Google Shape;1343;p96"/>
          <p:cNvGrpSpPr/>
          <p:nvPr/>
        </p:nvGrpSpPr>
        <p:grpSpPr>
          <a:xfrm>
            <a:off x="1887018" y="2416688"/>
            <a:ext cx="1167000" cy="644545"/>
            <a:chOff x="1308750" y="2341309"/>
            <a:chExt cx="1167000" cy="644545"/>
          </a:xfrm>
        </p:grpSpPr>
        <p:sp>
          <p:nvSpPr>
            <p:cNvPr id="1344" name="Google Shape;1344;p96"/>
            <p:cNvSpPr txBox="1"/>
            <p:nvPr/>
          </p:nvSpPr>
          <p:spPr>
            <a:xfrm>
              <a:off x="130875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345" name="Google Shape;1345;p96"/>
            <p:cNvSpPr/>
            <p:nvPr/>
          </p:nvSpPr>
          <p:spPr>
            <a:xfrm>
              <a:off x="1755111"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346" name="Google Shape;1346;p96"/>
          <p:cNvCxnSpPr>
            <a:stCxn id="1329" idx="3"/>
            <a:endCxn id="1336" idx="1"/>
          </p:cNvCxnSpPr>
          <p:nvPr/>
        </p:nvCxnSpPr>
        <p:spPr>
          <a:xfrm>
            <a:off x="1469298" y="1578433"/>
            <a:ext cx="194400" cy="5025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347" name="Google Shape;1347;p96"/>
          <p:cNvCxnSpPr>
            <a:stCxn id="1331" idx="3"/>
            <a:endCxn id="1336" idx="1"/>
          </p:cNvCxnSpPr>
          <p:nvPr/>
        </p:nvCxnSpPr>
        <p:spPr>
          <a:xfrm>
            <a:off x="1469298" y="2079850"/>
            <a:ext cx="194400" cy="9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348" name="Google Shape;1348;p96"/>
          <p:cNvCxnSpPr>
            <a:stCxn id="1335" idx="3"/>
            <a:endCxn id="1336" idx="1"/>
          </p:cNvCxnSpPr>
          <p:nvPr/>
        </p:nvCxnSpPr>
        <p:spPr>
          <a:xfrm rot="10800000" flipH="1">
            <a:off x="1469298" y="2080851"/>
            <a:ext cx="194400" cy="5004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349" name="Google Shape;1349;p96"/>
          <p:cNvCxnSpPr>
            <a:stCxn id="1336" idx="3"/>
            <a:endCxn id="1339" idx="2"/>
          </p:cNvCxnSpPr>
          <p:nvPr/>
        </p:nvCxnSpPr>
        <p:spPr>
          <a:xfrm rot="10800000" flipH="1">
            <a:off x="2044131" y="1578283"/>
            <a:ext cx="289200" cy="5025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350" name="Google Shape;1350;p96"/>
          <p:cNvCxnSpPr>
            <a:stCxn id="1336" idx="3"/>
            <a:endCxn id="1342" idx="2"/>
          </p:cNvCxnSpPr>
          <p:nvPr/>
        </p:nvCxnSpPr>
        <p:spPr>
          <a:xfrm rot="10800000" flipH="1">
            <a:off x="2044131" y="2079883"/>
            <a:ext cx="289200" cy="900"/>
          </a:xfrm>
          <a:prstGeom prst="bentConnector3">
            <a:avLst>
              <a:gd name="adj1" fmla="val 50008"/>
            </a:avLst>
          </a:prstGeom>
          <a:noFill/>
          <a:ln w="9525" cap="flat" cmpd="sng">
            <a:solidFill>
              <a:srgbClr val="000000"/>
            </a:solidFill>
            <a:prstDash val="solid"/>
            <a:round/>
            <a:headEnd type="none" w="med" len="med"/>
            <a:tailEnd type="triangle" w="med" len="med"/>
          </a:ln>
        </p:spPr>
      </p:cxnSp>
      <p:cxnSp>
        <p:nvCxnSpPr>
          <p:cNvPr id="1351" name="Google Shape;1351;p96"/>
          <p:cNvCxnSpPr>
            <a:stCxn id="1336" idx="3"/>
            <a:endCxn id="1345" idx="2"/>
          </p:cNvCxnSpPr>
          <p:nvPr/>
        </p:nvCxnSpPr>
        <p:spPr>
          <a:xfrm>
            <a:off x="2044131" y="2080783"/>
            <a:ext cx="289200" cy="500400"/>
          </a:xfrm>
          <a:prstGeom prst="bentConnector3">
            <a:avLst>
              <a:gd name="adj1" fmla="val 50008"/>
            </a:avLst>
          </a:prstGeom>
          <a:noFill/>
          <a:ln w="9525" cap="flat" cmpd="sng">
            <a:solidFill>
              <a:srgbClr val="000000"/>
            </a:solidFill>
            <a:prstDash val="solid"/>
            <a:round/>
            <a:headEnd type="none" w="med" len="med"/>
            <a:tailEnd type="triangle" w="med" len="med"/>
          </a:ln>
        </p:spPr>
      </p:cxnSp>
      <p:sp>
        <p:nvSpPr>
          <p:cNvPr id="1352" name="Google Shape;1352;p96"/>
          <p:cNvSpPr txBox="1"/>
          <p:nvPr/>
        </p:nvSpPr>
        <p:spPr>
          <a:xfrm>
            <a:off x="2158683" y="1112208"/>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Bronze</a:t>
            </a:r>
            <a:endParaRPr sz="900" b="1">
              <a:solidFill>
                <a:srgbClr val="000000"/>
              </a:solidFill>
              <a:latin typeface="Didact Gothic"/>
              <a:ea typeface="Didact Gothic"/>
              <a:cs typeface="Didact Gothic"/>
              <a:sym typeface="Didact Gothic"/>
            </a:endParaRPr>
          </a:p>
        </p:txBody>
      </p:sp>
      <p:sp>
        <p:nvSpPr>
          <p:cNvPr id="1353" name="Google Shape;1353;p96"/>
          <p:cNvSpPr txBox="1"/>
          <p:nvPr/>
        </p:nvSpPr>
        <p:spPr>
          <a:xfrm>
            <a:off x="285786" y="191715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KuaiLive</a:t>
            </a:r>
            <a:endParaRPr sz="900">
              <a:solidFill>
                <a:srgbClr val="000000"/>
              </a:solidFill>
              <a:latin typeface="Didact Gothic"/>
              <a:ea typeface="Didact Gothic"/>
              <a:cs typeface="Didact Gothic"/>
              <a:sym typeface="Didact Gothic"/>
            </a:endParaRPr>
          </a:p>
        </p:txBody>
      </p:sp>
      <p:sp>
        <p:nvSpPr>
          <p:cNvPr id="1354" name="Google Shape;1354;p96"/>
          <p:cNvSpPr/>
          <p:nvPr/>
        </p:nvSpPr>
        <p:spPr>
          <a:xfrm>
            <a:off x="937988" y="1413875"/>
            <a:ext cx="149700" cy="1331100"/>
          </a:xfrm>
          <a:prstGeom prst="leftBrace">
            <a:avLst>
              <a:gd name="adj1" fmla="val 50000"/>
              <a:gd name="adj2" fmla="val 5053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idact Gothic"/>
              <a:ea typeface="Didact Gothic"/>
              <a:cs typeface="Didact Gothic"/>
              <a:sym typeface="Didact Gothic"/>
            </a:endParaRPr>
          </a:p>
        </p:txBody>
      </p:sp>
      <p:cxnSp>
        <p:nvCxnSpPr>
          <p:cNvPr id="1355" name="Google Shape;1355;p96"/>
          <p:cNvCxnSpPr/>
          <p:nvPr/>
        </p:nvCxnSpPr>
        <p:spPr>
          <a:xfrm>
            <a:off x="2607657" y="1578433"/>
            <a:ext cx="285900" cy="504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356" name="Google Shape;1356;p96"/>
          <p:cNvCxnSpPr/>
          <p:nvPr/>
        </p:nvCxnSpPr>
        <p:spPr>
          <a:xfrm>
            <a:off x="2607657" y="2079850"/>
            <a:ext cx="285900" cy="30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357" name="Google Shape;1357;p96"/>
          <p:cNvCxnSpPr/>
          <p:nvPr/>
        </p:nvCxnSpPr>
        <p:spPr>
          <a:xfrm rot="10800000" flipH="1">
            <a:off x="2607657" y="2082951"/>
            <a:ext cx="285900" cy="498300"/>
          </a:xfrm>
          <a:prstGeom prst="bentConnector3">
            <a:avLst>
              <a:gd name="adj1" fmla="val 49997"/>
            </a:avLst>
          </a:prstGeom>
          <a:noFill/>
          <a:ln w="9525" cap="flat" cmpd="sng">
            <a:solidFill>
              <a:srgbClr val="000000"/>
            </a:solidFill>
            <a:prstDash val="solid"/>
            <a:round/>
            <a:headEnd type="none" w="med" len="med"/>
            <a:tailEnd type="triangle" w="med" len="med"/>
          </a:ln>
        </p:spPr>
      </p:cxnSp>
      <p:sp>
        <p:nvSpPr>
          <p:cNvPr id="1358" name="Google Shape;1358;p96"/>
          <p:cNvSpPr txBox="1"/>
          <p:nvPr/>
        </p:nvSpPr>
        <p:spPr>
          <a:xfrm>
            <a:off x="6980825" y="341075"/>
            <a:ext cx="2070900" cy="8004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Poppins"/>
                <a:ea typeface="Poppins"/>
                <a:cs typeface="Poppins"/>
                <a:sym typeface="Poppins"/>
              </a:rPr>
              <a:t>→       Batches </a:t>
            </a:r>
            <a:endParaRPr sz="1000">
              <a:latin typeface="Poppins"/>
              <a:ea typeface="Poppins"/>
              <a:cs typeface="Poppins"/>
              <a:sym typeface="Poppins"/>
            </a:endParaRPr>
          </a:p>
          <a:p>
            <a:pPr marL="0" lvl="0" indent="0" algn="l" rtl="0">
              <a:spcBef>
                <a:spcPts val="0"/>
              </a:spcBef>
              <a:spcAft>
                <a:spcPts val="0"/>
              </a:spcAft>
              <a:buNone/>
            </a:pPr>
            <a:r>
              <a:rPr lang="en" sz="1000">
                <a:solidFill>
                  <a:srgbClr val="0000FF"/>
                </a:solidFill>
                <a:latin typeface="Poppins"/>
                <a:ea typeface="Poppins"/>
                <a:cs typeface="Poppins"/>
                <a:sym typeface="Poppins"/>
              </a:rPr>
              <a:t>→       Real-Time Feature Flow</a:t>
            </a:r>
            <a:endParaRPr sz="1000">
              <a:solidFill>
                <a:srgbClr val="0000FF"/>
              </a:solidFill>
              <a:latin typeface="Poppins"/>
              <a:ea typeface="Poppins"/>
              <a:cs typeface="Poppins"/>
              <a:sym typeface="Poppins"/>
            </a:endParaRPr>
          </a:p>
          <a:p>
            <a:pPr marL="0" lvl="0" indent="0" algn="l" rtl="0">
              <a:spcBef>
                <a:spcPts val="0"/>
              </a:spcBef>
              <a:spcAft>
                <a:spcPts val="0"/>
              </a:spcAft>
              <a:buNone/>
            </a:pPr>
            <a:r>
              <a:rPr lang="en" sz="1000">
                <a:solidFill>
                  <a:srgbClr val="A9283B"/>
                </a:solidFill>
                <a:latin typeface="Poppins"/>
                <a:ea typeface="Poppins"/>
                <a:cs typeface="Poppins"/>
                <a:sym typeface="Poppins"/>
              </a:rPr>
              <a:t>→       Real-Time Predictions</a:t>
            </a:r>
            <a:endParaRPr sz="1000">
              <a:solidFill>
                <a:srgbClr val="A9283B"/>
              </a:solidFill>
              <a:latin typeface="Poppins"/>
              <a:ea typeface="Poppins"/>
              <a:cs typeface="Poppins"/>
              <a:sym typeface="Poppins"/>
            </a:endParaRPr>
          </a:p>
          <a:p>
            <a:pPr marL="0" lvl="0" indent="0" algn="l" rtl="0">
              <a:spcBef>
                <a:spcPts val="0"/>
              </a:spcBef>
              <a:spcAft>
                <a:spcPts val="0"/>
              </a:spcAft>
              <a:buNone/>
            </a:pPr>
            <a:r>
              <a:rPr lang="en" sz="1000">
                <a:solidFill>
                  <a:srgbClr val="93C47D"/>
                </a:solidFill>
                <a:latin typeface="Poppins"/>
                <a:ea typeface="Poppins"/>
                <a:cs typeface="Poppins"/>
                <a:sym typeface="Poppins"/>
              </a:rPr>
              <a:t>→       Monitoring</a:t>
            </a:r>
            <a:endParaRPr sz="1000">
              <a:solidFill>
                <a:schemeClr val="dk1"/>
              </a:solidFill>
              <a:latin typeface="Poppins"/>
              <a:ea typeface="Poppins"/>
              <a:cs typeface="Poppins"/>
              <a:sym typeface="Poppins"/>
            </a:endParaRPr>
          </a:p>
        </p:txBody>
      </p:sp>
      <p:pic>
        <p:nvPicPr>
          <p:cNvPr id="1359" name="Google Shape;1359;p96" title="airflow_logo.jpg"/>
          <p:cNvPicPr preferRelativeResize="0"/>
          <p:nvPr/>
        </p:nvPicPr>
        <p:blipFill>
          <a:blip r:embed="rId4">
            <a:alphaModFix/>
          </a:blip>
          <a:stretch>
            <a:fillRect/>
          </a:stretch>
        </p:blipFill>
        <p:spPr>
          <a:xfrm>
            <a:off x="181385" y="4335688"/>
            <a:ext cx="1662949" cy="644525"/>
          </a:xfrm>
          <a:prstGeom prst="rect">
            <a:avLst/>
          </a:prstGeom>
          <a:noFill/>
          <a:ln>
            <a:noFill/>
          </a:ln>
        </p:spPr>
      </p:pic>
      <p:sp>
        <p:nvSpPr>
          <p:cNvPr id="1360" name="Google Shape;1360;p96"/>
          <p:cNvSpPr/>
          <p:nvPr/>
        </p:nvSpPr>
        <p:spPr>
          <a:xfrm>
            <a:off x="5746138" y="271635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ml_predict.py</a:t>
            </a:r>
            <a:endParaRPr sz="900">
              <a:latin typeface="Didact Gothic"/>
              <a:ea typeface="Didact Gothic"/>
              <a:cs typeface="Didact Gothic"/>
              <a:sym typeface="Didact Gothic"/>
            </a:endParaRPr>
          </a:p>
        </p:txBody>
      </p:sp>
      <p:cxnSp>
        <p:nvCxnSpPr>
          <p:cNvPr id="1361" name="Google Shape;1361;p96"/>
          <p:cNvCxnSpPr/>
          <p:nvPr/>
        </p:nvCxnSpPr>
        <p:spPr>
          <a:xfrm>
            <a:off x="6381913" y="2374525"/>
            <a:ext cx="4800" cy="348000"/>
          </a:xfrm>
          <a:prstGeom prst="straightConnector1">
            <a:avLst/>
          </a:prstGeom>
          <a:noFill/>
          <a:ln w="9525" cap="flat" cmpd="sng">
            <a:solidFill>
              <a:srgbClr val="000000"/>
            </a:solidFill>
            <a:prstDash val="solid"/>
            <a:round/>
            <a:headEnd type="none" w="med" len="med"/>
            <a:tailEnd type="triangle" w="med" len="med"/>
          </a:ln>
        </p:spPr>
      </p:cxnSp>
      <p:cxnSp>
        <p:nvCxnSpPr>
          <p:cNvPr id="1362" name="Google Shape;1362;p96"/>
          <p:cNvCxnSpPr/>
          <p:nvPr/>
        </p:nvCxnSpPr>
        <p:spPr>
          <a:xfrm flipH="1">
            <a:off x="5045294" y="2932063"/>
            <a:ext cx="1026900" cy="447300"/>
          </a:xfrm>
          <a:prstGeom prst="bentConnector3">
            <a:avLst>
              <a:gd name="adj1" fmla="val -9"/>
            </a:avLst>
          </a:prstGeom>
          <a:noFill/>
          <a:ln w="9525" cap="flat" cmpd="sng">
            <a:solidFill>
              <a:schemeClr val="dk1"/>
            </a:solidFill>
            <a:prstDash val="solid"/>
            <a:round/>
            <a:headEnd type="none" w="med" len="med"/>
            <a:tailEnd type="triangle" w="med" len="med"/>
          </a:ln>
        </p:spPr>
      </p:cxnSp>
      <p:cxnSp>
        <p:nvCxnSpPr>
          <p:cNvPr id="1363" name="Google Shape;1363;p96"/>
          <p:cNvCxnSpPr/>
          <p:nvPr/>
        </p:nvCxnSpPr>
        <p:spPr>
          <a:xfrm>
            <a:off x="5034963" y="2161629"/>
            <a:ext cx="741000" cy="671400"/>
          </a:xfrm>
          <a:prstGeom prst="bentConnector3">
            <a:avLst>
              <a:gd name="adj1" fmla="val 68289"/>
            </a:avLst>
          </a:prstGeom>
          <a:noFill/>
          <a:ln w="9525" cap="flat" cmpd="sng">
            <a:solidFill>
              <a:schemeClr val="dk1"/>
            </a:solidFill>
            <a:prstDash val="solid"/>
            <a:round/>
            <a:headEnd type="none" w="med" len="med"/>
            <a:tailEnd type="triangle" w="med" len="med"/>
          </a:ln>
        </p:spPr>
      </p:cxnSp>
      <p:cxnSp>
        <p:nvCxnSpPr>
          <p:cNvPr id="1364" name="Google Shape;1364;p96"/>
          <p:cNvCxnSpPr/>
          <p:nvPr/>
        </p:nvCxnSpPr>
        <p:spPr>
          <a:xfrm rot="10800000" flipH="1">
            <a:off x="5044088" y="2830509"/>
            <a:ext cx="733800" cy="45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8"/>
        <p:cNvGrpSpPr/>
        <p:nvPr/>
      </p:nvGrpSpPr>
      <p:grpSpPr>
        <a:xfrm>
          <a:off x="0" y="0"/>
          <a:ext cx="0" cy="0"/>
          <a:chOff x="0" y="0"/>
          <a:chExt cx="0" cy="0"/>
        </a:xfrm>
      </p:grpSpPr>
      <p:sp>
        <p:nvSpPr>
          <p:cNvPr id="1369" name="Google Shape;1369;p97"/>
          <p:cNvSpPr/>
          <p:nvPr/>
        </p:nvSpPr>
        <p:spPr>
          <a:xfrm>
            <a:off x="4563250" y="1168850"/>
            <a:ext cx="652200" cy="3837000"/>
          </a:xfrm>
          <a:prstGeom prst="rect">
            <a:avLst/>
          </a:prstGeom>
          <a:solidFill>
            <a:srgbClr val="F2D6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70" name="Google Shape;1370;p97"/>
          <p:cNvSpPr/>
          <p:nvPr/>
        </p:nvSpPr>
        <p:spPr>
          <a:xfrm>
            <a:off x="3347796" y="1168850"/>
            <a:ext cx="652200" cy="3064500"/>
          </a:xfrm>
          <a:prstGeom prst="rect">
            <a:avLst/>
          </a:prstGeom>
          <a:solidFill>
            <a:srgbClr val="9FA0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71" name="Google Shape;1371;p97"/>
          <p:cNvSpPr/>
          <p:nvPr/>
        </p:nvSpPr>
        <p:spPr>
          <a:xfrm>
            <a:off x="2155363" y="1168850"/>
            <a:ext cx="652200" cy="3064500"/>
          </a:xfrm>
          <a:prstGeom prst="rect">
            <a:avLst/>
          </a:prstGeom>
          <a:solidFill>
            <a:srgbClr val="BF9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372" name="Google Shape;1372;p97"/>
          <p:cNvGrpSpPr/>
          <p:nvPr/>
        </p:nvGrpSpPr>
        <p:grpSpPr>
          <a:xfrm>
            <a:off x="2121618" y="1413870"/>
            <a:ext cx="697800" cy="466476"/>
            <a:chOff x="1543350" y="1338491"/>
            <a:chExt cx="697800" cy="466476"/>
          </a:xfrm>
        </p:grpSpPr>
        <p:sp>
          <p:nvSpPr>
            <p:cNvPr id="1373" name="Google Shape;1373;p97"/>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374" name="Google Shape;1374;p97"/>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75" name="Google Shape;1375;p97"/>
          <p:cNvGrpSpPr/>
          <p:nvPr/>
        </p:nvGrpSpPr>
        <p:grpSpPr>
          <a:xfrm>
            <a:off x="2121618" y="1915287"/>
            <a:ext cx="697800" cy="471367"/>
            <a:chOff x="1543350" y="1839908"/>
            <a:chExt cx="697800" cy="471367"/>
          </a:xfrm>
        </p:grpSpPr>
        <p:sp>
          <p:nvSpPr>
            <p:cNvPr id="1376" name="Google Shape;1376;p97"/>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377" name="Google Shape;1377;p97"/>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78" name="Google Shape;1378;p97"/>
          <p:cNvGrpSpPr/>
          <p:nvPr/>
        </p:nvGrpSpPr>
        <p:grpSpPr>
          <a:xfrm>
            <a:off x="1887018" y="2416688"/>
            <a:ext cx="1167000" cy="644545"/>
            <a:chOff x="1308750" y="2341309"/>
            <a:chExt cx="1167000" cy="644545"/>
          </a:xfrm>
        </p:grpSpPr>
        <p:sp>
          <p:nvSpPr>
            <p:cNvPr id="1379" name="Google Shape;1379;p97"/>
            <p:cNvSpPr txBox="1"/>
            <p:nvPr/>
          </p:nvSpPr>
          <p:spPr>
            <a:xfrm>
              <a:off x="130875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380" name="Google Shape;1380;p97"/>
            <p:cNvSpPr/>
            <p:nvPr/>
          </p:nvSpPr>
          <p:spPr>
            <a:xfrm>
              <a:off x="1755111"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381" name="Google Shape;1381;p97"/>
          <p:cNvSpPr/>
          <p:nvPr/>
        </p:nvSpPr>
        <p:spPr>
          <a:xfrm>
            <a:off x="2893542" y="1962882"/>
            <a:ext cx="380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grpSp>
        <p:nvGrpSpPr>
          <p:cNvPr id="1382" name="Google Shape;1382;p97"/>
          <p:cNvGrpSpPr/>
          <p:nvPr/>
        </p:nvGrpSpPr>
        <p:grpSpPr>
          <a:xfrm>
            <a:off x="3317043" y="1413870"/>
            <a:ext cx="697800" cy="466476"/>
            <a:chOff x="3151806" y="1338491"/>
            <a:chExt cx="697800" cy="466476"/>
          </a:xfrm>
        </p:grpSpPr>
        <p:sp>
          <p:nvSpPr>
            <p:cNvPr id="1383" name="Google Shape;1383;p97"/>
            <p:cNvSpPr txBox="1"/>
            <p:nvPr/>
          </p:nvSpPr>
          <p:spPr>
            <a:xfrm>
              <a:off x="3151806"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384" name="Google Shape;1384;p97"/>
            <p:cNvSpPr/>
            <p:nvPr/>
          </p:nvSpPr>
          <p:spPr>
            <a:xfrm>
              <a:off x="3363567"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85" name="Google Shape;1385;p97"/>
          <p:cNvGrpSpPr/>
          <p:nvPr/>
        </p:nvGrpSpPr>
        <p:grpSpPr>
          <a:xfrm>
            <a:off x="3317043" y="1915287"/>
            <a:ext cx="697800" cy="471367"/>
            <a:chOff x="3151806" y="1839908"/>
            <a:chExt cx="697800" cy="471367"/>
          </a:xfrm>
        </p:grpSpPr>
        <p:sp>
          <p:nvSpPr>
            <p:cNvPr id="1386" name="Google Shape;1386;p97"/>
            <p:cNvSpPr txBox="1"/>
            <p:nvPr/>
          </p:nvSpPr>
          <p:spPr>
            <a:xfrm>
              <a:off x="3151806"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387" name="Google Shape;1387;p97"/>
            <p:cNvSpPr/>
            <p:nvPr/>
          </p:nvSpPr>
          <p:spPr>
            <a:xfrm>
              <a:off x="3363567"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88" name="Google Shape;1388;p97"/>
          <p:cNvGrpSpPr/>
          <p:nvPr/>
        </p:nvGrpSpPr>
        <p:grpSpPr>
          <a:xfrm>
            <a:off x="3082443" y="2416688"/>
            <a:ext cx="1167000" cy="607945"/>
            <a:chOff x="2917206" y="2341309"/>
            <a:chExt cx="1167000" cy="607945"/>
          </a:xfrm>
        </p:grpSpPr>
        <p:sp>
          <p:nvSpPr>
            <p:cNvPr id="1389" name="Google Shape;1389;p97"/>
            <p:cNvSpPr txBox="1"/>
            <p:nvPr/>
          </p:nvSpPr>
          <p:spPr>
            <a:xfrm>
              <a:off x="2917206" y="2633353"/>
              <a:ext cx="1167000" cy="31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390" name="Google Shape;1390;p97"/>
            <p:cNvSpPr/>
            <p:nvPr/>
          </p:nvSpPr>
          <p:spPr>
            <a:xfrm>
              <a:off x="3363567"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91" name="Google Shape;1391;p97"/>
          <p:cNvGrpSpPr/>
          <p:nvPr/>
        </p:nvGrpSpPr>
        <p:grpSpPr>
          <a:xfrm>
            <a:off x="4474896" y="1413873"/>
            <a:ext cx="874500" cy="486902"/>
            <a:chOff x="4118269" y="1397498"/>
            <a:chExt cx="874500" cy="486902"/>
          </a:xfrm>
        </p:grpSpPr>
        <p:sp>
          <p:nvSpPr>
            <p:cNvPr id="1392" name="Google Shape;1392;p97"/>
            <p:cNvSpPr txBox="1"/>
            <p:nvPr/>
          </p:nvSpPr>
          <p:spPr>
            <a:xfrm>
              <a:off x="4118269" y="164440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label</a:t>
              </a:r>
              <a:endParaRPr sz="900">
                <a:solidFill>
                  <a:srgbClr val="000000"/>
                </a:solidFill>
                <a:latin typeface="Didact Gothic"/>
                <a:ea typeface="Didact Gothic"/>
                <a:cs typeface="Didact Gothic"/>
                <a:sym typeface="Didact Gothic"/>
              </a:endParaRPr>
            </a:p>
          </p:txBody>
        </p:sp>
        <p:sp>
          <p:nvSpPr>
            <p:cNvPr id="1393" name="Google Shape;1393;p97"/>
            <p:cNvSpPr/>
            <p:nvPr/>
          </p:nvSpPr>
          <p:spPr>
            <a:xfrm>
              <a:off x="4418380" y="139749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394" name="Google Shape;1394;p97"/>
          <p:cNvGrpSpPr/>
          <p:nvPr/>
        </p:nvGrpSpPr>
        <p:grpSpPr>
          <a:xfrm>
            <a:off x="4464394" y="1916807"/>
            <a:ext cx="874500" cy="485914"/>
            <a:chOff x="4118269" y="1901936"/>
            <a:chExt cx="874500" cy="485914"/>
          </a:xfrm>
        </p:grpSpPr>
        <p:sp>
          <p:nvSpPr>
            <p:cNvPr id="1395" name="Google Shape;1395;p97"/>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static</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396" name="Google Shape;1396;p97"/>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397" name="Google Shape;1397;p97"/>
          <p:cNvCxnSpPr>
            <a:stCxn id="1374" idx="4"/>
            <a:endCxn id="1381" idx="1"/>
          </p:cNvCxnSpPr>
          <p:nvPr/>
        </p:nvCxnSpPr>
        <p:spPr>
          <a:xfrm>
            <a:off x="2607657" y="1578433"/>
            <a:ext cx="285900" cy="504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398" name="Google Shape;1398;p97"/>
          <p:cNvCxnSpPr>
            <a:stCxn id="1377" idx="4"/>
            <a:endCxn id="1381" idx="1"/>
          </p:cNvCxnSpPr>
          <p:nvPr/>
        </p:nvCxnSpPr>
        <p:spPr>
          <a:xfrm>
            <a:off x="2607657" y="2079850"/>
            <a:ext cx="285900" cy="30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399" name="Google Shape;1399;p97"/>
          <p:cNvCxnSpPr>
            <a:stCxn id="1380" idx="4"/>
            <a:endCxn id="1381" idx="1"/>
          </p:cNvCxnSpPr>
          <p:nvPr/>
        </p:nvCxnSpPr>
        <p:spPr>
          <a:xfrm rot="10800000" flipH="1">
            <a:off x="2607657" y="2082951"/>
            <a:ext cx="285900" cy="498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400" name="Google Shape;1400;p97"/>
          <p:cNvCxnSpPr>
            <a:stCxn id="1381" idx="3"/>
            <a:endCxn id="1387" idx="2"/>
          </p:cNvCxnSpPr>
          <p:nvPr/>
        </p:nvCxnSpPr>
        <p:spPr>
          <a:xfrm rot="10800000" flipH="1">
            <a:off x="3273942" y="2079882"/>
            <a:ext cx="255000" cy="3000"/>
          </a:xfrm>
          <a:prstGeom prst="bentConnector3">
            <a:avLst>
              <a:gd name="adj1" fmla="val 49973"/>
            </a:avLst>
          </a:prstGeom>
          <a:noFill/>
          <a:ln w="9525" cap="flat" cmpd="sng">
            <a:solidFill>
              <a:srgbClr val="000000"/>
            </a:solidFill>
            <a:prstDash val="solid"/>
            <a:round/>
            <a:headEnd type="none" w="med" len="med"/>
            <a:tailEnd type="triangle" w="med" len="med"/>
          </a:ln>
        </p:spPr>
      </p:cxnSp>
      <p:cxnSp>
        <p:nvCxnSpPr>
          <p:cNvPr id="1401" name="Google Shape;1401;p97"/>
          <p:cNvCxnSpPr>
            <a:stCxn id="1381" idx="3"/>
            <a:endCxn id="1384" idx="2"/>
          </p:cNvCxnSpPr>
          <p:nvPr/>
        </p:nvCxnSpPr>
        <p:spPr>
          <a:xfrm rot="10800000" flipH="1">
            <a:off x="3273942" y="1578582"/>
            <a:ext cx="255000" cy="504300"/>
          </a:xfrm>
          <a:prstGeom prst="bentConnector3">
            <a:avLst>
              <a:gd name="adj1" fmla="val 43694"/>
            </a:avLst>
          </a:prstGeom>
          <a:noFill/>
          <a:ln w="9525" cap="flat" cmpd="sng">
            <a:solidFill>
              <a:srgbClr val="000000"/>
            </a:solidFill>
            <a:prstDash val="solid"/>
            <a:round/>
            <a:headEnd type="none" w="med" len="med"/>
            <a:tailEnd type="triangle" w="med" len="med"/>
          </a:ln>
        </p:spPr>
      </p:cxnSp>
      <p:cxnSp>
        <p:nvCxnSpPr>
          <p:cNvPr id="1402" name="Google Shape;1402;p97"/>
          <p:cNvCxnSpPr>
            <a:stCxn id="1381" idx="3"/>
            <a:endCxn id="1390" idx="2"/>
          </p:cNvCxnSpPr>
          <p:nvPr/>
        </p:nvCxnSpPr>
        <p:spPr>
          <a:xfrm>
            <a:off x="3273942" y="2082882"/>
            <a:ext cx="255000" cy="498300"/>
          </a:xfrm>
          <a:prstGeom prst="bentConnector3">
            <a:avLst>
              <a:gd name="adj1" fmla="val 42307"/>
            </a:avLst>
          </a:prstGeom>
          <a:noFill/>
          <a:ln w="9525" cap="flat" cmpd="sng">
            <a:solidFill>
              <a:srgbClr val="000000"/>
            </a:solidFill>
            <a:prstDash val="solid"/>
            <a:round/>
            <a:headEnd type="none" w="med" len="med"/>
            <a:tailEnd type="triangle" w="med" len="med"/>
          </a:ln>
        </p:spPr>
      </p:cxnSp>
      <p:cxnSp>
        <p:nvCxnSpPr>
          <p:cNvPr id="1403" name="Google Shape;1403;p97"/>
          <p:cNvCxnSpPr>
            <a:stCxn id="1384" idx="4"/>
            <a:endCxn id="1404"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405" name="Google Shape;1405;p97"/>
          <p:cNvCxnSpPr>
            <a:stCxn id="1390" idx="4"/>
            <a:endCxn id="1404"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1404" name="Google Shape;1404;p97"/>
          <p:cNvSpPr/>
          <p:nvPr/>
        </p:nvSpPr>
        <p:spPr>
          <a:xfrm>
            <a:off x="4123385" y="1952550"/>
            <a:ext cx="380400" cy="2523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1406" name="Google Shape;1406;p97"/>
          <p:cNvCxnSpPr>
            <a:stCxn id="1387" idx="4"/>
            <a:endCxn id="1404" idx="1"/>
          </p:cNvCxnSpPr>
          <p:nvPr/>
        </p:nvCxnSpPr>
        <p:spPr>
          <a:xfrm rot="10800000" flipH="1">
            <a:off x="3803082" y="2078650"/>
            <a:ext cx="320400" cy="12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407" name="Google Shape;1407;p97"/>
          <p:cNvCxnSpPr>
            <a:stCxn id="1390" idx="4"/>
            <a:endCxn id="1404"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408" name="Google Shape;1408;p97"/>
          <p:cNvCxnSpPr>
            <a:stCxn id="1384" idx="4"/>
            <a:endCxn id="1404"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1409" name="Google Shape;1409;p97"/>
          <p:cNvSpPr txBox="1"/>
          <p:nvPr/>
        </p:nvSpPr>
        <p:spPr>
          <a:xfrm>
            <a:off x="2158683" y="1112208"/>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Bronze</a:t>
            </a:r>
            <a:endParaRPr sz="900" b="1">
              <a:solidFill>
                <a:srgbClr val="000000"/>
              </a:solidFill>
              <a:latin typeface="Didact Gothic"/>
              <a:ea typeface="Didact Gothic"/>
              <a:cs typeface="Didact Gothic"/>
              <a:sym typeface="Didact Gothic"/>
            </a:endParaRPr>
          </a:p>
        </p:txBody>
      </p:sp>
      <p:sp>
        <p:nvSpPr>
          <p:cNvPr id="1410" name="Google Shape;1410;p97"/>
          <p:cNvSpPr txBox="1"/>
          <p:nvPr/>
        </p:nvSpPr>
        <p:spPr>
          <a:xfrm>
            <a:off x="3360483"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Silver</a:t>
            </a:r>
            <a:endParaRPr sz="900" b="1">
              <a:solidFill>
                <a:srgbClr val="000000"/>
              </a:solidFill>
              <a:latin typeface="Didact Gothic"/>
              <a:ea typeface="Didact Gothic"/>
              <a:cs typeface="Didact Gothic"/>
              <a:sym typeface="Didact Gothic"/>
            </a:endParaRPr>
          </a:p>
        </p:txBody>
      </p:sp>
      <p:grpSp>
        <p:nvGrpSpPr>
          <p:cNvPr id="1411" name="Google Shape;1411;p97"/>
          <p:cNvGrpSpPr/>
          <p:nvPr/>
        </p:nvGrpSpPr>
        <p:grpSpPr>
          <a:xfrm>
            <a:off x="2121618" y="3217246"/>
            <a:ext cx="697800" cy="466476"/>
            <a:chOff x="1543350" y="1338491"/>
            <a:chExt cx="697800" cy="466476"/>
          </a:xfrm>
        </p:grpSpPr>
        <p:sp>
          <p:nvSpPr>
            <p:cNvPr id="1412" name="Google Shape;1412;p97"/>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413" name="Google Shape;1413;p97"/>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414" name="Google Shape;1414;p97"/>
          <p:cNvGrpSpPr/>
          <p:nvPr/>
        </p:nvGrpSpPr>
        <p:grpSpPr>
          <a:xfrm>
            <a:off x="2121618" y="3728551"/>
            <a:ext cx="697800" cy="471367"/>
            <a:chOff x="1543350" y="1839908"/>
            <a:chExt cx="697800" cy="471367"/>
          </a:xfrm>
        </p:grpSpPr>
        <p:sp>
          <p:nvSpPr>
            <p:cNvPr id="1415" name="Google Shape;1415;p97"/>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416" name="Google Shape;1416;p97"/>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417" name="Google Shape;1417;p97"/>
          <p:cNvSpPr/>
          <p:nvPr/>
        </p:nvSpPr>
        <p:spPr>
          <a:xfrm>
            <a:off x="1637949" y="3512163"/>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418" name="Google Shape;1418;p97"/>
          <p:cNvCxnSpPr>
            <a:stCxn id="1417" idx="3"/>
            <a:endCxn id="1413" idx="2"/>
          </p:cNvCxnSpPr>
          <p:nvPr/>
        </p:nvCxnSpPr>
        <p:spPr>
          <a:xfrm rot="10800000" flipH="1">
            <a:off x="2076849" y="3381663"/>
            <a:ext cx="256500" cy="250500"/>
          </a:xfrm>
          <a:prstGeom prst="bentConnector3">
            <a:avLst>
              <a:gd name="adj1" fmla="val 50006"/>
            </a:avLst>
          </a:prstGeom>
          <a:noFill/>
          <a:ln w="9525" cap="flat" cmpd="sng">
            <a:solidFill>
              <a:schemeClr val="dk1"/>
            </a:solidFill>
            <a:prstDash val="solid"/>
            <a:round/>
            <a:headEnd type="none" w="med" len="med"/>
            <a:tailEnd type="triangle" w="med" len="med"/>
          </a:ln>
        </p:spPr>
      </p:cxnSp>
      <p:cxnSp>
        <p:nvCxnSpPr>
          <p:cNvPr id="1419" name="Google Shape;1419;p97"/>
          <p:cNvCxnSpPr>
            <a:stCxn id="1417" idx="3"/>
            <a:endCxn id="1416" idx="2"/>
          </p:cNvCxnSpPr>
          <p:nvPr/>
        </p:nvCxnSpPr>
        <p:spPr>
          <a:xfrm>
            <a:off x="2076849" y="3632163"/>
            <a:ext cx="256500" cy="261000"/>
          </a:xfrm>
          <a:prstGeom prst="bentConnector3">
            <a:avLst>
              <a:gd name="adj1" fmla="val 50006"/>
            </a:avLst>
          </a:prstGeom>
          <a:noFill/>
          <a:ln w="9525" cap="flat" cmpd="sng">
            <a:solidFill>
              <a:srgbClr val="0000FF"/>
            </a:solidFill>
            <a:prstDash val="solid"/>
            <a:round/>
            <a:headEnd type="none" w="med" len="med"/>
            <a:tailEnd type="triangle" w="med" len="med"/>
          </a:ln>
        </p:spPr>
      </p:cxnSp>
      <p:sp>
        <p:nvSpPr>
          <p:cNvPr id="1420" name="Google Shape;1420;p97"/>
          <p:cNvSpPr/>
          <p:nvPr/>
        </p:nvSpPr>
        <p:spPr>
          <a:xfrm>
            <a:off x="5749788" y="147284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ml_train.py</a:t>
            </a:r>
            <a:endParaRPr sz="900">
              <a:latin typeface="Didact Gothic"/>
              <a:ea typeface="Didact Gothic"/>
              <a:cs typeface="Didact Gothic"/>
              <a:sym typeface="Didact Gothic"/>
            </a:endParaRPr>
          </a:p>
        </p:txBody>
      </p:sp>
      <p:sp>
        <p:nvSpPr>
          <p:cNvPr id="1421" name="Google Shape;1421;p97"/>
          <p:cNvSpPr/>
          <p:nvPr/>
        </p:nvSpPr>
        <p:spPr>
          <a:xfrm>
            <a:off x="7185214" y="4281575"/>
            <a:ext cx="739200" cy="682200"/>
          </a:xfrm>
          <a:prstGeom prst="ellipse">
            <a:avLst/>
          </a:prstGeom>
          <a:solidFill>
            <a:schemeClr val="accent1"/>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800">
                <a:latin typeface="Roboto"/>
                <a:ea typeface="Roboto"/>
                <a:cs typeface="Roboto"/>
                <a:sym typeface="Roboto"/>
              </a:rPr>
              <a:t>Dashboard</a:t>
            </a:r>
            <a:endParaRPr sz="800">
              <a:latin typeface="Roboto"/>
              <a:ea typeface="Roboto"/>
              <a:cs typeface="Roboto"/>
              <a:sym typeface="Roboto"/>
            </a:endParaRPr>
          </a:p>
        </p:txBody>
      </p:sp>
      <p:cxnSp>
        <p:nvCxnSpPr>
          <p:cNvPr id="1422" name="Google Shape;1422;p97"/>
          <p:cNvCxnSpPr/>
          <p:nvPr/>
        </p:nvCxnSpPr>
        <p:spPr>
          <a:xfrm>
            <a:off x="6385018" y="1680116"/>
            <a:ext cx="6300" cy="369900"/>
          </a:xfrm>
          <a:prstGeom prst="straightConnector1">
            <a:avLst/>
          </a:prstGeom>
          <a:noFill/>
          <a:ln w="9525" cap="flat" cmpd="sng">
            <a:solidFill>
              <a:srgbClr val="000000"/>
            </a:solidFill>
            <a:prstDash val="solid"/>
            <a:round/>
            <a:headEnd type="none" w="med" len="med"/>
            <a:tailEnd type="stealth" w="med" len="med"/>
          </a:ln>
        </p:spPr>
      </p:cxnSp>
      <p:sp>
        <p:nvSpPr>
          <p:cNvPr id="1423" name="Google Shape;1423;p97"/>
          <p:cNvSpPr/>
          <p:nvPr/>
        </p:nvSpPr>
        <p:spPr>
          <a:xfrm>
            <a:off x="5746138" y="271635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ml_predict.py</a:t>
            </a:r>
            <a:endParaRPr sz="900">
              <a:latin typeface="Didact Gothic"/>
              <a:ea typeface="Didact Gothic"/>
              <a:cs typeface="Didact Gothic"/>
              <a:sym typeface="Didact Gothic"/>
            </a:endParaRPr>
          </a:p>
        </p:txBody>
      </p:sp>
      <p:sp>
        <p:nvSpPr>
          <p:cNvPr id="1424" name="Google Shape;1424;p97"/>
          <p:cNvSpPr/>
          <p:nvPr/>
        </p:nvSpPr>
        <p:spPr>
          <a:xfrm>
            <a:off x="6192301" y="2048420"/>
            <a:ext cx="320400" cy="324000"/>
          </a:xfrm>
          <a:prstGeom prst="cube">
            <a:avLst>
              <a:gd name="adj" fmla="val 25000"/>
            </a:avLst>
          </a:prstGeom>
          <a:solidFill>
            <a:srgbClr val="FCFDF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25" name="Google Shape;1425;p97"/>
          <p:cNvSpPr txBox="1"/>
          <p:nvPr/>
        </p:nvSpPr>
        <p:spPr>
          <a:xfrm>
            <a:off x="5590421" y="2015880"/>
            <a:ext cx="784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model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bank</a:t>
            </a:r>
            <a:endParaRPr sz="900">
              <a:solidFill>
                <a:srgbClr val="000000"/>
              </a:solidFill>
              <a:latin typeface="Didact Gothic"/>
              <a:ea typeface="Didact Gothic"/>
              <a:cs typeface="Didact Gothic"/>
              <a:sym typeface="Didact Gothic"/>
            </a:endParaRPr>
          </a:p>
        </p:txBody>
      </p:sp>
      <p:cxnSp>
        <p:nvCxnSpPr>
          <p:cNvPr id="1426" name="Google Shape;1426;p97"/>
          <p:cNvCxnSpPr/>
          <p:nvPr/>
        </p:nvCxnSpPr>
        <p:spPr>
          <a:xfrm>
            <a:off x="6381913" y="2374525"/>
            <a:ext cx="4800" cy="348000"/>
          </a:xfrm>
          <a:prstGeom prst="straightConnector1">
            <a:avLst/>
          </a:prstGeom>
          <a:noFill/>
          <a:ln w="9525" cap="flat" cmpd="sng">
            <a:solidFill>
              <a:srgbClr val="000000"/>
            </a:solidFill>
            <a:prstDash val="solid"/>
            <a:round/>
            <a:headEnd type="none" w="med" len="med"/>
            <a:tailEnd type="triangle" w="med" len="med"/>
          </a:ln>
        </p:spPr>
      </p:cxnSp>
      <p:sp>
        <p:nvSpPr>
          <p:cNvPr id="1427" name="Google Shape;1427;p97"/>
          <p:cNvSpPr txBox="1"/>
          <p:nvPr/>
        </p:nvSpPr>
        <p:spPr>
          <a:xfrm>
            <a:off x="4564228"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latin typeface="Didact Gothic"/>
                <a:ea typeface="Didact Gothic"/>
                <a:cs typeface="Didact Gothic"/>
                <a:sym typeface="Didact Gothic"/>
              </a:rPr>
              <a:t>Gold</a:t>
            </a:r>
            <a:endParaRPr sz="900" b="1">
              <a:solidFill>
                <a:srgbClr val="000000"/>
              </a:solidFill>
              <a:latin typeface="Didact Gothic"/>
              <a:ea typeface="Didact Gothic"/>
              <a:cs typeface="Didact Gothic"/>
              <a:sym typeface="Didact Gothic"/>
            </a:endParaRPr>
          </a:p>
        </p:txBody>
      </p:sp>
      <p:cxnSp>
        <p:nvCxnSpPr>
          <p:cNvPr id="1428" name="Google Shape;1428;p97"/>
          <p:cNvCxnSpPr>
            <a:stCxn id="1404" idx="3"/>
            <a:endCxn id="1393" idx="2"/>
          </p:cNvCxnSpPr>
          <p:nvPr/>
        </p:nvCxnSpPr>
        <p:spPr>
          <a:xfrm rot="10800000" flipH="1">
            <a:off x="4503785" y="1578300"/>
            <a:ext cx="271200" cy="500400"/>
          </a:xfrm>
          <a:prstGeom prst="bentConnector3">
            <a:avLst>
              <a:gd name="adj1" fmla="val 50004"/>
            </a:avLst>
          </a:prstGeom>
          <a:noFill/>
          <a:ln w="9525" cap="flat" cmpd="sng">
            <a:solidFill>
              <a:schemeClr val="dk1"/>
            </a:solidFill>
            <a:prstDash val="solid"/>
            <a:round/>
            <a:headEnd type="none" w="med" len="med"/>
            <a:tailEnd type="triangle" w="med" len="med"/>
          </a:ln>
        </p:spPr>
      </p:cxnSp>
      <p:cxnSp>
        <p:nvCxnSpPr>
          <p:cNvPr id="1429" name="Google Shape;1429;p97"/>
          <p:cNvCxnSpPr>
            <a:stCxn id="1404" idx="3"/>
            <a:endCxn id="1396" idx="2"/>
          </p:cNvCxnSpPr>
          <p:nvPr/>
        </p:nvCxnSpPr>
        <p:spPr>
          <a:xfrm>
            <a:off x="4503785" y="2078700"/>
            <a:ext cx="260700" cy="2700"/>
          </a:xfrm>
          <a:prstGeom prst="straightConnector1">
            <a:avLst/>
          </a:prstGeom>
          <a:noFill/>
          <a:ln w="9525" cap="flat" cmpd="sng">
            <a:solidFill>
              <a:schemeClr val="dk1"/>
            </a:solidFill>
            <a:prstDash val="solid"/>
            <a:round/>
            <a:headEnd type="none" w="med" len="med"/>
            <a:tailEnd type="triangle" w="med" len="med"/>
          </a:ln>
        </p:spPr>
      </p:cxnSp>
      <p:grpSp>
        <p:nvGrpSpPr>
          <p:cNvPr id="1430" name="Google Shape;1430;p97"/>
          <p:cNvGrpSpPr/>
          <p:nvPr/>
        </p:nvGrpSpPr>
        <p:grpSpPr>
          <a:xfrm>
            <a:off x="4470905" y="2580338"/>
            <a:ext cx="874500" cy="485914"/>
            <a:chOff x="4118269" y="1901936"/>
            <a:chExt cx="874500" cy="485914"/>
          </a:xfrm>
        </p:grpSpPr>
        <p:sp>
          <p:nvSpPr>
            <p:cNvPr id="1431" name="Google Shape;1431;p97"/>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rolling</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432" name="Google Shape;1432;p97"/>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433" name="Google Shape;1433;p97"/>
          <p:cNvCxnSpPr>
            <a:stCxn id="1404" idx="3"/>
            <a:endCxn id="1432" idx="2"/>
          </p:cNvCxnSpPr>
          <p:nvPr/>
        </p:nvCxnSpPr>
        <p:spPr>
          <a:xfrm>
            <a:off x="4503785" y="2078700"/>
            <a:ext cx="267300" cy="666300"/>
          </a:xfrm>
          <a:prstGeom prst="bentConnector3">
            <a:avLst>
              <a:gd name="adj1" fmla="val 49987"/>
            </a:avLst>
          </a:prstGeom>
          <a:noFill/>
          <a:ln w="9525" cap="flat" cmpd="sng">
            <a:solidFill>
              <a:schemeClr val="dk1"/>
            </a:solidFill>
            <a:prstDash val="solid"/>
            <a:round/>
            <a:headEnd type="none" w="med" len="med"/>
            <a:tailEnd type="triangle" w="med" len="med"/>
          </a:ln>
        </p:spPr>
      </p:cxnSp>
      <p:sp>
        <p:nvSpPr>
          <p:cNvPr id="1434" name="Google Shape;1434;p97"/>
          <p:cNvSpPr/>
          <p:nvPr/>
        </p:nvSpPr>
        <p:spPr>
          <a:xfrm>
            <a:off x="2864199" y="3262225"/>
            <a:ext cx="413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1435" name="Google Shape;1435;p97"/>
          <p:cNvCxnSpPr>
            <a:stCxn id="1413" idx="4"/>
            <a:endCxn id="1434" idx="1"/>
          </p:cNvCxnSpPr>
          <p:nvPr/>
        </p:nvCxnSpPr>
        <p:spPr>
          <a:xfrm>
            <a:off x="2607657" y="3381809"/>
            <a:ext cx="256500" cy="600"/>
          </a:xfrm>
          <a:prstGeom prst="bentConnector3">
            <a:avLst>
              <a:gd name="adj1" fmla="val 50008"/>
            </a:avLst>
          </a:prstGeom>
          <a:noFill/>
          <a:ln w="9525" cap="flat" cmpd="sng">
            <a:solidFill>
              <a:schemeClr val="dk1"/>
            </a:solidFill>
            <a:prstDash val="solid"/>
            <a:round/>
            <a:headEnd type="none" w="med" len="med"/>
            <a:tailEnd type="triangle" w="med" len="med"/>
          </a:ln>
        </p:spPr>
      </p:cxnSp>
      <p:cxnSp>
        <p:nvCxnSpPr>
          <p:cNvPr id="1436" name="Google Shape;1436;p97"/>
          <p:cNvCxnSpPr>
            <a:stCxn id="1416" idx="4"/>
            <a:endCxn id="1434" idx="1"/>
          </p:cNvCxnSpPr>
          <p:nvPr/>
        </p:nvCxnSpPr>
        <p:spPr>
          <a:xfrm rot="10800000" flipH="1">
            <a:off x="2607657" y="3382213"/>
            <a:ext cx="256500" cy="510900"/>
          </a:xfrm>
          <a:prstGeom prst="bentConnector3">
            <a:avLst>
              <a:gd name="adj1" fmla="val 50008"/>
            </a:avLst>
          </a:prstGeom>
          <a:noFill/>
          <a:ln w="9525" cap="flat" cmpd="sng">
            <a:solidFill>
              <a:schemeClr val="dk1"/>
            </a:solidFill>
            <a:prstDash val="solid"/>
            <a:round/>
            <a:headEnd type="none" w="med" len="med"/>
            <a:tailEnd type="triangle" w="med" len="med"/>
          </a:ln>
        </p:spPr>
      </p:cxnSp>
      <p:cxnSp>
        <p:nvCxnSpPr>
          <p:cNvPr id="1437" name="Google Shape;1437;p97"/>
          <p:cNvCxnSpPr>
            <a:stCxn id="1434" idx="3"/>
            <a:endCxn id="1384" idx="2"/>
          </p:cNvCxnSpPr>
          <p:nvPr/>
        </p:nvCxnSpPr>
        <p:spPr>
          <a:xfrm rot="10800000" flipH="1">
            <a:off x="3277599" y="1578325"/>
            <a:ext cx="251100" cy="1803900"/>
          </a:xfrm>
          <a:prstGeom prst="bentConnector3">
            <a:avLst>
              <a:gd name="adj1" fmla="val 42772"/>
            </a:avLst>
          </a:prstGeom>
          <a:noFill/>
          <a:ln w="9525" cap="flat" cmpd="sng">
            <a:solidFill>
              <a:schemeClr val="dk1"/>
            </a:solidFill>
            <a:prstDash val="solid"/>
            <a:round/>
            <a:headEnd type="none" w="med" len="med"/>
            <a:tailEnd type="triangle" w="med" len="med"/>
          </a:ln>
        </p:spPr>
      </p:cxnSp>
      <p:cxnSp>
        <p:nvCxnSpPr>
          <p:cNvPr id="1438" name="Google Shape;1438;p97"/>
          <p:cNvCxnSpPr>
            <a:stCxn id="1434" idx="3"/>
            <a:endCxn id="1387" idx="2"/>
          </p:cNvCxnSpPr>
          <p:nvPr/>
        </p:nvCxnSpPr>
        <p:spPr>
          <a:xfrm rot="10800000" flipH="1">
            <a:off x="3277599" y="2079925"/>
            <a:ext cx="251100" cy="1302300"/>
          </a:xfrm>
          <a:prstGeom prst="bentConnector3">
            <a:avLst>
              <a:gd name="adj1" fmla="val 41916"/>
            </a:avLst>
          </a:prstGeom>
          <a:noFill/>
          <a:ln w="9525" cap="flat" cmpd="sng">
            <a:solidFill>
              <a:schemeClr val="dk1"/>
            </a:solidFill>
            <a:prstDash val="solid"/>
            <a:round/>
            <a:headEnd type="none" w="med" len="med"/>
            <a:tailEnd type="triangle" w="med" len="med"/>
          </a:ln>
        </p:spPr>
      </p:cxnSp>
      <p:cxnSp>
        <p:nvCxnSpPr>
          <p:cNvPr id="1439" name="Google Shape;1439;p97"/>
          <p:cNvCxnSpPr>
            <a:stCxn id="1434" idx="3"/>
            <a:endCxn id="1390" idx="2"/>
          </p:cNvCxnSpPr>
          <p:nvPr/>
        </p:nvCxnSpPr>
        <p:spPr>
          <a:xfrm rot="10800000" flipH="1">
            <a:off x="3277599" y="2581225"/>
            <a:ext cx="251100" cy="801000"/>
          </a:xfrm>
          <a:prstGeom prst="bentConnector3">
            <a:avLst>
              <a:gd name="adj1" fmla="val 40224"/>
            </a:avLst>
          </a:prstGeom>
          <a:noFill/>
          <a:ln w="9525" cap="flat" cmpd="sng">
            <a:solidFill>
              <a:schemeClr val="dk1"/>
            </a:solidFill>
            <a:prstDash val="solid"/>
            <a:round/>
            <a:headEnd type="none" w="med" len="med"/>
            <a:tailEnd type="triangle" w="med" len="med"/>
          </a:ln>
        </p:spPr>
      </p:cxnSp>
      <p:cxnSp>
        <p:nvCxnSpPr>
          <p:cNvPr id="1440" name="Google Shape;1440;p97"/>
          <p:cNvCxnSpPr>
            <a:stCxn id="1393" idx="4"/>
            <a:endCxn id="1420" idx="1"/>
          </p:cNvCxnSpPr>
          <p:nvPr/>
        </p:nvCxnSpPr>
        <p:spPr>
          <a:xfrm>
            <a:off x="5049285" y="1578436"/>
            <a:ext cx="700500" cy="15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1441" name="Google Shape;1441;p97"/>
          <p:cNvCxnSpPr>
            <a:stCxn id="1396" idx="4"/>
            <a:endCxn id="1420" idx="1"/>
          </p:cNvCxnSpPr>
          <p:nvPr/>
        </p:nvCxnSpPr>
        <p:spPr>
          <a:xfrm rot="10800000" flipH="1">
            <a:off x="5038783" y="1579770"/>
            <a:ext cx="711000" cy="501600"/>
          </a:xfrm>
          <a:prstGeom prst="bentConnector3">
            <a:avLst>
              <a:gd name="adj1" fmla="val 50000"/>
            </a:avLst>
          </a:prstGeom>
          <a:noFill/>
          <a:ln w="9525" cap="flat" cmpd="sng">
            <a:solidFill>
              <a:schemeClr val="dk1"/>
            </a:solidFill>
            <a:prstDash val="solid"/>
            <a:round/>
            <a:headEnd type="none" w="med" len="med"/>
            <a:tailEnd type="triangle" w="med" len="med"/>
          </a:ln>
        </p:spPr>
      </p:cxnSp>
      <p:cxnSp>
        <p:nvCxnSpPr>
          <p:cNvPr id="1442" name="Google Shape;1442;p97"/>
          <p:cNvCxnSpPr>
            <a:stCxn id="1432" idx="4"/>
            <a:endCxn id="1420" idx="1"/>
          </p:cNvCxnSpPr>
          <p:nvPr/>
        </p:nvCxnSpPr>
        <p:spPr>
          <a:xfrm rot="10800000" flipH="1">
            <a:off x="5045294" y="1579701"/>
            <a:ext cx="704400" cy="1165200"/>
          </a:xfrm>
          <a:prstGeom prst="bentConnector3">
            <a:avLst>
              <a:gd name="adj1" fmla="val 50007"/>
            </a:avLst>
          </a:prstGeom>
          <a:noFill/>
          <a:ln w="9525" cap="flat" cmpd="sng">
            <a:solidFill>
              <a:schemeClr val="dk1"/>
            </a:solidFill>
            <a:prstDash val="solid"/>
            <a:round/>
            <a:headEnd type="none" w="med" len="med"/>
            <a:tailEnd type="triangle" w="med" len="med"/>
          </a:ln>
        </p:spPr>
      </p:cxnSp>
      <p:grpSp>
        <p:nvGrpSpPr>
          <p:cNvPr id="1443" name="Google Shape;1443;p97"/>
          <p:cNvGrpSpPr/>
          <p:nvPr/>
        </p:nvGrpSpPr>
        <p:grpSpPr>
          <a:xfrm>
            <a:off x="4470905" y="3214801"/>
            <a:ext cx="874500" cy="485914"/>
            <a:chOff x="4118269" y="1901936"/>
            <a:chExt cx="874500" cy="485914"/>
          </a:xfrm>
        </p:grpSpPr>
        <p:sp>
          <p:nvSpPr>
            <p:cNvPr id="1444" name="Google Shape;1444;p97"/>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sp>
          <p:nvSpPr>
            <p:cNvPr id="1445" name="Google Shape;1445;p97"/>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446" name="Google Shape;1446;p97"/>
          <p:cNvGrpSpPr/>
          <p:nvPr/>
        </p:nvGrpSpPr>
        <p:grpSpPr>
          <a:xfrm>
            <a:off x="4470905" y="3747213"/>
            <a:ext cx="874500" cy="485914"/>
            <a:chOff x="4118269" y="1901936"/>
            <a:chExt cx="874500" cy="485914"/>
          </a:xfrm>
        </p:grpSpPr>
        <p:sp>
          <p:nvSpPr>
            <p:cNvPr id="1447" name="Google Shape;1447;p97"/>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metric</a:t>
              </a:r>
              <a:endParaRPr sz="900">
                <a:solidFill>
                  <a:srgbClr val="000000"/>
                </a:solidFill>
                <a:latin typeface="Didact Gothic"/>
                <a:ea typeface="Didact Gothic"/>
                <a:cs typeface="Didact Gothic"/>
                <a:sym typeface="Didact Gothic"/>
              </a:endParaRPr>
            </a:p>
          </p:txBody>
        </p:sp>
        <p:sp>
          <p:nvSpPr>
            <p:cNvPr id="1448" name="Google Shape;1448;p97"/>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449" name="Google Shape;1449;p97"/>
          <p:cNvCxnSpPr>
            <a:endCxn id="1445" idx="4"/>
          </p:cNvCxnSpPr>
          <p:nvPr/>
        </p:nvCxnSpPr>
        <p:spPr>
          <a:xfrm flipH="1">
            <a:off x="5045294" y="2932063"/>
            <a:ext cx="1026900" cy="447300"/>
          </a:xfrm>
          <a:prstGeom prst="bentConnector3">
            <a:avLst>
              <a:gd name="adj1" fmla="val -9"/>
            </a:avLst>
          </a:prstGeom>
          <a:noFill/>
          <a:ln w="9525" cap="flat" cmpd="sng">
            <a:solidFill>
              <a:srgbClr val="A9283B"/>
            </a:solidFill>
            <a:prstDash val="solid"/>
            <a:round/>
            <a:headEnd type="none" w="med" len="med"/>
            <a:tailEnd type="triangle" w="med" len="med"/>
          </a:ln>
        </p:spPr>
      </p:cxnSp>
      <p:cxnSp>
        <p:nvCxnSpPr>
          <p:cNvPr id="1450" name="Google Shape;1450;p97"/>
          <p:cNvCxnSpPr/>
          <p:nvPr/>
        </p:nvCxnSpPr>
        <p:spPr>
          <a:xfrm>
            <a:off x="5034963" y="2161629"/>
            <a:ext cx="741000" cy="671400"/>
          </a:xfrm>
          <a:prstGeom prst="bentConnector3">
            <a:avLst>
              <a:gd name="adj1" fmla="val 68289"/>
            </a:avLst>
          </a:prstGeom>
          <a:noFill/>
          <a:ln w="9525" cap="flat" cmpd="sng">
            <a:solidFill>
              <a:srgbClr val="A9283B"/>
            </a:solidFill>
            <a:prstDash val="solid"/>
            <a:round/>
            <a:headEnd type="none" w="med" len="med"/>
            <a:tailEnd type="triangle" w="med" len="med"/>
          </a:ln>
        </p:spPr>
      </p:cxnSp>
      <p:cxnSp>
        <p:nvCxnSpPr>
          <p:cNvPr id="1451" name="Google Shape;1451;p97"/>
          <p:cNvCxnSpPr/>
          <p:nvPr/>
        </p:nvCxnSpPr>
        <p:spPr>
          <a:xfrm rot="10800000" flipH="1">
            <a:off x="5044088" y="2830509"/>
            <a:ext cx="733800" cy="4500"/>
          </a:xfrm>
          <a:prstGeom prst="straightConnector1">
            <a:avLst/>
          </a:prstGeom>
          <a:noFill/>
          <a:ln w="9525" cap="flat" cmpd="sng">
            <a:solidFill>
              <a:srgbClr val="A9283B"/>
            </a:solidFill>
            <a:prstDash val="solid"/>
            <a:round/>
            <a:headEnd type="none" w="med" len="med"/>
            <a:tailEnd type="triangle" w="med" len="med"/>
          </a:ln>
        </p:spPr>
      </p:cxnSp>
      <p:sp>
        <p:nvSpPr>
          <p:cNvPr id="1452" name="Google Shape;1452;p97"/>
          <p:cNvSpPr/>
          <p:nvPr/>
        </p:nvSpPr>
        <p:spPr>
          <a:xfrm>
            <a:off x="352238" y="4486394"/>
            <a:ext cx="961800" cy="5091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OmniBehaviour</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Simulation</a:t>
            </a:r>
            <a:endParaRPr sz="900">
              <a:latin typeface="Didact Gothic"/>
              <a:ea typeface="Didact Gothic"/>
              <a:cs typeface="Didact Gothic"/>
              <a:sym typeface="Didact Gothic"/>
            </a:endParaRPr>
          </a:p>
        </p:txBody>
      </p:sp>
      <p:cxnSp>
        <p:nvCxnSpPr>
          <p:cNvPr id="1453" name="Google Shape;1453;p97"/>
          <p:cNvCxnSpPr>
            <a:stCxn id="1452" idx="3"/>
            <a:endCxn id="1454" idx="1"/>
          </p:cNvCxnSpPr>
          <p:nvPr/>
        </p:nvCxnSpPr>
        <p:spPr>
          <a:xfrm rot="10800000" flipH="1">
            <a:off x="1314038" y="4576244"/>
            <a:ext cx="413400" cy="164700"/>
          </a:xfrm>
          <a:prstGeom prst="bentConnector3">
            <a:avLst>
              <a:gd name="adj1" fmla="val 50002"/>
            </a:avLst>
          </a:prstGeom>
          <a:noFill/>
          <a:ln w="9525" cap="flat" cmpd="sng">
            <a:solidFill>
              <a:schemeClr val="dk1"/>
            </a:solidFill>
            <a:prstDash val="solid"/>
            <a:round/>
            <a:headEnd type="none" w="med" len="med"/>
            <a:tailEnd type="triangle" w="med" len="med"/>
          </a:ln>
        </p:spPr>
      </p:cxnSp>
      <p:sp>
        <p:nvSpPr>
          <p:cNvPr id="1455" name="Google Shape;1455;p97"/>
          <p:cNvSpPr/>
          <p:nvPr/>
        </p:nvSpPr>
        <p:spPr>
          <a:xfrm>
            <a:off x="4062172" y="3831819"/>
            <a:ext cx="438900" cy="2526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grpSp>
        <p:nvGrpSpPr>
          <p:cNvPr id="1456" name="Google Shape;1456;p97"/>
          <p:cNvGrpSpPr/>
          <p:nvPr/>
        </p:nvGrpSpPr>
        <p:grpSpPr>
          <a:xfrm>
            <a:off x="1417705" y="4448675"/>
            <a:ext cx="874500" cy="417568"/>
            <a:chOff x="1928393" y="4432300"/>
            <a:chExt cx="874500" cy="417568"/>
          </a:xfrm>
        </p:grpSpPr>
        <p:sp>
          <p:nvSpPr>
            <p:cNvPr id="1457" name="Google Shape;1457;p97"/>
            <p:cNvSpPr txBox="1"/>
            <p:nvPr/>
          </p:nvSpPr>
          <p:spPr>
            <a:xfrm>
              <a:off x="19283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raw</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event</a:t>
              </a:r>
              <a:endParaRPr sz="900">
                <a:latin typeface="Didact Gothic"/>
                <a:ea typeface="Didact Gothic"/>
                <a:cs typeface="Didact Gothic"/>
                <a:sym typeface="Didact Gothic"/>
              </a:endParaRPr>
            </a:p>
          </p:txBody>
        </p:sp>
        <p:pic>
          <p:nvPicPr>
            <p:cNvPr id="1454" name="Google Shape;1454;p97"/>
            <p:cNvPicPr preferRelativeResize="0"/>
            <p:nvPr/>
          </p:nvPicPr>
          <p:blipFill>
            <a:blip r:embed="rId3">
              <a:alphaModFix/>
            </a:blip>
            <a:stretch>
              <a:fillRect/>
            </a:stretch>
          </p:blipFill>
          <p:spPr>
            <a:xfrm>
              <a:off x="2238143" y="4432300"/>
              <a:ext cx="255000" cy="255000"/>
            </a:xfrm>
            <a:prstGeom prst="rect">
              <a:avLst/>
            </a:prstGeom>
            <a:noFill/>
            <a:ln>
              <a:noFill/>
            </a:ln>
          </p:spPr>
        </p:pic>
      </p:grpSp>
      <p:pic>
        <p:nvPicPr>
          <p:cNvPr id="1458" name="Google Shape;1458;p97"/>
          <p:cNvPicPr preferRelativeResize="0"/>
          <p:nvPr/>
        </p:nvPicPr>
        <p:blipFill>
          <a:blip r:embed="rId3">
            <a:alphaModFix/>
          </a:blip>
          <a:stretch>
            <a:fillRect/>
          </a:stretch>
        </p:blipFill>
        <p:spPr>
          <a:xfrm>
            <a:off x="2949024" y="4263862"/>
            <a:ext cx="255000" cy="255000"/>
          </a:xfrm>
          <a:prstGeom prst="rect">
            <a:avLst/>
          </a:prstGeom>
          <a:noFill/>
          <a:ln>
            <a:noFill/>
          </a:ln>
        </p:spPr>
      </p:pic>
      <p:grpSp>
        <p:nvGrpSpPr>
          <p:cNvPr id="1459" name="Google Shape;1459;p97"/>
          <p:cNvGrpSpPr/>
          <p:nvPr/>
        </p:nvGrpSpPr>
        <p:grpSpPr>
          <a:xfrm>
            <a:off x="3823983" y="4258589"/>
            <a:ext cx="874500" cy="382505"/>
            <a:chOff x="4963793" y="4467363"/>
            <a:chExt cx="874500" cy="382505"/>
          </a:xfrm>
        </p:grpSpPr>
        <p:sp>
          <p:nvSpPr>
            <p:cNvPr id="1460" name="Google Shape;1460;p97"/>
            <p:cNvSpPr txBox="1"/>
            <p:nvPr/>
          </p:nvSpPr>
          <p:spPr>
            <a:xfrm>
              <a:off x="49637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a:latin typeface="Didact Gothic"/>
                <a:ea typeface="Didact Gothic"/>
                <a:cs typeface="Didact Gothic"/>
                <a:sym typeface="Didact Gothic"/>
              </a:endParaRPr>
            </a:p>
          </p:txBody>
        </p:sp>
        <p:pic>
          <p:nvPicPr>
            <p:cNvPr id="1461" name="Google Shape;1461;p97"/>
            <p:cNvPicPr preferRelativeResize="0"/>
            <p:nvPr/>
          </p:nvPicPr>
          <p:blipFill>
            <a:blip r:embed="rId3">
              <a:alphaModFix/>
            </a:blip>
            <a:stretch>
              <a:fillRect/>
            </a:stretch>
          </p:blipFill>
          <p:spPr>
            <a:xfrm>
              <a:off x="5273543" y="4467363"/>
              <a:ext cx="255000" cy="255000"/>
            </a:xfrm>
            <a:prstGeom prst="rect">
              <a:avLst/>
            </a:prstGeom>
            <a:noFill/>
            <a:ln>
              <a:noFill/>
            </a:ln>
          </p:spPr>
        </p:pic>
      </p:grpSp>
      <p:cxnSp>
        <p:nvCxnSpPr>
          <p:cNvPr id="1462" name="Google Shape;1462;p97"/>
          <p:cNvCxnSpPr>
            <a:endCxn id="1461" idx="0"/>
          </p:cNvCxnSpPr>
          <p:nvPr/>
        </p:nvCxnSpPr>
        <p:spPr>
          <a:xfrm>
            <a:off x="4257333" y="4087289"/>
            <a:ext cx="3900" cy="171300"/>
          </a:xfrm>
          <a:prstGeom prst="straightConnector1">
            <a:avLst/>
          </a:prstGeom>
          <a:noFill/>
          <a:ln w="9525" cap="flat" cmpd="sng">
            <a:solidFill>
              <a:srgbClr val="0000FF"/>
            </a:solidFill>
            <a:prstDash val="solid"/>
            <a:round/>
            <a:headEnd type="none" w="med" len="med"/>
            <a:tailEnd type="triangle" w="med" len="med"/>
          </a:ln>
        </p:spPr>
      </p:cxnSp>
      <p:cxnSp>
        <p:nvCxnSpPr>
          <p:cNvPr id="1463" name="Google Shape;1463;p97"/>
          <p:cNvCxnSpPr>
            <a:stCxn id="1464" idx="4"/>
          </p:cNvCxnSpPr>
          <p:nvPr/>
        </p:nvCxnSpPr>
        <p:spPr>
          <a:xfrm rot="10800000" flipH="1">
            <a:off x="5045294" y="2914876"/>
            <a:ext cx="1146900" cy="1606500"/>
          </a:xfrm>
          <a:prstGeom prst="bentConnector2">
            <a:avLst/>
          </a:prstGeom>
          <a:noFill/>
          <a:ln w="9525" cap="flat" cmpd="sng">
            <a:solidFill>
              <a:srgbClr val="A9283B"/>
            </a:solidFill>
            <a:prstDash val="solid"/>
            <a:round/>
            <a:headEnd type="none" w="med" len="med"/>
            <a:tailEnd type="triangle" w="med" len="med"/>
          </a:ln>
        </p:spPr>
      </p:cxnSp>
      <p:grpSp>
        <p:nvGrpSpPr>
          <p:cNvPr id="1465" name="Google Shape;1465;p97"/>
          <p:cNvGrpSpPr/>
          <p:nvPr/>
        </p:nvGrpSpPr>
        <p:grpSpPr>
          <a:xfrm>
            <a:off x="5965526" y="4474050"/>
            <a:ext cx="874500" cy="453918"/>
            <a:chOff x="6512501" y="4457725"/>
            <a:chExt cx="874500" cy="453918"/>
          </a:xfrm>
        </p:grpSpPr>
        <p:pic>
          <p:nvPicPr>
            <p:cNvPr id="1466" name="Google Shape;1466;p97"/>
            <p:cNvPicPr preferRelativeResize="0"/>
            <p:nvPr/>
          </p:nvPicPr>
          <p:blipFill rotWithShape="1">
            <a:blip r:embed="rId4">
              <a:alphaModFix/>
            </a:blip>
            <a:srcRect t="8291"/>
            <a:stretch/>
          </p:blipFill>
          <p:spPr>
            <a:xfrm>
              <a:off x="6789551" y="4457725"/>
              <a:ext cx="320399" cy="293825"/>
            </a:xfrm>
            <a:prstGeom prst="rect">
              <a:avLst/>
            </a:prstGeom>
            <a:noFill/>
            <a:ln>
              <a:noFill/>
            </a:ln>
          </p:spPr>
        </p:pic>
        <p:sp>
          <p:nvSpPr>
            <p:cNvPr id="1467" name="Google Shape;1467;p97"/>
            <p:cNvSpPr txBox="1"/>
            <p:nvPr/>
          </p:nvSpPr>
          <p:spPr>
            <a:xfrm>
              <a:off x="6512501" y="4671643"/>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redis</a:t>
              </a:r>
              <a:endParaRPr sz="900">
                <a:latin typeface="Didact Gothic"/>
                <a:ea typeface="Didact Gothic"/>
                <a:cs typeface="Didact Gothic"/>
                <a:sym typeface="Didact Gothic"/>
              </a:endParaRPr>
            </a:p>
          </p:txBody>
        </p:sp>
      </p:grpSp>
      <p:cxnSp>
        <p:nvCxnSpPr>
          <p:cNvPr id="1468" name="Google Shape;1468;p97"/>
          <p:cNvCxnSpPr>
            <a:stCxn id="1423" idx="2"/>
            <a:endCxn id="1466" idx="0"/>
          </p:cNvCxnSpPr>
          <p:nvPr/>
        </p:nvCxnSpPr>
        <p:spPr>
          <a:xfrm flipH="1">
            <a:off x="6402688" y="2930250"/>
            <a:ext cx="3600" cy="1543800"/>
          </a:xfrm>
          <a:prstGeom prst="straightConnector1">
            <a:avLst/>
          </a:prstGeom>
          <a:noFill/>
          <a:ln w="9525" cap="flat" cmpd="sng">
            <a:solidFill>
              <a:srgbClr val="A9283B"/>
            </a:solidFill>
            <a:prstDash val="solid"/>
            <a:round/>
            <a:headEnd type="none" w="med" len="med"/>
            <a:tailEnd type="triangle" w="med" len="med"/>
          </a:ln>
        </p:spPr>
      </p:cxnSp>
      <p:sp>
        <p:nvSpPr>
          <p:cNvPr id="1469" name="Google Shape;1469;p97"/>
          <p:cNvSpPr txBox="1"/>
          <p:nvPr/>
        </p:nvSpPr>
        <p:spPr>
          <a:xfrm>
            <a:off x="6287605" y="2849177"/>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cxnSp>
        <p:nvCxnSpPr>
          <p:cNvPr id="1470" name="Google Shape;1470;p97"/>
          <p:cNvCxnSpPr>
            <a:stCxn id="1466" idx="3"/>
            <a:endCxn id="1421" idx="2"/>
          </p:cNvCxnSpPr>
          <p:nvPr/>
        </p:nvCxnSpPr>
        <p:spPr>
          <a:xfrm>
            <a:off x="6562976" y="4620963"/>
            <a:ext cx="622200" cy="1800"/>
          </a:xfrm>
          <a:prstGeom prst="straightConnector1">
            <a:avLst/>
          </a:prstGeom>
          <a:noFill/>
          <a:ln w="9525" cap="flat" cmpd="sng">
            <a:solidFill>
              <a:schemeClr val="dk1"/>
            </a:solidFill>
            <a:prstDash val="solid"/>
            <a:round/>
            <a:headEnd type="none" w="med" len="med"/>
            <a:tailEnd type="triangle" w="med" len="med"/>
          </a:ln>
        </p:spPr>
      </p:cxnSp>
      <p:sp>
        <p:nvSpPr>
          <p:cNvPr id="1471" name="Google Shape;1471;p97"/>
          <p:cNvSpPr/>
          <p:nvPr/>
        </p:nvSpPr>
        <p:spPr>
          <a:xfrm>
            <a:off x="7117575" y="3343538"/>
            <a:ext cx="8745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ml_monitor.py</a:t>
            </a:r>
            <a:endParaRPr sz="900">
              <a:latin typeface="Didact Gothic"/>
              <a:ea typeface="Didact Gothic"/>
              <a:cs typeface="Didact Gothic"/>
              <a:sym typeface="Didact Gothic"/>
            </a:endParaRPr>
          </a:p>
        </p:txBody>
      </p:sp>
      <p:cxnSp>
        <p:nvCxnSpPr>
          <p:cNvPr id="1472" name="Google Shape;1472;p97"/>
          <p:cNvCxnSpPr>
            <a:endCxn id="1471" idx="0"/>
          </p:cNvCxnSpPr>
          <p:nvPr/>
        </p:nvCxnSpPr>
        <p:spPr>
          <a:xfrm>
            <a:off x="5128125" y="1362938"/>
            <a:ext cx="2426700" cy="1980600"/>
          </a:xfrm>
          <a:prstGeom prst="bentConnector2">
            <a:avLst/>
          </a:prstGeom>
          <a:noFill/>
          <a:ln w="9525" cap="flat" cmpd="sng">
            <a:solidFill>
              <a:srgbClr val="6AA84F"/>
            </a:solidFill>
            <a:prstDash val="solid"/>
            <a:round/>
            <a:headEnd type="none" w="med" len="med"/>
            <a:tailEnd type="triangle" w="med" len="med"/>
          </a:ln>
        </p:spPr>
      </p:cxnSp>
      <p:cxnSp>
        <p:nvCxnSpPr>
          <p:cNvPr id="1473" name="Google Shape;1473;p97"/>
          <p:cNvCxnSpPr/>
          <p:nvPr/>
        </p:nvCxnSpPr>
        <p:spPr>
          <a:xfrm rot="-5400000">
            <a:off x="5017063" y="1389300"/>
            <a:ext cx="141300" cy="78600"/>
          </a:xfrm>
          <a:prstGeom prst="bentConnector3">
            <a:avLst>
              <a:gd name="adj1" fmla="val 2212"/>
            </a:avLst>
          </a:prstGeom>
          <a:noFill/>
          <a:ln w="9525" cap="flat" cmpd="sng">
            <a:solidFill>
              <a:srgbClr val="6AA84F"/>
            </a:solidFill>
            <a:prstDash val="solid"/>
            <a:round/>
            <a:headEnd type="none" w="med" len="med"/>
            <a:tailEnd type="none" w="med" len="med"/>
          </a:ln>
        </p:spPr>
      </p:cxnSp>
      <p:cxnSp>
        <p:nvCxnSpPr>
          <p:cNvPr id="1474" name="Google Shape;1474;p97"/>
          <p:cNvCxnSpPr>
            <a:endCxn id="1471" idx="1"/>
          </p:cNvCxnSpPr>
          <p:nvPr/>
        </p:nvCxnSpPr>
        <p:spPr>
          <a:xfrm rot="10800000" flipH="1">
            <a:off x="5046675" y="3450488"/>
            <a:ext cx="2070900" cy="12900"/>
          </a:xfrm>
          <a:prstGeom prst="straightConnector1">
            <a:avLst/>
          </a:prstGeom>
          <a:noFill/>
          <a:ln w="9525" cap="flat" cmpd="sng">
            <a:solidFill>
              <a:srgbClr val="6AA84F"/>
            </a:solidFill>
            <a:prstDash val="solid"/>
            <a:round/>
            <a:headEnd type="none" w="med" len="med"/>
            <a:tailEnd type="triangle" w="med" len="med"/>
          </a:ln>
        </p:spPr>
      </p:cxnSp>
      <p:cxnSp>
        <p:nvCxnSpPr>
          <p:cNvPr id="1475" name="Google Shape;1475;p97"/>
          <p:cNvCxnSpPr>
            <a:stCxn id="1471" idx="2"/>
            <a:endCxn id="1448" idx="4"/>
          </p:cNvCxnSpPr>
          <p:nvPr/>
        </p:nvCxnSpPr>
        <p:spPr>
          <a:xfrm rot="5400000">
            <a:off x="6122925" y="2479838"/>
            <a:ext cx="354300" cy="2509500"/>
          </a:xfrm>
          <a:prstGeom prst="bentConnector2">
            <a:avLst/>
          </a:prstGeom>
          <a:noFill/>
          <a:ln w="9525" cap="flat" cmpd="sng">
            <a:solidFill>
              <a:srgbClr val="6AA84F"/>
            </a:solidFill>
            <a:prstDash val="solid"/>
            <a:round/>
            <a:headEnd type="none" w="med" len="med"/>
            <a:tailEnd type="triangle" w="med" len="med"/>
          </a:ln>
        </p:spPr>
      </p:cxnSp>
      <p:cxnSp>
        <p:nvCxnSpPr>
          <p:cNvPr id="1476" name="Google Shape;1476;p97"/>
          <p:cNvCxnSpPr>
            <a:endCxn id="1421" idx="0"/>
          </p:cNvCxnSpPr>
          <p:nvPr/>
        </p:nvCxnSpPr>
        <p:spPr>
          <a:xfrm>
            <a:off x="5046814" y="4028975"/>
            <a:ext cx="2508000" cy="252600"/>
          </a:xfrm>
          <a:prstGeom prst="bentConnector2">
            <a:avLst/>
          </a:prstGeom>
          <a:noFill/>
          <a:ln w="9525" cap="flat" cmpd="sng">
            <a:solidFill>
              <a:srgbClr val="6AA84F"/>
            </a:solidFill>
            <a:prstDash val="solid"/>
            <a:round/>
            <a:headEnd type="none" w="med" len="med"/>
            <a:tailEnd type="triangle" w="med" len="med"/>
          </a:ln>
        </p:spPr>
      </p:cxnSp>
      <p:sp>
        <p:nvSpPr>
          <p:cNvPr id="1477" name="Google Shape;1477;p97"/>
          <p:cNvSpPr/>
          <p:nvPr/>
        </p:nvSpPr>
        <p:spPr>
          <a:xfrm>
            <a:off x="8063763" y="2578199"/>
            <a:ext cx="874500" cy="5091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Manual Review &amp; Retrain</a:t>
            </a:r>
            <a:endParaRPr sz="900">
              <a:latin typeface="Didact Gothic"/>
              <a:ea typeface="Didact Gothic"/>
              <a:cs typeface="Didact Gothic"/>
              <a:sym typeface="Didact Gothic"/>
            </a:endParaRPr>
          </a:p>
        </p:txBody>
      </p:sp>
      <p:sp>
        <p:nvSpPr>
          <p:cNvPr id="1478" name="Google Shape;1478;p97"/>
          <p:cNvSpPr/>
          <p:nvPr/>
        </p:nvSpPr>
        <p:spPr>
          <a:xfrm>
            <a:off x="8063763" y="1967525"/>
            <a:ext cx="874500" cy="369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Canary Deployment</a:t>
            </a:r>
            <a:endParaRPr sz="900">
              <a:latin typeface="Didact Gothic"/>
              <a:ea typeface="Didact Gothic"/>
              <a:cs typeface="Didact Gothic"/>
              <a:sym typeface="Didact Gothic"/>
            </a:endParaRPr>
          </a:p>
        </p:txBody>
      </p:sp>
      <p:sp>
        <p:nvSpPr>
          <p:cNvPr id="1479" name="Google Shape;1479;p97"/>
          <p:cNvSpPr/>
          <p:nvPr/>
        </p:nvSpPr>
        <p:spPr>
          <a:xfrm>
            <a:off x="8063763" y="1354925"/>
            <a:ext cx="874500" cy="369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Promote / Rollback</a:t>
            </a:r>
            <a:endParaRPr sz="900">
              <a:latin typeface="Didact Gothic"/>
              <a:ea typeface="Didact Gothic"/>
              <a:cs typeface="Didact Gothic"/>
              <a:sym typeface="Didact Gothic"/>
            </a:endParaRPr>
          </a:p>
        </p:txBody>
      </p:sp>
      <p:cxnSp>
        <p:nvCxnSpPr>
          <p:cNvPr id="1480" name="Google Shape;1480;p97"/>
          <p:cNvCxnSpPr>
            <a:stCxn id="1471" idx="3"/>
            <a:endCxn id="1477" idx="2"/>
          </p:cNvCxnSpPr>
          <p:nvPr/>
        </p:nvCxnSpPr>
        <p:spPr>
          <a:xfrm rot="10800000" flipH="1">
            <a:off x="7992075" y="3087188"/>
            <a:ext cx="508800" cy="363300"/>
          </a:xfrm>
          <a:prstGeom prst="bentConnector2">
            <a:avLst/>
          </a:prstGeom>
          <a:noFill/>
          <a:ln w="9525" cap="flat" cmpd="sng">
            <a:solidFill>
              <a:schemeClr val="dk1"/>
            </a:solidFill>
            <a:prstDash val="solid"/>
            <a:round/>
            <a:headEnd type="none" w="med" len="med"/>
            <a:tailEnd type="triangle" w="med" len="med"/>
          </a:ln>
        </p:spPr>
      </p:cxnSp>
      <p:cxnSp>
        <p:nvCxnSpPr>
          <p:cNvPr id="1481" name="Google Shape;1481;p97"/>
          <p:cNvCxnSpPr>
            <a:endCxn id="1478" idx="2"/>
          </p:cNvCxnSpPr>
          <p:nvPr/>
        </p:nvCxnSpPr>
        <p:spPr>
          <a:xfrm rot="10800000">
            <a:off x="8501013" y="2337425"/>
            <a:ext cx="0" cy="240900"/>
          </a:xfrm>
          <a:prstGeom prst="straightConnector1">
            <a:avLst/>
          </a:prstGeom>
          <a:noFill/>
          <a:ln w="9525" cap="flat" cmpd="sng">
            <a:solidFill>
              <a:schemeClr val="dk1"/>
            </a:solidFill>
            <a:prstDash val="solid"/>
            <a:round/>
            <a:headEnd type="none" w="med" len="med"/>
            <a:tailEnd type="triangle" w="med" len="med"/>
          </a:ln>
        </p:spPr>
      </p:cxnSp>
      <p:cxnSp>
        <p:nvCxnSpPr>
          <p:cNvPr id="1482" name="Google Shape;1482;p97"/>
          <p:cNvCxnSpPr>
            <a:stCxn id="1478" idx="0"/>
            <a:endCxn id="1479" idx="2"/>
          </p:cNvCxnSpPr>
          <p:nvPr/>
        </p:nvCxnSpPr>
        <p:spPr>
          <a:xfrm rot="10800000">
            <a:off x="8501013" y="1724825"/>
            <a:ext cx="0" cy="242700"/>
          </a:xfrm>
          <a:prstGeom prst="straightConnector1">
            <a:avLst/>
          </a:prstGeom>
          <a:noFill/>
          <a:ln w="9525" cap="flat" cmpd="sng">
            <a:solidFill>
              <a:schemeClr val="dk1"/>
            </a:solidFill>
            <a:prstDash val="solid"/>
            <a:round/>
            <a:headEnd type="none" w="med" len="med"/>
            <a:tailEnd type="triangle" w="med" len="med"/>
          </a:ln>
        </p:spPr>
      </p:cxnSp>
      <p:cxnSp>
        <p:nvCxnSpPr>
          <p:cNvPr id="1483" name="Google Shape;1483;p97"/>
          <p:cNvCxnSpPr>
            <a:stCxn id="1477" idx="1"/>
            <a:endCxn id="1424" idx="5"/>
          </p:cNvCxnSpPr>
          <p:nvPr/>
        </p:nvCxnSpPr>
        <p:spPr>
          <a:xfrm rot="10800000">
            <a:off x="6512763" y="2170349"/>
            <a:ext cx="1551000" cy="662400"/>
          </a:xfrm>
          <a:prstGeom prst="bentConnector3">
            <a:avLst>
              <a:gd name="adj1" fmla="val 50002"/>
            </a:avLst>
          </a:prstGeom>
          <a:noFill/>
          <a:ln w="9525" cap="flat" cmpd="sng">
            <a:solidFill>
              <a:schemeClr val="dk2"/>
            </a:solidFill>
            <a:prstDash val="solid"/>
            <a:round/>
            <a:headEnd type="none" w="med" len="med"/>
            <a:tailEnd type="triangle" w="med" len="med"/>
          </a:ln>
        </p:spPr>
      </p:cxnSp>
      <p:cxnSp>
        <p:nvCxnSpPr>
          <p:cNvPr id="1484" name="Google Shape;1484;p97"/>
          <p:cNvCxnSpPr>
            <a:stCxn id="1454" idx="0"/>
            <a:endCxn id="1417" idx="2"/>
          </p:cNvCxnSpPr>
          <p:nvPr/>
        </p:nvCxnSpPr>
        <p:spPr>
          <a:xfrm rot="10800000" flipH="1">
            <a:off x="1854955" y="3752075"/>
            <a:ext cx="2400" cy="696600"/>
          </a:xfrm>
          <a:prstGeom prst="straightConnector1">
            <a:avLst/>
          </a:prstGeom>
          <a:noFill/>
          <a:ln w="9525" cap="flat" cmpd="sng">
            <a:solidFill>
              <a:srgbClr val="0000FF"/>
            </a:solidFill>
            <a:prstDash val="solid"/>
            <a:round/>
            <a:headEnd type="none" w="med" len="med"/>
            <a:tailEnd type="triangle" w="med" len="med"/>
          </a:ln>
        </p:spPr>
      </p:cxnSp>
      <p:grpSp>
        <p:nvGrpSpPr>
          <p:cNvPr id="1485" name="Google Shape;1485;p97"/>
          <p:cNvGrpSpPr/>
          <p:nvPr/>
        </p:nvGrpSpPr>
        <p:grpSpPr>
          <a:xfrm>
            <a:off x="3317043" y="3727660"/>
            <a:ext cx="697800" cy="471367"/>
            <a:chOff x="1543350" y="1839908"/>
            <a:chExt cx="697800" cy="471367"/>
          </a:xfrm>
        </p:grpSpPr>
        <p:sp>
          <p:nvSpPr>
            <p:cNvPr id="1486" name="Google Shape;1486;p97"/>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487" name="Google Shape;1487;p97"/>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488" name="Google Shape;1488;p97"/>
          <p:cNvSpPr/>
          <p:nvPr/>
        </p:nvSpPr>
        <p:spPr>
          <a:xfrm>
            <a:off x="2858249" y="3843350"/>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489" name="Google Shape;1489;p97"/>
          <p:cNvCxnSpPr>
            <a:endCxn id="1488" idx="1"/>
          </p:cNvCxnSpPr>
          <p:nvPr/>
        </p:nvCxnSpPr>
        <p:spPr>
          <a:xfrm>
            <a:off x="2611949" y="3963350"/>
            <a:ext cx="246300" cy="0"/>
          </a:xfrm>
          <a:prstGeom prst="straightConnector1">
            <a:avLst/>
          </a:prstGeom>
          <a:noFill/>
          <a:ln w="9525" cap="flat" cmpd="sng">
            <a:solidFill>
              <a:srgbClr val="0000FF"/>
            </a:solidFill>
            <a:prstDash val="solid"/>
            <a:round/>
            <a:headEnd type="none" w="med" len="med"/>
            <a:tailEnd type="triangle" w="med" len="med"/>
          </a:ln>
        </p:spPr>
      </p:cxnSp>
      <p:grpSp>
        <p:nvGrpSpPr>
          <p:cNvPr id="1490" name="Google Shape;1490;p97"/>
          <p:cNvGrpSpPr/>
          <p:nvPr/>
        </p:nvGrpSpPr>
        <p:grpSpPr>
          <a:xfrm>
            <a:off x="4470905" y="4356813"/>
            <a:ext cx="874500" cy="485914"/>
            <a:chOff x="4118269" y="1292336"/>
            <a:chExt cx="874500" cy="485914"/>
          </a:xfrm>
        </p:grpSpPr>
        <p:sp>
          <p:nvSpPr>
            <p:cNvPr id="1491" name="Google Shape;1491;p97"/>
            <p:cNvSpPr txBox="1"/>
            <p:nvPr/>
          </p:nvSpPr>
          <p:spPr>
            <a:xfrm>
              <a:off x="4118269" y="15382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latin typeface="Didact Gothic"/>
                <a:ea typeface="Didact Gothic"/>
                <a:cs typeface="Didact Gothic"/>
                <a:sym typeface="Didact Gothic"/>
              </a:endParaRPr>
            </a:p>
          </p:txBody>
        </p:sp>
        <p:sp>
          <p:nvSpPr>
            <p:cNvPr id="1464" name="Google Shape;1464;p97"/>
            <p:cNvSpPr/>
            <p:nvPr/>
          </p:nvSpPr>
          <p:spPr>
            <a:xfrm>
              <a:off x="4418380" y="12923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492" name="Google Shape;1492;p97"/>
          <p:cNvCxnSpPr>
            <a:stCxn id="1488" idx="2"/>
            <a:endCxn id="1458" idx="0"/>
          </p:cNvCxnSpPr>
          <p:nvPr/>
        </p:nvCxnSpPr>
        <p:spPr>
          <a:xfrm flipH="1">
            <a:off x="3076499" y="4083350"/>
            <a:ext cx="1200" cy="180600"/>
          </a:xfrm>
          <a:prstGeom prst="straightConnector1">
            <a:avLst/>
          </a:prstGeom>
          <a:noFill/>
          <a:ln w="9525" cap="flat" cmpd="sng">
            <a:solidFill>
              <a:srgbClr val="0000FF"/>
            </a:solidFill>
            <a:prstDash val="solid"/>
            <a:round/>
            <a:headEnd type="none" w="med" len="med"/>
            <a:tailEnd type="triangle" w="med" len="med"/>
          </a:ln>
        </p:spPr>
      </p:cxnSp>
      <p:sp>
        <p:nvSpPr>
          <p:cNvPr id="1493" name="Google Shape;1493;p97"/>
          <p:cNvSpPr/>
          <p:nvPr/>
        </p:nvSpPr>
        <p:spPr>
          <a:xfrm>
            <a:off x="4045123" y="4687762"/>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494" name="Google Shape;1494;p97"/>
          <p:cNvCxnSpPr>
            <a:stCxn id="1461" idx="2"/>
            <a:endCxn id="1493" idx="0"/>
          </p:cNvCxnSpPr>
          <p:nvPr/>
        </p:nvCxnSpPr>
        <p:spPr>
          <a:xfrm>
            <a:off x="4261233" y="4513588"/>
            <a:ext cx="3300" cy="174300"/>
          </a:xfrm>
          <a:prstGeom prst="straightConnector1">
            <a:avLst/>
          </a:prstGeom>
          <a:noFill/>
          <a:ln w="9525" cap="flat" cmpd="sng">
            <a:solidFill>
              <a:srgbClr val="0000FF"/>
            </a:solidFill>
            <a:prstDash val="solid"/>
            <a:round/>
            <a:headEnd type="none" w="med" len="med"/>
            <a:tailEnd type="triangle" w="med" len="med"/>
          </a:ln>
        </p:spPr>
      </p:cxnSp>
      <p:sp>
        <p:nvSpPr>
          <p:cNvPr id="1495" name="Google Shape;1495;p97"/>
          <p:cNvSpPr/>
          <p:nvPr/>
        </p:nvSpPr>
        <p:spPr>
          <a:xfrm>
            <a:off x="2850632" y="4681600"/>
            <a:ext cx="438900" cy="2523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496" name="Google Shape;1496;p97"/>
          <p:cNvCxnSpPr>
            <a:stCxn id="1458" idx="2"/>
            <a:endCxn id="1495" idx="0"/>
          </p:cNvCxnSpPr>
          <p:nvPr/>
        </p:nvCxnSpPr>
        <p:spPr>
          <a:xfrm flipH="1">
            <a:off x="3070224" y="4518861"/>
            <a:ext cx="6300" cy="162600"/>
          </a:xfrm>
          <a:prstGeom prst="straightConnector1">
            <a:avLst/>
          </a:prstGeom>
          <a:noFill/>
          <a:ln w="9525" cap="flat" cmpd="sng">
            <a:solidFill>
              <a:srgbClr val="0000FF"/>
            </a:solidFill>
            <a:prstDash val="solid"/>
            <a:round/>
            <a:headEnd type="none" w="med" len="med"/>
            <a:tailEnd type="triangle" w="med" len="med"/>
          </a:ln>
        </p:spPr>
      </p:cxnSp>
      <p:cxnSp>
        <p:nvCxnSpPr>
          <p:cNvPr id="1497" name="Google Shape;1497;p97"/>
          <p:cNvCxnSpPr>
            <a:stCxn id="1495" idx="3"/>
            <a:endCxn id="1487" idx="2"/>
          </p:cNvCxnSpPr>
          <p:nvPr/>
        </p:nvCxnSpPr>
        <p:spPr>
          <a:xfrm rot="10800000" flipH="1">
            <a:off x="3289532" y="3892150"/>
            <a:ext cx="239400" cy="915600"/>
          </a:xfrm>
          <a:prstGeom prst="bentConnector3">
            <a:avLst>
              <a:gd name="adj1" fmla="val 49973"/>
            </a:avLst>
          </a:prstGeom>
          <a:noFill/>
          <a:ln w="9525" cap="flat" cmpd="sng">
            <a:solidFill>
              <a:srgbClr val="0000FF"/>
            </a:solidFill>
            <a:prstDash val="solid"/>
            <a:round/>
            <a:headEnd type="none" w="med" len="med"/>
            <a:tailEnd type="triangle" w="med" len="med"/>
          </a:ln>
        </p:spPr>
      </p:cxnSp>
      <p:cxnSp>
        <p:nvCxnSpPr>
          <p:cNvPr id="1498" name="Google Shape;1498;p97"/>
          <p:cNvCxnSpPr>
            <a:stCxn id="1493" idx="3"/>
            <a:endCxn id="1464" idx="2"/>
          </p:cNvCxnSpPr>
          <p:nvPr/>
        </p:nvCxnSpPr>
        <p:spPr>
          <a:xfrm rot="10800000" flipH="1">
            <a:off x="4484023" y="4521262"/>
            <a:ext cx="287100" cy="286500"/>
          </a:xfrm>
          <a:prstGeom prst="bentConnector3">
            <a:avLst>
              <a:gd name="adj1" fmla="val 49981"/>
            </a:avLst>
          </a:prstGeom>
          <a:noFill/>
          <a:ln w="9525" cap="flat" cmpd="sng">
            <a:solidFill>
              <a:srgbClr val="0000FF"/>
            </a:solidFill>
            <a:prstDash val="solid"/>
            <a:round/>
            <a:headEnd type="none" w="med" len="med"/>
            <a:tailEnd type="triangle" w="med" len="med"/>
          </a:ln>
        </p:spPr>
      </p:cxnSp>
      <p:cxnSp>
        <p:nvCxnSpPr>
          <p:cNvPr id="1499" name="Google Shape;1499;p97"/>
          <p:cNvCxnSpPr/>
          <p:nvPr/>
        </p:nvCxnSpPr>
        <p:spPr>
          <a:xfrm>
            <a:off x="3810248" y="3963350"/>
            <a:ext cx="246300" cy="0"/>
          </a:xfrm>
          <a:prstGeom prst="straightConnector1">
            <a:avLst/>
          </a:prstGeom>
          <a:noFill/>
          <a:ln w="9525" cap="flat" cmpd="sng">
            <a:solidFill>
              <a:srgbClr val="0000FF"/>
            </a:solidFill>
            <a:prstDash val="solid"/>
            <a:round/>
            <a:headEnd type="none" w="med" len="med"/>
            <a:tailEnd type="triangle" w="med" len="med"/>
          </a:ln>
        </p:spPr>
      </p:cxnSp>
      <p:sp>
        <p:nvSpPr>
          <p:cNvPr id="1500" name="Google Shape;1500;p97"/>
          <p:cNvSpPr txBox="1"/>
          <p:nvPr/>
        </p:nvSpPr>
        <p:spPr>
          <a:xfrm>
            <a:off x="6980825" y="341075"/>
            <a:ext cx="2070900" cy="954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Poppins"/>
                <a:ea typeface="Poppins"/>
                <a:cs typeface="Poppins"/>
                <a:sym typeface="Poppins"/>
              </a:rPr>
              <a:t>→       Batches </a:t>
            </a:r>
            <a:endParaRPr sz="1000">
              <a:latin typeface="Poppins"/>
              <a:ea typeface="Poppins"/>
              <a:cs typeface="Poppins"/>
              <a:sym typeface="Poppins"/>
            </a:endParaRPr>
          </a:p>
          <a:p>
            <a:pPr marL="0" lvl="0" indent="0" algn="l" rtl="0">
              <a:spcBef>
                <a:spcPts val="0"/>
              </a:spcBef>
              <a:spcAft>
                <a:spcPts val="0"/>
              </a:spcAft>
              <a:buNone/>
            </a:pPr>
            <a:r>
              <a:rPr lang="en" sz="1000">
                <a:solidFill>
                  <a:srgbClr val="0000FF"/>
                </a:solidFill>
                <a:latin typeface="Poppins"/>
                <a:ea typeface="Poppins"/>
                <a:cs typeface="Poppins"/>
                <a:sym typeface="Poppins"/>
              </a:rPr>
              <a:t>→       Real-Time Feature Flow</a:t>
            </a:r>
            <a:endParaRPr sz="1000">
              <a:solidFill>
                <a:srgbClr val="0000FF"/>
              </a:solidFill>
              <a:latin typeface="Poppins"/>
              <a:ea typeface="Poppins"/>
              <a:cs typeface="Poppins"/>
              <a:sym typeface="Poppins"/>
            </a:endParaRPr>
          </a:p>
          <a:p>
            <a:pPr marL="0" lvl="0" indent="0" algn="l" rtl="0">
              <a:spcBef>
                <a:spcPts val="0"/>
              </a:spcBef>
              <a:spcAft>
                <a:spcPts val="0"/>
              </a:spcAft>
              <a:buNone/>
            </a:pPr>
            <a:r>
              <a:rPr lang="en" sz="1000">
                <a:solidFill>
                  <a:srgbClr val="A9283B"/>
                </a:solidFill>
                <a:latin typeface="Poppins"/>
                <a:ea typeface="Poppins"/>
                <a:cs typeface="Poppins"/>
                <a:sym typeface="Poppins"/>
              </a:rPr>
              <a:t>→       Real-Time Predictions</a:t>
            </a:r>
            <a:endParaRPr sz="1000">
              <a:solidFill>
                <a:srgbClr val="A9283B"/>
              </a:solidFill>
              <a:latin typeface="Poppins"/>
              <a:ea typeface="Poppins"/>
              <a:cs typeface="Poppins"/>
              <a:sym typeface="Poppins"/>
            </a:endParaRPr>
          </a:p>
          <a:p>
            <a:pPr marL="0" lvl="0" indent="0" algn="l" rtl="0">
              <a:spcBef>
                <a:spcPts val="0"/>
              </a:spcBef>
              <a:spcAft>
                <a:spcPts val="0"/>
              </a:spcAft>
              <a:buNone/>
            </a:pPr>
            <a:r>
              <a:rPr lang="en" sz="1000">
                <a:solidFill>
                  <a:srgbClr val="93C47D"/>
                </a:solidFill>
                <a:latin typeface="Poppins"/>
                <a:ea typeface="Poppins"/>
                <a:cs typeface="Poppins"/>
                <a:sym typeface="Poppins"/>
              </a:rPr>
              <a:t>→       Monitoring</a:t>
            </a:r>
            <a:endParaRPr sz="1000">
              <a:solidFill>
                <a:srgbClr val="93C47D"/>
              </a:solidFill>
              <a:latin typeface="Poppins"/>
              <a:ea typeface="Poppins"/>
              <a:cs typeface="Poppins"/>
              <a:sym typeface="Poppins"/>
            </a:endParaRPr>
          </a:p>
          <a:p>
            <a:pPr marL="0" lvl="0" indent="0" algn="l" rtl="0">
              <a:spcBef>
                <a:spcPts val="0"/>
              </a:spcBef>
              <a:spcAft>
                <a:spcPts val="0"/>
              </a:spcAft>
              <a:buNone/>
            </a:pPr>
            <a:r>
              <a:rPr lang="en" sz="1000">
                <a:solidFill>
                  <a:schemeClr val="dk1"/>
                </a:solidFill>
                <a:latin typeface="Poppins"/>
                <a:ea typeface="Poppins"/>
                <a:cs typeface="Poppins"/>
                <a:sym typeface="Poppins"/>
              </a:rPr>
              <a:t>sETL   Streaming ETL </a:t>
            </a:r>
            <a:endParaRPr sz="1000">
              <a:solidFill>
                <a:schemeClr val="dk1"/>
              </a:solidFill>
              <a:latin typeface="Poppins"/>
              <a:ea typeface="Poppins"/>
              <a:cs typeface="Poppins"/>
              <a:sym typeface="Poppins"/>
            </a:endParaRPr>
          </a:p>
        </p:txBody>
      </p:sp>
      <p:sp>
        <p:nvSpPr>
          <p:cNvPr id="1501" name="Google Shape;1501;p97"/>
          <p:cNvSpPr txBox="1">
            <a:spLocks noGrp="1"/>
          </p:cNvSpPr>
          <p:nvPr>
            <p:ph type="title"/>
          </p:nvPr>
        </p:nvSpPr>
        <p:spPr>
          <a:xfrm>
            <a:off x="273500" y="539500"/>
            <a:ext cx="6761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Live Flow &amp; Monitoring</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1506" name="Google Shape;1506;p98"/>
          <p:cNvSpPr/>
          <p:nvPr/>
        </p:nvSpPr>
        <p:spPr>
          <a:xfrm>
            <a:off x="4563250" y="1168850"/>
            <a:ext cx="652200" cy="3837000"/>
          </a:xfrm>
          <a:prstGeom prst="rect">
            <a:avLst/>
          </a:prstGeom>
          <a:solidFill>
            <a:srgbClr val="F2D6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07" name="Google Shape;1507;p98"/>
          <p:cNvSpPr/>
          <p:nvPr/>
        </p:nvSpPr>
        <p:spPr>
          <a:xfrm>
            <a:off x="3347796" y="1168850"/>
            <a:ext cx="652200" cy="3064500"/>
          </a:xfrm>
          <a:prstGeom prst="rect">
            <a:avLst/>
          </a:prstGeom>
          <a:solidFill>
            <a:srgbClr val="9FA0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08" name="Google Shape;1508;p98"/>
          <p:cNvSpPr/>
          <p:nvPr/>
        </p:nvSpPr>
        <p:spPr>
          <a:xfrm>
            <a:off x="2155363" y="1168850"/>
            <a:ext cx="652200" cy="3064500"/>
          </a:xfrm>
          <a:prstGeom prst="rect">
            <a:avLst/>
          </a:prstGeom>
          <a:solidFill>
            <a:srgbClr val="BF9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509" name="Google Shape;1509;p98"/>
          <p:cNvGrpSpPr/>
          <p:nvPr/>
        </p:nvGrpSpPr>
        <p:grpSpPr>
          <a:xfrm>
            <a:off x="2121618" y="1413870"/>
            <a:ext cx="697800" cy="466476"/>
            <a:chOff x="1543350" y="1338491"/>
            <a:chExt cx="697800" cy="466476"/>
          </a:xfrm>
        </p:grpSpPr>
        <p:sp>
          <p:nvSpPr>
            <p:cNvPr id="1510" name="Google Shape;1510;p98"/>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511" name="Google Shape;1511;p98"/>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12" name="Google Shape;1512;p98"/>
          <p:cNvGrpSpPr/>
          <p:nvPr/>
        </p:nvGrpSpPr>
        <p:grpSpPr>
          <a:xfrm>
            <a:off x="2121618" y="1915287"/>
            <a:ext cx="697800" cy="471367"/>
            <a:chOff x="1543350" y="1839908"/>
            <a:chExt cx="697800" cy="471367"/>
          </a:xfrm>
        </p:grpSpPr>
        <p:sp>
          <p:nvSpPr>
            <p:cNvPr id="1513" name="Google Shape;1513;p98"/>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514" name="Google Shape;1514;p98"/>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15" name="Google Shape;1515;p98"/>
          <p:cNvGrpSpPr/>
          <p:nvPr/>
        </p:nvGrpSpPr>
        <p:grpSpPr>
          <a:xfrm>
            <a:off x="1887018" y="2416688"/>
            <a:ext cx="1167000" cy="644545"/>
            <a:chOff x="1308750" y="2341309"/>
            <a:chExt cx="1167000" cy="644545"/>
          </a:xfrm>
        </p:grpSpPr>
        <p:sp>
          <p:nvSpPr>
            <p:cNvPr id="1516" name="Google Shape;1516;p98"/>
            <p:cNvSpPr txBox="1"/>
            <p:nvPr/>
          </p:nvSpPr>
          <p:spPr>
            <a:xfrm>
              <a:off x="130875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517" name="Google Shape;1517;p98"/>
            <p:cNvSpPr/>
            <p:nvPr/>
          </p:nvSpPr>
          <p:spPr>
            <a:xfrm>
              <a:off x="1755111"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518" name="Google Shape;1518;p98"/>
          <p:cNvSpPr/>
          <p:nvPr/>
        </p:nvSpPr>
        <p:spPr>
          <a:xfrm>
            <a:off x="2893542" y="1962882"/>
            <a:ext cx="380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grpSp>
        <p:nvGrpSpPr>
          <p:cNvPr id="1519" name="Google Shape;1519;p98"/>
          <p:cNvGrpSpPr/>
          <p:nvPr/>
        </p:nvGrpSpPr>
        <p:grpSpPr>
          <a:xfrm>
            <a:off x="3317043" y="1413870"/>
            <a:ext cx="697800" cy="466476"/>
            <a:chOff x="3151806" y="1338491"/>
            <a:chExt cx="697800" cy="466476"/>
          </a:xfrm>
        </p:grpSpPr>
        <p:sp>
          <p:nvSpPr>
            <p:cNvPr id="1520" name="Google Shape;1520;p98"/>
            <p:cNvSpPr txBox="1"/>
            <p:nvPr/>
          </p:nvSpPr>
          <p:spPr>
            <a:xfrm>
              <a:off x="3151806"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521" name="Google Shape;1521;p98"/>
            <p:cNvSpPr/>
            <p:nvPr/>
          </p:nvSpPr>
          <p:spPr>
            <a:xfrm>
              <a:off x="3363567"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22" name="Google Shape;1522;p98"/>
          <p:cNvGrpSpPr/>
          <p:nvPr/>
        </p:nvGrpSpPr>
        <p:grpSpPr>
          <a:xfrm>
            <a:off x="3317043" y="1915287"/>
            <a:ext cx="697800" cy="471367"/>
            <a:chOff x="3151806" y="1839908"/>
            <a:chExt cx="697800" cy="471367"/>
          </a:xfrm>
        </p:grpSpPr>
        <p:sp>
          <p:nvSpPr>
            <p:cNvPr id="1523" name="Google Shape;1523;p98"/>
            <p:cNvSpPr txBox="1"/>
            <p:nvPr/>
          </p:nvSpPr>
          <p:spPr>
            <a:xfrm>
              <a:off x="3151806"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524" name="Google Shape;1524;p98"/>
            <p:cNvSpPr/>
            <p:nvPr/>
          </p:nvSpPr>
          <p:spPr>
            <a:xfrm>
              <a:off x="3363567"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25" name="Google Shape;1525;p98"/>
          <p:cNvGrpSpPr/>
          <p:nvPr/>
        </p:nvGrpSpPr>
        <p:grpSpPr>
          <a:xfrm>
            <a:off x="3082443" y="2416688"/>
            <a:ext cx="1167000" cy="607945"/>
            <a:chOff x="2917206" y="2341309"/>
            <a:chExt cx="1167000" cy="607945"/>
          </a:xfrm>
        </p:grpSpPr>
        <p:sp>
          <p:nvSpPr>
            <p:cNvPr id="1526" name="Google Shape;1526;p98"/>
            <p:cNvSpPr txBox="1"/>
            <p:nvPr/>
          </p:nvSpPr>
          <p:spPr>
            <a:xfrm>
              <a:off x="2917206" y="2633353"/>
              <a:ext cx="1167000" cy="31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527" name="Google Shape;1527;p98"/>
            <p:cNvSpPr/>
            <p:nvPr/>
          </p:nvSpPr>
          <p:spPr>
            <a:xfrm>
              <a:off x="3363567"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28" name="Google Shape;1528;p98"/>
          <p:cNvGrpSpPr/>
          <p:nvPr/>
        </p:nvGrpSpPr>
        <p:grpSpPr>
          <a:xfrm>
            <a:off x="4474896" y="1413873"/>
            <a:ext cx="874500" cy="486902"/>
            <a:chOff x="4118269" y="1397498"/>
            <a:chExt cx="874500" cy="486902"/>
          </a:xfrm>
        </p:grpSpPr>
        <p:sp>
          <p:nvSpPr>
            <p:cNvPr id="1529" name="Google Shape;1529;p98"/>
            <p:cNvSpPr txBox="1"/>
            <p:nvPr/>
          </p:nvSpPr>
          <p:spPr>
            <a:xfrm>
              <a:off x="4118269" y="164440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label</a:t>
              </a:r>
              <a:endParaRPr sz="900">
                <a:solidFill>
                  <a:srgbClr val="000000"/>
                </a:solidFill>
                <a:latin typeface="Didact Gothic"/>
                <a:ea typeface="Didact Gothic"/>
                <a:cs typeface="Didact Gothic"/>
                <a:sym typeface="Didact Gothic"/>
              </a:endParaRPr>
            </a:p>
          </p:txBody>
        </p:sp>
        <p:sp>
          <p:nvSpPr>
            <p:cNvPr id="1530" name="Google Shape;1530;p98"/>
            <p:cNvSpPr/>
            <p:nvPr/>
          </p:nvSpPr>
          <p:spPr>
            <a:xfrm>
              <a:off x="4418380" y="139749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31" name="Google Shape;1531;p98"/>
          <p:cNvGrpSpPr/>
          <p:nvPr/>
        </p:nvGrpSpPr>
        <p:grpSpPr>
          <a:xfrm>
            <a:off x="4464394" y="1916807"/>
            <a:ext cx="874500" cy="485914"/>
            <a:chOff x="4118269" y="1901936"/>
            <a:chExt cx="874500" cy="485914"/>
          </a:xfrm>
        </p:grpSpPr>
        <p:sp>
          <p:nvSpPr>
            <p:cNvPr id="1532" name="Google Shape;1532;p98"/>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static</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533" name="Google Shape;1533;p98"/>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534" name="Google Shape;1534;p98"/>
          <p:cNvCxnSpPr>
            <a:stCxn id="1511" idx="4"/>
            <a:endCxn id="1518" idx="1"/>
          </p:cNvCxnSpPr>
          <p:nvPr/>
        </p:nvCxnSpPr>
        <p:spPr>
          <a:xfrm>
            <a:off x="2607657" y="1578433"/>
            <a:ext cx="285900" cy="504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535" name="Google Shape;1535;p98"/>
          <p:cNvCxnSpPr>
            <a:stCxn id="1514" idx="4"/>
            <a:endCxn id="1518" idx="1"/>
          </p:cNvCxnSpPr>
          <p:nvPr/>
        </p:nvCxnSpPr>
        <p:spPr>
          <a:xfrm>
            <a:off x="2607657" y="2079850"/>
            <a:ext cx="285900" cy="30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536" name="Google Shape;1536;p98"/>
          <p:cNvCxnSpPr>
            <a:stCxn id="1517" idx="4"/>
            <a:endCxn id="1518" idx="1"/>
          </p:cNvCxnSpPr>
          <p:nvPr/>
        </p:nvCxnSpPr>
        <p:spPr>
          <a:xfrm rot="10800000" flipH="1">
            <a:off x="2607657" y="2082951"/>
            <a:ext cx="285900" cy="498300"/>
          </a:xfrm>
          <a:prstGeom prst="bentConnector3">
            <a:avLst>
              <a:gd name="adj1" fmla="val 49997"/>
            </a:avLst>
          </a:prstGeom>
          <a:noFill/>
          <a:ln w="9525" cap="flat" cmpd="sng">
            <a:solidFill>
              <a:srgbClr val="000000"/>
            </a:solidFill>
            <a:prstDash val="solid"/>
            <a:round/>
            <a:headEnd type="none" w="med" len="med"/>
            <a:tailEnd type="triangle" w="med" len="med"/>
          </a:ln>
        </p:spPr>
      </p:cxnSp>
      <p:cxnSp>
        <p:nvCxnSpPr>
          <p:cNvPr id="1537" name="Google Shape;1537;p98"/>
          <p:cNvCxnSpPr>
            <a:stCxn id="1518" idx="3"/>
            <a:endCxn id="1524" idx="2"/>
          </p:cNvCxnSpPr>
          <p:nvPr/>
        </p:nvCxnSpPr>
        <p:spPr>
          <a:xfrm rot="10800000" flipH="1">
            <a:off x="3273942" y="2079882"/>
            <a:ext cx="255000" cy="3000"/>
          </a:xfrm>
          <a:prstGeom prst="bentConnector3">
            <a:avLst>
              <a:gd name="adj1" fmla="val 49973"/>
            </a:avLst>
          </a:prstGeom>
          <a:noFill/>
          <a:ln w="9525" cap="flat" cmpd="sng">
            <a:solidFill>
              <a:srgbClr val="000000"/>
            </a:solidFill>
            <a:prstDash val="solid"/>
            <a:round/>
            <a:headEnd type="none" w="med" len="med"/>
            <a:tailEnd type="triangle" w="med" len="med"/>
          </a:ln>
        </p:spPr>
      </p:cxnSp>
      <p:cxnSp>
        <p:nvCxnSpPr>
          <p:cNvPr id="1538" name="Google Shape;1538;p98"/>
          <p:cNvCxnSpPr>
            <a:stCxn id="1518" idx="3"/>
            <a:endCxn id="1521" idx="2"/>
          </p:cNvCxnSpPr>
          <p:nvPr/>
        </p:nvCxnSpPr>
        <p:spPr>
          <a:xfrm rot="10800000" flipH="1">
            <a:off x="3273942" y="1578582"/>
            <a:ext cx="255000" cy="504300"/>
          </a:xfrm>
          <a:prstGeom prst="bentConnector3">
            <a:avLst>
              <a:gd name="adj1" fmla="val 43694"/>
            </a:avLst>
          </a:prstGeom>
          <a:noFill/>
          <a:ln w="9525" cap="flat" cmpd="sng">
            <a:solidFill>
              <a:srgbClr val="000000"/>
            </a:solidFill>
            <a:prstDash val="solid"/>
            <a:round/>
            <a:headEnd type="none" w="med" len="med"/>
            <a:tailEnd type="triangle" w="med" len="med"/>
          </a:ln>
        </p:spPr>
      </p:cxnSp>
      <p:cxnSp>
        <p:nvCxnSpPr>
          <p:cNvPr id="1539" name="Google Shape;1539;p98"/>
          <p:cNvCxnSpPr>
            <a:stCxn id="1518" idx="3"/>
            <a:endCxn id="1527" idx="2"/>
          </p:cNvCxnSpPr>
          <p:nvPr/>
        </p:nvCxnSpPr>
        <p:spPr>
          <a:xfrm>
            <a:off x="3273942" y="2082882"/>
            <a:ext cx="255000" cy="498300"/>
          </a:xfrm>
          <a:prstGeom prst="bentConnector3">
            <a:avLst>
              <a:gd name="adj1" fmla="val 42307"/>
            </a:avLst>
          </a:prstGeom>
          <a:noFill/>
          <a:ln w="9525" cap="flat" cmpd="sng">
            <a:solidFill>
              <a:srgbClr val="000000"/>
            </a:solidFill>
            <a:prstDash val="solid"/>
            <a:round/>
            <a:headEnd type="none" w="med" len="med"/>
            <a:tailEnd type="triangle" w="med" len="med"/>
          </a:ln>
        </p:spPr>
      </p:cxnSp>
      <p:cxnSp>
        <p:nvCxnSpPr>
          <p:cNvPr id="1540" name="Google Shape;1540;p98"/>
          <p:cNvCxnSpPr>
            <a:stCxn id="1521" idx="4"/>
            <a:endCxn id="1541"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542" name="Google Shape;1542;p98"/>
          <p:cNvCxnSpPr>
            <a:stCxn id="1527" idx="4"/>
            <a:endCxn id="1541"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1541" name="Google Shape;1541;p98"/>
          <p:cNvSpPr/>
          <p:nvPr/>
        </p:nvSpPr>
        <p:spPr>
          <a:xfrm>
            <a:off x="4123385" y="1952550"/>
            <a:ext cx="380400" cy="2523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1543" name="Google Shape;1543;p98"/>
          <p:cNvCxnSpPr>
            <a:stCxn id="1524" idx="4"/>
            <a:endCxn id="1541" idx="1"/>
          </p:cNvCxnSpPr>
          <p:nvPr/>
        </p:nvCxnSpPr>
        <p:spPr>
          <a:xfrm rot="10800000" flipH="1">
            <a:off x="3803082" y="2078650"/>
            <a:ext cx="320400" cy="12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544" name="Google Shape;1544;p98"/>
          <p:cNvCxnSpPr>
            <a:stCxn id="1527" idx="4"/>
            <a:endCxn id="1541" idx="1"/>
          </p:cNvCxnSpPr>
          <p:nvPr/>
        </p:nvCxnSpPr>
        <p:spPr>
          <a:xfrm rot="10800000" flipH="1">
            <a:off x="3803082" y="2078751"/>
            <a:ext cx="320400" cy="502500"/>
          </a:xfrm>
          <a:prstGeom prst="bentConnector3">
            <a:avLst>
              <a:gd name="adj1" fmla="val 49985"/>
            </a:avLst>
          </a:prstGeom>
          <a:noFill/>
          <a:ln w="9525" cap="flat" cmpd="sng">
            <a:solidFill>
              <a:srgbClr val="000000"/>
            </a:solidFill>
            <a:prstDash val="solid"/>
            <a:round/>
            <a:headEnd type="none" w="med" len="med"/>
            <a:tailEnd type="stealth" w="med" len="med"/>
          </a:ln>
        </p:spPr>
      </p:cxnSp>
      <p:cxnSp>
        <p:nvCxnSpPr>
          <p:cNvPr id="1545" name="Google Shape;1545;p98"/>
          <p:cNvCxnSpPr>
            <a:stCxn id="1521" idx="4"/>
            <a:endCxn id="1541" idx="1"/>
          </p:cNvCxnSpPr>
          <p:nvPr/>
        </p:nvCxnSpPr>
        <p:spPr>
          <a:xfrm>
            <a:off x="3803082" y="1578433"/>
            <a:ext cx="320400" cy="500400"/>
          </a:xfrm>
          <a:prstGeom prst="bentConnector3">
            <a:avLst>
              <a:gd name="adj1" fmla="val 49985"/>
            </a:avLst>
          </a:prstGeom>
          <a:noFill/>
          <a:ln w="9525" cap="flat" cmpd="sng">
            <a:solidFill>
              <a:srgbClr val="000000"/>
            </a:solidFill>
            <a:prstDash val="solid"/>
            <a:round/>
            <a:headEnd type="none" w="med" len="med"/>
            <a:tailEnd type="stealth" w="med" len="med"/>
          </a:ln>
        </p:spPr>
      </p:cxnSp>
      <p:sp>
        <p:nvSpPr>
          <p:cNvPr id="1546" name="Google Shape;1546;p98"/>
          <p:cNvSpPr txBox="1"/>
          <p:nvPr/>
        </p:nvSpPr>
        <p:spPr>
          <a:xfrm>
            <a:off x="2158683" y="1112208"/>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Bronze</a:t>
            </a:r>
            <a:endParaRPr sz="900" b="1">
              <a:solidFill>
                <a:srgbClr val="000000"/>
              </a:solidFill>
              <a:latin typeface="Didact Gothic"/>
              <a:ea typeface="Didact Gothic"/>
              <a:cs typeface="Didact Gothic"/>
              <a:sym typeface="Didact Gothic"/>
            </a:endParaRPr>
          </a:p>
        </p:txBody>
      </p:sp>
      <p:sp>
        <p:nvSpPr>
          <p:cNvPr id="1547" name="Google Shape;1547;p98"/>
          <p:cNvSpPr txBox="1"/>
          <p:nvPr/>
        </p:nvSpPr>
        <p:spPr>
          <a:xfrm>
            <a:off x="3360483"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Silver</a:t>
            </a:r>
            <a:endParaRPr sz="900" b="1">
              <a:solidFill>
                <a:srgbClr val="000000"/>
              </a:solidFill>
              <a:latin typeface="Didact Gothic"/>
              <a:ea typeface="Didact Gothic"/>
              <a:cs typeface="Didact Gothic"/>
              <a:sym typeface="Didact Gothic"/>
            </a:endParaRPr>
          </a:p>
        </p:txBody>
      </p:sp>
      <p:grpSp>
        <p:nvGrpSpPr>
          <p:cNvPr id="1548" name="Google Shape;1548;p98"/>
          <p:cNvGrpSpPr/>
          <p:nvPr/>
        </p:nvGrpSpPr>
        <p:grpSpPr>
          <a:xfrm>
            <a:off x="2121618" y="3217246"/>
            <a:ext cx="697800" cy="466476"/>
            <a:chOff x="1543350" y="1338491"/>
            <a:chExt cx="697800" cy="466476"/>
          </a:xfrm>
        </p:grpSpPr>
        <p:sp>
          <p:nvSpPr>
            <p:cNvPr id="1549" name="Google Shape;1549;p98"/>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550" name="Google Shape;1550;p98"/>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51" name="Google Shape;1551;p98"/>
          <p:cNvGrpSpPr/>
          <p:nvPr/>
        </p:nvGrpSpPr>
        <p:grpSpPr>
          <a:xfrm>
            <a:off x="2121618" y="3728551"/>
            <a:ext cx="697800" cy="471367"/>
            <a:chOff x="1543350" y="1839908"/>
            <a:chExt cx="697800" cy="471367"/>
          </a:xfrm>
        </p:grpSpPr>
        <p:sp>
          <p:nvSpPr>
            <p:cNvPr id="1552" name="Google Shape;1552;p98"/>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553" name="Google Shape;1553;p98"/>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554" name="Google Shape;1554;p98"/>
          <p:cNvSpPr/>
          <p:nvPr/>
        </p:nvSpPr>
        <p:spPr>
          <a:xfrm>
            <a:off x="1637949" y="3512163"/>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555" name="Google Shape;1555;p98"/>
          <p:cNvCxnSpPr>
            <a:stCxn id="1554" idx="3"/>
            <a:endCxn id="1550" idx="2"/>
          </p:cNvCxnSpPr>
          <p:nvPr/>
        </p:nvCxnSpPr>
        <p:spPr>
          <a:xfrm rot="10800000" flipH="1">
            <a:off x="2076849" y="3381663"/>
            <a:ext cx="256500" cy="250500"/>
          </a:xfrm>
          <a:prstGeom prst="bentConnector3">
            <a:avLst>
              <a:gd name="adj1" fmla="val 50006"/>
            </a:avLst>
          </a:prstGeom>
          <a:noFill/>
          <a:ln w="9525" cap="flat" cmpd="sng">
            <a:solidFill>
              <a:schemeClr val="dk1"/>
            </a:solidFill>
            <a:prstDash val="solid"/>
            <a:round/>
            <a:headEnd type="none" w="med" len="med"/>
            <a:tailEnd type="triangle" w="med" len="med"/>
          </a:ln>
        </p:spPr>
      </p:cxnSp>
      <p:cxnSp>
        <p:nvCxnSpPr>
          <p:cNvPr id="1556" name="Google Shape;1556;p98"/>
          <p:cNvCxnSpPr>
            <a:stCxn id="1554" idx="3"/>
            <a:endCxn id="1553" idx="2"/>
          </p:cNvCxnSpPr>
          <p:nvPr/>
        </p:nvCxnSpPr>
        <p:spPr>
          <a:xfrm>
            <a:off x="2076849" y="3632163"/>
            <a:ext cx="256500" cy="261000"/>
          </a:xfrm>
          <a:prstGeom prst="bentConnector3">
            <a:avLst>
              <a:gd name="adj1" fmla="val 50006"/>
            </a:avLst>
          </a:prstGeom>
          <a:noFill/>
          <a:ln w="9525" cap="flat" cmpd="sng">
            <a:solidFill>
              <a:srgbClr val="0000FF"/>
            </a:solidFill>
            <a:prstDash val="solid"/>
            <a:round/>
            <a:headEnd type="none" w="med" len="med"/>
            <a:tailEnd type="triangle" w="med" len="med"/>
          </a:ln>
        </p:spPr>
      </p:cxnSp>
      <p:sp>
        <p:nvSpPr>
          <p:cNvPr id="1557" name="Google Shape;1557;p98"/>
          <p:cNvSpPr txBox="1"/>
          <p:nvPr/>
        </p:nvSpPr>
        <p:spPr>
          <a:xfrm>
            <a:off x="4564228"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latin typeface="Didact Gothic"/>
                <a:ea typeface="Didact Gothic"/>
                <a:cs typeface="Didact Gothic"/>
                <a:sym typeface="Didact Gothic"/>
              </a:rPr>
              <a:t>Gold</a:t>
            </a:r>
            <a:endParaRPr sz="900" b="1">
              <a:solidFill>
                <a:srgbClr val="000000"/>
              </a:solidFill>
              <a:latin typeface="Didact Gothic"/>
              <a:ea typeface="Didact Gothic"/>
              <a:cs typeface="Didact Gothic"/>
              <a:sym typeface="Didact Gothic"/>
            </a:endParaRPr>
          </a:p>
        </p:txBody>
      </p:sp>
      <p:cxnSp>
        <p:nvCxnSpPr>
          <p:cNvPr id="1558" name="Google Shape;1558;p98"/>
          <p:cNvCxnSpPr>
            <a:stCxn id="1541" idx="3"/>
            <a:endCxn id="1530" idx="2"/>
          </p:cNvCxnSpPr>
          <p:nvPr/>
        </p:nvCxnSpPr>
        <p:spPr>
          <a:xfrm rot="10800000" flipH="1">
            <a:off x="4503785" y="1578300"/>
            <a:ext cx="271200" cy="500400"/>
          </a:xfrm>
          <a:prstGeom prst="bentConnector3">
            <a:avLst>
              <a:gd name="adj1" fmla="val 50004"/>
            </a:avLst>
          </a:prstGeom>
          <a:noFill/>
          <a:ln w="9525" cap="flat" cmpd="sng">
            <a:solidFill>
              <a:schemeClr val="dk1"/>
            </a:solidFill>
            <a:prstDash val="solid"/>
            <a:round/>
            <a:headEnd type="none" w="med" len="med"/>
            <a:tailEnd type="triangle" w="med" len="med"/>
          </a:ln>
        </p:spPr>
      </p:cxnSp>
      <p:cxnSp>
        <p:nvCxnSpPr>
          <p:cNvPr id="1559" name="Google Shape;1559;p98"/>
          <p:cNvCxnSpPr>
            <a:stCxn id="1541" idx="3"/>
            <a:endCxn id="1533" idx="2"/>
          </p:cNvCxnSpPr>
          <p:nvPr/>
        </p:nvCxnSpPr>
        <p:spPr>
          <a:xfrm>
            <a:off x="4503785" y="2078700"/>
            <a:ext cx="260700" cy="2700"/>
          </a:xfrm>
          <a:prstGeom prst="straightConnector1">
            <a:avLst/>
          </a:prstGeom>
          <a:noFill/>
          <a:ln w="9525" cap="flat" cmpd="sng">
            <a:solidFill>
              <a:schemeClr val="dk1"/>
            </a:solidFill>
            <a:prstDash val="solid"/>
            <a:round/>
            <a:headEnd type="none" w="med" len="med"/>
            <a:tailEnd type="triangle" w="med" len="med"/>
          </a:ln>
        </p:spPr>
      </p:cxnSp>
      <p:grpSp>
        <p:nvGrpSpPr>
          <p:cNvPr id="1560" name="Google Shape;1560;p98"/>
          <p:cNvGrpSpPr/>
          <p:nvPr/>
        </p:nvGrpSpPr>
        <p:grpSpPr>
          <a:xfrm>
            <a:off x="4470905" y="2580338"/>
            <a:ext cx="874500" cy="485914"/>
            <a:chOff x="4118269" y="1901936"/>
            <a:chExt cx="874500" cy="485914"/>
          </a:xfrm>
        </p:grpSpPr>
        <p:sp>
          <p:nvSpPr>
            <p:cNvPr id="1561" name="Google Shape;1561;p98"/>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rolling</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562" name="Google Shape;1562;p98"/>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563" name="Google Shape;1563;p98"/>
          <p:cNvCxnSpPr>
            <a:stCxn id="1541" idx="3"/>
            <a:endCxn id="1562" idx="2"/>
          </p:cNvCxnSpPr>
          <p:nvPr/>
        </p:nvCxnSpPr>
        <p:spPr>
          <a:xfrm>
            <a:off x="4503785" y="2078700"/>
            <a:ext cx="267300" cy="666300"/>
          </a:xfrm>
          <a:prstGeom prst="bentConnector3">
            <a:avLst>
              <a:gd name="adj1" fmla="val 49987"/>
            </a:avLst>
          </a:prstGeom>
          <a:noFill/>
          <a:ln w="9525" cap="flat" cmpd="sng">
            <a:solidFill>
              <a:schemeClr val="dk1"/>
            </a:solidFill>
            <a:prstDash val="solid"/>
            <a:round/>
            <a:headEnd type="none" w="med" len="med"/>
            <a:tailEnd type="triangle" w="med" len="med"/>
          </a:ln>
        </p:spPr>
      </p:cxnSp>
      <p:sp>
        <p:nvSpPr>
          <p:cNvPr id="1564" name="Google Shape;1564;p98"/>
          <p:cNvSpPr/>
          <p:nvPr/>
        </p:nvSpPr>
        <p:spPr>
          <a:xfrm>
            <a:off x="2864199" y="3262225"/>
            <a:ext cx="413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1565" name="Google Shape;1565;p98"/>
          <p:cNvCxnSpPr>
            <a:stCxn id="1550" idx="4"/>
            <a:endCxn id="1564" idx="1"/>
          </p:cNvCxnSpPr>
          <p:nvPr/>
        </p:nvCxnSpPr>
        <p:spPr>
          <a:xfrm>
            <a:off x="2607657" y="3381809"/>
            <a:ext cx="256500" cy="600"/>
          </a:xfrm>
          <a:prstGeom prst="bentConnector3">
            <a:avLst>
              <a:gd name="adj1" fmla="val 50008"/>
            </a:avLst>
          </a:prstGeom>
          <a:noFill/>
          <a:ln w="9525" cap="flat" cmpd="sng">
            <a:solidFill>
              <a:schemeClr val="dk1"/>
            </a:solidFill>
            <a:prstDash val="solid"/>
            <a:round/>
            <a:headEnd type="none" w="med" len="med"/>
            <a:tailEnd type="triangle" w="med" len="med"/>
          </a:ln>
        </p:spPr>
      </p:cxnSp>
      <p:cxnSp>
        <p:nvCxnSpPr>
          <p:cNvPr id="1566" name="Google Shape;1566;p98"/>
          <p:cNvCxnSpPr>
            <a:stCxn id="1553" idx="4"/>
            <a:endCxn id="1564" idx="1"/>
          </p:cNvCxnSpPr>
          <p:nvPr/>
        </p:nvCxnSpPr>
        <p:spPr>
          <a:xfrm rot="10800000" flipH="1">
            <a:off x="2607657" y="3382213"/>
            <a:ext cx="256500" cy="510900"/>
          </a:xfrm>
          <a:prstGeom prst="bentConnector3">
            <a:avLst>
              <a:gd name="adj1" fmla="val 50008"/>
            </a:avLst>
          </a:prstGeom>
          <a:noFill/>
          <a:ln w="9525" cap="flat" cmpd="sng">
            <a:solidFill>
              <a:schemeClr val="dk1"/>
            </a:solidFill>
            <a:prstDash val="solid"/>
            <a:round/>
            <a:headEnd type="none" w="med" len="med"/>
            <a:tailEnd type="triangle" w="med" len="med"/>
          </a:ln>
        </p:spPr>
      </p:cxnSp>
      <p:cxnSp>
        <p:nvCxnSpPr>
          <p:cNvPr id="1567" name="Google Shape;1567;p98"/>
          <p:cNvCxnSpPr>
            <a:stCxn id="1564" idx="3"/>
            <a:endCxn id="1521" idx="2"/>
          </p:cNvCxnSpPr>
          <p:nvPr/>
        </p:nvCxnSpPr>
        <p:spPr>
          <a:xfrm rot="10800000" flipH="1">
            <a:off x="3277599" y="1578325"/>
            <a:ext cx="251100" cy="1803900"/>
          </a:xfrm>
          <a:prstGeom prst="bentConnector3">
            <a:avLst>
              <a:gd name="adj1" fmla="val 42772"/>
            </a:avLst>
          </a:prstGeom>
          <a:noFill/>
          <a:ln w="9525" cap="flat" cmpd="sng">
            <a:solidFill>
              <a:schemeClr val="dk1"/>
            </a:solidFill>
            <a:prstDash val="solid"/>
            <a:round/>
            <a:headEnd type="none" w="med" len="med"/>
            <a:tailEnd type="triangle" w="med" len="med"/>
          </a:ln>
        </p:spPr>
      </p:cxnSp>
      <p:cxnSp>
        <p:nvCxnSpPr>
          <p:cNvPr id="1568" name="Google Shape;1568;p98"/>
          <p:cNvCxnSpPr>
            <a:stCxn id="1564" idx="3"/>
            <a:endCxn id="1524" idx="2"/>
          </p:cNvCxnSpPr>
          <p:nvPr/>
        </p:nvCxnSpPr>
        <p:spPr>
          <a:xfrm rot="10800000" flipH="1">
            <a:off x="3277599" y="2079925"/>
            <a:ext cx="251100" cy="1302300"/>
          </a:xfrm>
          <a:prstGeom prst="bentConnector3">
            <a:avLst>
              <a:gd name="adj1" fmla="val 41916"/>
            </a:avLst>
          </a:prstGeom>
          <a:noFill/>
          <a:ln w="9525" cap="flat" cmpd="sng">
            <a:solidFill>
              <a:schemeClr val="dk1"/>
            </a:solidFill>
            <a:prstDash val="solid"/>
            <a:round/>
            <a:headEnd type="none" w="med" len="med"/>
            <a:tailEnd type="triangle" w="med" len="med"/>
          </a:ln>
        </p:spPr>
      </p:cxnSp>
      <p:grpSp>
        <p:nvGrpSpPr>
          <p:cNvPr id="1569" name="Google Shape;1569;p98"/>
          <p:cNvGrpSpPr/>
          <p:nvPr/>
        </p:nvGrpSpPr>
        <p:grpSpPr>
          <a:xfrm>
            <a:off x="4470905" y="3214801"/>
            <a:ext cx="874500" cy="485914"/>
            <a:chOff x="4118269" y="1901936"/>
            <a:chExt cx="874500" cy="485914"/>
          </a:xfrm>
        </p:grpSpPr>
        <p:sp>
          <p:nvSpPr>
            <p:cNvPr id="1570" name="Google Shape;1570;p98"/>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sp>
          <p:nvSpPr>
            <p:cNvPr id="1571" name="Google Shape;1571;p98"/>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72" name="Google Shape;1572;p98"/>
          <p:cNvGrpSpPr/>
          <p:nvPr/>
        </p:nvGrpSpPr>
        <p:grpSpPr>
          <a:xfrm>
            <a:off x="4470905" y="3747213"/>
            <a:ext cx="874500" cy="485914"/>
            <a:chOff x="4118269" y="1901936"/>
            <a:chExt cx="874500" cy="485914"/>
          </a:xfrm>
        </p:grpSpPr>
        <p:sp>
          <p:nvSpPr>
            <p:cNvPr id="1573" name="Google Shape;1573;p98"/>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metric</a:t>
              </a:r>
              <a:endParaRPr sz="900">
                <a:solidFill>
                  <a:srgbClr val="000000"/>
                </a:solidFill>
                <a:latin typeface="Didact Gothic"/>
                <a:ea typeface="Didact Gothic"/>
                <a:cs typeface="Didact Gothic"/>
                <a:sym typeface="Didact Gothic"/>
              </a:endParaRPr>
            </a:p>
          </p:txBody>
        </p:sp>
        <p:sp>
          <p:nvSpPr>
            <p:cNvPr id="1574" name="Google Shape;1574;p98"/>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575" name="Google Shape;1575;p98"/>
          <p:cNvSpPr/>
          <p:nvPr/>
        </p:nvSpPr>
        <p:spPr>
          <a:xfrm>
            <a:off x="352238" y="4486394"/>
            <a:ext cx="961800" cy="5091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OmniBehaviour</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Simulation</a:t>
            </a:r>
            <a:endParaRPr sz="900">
              <a:latin typeface="Didact Gothic"/>
              <a:ea typeface="Didact Gothic"/>
              <a:cs typeface="Didact Gothic"/>
              <a:sym typeface="Didact Gothic"/>
            </a:endParaRPr>
          </a:p>
        </p:txBody>
      </p:sp>
      <p:cxnSp>
        <p:nvCxnSpPr>
          <p:cNvPr id="1576" name="Google Shape;1576;p98"/>
          <p:cNvCxnSpPr>
            <a:stCxn id="1575" idx="3"/>
            <a:endCxn id="1577" idx="1"/>
          </p:cNvCxnSpPr>
          <p:nvPr/>
        </p:nvCxnSpPr>
        <p:spPr>
          <a:xfrm rot="10800000" flipH="1">
            <a:off x="1314038" y="4576244"/>
            <a:ext cx="413400" cy="164700"/>
          </a:xfrm>
          <a:prstGeom prst="bentConnector3">
            <a:avLst>
              <a:gd name="adj1" fmla="val 50002"/>
            </a:avLst>
          </a:prstGeom>
          <a:noFill/>
          <a:ln w="9525" cap="flat" cmpd="sng">
            <a:solidFill>
              <a:schemeClr val="dk1"/>
            </a:solidFill>
            <a:prstDash val="solid"/>
            <a:round/>
            <a:headEnd type="none" w="med" len="med"/>
            <a:tailEnd type="triangle" w="med" len="med"/>
          </a:ln>
        </p:spPr>
      </p:cxnSp>
      <p:grpSp>
        <p:nvGrpSpPr>
          <p:cNvPr id="1578" name="Google Shape;1578;p98"/>
          <p:cNvGrpSpPr/>
          <p:nvPr/>
        </p:nvGrpSpPr>
        <p:grpSpPr>
          <a:xfrm>
            <a:off x="1417705" y="4448675"/>
            <a:ext cx="874500" cy="417568"/>
            <a:chOff x="1928393" y="4432300"/>
            <a:chExt cx="874500" cy="417568"/>
          </a:xfrm>
        </p:grpSpPr>
        <p:sp>
          <p:nvSpPr>
            <p:cNvPr id="1579" name="Google Shape;1579;p98"/>
            <p:cNvSpPr txBox="1"/>
            <p:nvPr/>
          </p:nvSpPr>
          <p:spPr>
            <a:xfrm>
              <a:off x="19283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raw</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event</a:t>
              </a:r>
              <a:endParaRPr sz="900">
                <a:latin typeface="Didact Gothic"/>
                <a:ea typeface="Didact Gothic"/>
                <a:cs typeface="Didact Gothic"/>
                <a:sym typeface="Didact Gothic"/>
              </a:endParaRPr>
            </a:p>
          </p:txBody>
        </p:sp>
        <p:pic>
          <p:nvPicPr>
            <p:cNvPr id="1577" name="Google Shape;1577;p98"/>
            <p:cNvPicPr preferRelativeResize="0"/>
            <p:nvPr/>
          </p:nvPicPr>
          <p:blipFill>
            <a:blip r:embed="rId3">
              <a:alphaModFix/>
            </a:blip>
            <a:stretch>
              <a:fillRect/>
            </a:stretch>
          </p:blipFill>
          <p:spPr>
            <a:xfrm>
              <a:off x="2238143" y="4432300"/>
              <a:ext cx="255000" cy="255000"/>
            </a:xfrm>
            <a:prstGeom prst="rect">
              <a:avLst/>
            </a:prstGeom>
            <a:noFill/>
            <a:ln>
              <a:noFill/>
            </a:ln>
          </p:spPr>
        </p:pic>
      </p:grpSp>
      <p:cxnSp>
        <p:nvCxnSpPr>
          <p:cNvPr id="1580" name="Google Shape;1580;p98"/>
          <p:cNvCxnSpPr>
            <a:stCxn id="1577" idx="0"/>
            <a:endCxn id="1554" idx="2"/>
          </p:cNvCxnSpPr>
          <p:nvPr/>
        </p:nvCxnSpPr>
        <p:spPr>
          <a:xfrm rot="10800000" flipH="1">
            <a:off x="1854955" y="3752075"/>
            <a:ext cx="2400" cy="696600"/>
          </a:xfrm>
          <a:prstGeom prst="straightConnector1">
            <a:avLst/>
          </a:prstGeom>
          <a:noFill/>
          <a:ln w="9525" cap="flat" cmpd="sng">
            <a:solidFill>
              <a:srgbClr val="0000FF"/>
            </a:solidFill>
            <a:prstDash val="solid"/>
            <a:round/>
            <a:headEnd type="none" w="med" len="med"/>
            <a:tailEnd type="triangle" w="med" len="med"/>
          </a:ln>
        </p:spPr>
      </p:cxnSp>
      <p:grpSp>
        <p:nvGrpSpPr>
          <p:cNvPr id="1581" name="Google Shape;1581;p98"/>
          <p:cNvGrpSpPr/>
          <p:nvPr/>
        </p:nvGrpSpPr>
        <p:grpSpPr>
          <a:xfrm>
            <a:off x="4470905" y="4356813"/>
            <a:ext cx="874500" cy="485914"/>
            <a:chOff x="4118269" y="1292336"/>
            <a:chExt cx="874500" cy="485914"/>
          </a:xfrm>
        </p:grpSpPr>
        <p:sp>
          <p:nvSpPr>
            <p:cNvPr id="1582" name="Google Shape;1582;p98"/>
            <p:cNvSpPr txBox="1"/>
            <p:nvPr/>
          </p:nvSpPr>
          <p:spPr>
            <a:xfrm>
              <a:off x="4118269" y="15382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latin typeface="Didact Gothic"/>
                <a:ea typeface="Didact Gothic"/>
                <a:cs typeface="Didact Gothic"/>
                <a:sym typeface="Didact Gothic"/>
              </a:endParaRPr>
            </a:p>
          </p:txBody>
        </p:sp>
        <p:sp>
          <p:nvSpPr>
            <p:cNvPr id="1583" name="Google Shape;1583;p98"/>
            <p:cNvSpPr/>
            <p:nvPr/>
          </p:nvSpPr>
          <p:spPr>
            <a:xfrm>
              <a:off x="4418380" y="12923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84" name="Google Shape;1584;p98"/>
          <p:cNvGrpSpPr/>
          <p:nvPr/>
        </p:nvGrpSpPr>
        <p:grpSpPr>
          <a:xfrm>
            <a:off x="3317043" y="3727660"/>
            <a:ext cx="697800" cy="471367"/>
            <a:chOff x="1543350" y="1839908"/>
            <a:chExt cx="697800" cy="471367"/>
          </a:xfrm>
        </p:grpSpPr>
        <p:sp>
          <p:nvSpPr>
            <p:cNvPr id="1585" name="Google Shape;1585;p98"/>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586" name="Google Shape;1586;p98"/>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587" name="Google Shape;1587;p98"/>
          <p:cNvSpPr txBox="1"/>
          <p:nvPr/>
        </p:nvSpPr>
        <p:spPr>
          <a:xfrm>
            <a:off x="6980825" y="341075"/>
            <a:ext cx="2070900" cy="6465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Poppins"/>
                <a:ea typeface="Poppins"/>
                <a:cs typeface="Poppins"/>
                <a:sym typeface="Poppins"/>
              </a:rPr>
              <a:t>→       Batches </a:t>
            </a:r>
            <a:endParaRPr sz="1000">
              <a:latin typeface="Poppins"/>
              <a:ea typeface="Poppins"/>
              <a:cs typeface="Poppins"/>
              <a:sym typeface="Poppins"/>
            </a:endParaRPr>
          </a:p>
          <a:p>
            <a:pPr marL="0" lvl="0" indent="0" algn="l" rtl="0">
              <a:spcBef>
                <a:spcPts val="0"/>
              </a:spcBef>
              <a:spcAft>
                <a:spcPts val="0"/>
              </a:spcAft>
              <a:buNone/>
            </a:pPr>
            <a:r>
              <a:rPr lang="en" sz="1000">
                <a:solidFill>
                  <a:srgbClr val="0000FF"/>
                </a:solidFill>
                <a:latin typeface="Poppins"/>
                <a:ea typeface="Poppins"/>
                <a:cs typeface="Poppins"/>
                <a:sym typeface="Poppins"/>
              </a:rPr>
              <a:t>→       Real-Time Feature Flow</a:t>
            </a:r>
            <a:endParaRPr sz="1000">
              <a:solidFill>
                <a:srgbClr val="93C47D"/>
              </a:solidFill>
              <a:latin typeface="Poppins"/>
              <a:ea typeface="Poppins"/>
              <a:cs typeface="Poppins"/>
              <a:sym typeface="Poppins"/>
            </a:endParaRPr>
          </a:p>
          <a:p>
            <a:pPr marL="0" lvl="0" indent="0" algn="l" rtl="0">
              <a:spcBef>
                <a:spcPts val="0"/>
              </a:spcBef>
              <a:spcAft>
                <a:spcPts val="0"/>
              </a:spcAft>
              <a:buNone/>
            </a:pPr>
            <a:r>
              <a:rPr lang="en" sz="1000">
                <a:solidFill>
                  <a:schemeClr val="dk1"/>
                </a:solidFill>
                <a:latin typeface="Poppins"/>
                <a:ea typeface="Poppins"/>
                <a:cs typeface="Poppins"/>
                <a:sym typeface="Poppins"/>
              </a:rPr>
              <a:t>sETL   Streaming ETL </a:t>
            </a:r>
            <a:endParaRPr sz="1000">
              <a:solidFill>
                <a:schemeClr val="dk1"/>
              </a:solidFill>
              <a:latin typeface="Poppins"/>
              <a:ea typeface="Poppins"/>
              <a:cs typeface="Poppins"/>
              <a:sym typeface="Poppins"/>
            </a:endParaRPr>
          </a:p>
        </p:txBody>
      </p:sp>
      <p:sp>
        <p:nvSpPr>
          <p:cNvPr id="1588" name="Google Shape;1588;p98"/>
          <p:cNvSpPr txBox="1">
            <a:spLocks noGrp="1"/>
          </p:cNvSpPr>
          <p:nvPr>
            <p:ph type="title"/>
          </p:nvPr>
        </p:nvSpPr>
        <p:spPr>
          <a:xfrm>
            <a:off x="273500" y="539500"/>
            <a:ext cx="6761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Historical Feature Updates</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2"/>
        <p:cNvGrpSpPr/>
        <p:nvPr/>
      </p:nvGrpSpPr>
      <p:grpSpPr>
        <a:xfrm>
          <a:off x="0" y="0"/>
          <a:ext cx="0" cy="0"/>
          <a:chOff x="0" y="0"/>
          <a:chExt cx="0" cy="0"/>
        </a:xfrm>
      </p:grpSpPr>
      <p:sp>
        <p:nvSpPr>
          <p:cNvPr id="1593" name="Google Shape;1593;p99"/>
          <p:cNvSpPr/>
          <p:nvPr/>
        </p:nvSpPr>
        <p:spPr>
          <a:xfrm>
            <a:off x="4563250" y="1168850"/>
            <a:ext cx="652200" cy="3837000"/>
          </a:xfrm>
          <a:prstGeom prst="rect">
            <a:avLst/>
          </a:prstGeom>
          <a:solidFill>
            <a:srgbClr val="F2D6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94" name="Google Shape;1594;p99"/>
          <p:cNvSpPr/>
          <p:nvPr/>
        </p:nvSpPr>
        <p:spPr>
          <a:xfrm>
            <a:off x="3347796" y="1168850"/>
            <a:ext cx="652200" cy="3064500"/>
          </a:xfrm>
          <a:prstGeom prst="rect">
            <a:avLst/>
          </a:prstGeom>
          <a:solidFill>
            <a:srgbClr val="9FA0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95" name="Google Shape;1595;p99"/>
          <p:cNvSpPr/>
          <p:nvPr/>
        </p:nvSpPr>
        <p:spPr>
          <a:xfrm>
            <a:off x="2155363" y="1168850"/>
            <a:ext cx="652200" cy="3064500"/>
          </a:xfrm>
          <a:prstGeom prst="rect">
            <a:avLst/>
          </a:prstGeom>
          <a:solidFill>
            <a:srgbClr val="BF9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596" name="Google Shape;1596;p99"/>
          <p:cNvGrpSpPr/>
          <p:nvPr/>
        </p:nvGrpSpPr>
        <p:grpSpPr>
          <a:xfrm>
            <a:off x="2121618" y="1413870"/>
            <a:ext cx="697800" cy="466476"/>
            <a:chOff x="1543350" y="1338491"/>
            <a:chExt cx="697800" cy="466476"/>
          </a:xfrm>
        </p:grpSpPr>
        <p:sp>
          <p:nvSpPr>
            <p:cNvPr id="1597" name="Google Shape;1597;p99"/>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598" name="Google Shape;1598;p99"/>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599" name="Google Shape;1599;p99"/>
          <p:cNvGrpSpPr/>
          <p:nvPr/>
        </p:nvGrpSpPr>
        <p:grpSpPr>
          <a:xfrm>
            <a:off x="2121618" y="1915287"/>
            <a:ext cx="697800" cy="471367"/>
            <a:chOff x="1543350" y="1839908"/>
            <a:chExt cx="697800" cy="471367"/>
          </a:xfrm>
        </p:grpSpPr>
        <p:sp>
          <p:nvSpPr>
            <p:cNvPr id="1600" name="Google Shape;1600;p99"/>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601" name="Google Shape;1601;p99"/>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02" name="Google Shape;1602;p99"/>
          <p:cNvGrpSpPr/>
          <p:nvPr/>
        </p:nvGrpSpPr>
        <p:grpSpPr>
          <a:xfrm>
            <a:off x="1887018" y="2416688"/>
            <a:ext cx="1167000" cy="644545"/>
            <a:chOff x="1308750" y="2341309"/>
            <a:chExt cx="1167000" cy="644545"/>
          </a:xfrm>
        </p:grpSpPr>
        <p:sp>
          <p:nvSpPr>
            <p:cNvPr id="1603" name="Google Shape;1603;p99"/>
            <p:cNvSpPr txBox="1"/>
            <p:nvPr/>
          </p:nvSpPr>
          <p:spPr>
            <a:xfrm>
              <a:off x="130875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604" name="Google Shape;1604;p99"/>
            <p:cNvSpPr/>
            <p:nvPr/>
          </p:nvSpPr>
          <p:spPr>
            <a:xfrm>
              <a:off x="1755111"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05" name="Google Shape;1605;p99"/>
          <p:cNvGrpSpPr/>
          <p:nvPr/>
        </p:nvGrpSpPr>
        <p:grpSpPr>
          <a:xfrm>
            <a:off x="3317043" y="1413870"/>
            <a:ext cx="697800" cy="466476"/>
            <a:chOff x="3151806" y="1338491"/>
            <a:chExt cx="697800" cy="466476"/>
          </a:xfrm>
        </p:grpSpPr>
        <p:sp>
          <p:nvSpPr>
            <p:cNvPr id="1606" name="Google Shape;1606;p99"/>
            <p:cNvSpPr txBox="1"/>
            <p:nvPr/>
          </p:nvSpPr>
          <p:spPr>
            <a:xfrm>
              <a:off x="3151806"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607" name="Google Shape;1607;p99"/>
            <p:cNvSpPr/>
            <p:nvPr/>
          </p:nvSpPr>
          <p:spPr>
            <a:xfrm>
              <a:off x="3363567"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08" name="Google Shape;1608;p99"/>
          <p:cNvGrpSpPr/>
          <p:nvPr/>
        </p:nvGrpSpPr>
        <p:grpSpPr>
          <a:xfrm>
            <a:off x="3317043" y="1915287"/>
            <a:ext cx="697800" cy="471367"/>
            <a:chOff x="3151806" y="1839908"/>
            <a:chExt cx="697800" cy="471367"/>
          </a:xfrm>
        </p:grpSpPr>
        <p:sp>
          <p:nvSpPr>
            <p:cNvPr id="1609" name="Google Shape;1609;p99"/>
            <p:cNvSpPr txBox="1"/>
            <p:nvPr/>
          </p:nvSpPr>
          <p:spPr>
            <a:xfrm>
              <a:off x="3151806"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610" name="Google Shape;1610;p99"/>
            <p:cNvSpPr/>
            <p:nvPr/>
          </p:nvSpPr>
          <p:spPr>
            <a:xfrm>
              <a:off x="3363567"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11" name="Google Shape;1611;p99"/>
          <p:cNvGrpSpPr/>
          <p:nvPr/>
        </p:nvGrpSpPr>
        <p:grpSpPr>
          <a:xfrm>
            <a:off x="3082443" y="2416688"/>
            <a:ext cx="1167000" cy="607945"/>
            <a:chOff x="2917206" y="2341309"/>
            <a:chExt cx="1167000" cy="607945"/>
          </a:xfrm>
        </p:grpSpPr>
        <p:sp>
          <p:nvSpPr>
            <p:cNvPr id="1612" name="Google Shape;1612;p99"/>
            <p:cNvSpPr txBox="1"/>
            <p:nvPr/>
          </p:nvSpPr>
          <p:spPr>
            <a:xfrm>
              <a:off x="2917206" y="2633353"/>
              <a:ext cx="1167000" cy="31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613" name="Google Shape;1613;p99"/>
            <p:cNvSpPr/>
            <p:nvPr/>
          </p:nvSpPr>
          <p:spPr>
            <a:xfrm>
              <a:off x="3363567"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14" name="Google Shape;1614;p99"/>
          <p:cNvGrpSpPr/>
          <p:nvPr/>
        </p:nvGrpSpPr>
        <p:grpSpPr>
          <a:xfrm>
            <a:off x="4474896" y="1413873"/>
            <a:ext cx="874500" cy="486902"/>
            <a:chOff x="4118269" y="1397498"/>
            <a:chExt cx="874500" cy="486902"/>
          </a:xfrm>
        </p:grpSpPr>
        <p:sp>
          <p:nvSpPr>
            <p:cNvPr id="1615" name="Google Shape;1615;p99"/>
            <p:cNvSpPr txBox="1"/>
            <p:nvPr/>
          </p:nvSpPr>
          <p:spPr>
            <a:xfrm>
              <a:off x="4118269" y="164440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label</a:t>
              </a:r>
              <a:endParaRPr sz="900">
                <a:solidFill>
                  <a:srgbClr val="000000"/>
                </a:solidFill>
                <a:latin typeface="Didact Gothic"/>
                <a:ea typeface="Didact Gothic"/>
                <a:cs typeface="Didact Gothic"/>
                <a:sym typeface="Didact Gothic"/>
              </a:endParaRPr>
            </a:p>
          </p:txBody>
        </p:sp>
        <p:sp>
          <p:nvSpPr>
            <p:cNvPr id="1616" name="Google Shape;1616;p99"/>
            <p:cNvSpPr/>
            <p:nvPr/>
          </p:nvSpPr>
          <p:spPr>
            <a:xfrm>
              <a:off x="4418380" y="139749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17" name="Google Shape;1617;p99"/>
          <p:cNvGrpSpPr/>
          <p:nvPr/>
        </p:nvGrpSpPr>
        <p:grpSpPr>
          <a:xfrm>
            <a:off x="4464394" y="1916807"/>
            <a:ext cx="874500" cy="485914"/>
            <a:chOff x="4118269" y="1901936"/>
            <a:chExt cx="874500" cy="485914"/>
          </a:xfrm>
        </p:grpSpPr>
        <p:sp>
          <p:nvSpPr>
            <p:cNvPr id="1618" name="Google Shape;1618;p99"/>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static</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619" name="Google Shape;1619;p99"/>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620" name="Google Shape;1620;p99"/>
          <p:cNvSpPr txBox="1"/>
          <p:nvPr/>
        </p:nvSpPr>
        <p:spPr>
          <a:xfrm>
            <a:off x="2158683" y="1112208"/>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Bronze</a:t>
            </a:r>
            <a:endParaRPr sz="900" b="1">
              <a:solidFill>
                <a:srgbClr val="000000"/>
              </a:solidFill>
              <a:latin typeface="Didact Gothic"/>
              <a:ea typeface="Didact Gothic"/>
              <a:cs typeface="Didact Gothic"/>
              <a:sym typeface="Didact Gothic"/>
            </a:endParaRPr>
          </a:p>
        </p:txBody>
      </p:sp>
      <p:sp>
        <p:nvSpPr>
          <p:cNvPr id="1621" name="Google Shape;1621;p99"/>
          <p:cNvSpPr txBox="1"/>
          <p:nvPr/>
        </p:nvSpPr>
        <p:spPr>
          <a:xfrm>
            <a:off x="3360483"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Silver</a:t>
            </a:r>
            <a:endParaRPr sz="900" b="1">
              <a:solidFill>
                <a:srgbClr val="000000"/>
              </a:solidFill>
              <a:latin typeface="Didact Gothic"/>
              <a:ea typeface="Didact Gothic"/>
              <a:cs typeface="Didact Gothic"/>
              <a:sym typeface="Didact Gothic"/>
            </a:endParaRPr>
          </a:p>
        </p:txBody>
      </p:sp>
      <p:grpSp>
        <p:nvGrpSpPr>
          <p:cNvPr id="1622" name="Google Shape;1622;p99"/>
          <p:cNvGrpSpPr/>
          <p:nvPr/>
        </p:nvGrpSpPr>
        <p:grpSpPr>
          <a:xfrm>
            <a:off x="2121618" y="3217246"/>
            <a:ext cx="697800" cy="466476"/>
            <a:chOff x="1543350" y="1338491"/>
            <a:chExt cx="697800" cy="466476"/>
          </a:xfrm>
        </p:grpSpPr>
        <p:sp>
          <p:nvSpPr>
            <p:cNvPr id="1623" name="Google Shape;1623;p99"/>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624" name="Google Shape;1624;p99"/>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25" name="Google Shape;1625;p99"/>
          <p:cNvGrpSpPr/>
          <p:nvPr/>
        </p:nvGrpSpPr>
        <p:grpSpPr>
          <a:xfrm>
            <a:off x="2121618" y="3728551"/>
            <a:ext cx="697800" cy="471367"/>
            <a:chOff x="1543350" y="1839908"/>
            <a:chExt cx="697800" cy="471367"/>
          </a:xfrm>
        </p:grpSpPr>
        <p:sp>
          <p:nvSpPr>
            <p:cNvPr id="1626" name="Google Shape;1626;p99"/>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627" name="Google Shape;1627;p99"/>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628" name="Google Shape;1628;p99"/>
          <p:cNvSpPr/>
          <p:nvPr/>
        </p:nvSpPr>
        <p:spPr>
          <a:xfrm>
            <a:off x="1637949" y="3512163"/>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629" name="Google Shape;1629;p99"/>
          <p:cNvCxnSpPr>
            <a:stCxn id="1628" idx="3"/>
            <a:endCxn id="1627" idx="2"/>
          </p:cNvCxnSpPr>
          <p:nvPr/>
        </p:nvCxnSpPr>
        <p:spPr>
          <a:xfrm>
            <a:off x="2076849" y="3632163"/>
            <a:ext cx="256500" cy="261000"/>
          </a:xfrm>
          <a:prstGeom prst="bentConnector3">
            <a:avLst>
              <a:gd name="adj1" fmla="val 50006"/>
            </a:avLst>
          </a:prstGeom>
          <a:noFill/>
          <a:ln w="9525" cap="flat" cmpd="sng">
            <a:solidFill>
              <a:srgbClr val="0000FF"/>
            </a:solidFill>
            <a:prstDash val="solid"/>
            <a:round/>
            <a:headEnd type="none" w="med" len="med"/>
            <a:tailEnd type="triangle" w="med" len="med"/>
          </a:ln>
        </p:spPr>
      </p:cxnSp>
      <p:sp>
        <p:nvSpPr>
          <p:cNvPr id="1630" name="Google Shape;1630;p99"/>
          <p:cNvSpPr/>
          <p:nvPr/>
        </p:nvSpPr>
        <p:spPr>
          <a:xfrm>
            <a:off x="7185214" y="4281575"/>
            <a:ext cx="739200" cy="682200"/>
          </a:xfrm>
          <a:prstGeom prst="ellipse">
            <a:avLst/>
          </a:prstGeom>
          <a:solidFill>
            <a:schemeClr val="accent1"/>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800">
                <a:latin typeface="Roboto"/>
                <a:ea typeface="Roboto"/>
                <a:cs typeface="Roboto"/>
                <a:sym typeface="Roboto"/>
              </a:rPr>
              <a:t>Dashboard</a:t>
            </a:r>
            <a:endParaRPr sz="800">
              <a:latin typeface="Roboto"/>
              <a:ea typeface="Roboto"/>
              <a:cs typeface="Roboto"/>
              <a:sym typeface="Roboto"/>
            </a:endParaRPr>
          </a:p>
        </p:txBody>
      </p:sp>
      <p:sp>
        <p:nvSpPr>
          <p:cNvPr id="1631" name="Google Shape;1631;p99"/>
          <p:cNvSpPr/>
          <p:nvPr/>
        </p:nvSpPr>
        <p:spPr>
          <a:xfrm>
            <a:off x="5746138" y="271635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ml_predict.py</a:t>
            </a:r>
            <a:endParaRPr sz="900">
              <a:latin typeface="Didact Gothic"/>
              <a:ea typeface="Didact Gothic"/>
              <a:cs typeface="Didact Gothic"/>
              <a:sym typeface="Didact Gothic"/>
            </a:endParaRPr>
          </a:p>
        </p:txBody>
      </p:sp>
      <p:sp>
        <p:nvSpPr>
          <p:cNvPr id="1632" name="Google Shape;1632;p99"/>
          <p:cNvSpPr/>
          <p:nvPr/>
        </p:nvSpPr>
        <p:spPr>
          <a:xfrm>
            <a:off x="6192301" y="2048420"/>
            <a:ext cx="320400" cy="324000"/>
          </a:xfrm>
          <a:prstGeom prst="cube">
            <a:avLst>
              <a:gd name="adj" fmla="val 25000"/>
            </a:avLst>
          </a:prstGeom>
          <a:solidFill>
            <a:srgbClr val="FCFDF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33" name="Google Shape;1633;p99"/>
          <p:cNvSpPr txBox="1"/>
          <p:nvPr/>
        </p:nvSpPr>
        <p:spPr>
          <a:xfrm>
            <a:off x="5590421" y="2015880"/>
            <a:ext cx="784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model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bank</a:t>
            </a:r>
            <a:endParaRPr sz="900">
              <a:solidFill>
                <a:srgbClr val="000000"/>
              </a:solidFill>
              <a:latin typeface="Didact Gothic"/>
              <a:ea typeface="Didact Gothic"/>
              <a:cs typeface="Didact Gothic"/>
              <a:sym typeface="Didact Gothic"/>
            </a:endParaRPr>
          </a:p>
        </p:txBody>
      </p:sp>
      <p:cxnSp>
        <p:nvCxnSpPr>
          <p:cNvPr id="1634" name="Google Shape;1634;p99"/>
          <p:cNvCxnSpPr/>
          <p:nvPr/>
        </p:nvCxnSpPr>
        <p:spPr>
          <a:xfrm>
            <a:off x="6381913" y="2374525"/>
            <a:ext cx="4800" cy="348000"/>
          </a:xfrm>
          <a:prstGeom prst="straightConnector1">
            <a:avLst/>
          </a:prstGeom>
          <a:noFill/>
          <a:ln w="9525" cap="flat" cmpd="sng">
            <a:solidFill>
              <a:srgbClr val="000000"/>
            </a:solidFill>
            <a:prstDash val="solid"/>
            <a:round/>
            <a:headEnd type="none" w="med" len="med"/>
            <a:tailEnd type="triangle" w="med" len="med"/>
          </a:ln>
        </p:spPr>
      </p:cxnSp>
      <p:sp>
        <p:nvSpPr>
          <p:cNvPr id="1635" name="Google Shape;1635;p99"/>
          <p:cNvSpPr txBox="1"/>
          <p:nvPr/>
        </p:nvSpPr>
        <p:spPr>
          <a:xfrm>
            <a:off x="4564228"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latin typeface="Didact Gothic"/>
                <a:ea typeface="Didact Gothic"/>
                <a:cs typeface="Didact Gothic"/>
                <a:sym typeface="Didact Gothic"/>
              </a:rPr>
              <a:t>Gold</a:t>
            </a:r>
            <a:endParaRPr sz="900" b="1">
              <a:solidFill>
                <a:srgbClr val="000000"/>
              </a:solidFill>
              <a:latin typeface="Didact Gothic"/>
              <a:ea typeface="Didact Gothic"/>
              <a:cs typeface="Didact Gothic"/>
              <a:sym typeface="Didact Gothic"/>
            </a:endParaRPr>
          </a:p>
        </p:txBody>
      </p:sp>
      <p:grpSp>
        <p:nvGrpSpPr>
          <p:cNvPr id="1636" name="Google Shape;1636;p99"/>
          <p:cNvGrpSpPr/>
          <p:nvPr/>
        </p:nvGrpSpPr>
        <p:grpSpPr>
          <a:xfrm>
            <a:off x="4470905" y="2580338"/>
            <a:ext cx="874500" cy="485914"/>
            <a:chOff x="4118269" y="1901936"/>
            <a:chExt cx="874500" cy="485914"/>
          </a:xfrm>
        </p:grpSpPr>
        <p:sp>
          <p:nvSpPr>
            <p:cNvPr id="1637" name="Google Shape;1637;p99"/>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rolling</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638" name="Google Shape;1638;p99"/>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39" name="Google Shape;1639;p99"/>
          <p:cNvGrpSpPr/>
          <p:nvPr/>
        </p:nvGrpSpPr>
        <p:grpSpPr>
          <a:xfrm>
            <a:off x="4470905" y="3214801"/>
            <a:ext cx="874500" cy="485914"/>
            <a:chOff x="4118269" y="1901936"/>
            <a:chExt cx="874500" cy="485914"/>
          </a:xfrm>
        </p:grpSpPr>
        <p:sp>
          <p:nvSpPr>
            <p:cNvPr id="1640" name="Google Shape;1640;p99"/>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sp>
          <p:nvSpPr>
            <p:cNvPr id="1641" name="Google Shape;1641;p99"/>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642" name="Google Shape;1642;p99"/>
          <p:cNvGrpSpPr/>
          <p:nvPr/>
        </p:nvGrpSpPr>
        <p:grpSpPr>
          <a:xfrm>
            <a:off x="4470905" y="3747213"/>
            <a:ext cx="874500" cy="485914"/>
            <a:chOff x="4118269" y="1901936"/>
            <a:chExt cx="874500" cy="485914"/>
          </a:xfrm>
        </p:grpSpPr>
        <p:sp>
          <p:nvSpPr>
            <p:cNvPr id="1643" name="Google Shape;1643;p99"/>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metric</a:t>
              </a:r>
              <a:endParaRPr sz="900">
                <a:solidFill>
                  <a:srgbClr val="000000"/>
                </a:solidFill>
                <a:latin typeface="Didact Gothic"/>
                <a:ea typeface="Didact Gothic"/>
                <a:cs typeface="Didact Gothic"/>
                <a:sym typeface="Didact Gothic"/>
              </a:endParaRPr>
            </a:p>
          </p:txBody>
        </p:sp>
        <p:sp>
          <p:nvSpPr>
            <p:cNvPr id="1644" name="Google Shape;1644;p99"/>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645" name="Google Shape;1645;p99"/>
          <p:cNvCxnSpPr>
            <a:endCxn id="1641" idx="4"/>
          </p:cNvCxnSpPr>
          <p:nvPr/>
        </p:nvCxnSpPr>
        <p:spPr>
          <a:xfrm flipH="1">
            <a:off x="5045294" y="2932063"/>
            <a:ext cx="1026900" cy="447300"/>
          </a:xfrm>
          <a:prstGeom prst="bentConnector3">
            <a:avLst>
              <a:gd name="adj1" fmla="val -9"/>
            </a:avLst>
          </a:prstGeom>
          <a:noFill/>
          <a:ln w="9525" cap="flat" cmpd="sng">
            <a:solidFill>
              <a:srgbClr val="A9283B"/>
            </a:solidFill>
            <a:prstDash val="solid"/>
            <a:round/>
            <a:headEnd type="none" w="med" len="med"/>
            <a:tailEnd type="triangle" w="med" len="med"/>
          </a:ln>
        </p:spPr>
      </p:cxnSp>
      <p:cxnSp>
        <p:nvCxnSpPr>
          <p:cNvPr id="1646" name="Google Shape;1646;p99"/>
          <p:cNvCxnSpPr/>
          <p:nvPr/>
        </p:nvCxnSpPr>
        <p:spPr>
          <a:xfrm>
            <a:off x="5034963" y="2161629"/>
            <a:ext cx="741000" cy="671400"/>
          </a:xfrm>
          <a:prstGeom prst="bentConnector3">
            <a:avLst>
              <a:gd name="adj1" fmla="val 68289"/>
            </a:avLst>
          </a:prstGeom>
          <a:noFill/>
          <a:ln w="9525" cap="flat" cmpd="sng">
            <a:solidFill>
              <a:srgbClr val="A9283B"/>
            </a:solidFill>
            <a:prstDash val="solid"/>
            <a:round/>
            <a:headEnd type="none" w="med" len="med"/>
            <a:tailEnd type="triangle" w="med" len="med"/>
          </a:ln>
        </p:spPr>
      </p:cxnSp>
      <p:cxnSp>
        <p:nvCxnSpPr>
          <p:cNvPr id="1647" name="Google Shape;1647;p99"/>
          <p:cNvCxnSpPr/>
          <p:nvPr/>
        </p:nvCxnSpPr>
        <p:spPr>
          <a:xfrm rot="10800000" flipH="1">
            <a:off x="5044088" y="2830509"/>
            <a:ext cx="733800" cy="4500"/>
          </a:xfrm>
          <a:prstGeom prst="straightConnector1">
            <a:avLst/>
          </a:prstGeom>
          <a:noFill/>
          <a:ln w="9525" cap="flat" cmpd="sng">
            <a:solidFill>
              <a:srgbClr val="A9283B"/>
            </a:solidFill>
            <a:prstDash val="solid"/>
            <a:round/>
            <a:headEnd type="none" w="med" len="med"/>
            <a:tailEnd type="triangle" w="med" len="med"/>
          </a:ln>
        </p:spPr>
      </p:cxnSp>
      <p:sp>
        <p:nvSpPr>
          <p:cNvPr id="1648" name="Google Shape;1648;p99"/>
          <p:cNvSpPr/>
          <p:nvPr/>
        </p:nvSpPr>
        <p:spPr>
          <a:xfrm>
            <a:off x="352238" y="4486394"/>
            <a:ext cx="961800" cy="5091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OmniBehaviour</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Simulation</a:t>
            </a:r>
            <a:endParaRPr sz="900">
              <a:latin typeface="Didact Gothic"/>
              <a:ea typeface="Didact Gothic"/>
              <a:cs typeface="Didact Gothic"/>
              <a:sym typeface="Didact Gothic"/>
            </a:endParaRPr>
          </a:p>
        </p:txBody>
      </p:sp>
      <p:cxnSp>
        <p:nvCxnSpPr>
          <p:cNvPr id="1649" name="Google Shape;1649;p99"/>
          <p:cNvCxnSpPr>
            <a:stCxn id="1648" idx="3"/>
            <a:endCxn id="1650" idx="1"/>
          </p:cNvCxnSpPr>
          <p:nvPr/>
        </p:nvCxnSpPr>
        <p:spPr>
          <a:xfrm rot="10800000" flipH="1">
            <a:off x="1314038" y="4576244"/>
            <a:ext cx="413400" cy="164700"/>
          </a:xfrm>
          <a:prstGeom prst="bentConnector3">
            <a:avLst>
              <a:gd name="adj1" fmla="val 50002"/>
            </a:avLst>
          </a:prstGeom>
          <a:noFill/>
          <a:ln w="9525" cap="flat" cmpd="sng">
            <a:solidFill>
              <a:schemeClr val="dk1"/>
            </a:solidFill>
            <a:prstDash val="solid"/>
            <a:round/>
            <a:headEnd type="none" w="med" len="med"/>
            <a:tailEnd type="triangle" w="med" len="med"/>
          </a:ln>
        </p:spPr>
      </p:cxnSp>
      <p:sp>
        <p:nvSpPr>
          <p:cNvPr id="1651" name="Google Shape;1651;p99"/>
          <p:cNvSpPr/>
          <p:nvPr/>
        </p:nvSpPr>
        <p:spPr>
          <a:xfrm>
            <a:off x="4062172" y="3831819"/>
            <a:ext cx="438900" cy="2526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grpSp>
        <p:nvGrpSpPr>
          <p:cNvPr id="1652" name="Google Shape;1652;p99"/>
          <p:cNvGrpSpPr/>
          <p:nvPr/>
        </p:nvGrpSpPr>
        <p:grpSpPr>
          <a:xfrm>
            <a:off x="1417705" y="4448675"/>
            <a:ext cx="874500" cy="417568"/>
            <a:chOff x="1928393" y="4432300"/>
            <a:chExt cx="874500" cy="417568"/>
          </a:xfrm>
        </p:grpSpPr>
        <p:sp>
          <p:nvSpPr>
            <p:cNvPr id="1653" name="Google Shape;1653;p99"/>
            <p:cNvSpPr txBox="1"/>
            <p:nvPr/>
          </p:nvSpPr>
          <p:spPr>
            <a:xfrm>
              <a:off x="19283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raw</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event</a:t>
              </a:r>
              <a:endParaRPr sz="900">
                <a:latin typeface="Didact Gothic"/>
                <a:ea typeface="Didact Gothic"/>
                <a:cs typeface="Didact Gothic"/>
                <a:sym typeface="Didact Gothic"/>
              </a:endParaRPr>
            </a:p>
          </p:txBody>
        </p:sp>
        <p:pic>
          <p:nvPicPr>
            <p:cNvPr id="1650" name="Google Shape;1650;p99"/>
            <p:cNvPicPr preferRelativeResize="0"/>
            <p:nvPr/>
          </p:nvPicPr>
          <p:blipFill>
            <a:blip r:embed="rId3">
              <a:alphaModFix/>
            </a:blip>
            <a:stretch>
              <a:fillRect/>
            </a:stretch>
          </p:blipFill>
          <p:spPr>
            <a:xfrm>
              <a:off x="2238143" y="4432300"/>
              <a:ext cx="255000" cy="255000"/>
            </a:xfrm>
            <a:prstGeom prst="rect">
              <a:avLst/>
            </a:prstGeom>
            <a:noFill/>
            <a:ln>
              <a:noFill/>
            </a:ln>
          </p:spPr>
        </p:pic>
      </p:grpSp>
      <p:pic>
        <p:nvPicPr>
          <p:cNvPr id="1654" name="Google Shape;1654;p99"/>
          <p:cNvPicPr preferRelativeResize="0"/>
          <p:nvPr/>
        </p:nvPicPr>
        <p:blipFill>
          <a:blip r:embed="rId3">
            <a:alphaModFix/>
          </a:blip>
          <a:stretch>
            <a:fillRect/>
          </a:stretch>
        </p:blipFill>
        <p:spPr>
          <a:xfrm>
            <a:off x="2949024" y="4263862"/>
            <a:ext cx="255000" cy="255000"/>
          </a:xfrm>
          <a:prstGeom prst="rect">
            <a:avLst/>
          </a:prstGeom>
          <a:noFill/>
          <a:ln>
            <a:noFill/>
          </a:ln>
        </p:spPr>
      </p:pic>
      <p:grpSp>
        <p:nvGrpSpPr>
          <p:cNvPr id="1655" name="Google Shape;1655;p99"/>
          <p:cNvGrpSpPr/>
          <p:nvPr/>
        </p:nvGrpSpPr>
        <p:grpSpPr>
          <a:xfrm>
            <a:off x="3823983" y="4258589"/>
            <a:ext cx="874500" cy="382505"/>
            <a:chOff x="4963793" y="4467363"/>
            <a:chExt cx="874500" cy="382505"/>
          </a:xfrm>
        </p:grpSpPr>
        <p:sp>
          <p:nvSpPr>
            <p:cNvPr id="1656" name="Google Shape;1656;p99"/>
            <p:cNvSpPr txBox="1"/>
            <p:nvPr/>
          </p:nvSpPr>
          <p:spPr>
            <a:xfrm>
              <a:off x="49637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900">
                <a:latin typeface="Didact Gothic"/>
                <a:ea typeface="Didact Gothic"/>
                <a:cs typeface="Didact Gothic"/>
                <a:sym typeface="Didact Gothic"/>
              </a:endParaRPr>
            </a:p>
          </p:txBody>
        </p:sp>
        <p:pic>
          <p:nvPicPr>
            <p:cNvPr id="1657" name="Google Shape;1657;p99"/>
            <p:cNvPicPr preferRelativeResize="0"/>
            <p:nvPr/>
          </p:nvPicPr>
          <p:blipFill>
            <a:blip r:embed="rId3">
              <a:alphaModFix/>
            </a:blip>
            <a:stretch>
              <a:fillRect/>
            </a:stretch>
          </p:blipFill>
          <p:spPr>
            <a:xfrm>
              <a:off x="5273543" y="4467363"/>
              <a:ext cx="255000" cy="255000"/>
            </a:xfrm>
            <a:prstGeom prst="rect">
              <a:avLst/>
            </a:prstGeom>
            <a:noFill/>
            <a:ln>
              <a:noFill/>
            </a:ln>
          </p:spPr>
        </p:pic>
      </p:grpSp>
      <p:cxnSp>
        <p:nvCxnSpPr>
          <p:cNvPr id="1658" name="Google Shape;1658;p99"/>
          <p:cNvCxnSpPr>
            <a:endCxn id="1657" idx="0"/>
          </p:cNvCxnSpPr>
          <p:nvPr/>
        </p:nvCxnSpPr>
        <p:spPr>
          <a:xfrm>
            <a:off x="4257333" y="4087289"/>
            <a:ext cx="3900" cy="171300"/>
          </a:xfrm>
          <a:prstGeom prst="straightConnector1">
            <a:avLst/>
          </a:prstGeom>
          <a:noFill/>
          <a:ln w="9525" cap="flat" cmpd="sng">
            <a:solidFill>
              <a:srgbClr val="0000FF"/>
            </a:solidFill>
            <a:prstDash val="solid"/>
            <a:round/>
            <a:headEnd type="none" w="med" len="med"/>
            <a:tailEnd type="triangle" w="med" len="med"/>
          </a:ln>
        </p:spPr>
      </p:cxnSp>
      <p:cxnSp>
        <p:nvCxnSpPr>
          <p:cNvPr id="1659" name="Google Shape;1659;p99"/>
          <p:cNvCxnSpPr>
            <a:stCxn id="1660" idx="3"/>
          </p:cNvCxnSpPr>
          <p:nvPr/>
        </p:nvCxnSpPr>
        <p:spPr>
          <a:xfrm rot="10800000" flipH="1">
            <a:off x="5826165" y="2914826"/>
            <a:ext cx="366000" cy="1605900"/>
          </a:xfrm>
          <a:prstGeom prst="bentConnector2">
            <a:avLst/>
          </a:prstGeom>
          <a:noFill/>
          <a:ln w="9525" cap="flat" cmpd="sng">
            <a:solidFill>
              <a:srgbClr val="A9283B"/>
            </a:solidFill>
            <a:prstDash val="solid"/>
            <a:round/>
            <a:headEnd type="none" w="med" len="med"/>
            <a:tailEnd type="triangle" w="med" len="med"/>
          </a:ln>
        </p:spPr>
      </p:cxnSp>
      <p:grpSp>
        <p:nvGrpSpPr>
          <p:cNvPr id="1661" name="Google Shape;1661;p99"/>
          <p:cNvGrpSpPr/>
          <p:nvPr/>
        </p:nvGrpSpPr>
        <p:grpSpPr>
          <a:xfrm>
            <a:off x="5965526" y="4474050"/>
            <a:ext cx="874500" cy="453918"/>
            <a:chOff x="6512501" y="4457725"/>
            <a:chExt cx="874500" cy="453918"/>
          </a:xfrm>
        </p:grpSpPr>
        <p:pic>
          <p:nvPicPr>
            <p:cNvPr id="1662" name="Google Shape;1662;p99"/>
            <p:cNvPicPr preferRelativeResize="0"/>
            <p:nvPr/>
          </p:nvPicPr>
          <p:blipFill rotWithShape="1">
            <a:blip r:embed="rId4">
              <a:alphaModFix/>
            </a:blip>
            <a:srcRect t="8291"/>
            <a:stretch/>
          </p:blipFill>
          <p:spPr>
            <a:xfrm>
              <a:off x="6789551" y="4457725"/>
              <a:ext cx="320399" cy="293825"/>
            </a:xfrm>
            <a:prstGeom prst="rect">
              <a:avLst/>
            </a:prstGeom>
            <a:noFill/>
            <a:ln>
              <a:noFill/>
            </a:ln>
          </p:spPr>
        </p:pic>
        <p:sp>
          <p:nvSpPr>
            <p:cNvPr id="1663" name="Google Shape;1663;p99"/>
            <p:cNvSpPr txBox="1"/>
            <p:nvPr/>
          </p:nvSpPr>
          <p:spPr>
            <a:xfrm>
              <a:off x="6512501" y="4671643"/>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redis</a:t>
              </a:r>
              <a:endParaRPr sz="900">
                <a:latin typeface="Didact Gothic"/>
                <a:ea typeface="Didact Gothic"/>
                <a:cs typeface="Didact Gothic"/>
                <a:sym typeface="Didact Gothic"/>
              </a:endParaRPr>
            </a:p>
          </p:txBody>
        </p:sp>
      </p:grpSp>
      <p:cxnSp>
        <p:nvCxnSpPr>
          <p:cNvPr id="1664" name="Google Shape;1664;p99"/>
          <p:cNvCxnSpPr>
            <a:stCxn id="1631" idx="2"/>
            <a:endCxn id="1662" idx="0"/>
          </p:cNvCxnSpPr>
          <p:nvPr/>
        </p:nvCxnSpPr>
        <p:spPr>
          <a:xfrm flipH="1">
            <a:off x="6402688" y="2930250"/>
            <a:ext cx="3600" cy="1543800"/>
          </a:xfrm>
          <a:prstGeom prst="straightConnector1">
            <a:avLst/>
          </a:prstGeom>
          <a:noFill/>
          <a:ln w="9525" cap="flat" cmpd="sng">
            <a:solidFill>
              <a:srgbClr val="A9283B"/>
            </a:solidFill>
            <a:prstDash val="solid"/>
            <a:round/>
            <a:headEnd type="none" w="med" len="med"/>
            <a:tailEnd type="triangle" w="med" len="med"/>
          </a:ln>
        </p:spPr>
      </p:cxnSp>
      <p:sp>
        <p:nvSpPr>
          <p:cNvPr id="1665" name="Google Shape;1665;p99"/>
          <p:cNvSpPr txBox="1"/>
          <p:nvPr/>
        </p:nvSpPr>
        <p:spPr>
          <a:xfrm>
            <a:off x="6287605" y="2849177"/>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cxnSp>
        <p:nvCxnSpPr>
          <p:cNvPr id="1666" name="Google Shape;1666;p99"/>
          <p:cNvCxnSpPr>
            <a:stCxn id="1662" idx="3"/>
            <a:endCxn id="1630" idx="2"/>
          </p:cNvCxnSpPr>
          <p:nvPr/>
        </p:nvCxnSpPr>
        <p:spPr>
          <a:xfrm>
            <a:off x="6562976" y="4620963"/>
            <a:ext cx="622200" cy="1800"/>
          </a:xfrm>
          <a:prstGeom prst="straightConnector1">
            <a:avLst/>
          </a:prstGeom>
          <a:noFill/>
          <a:ln w="9525" cap="flat" cmpd="sng">
            <a:solidFill>
              <a:schemeClr val="dk1"/>
            </a:solidFill>
            <a:prstDash val="solid"/>
            <a:round/>
            <a:headEnd type="none" w="med" len="med"/>
            <a:tailEnd type="triangle" w="med" len="med"/>
          </a:ln>
        </p:spPr>
      </p:cxnSp>
      <p:sp>
        <p:nvSpPr>
          <p:cNvPr id="1667" name="Google Shape;1667;p99"/>
          <p:cNvSpPr/>
          <p:nvPr/>
        </p:nvSpPr>
        <p:spPr>
          <a:xfrm>
            <a:off x="7117575" y="3343538"/>
            <a:ext cx="8745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ml_monitor.py</a:t>
            </a:r>
            <a:endParaRPr sz="900">
              <a:latin typeface="Didact Gothic"/>
              <a:ea typeface="Didact Gothic"/>
              <a:cs typeface="Didact Gothic"/>
              <a:sym typeface="Didact Gothic"/>
            </a:endParaRPr>
          </a:p>
        </p:txBody>
      </p:sp>
      <p:cxnSp>
        <p:nvCxnSpPr>
          <p:cNvPr id="1668" name="Google Shape;1668;p99"/>
          <p:cNvCxnSpPr>
            <a:stCxn id="1616" idx="4"/>
            <a:endCxn id="1667" idx="0"/>
          </p:cNvCxnSpPr>
          <p:nvPr/>
        </p:nvCxnSpPr>
        <p:spPr>
          <a:xfrm>
            <a:off x="5049285" y="1578436"/>
            <a:ext cx="2505600" cy="1765200"/>
          </a:xfrm>
          <a:prstGeom prst="bentConnector2">
            <a:avLst/>
          </a:prstGeom>
          <a:noFill/>
          <a:ln w="9525" cap="flat" cmpd="sng">
            <a:solidFill>
              <a:srgbClr val="6AA84F"/>
            </a:solidFill>
            <a:prstDash val="solid"/>
            <a:round/>
            <a:headEnd type="none" w="med" len="med"/>
            <a:tailEnd type="triangle" w="med" len="med"/>
          </a:ln>
        </p:spPr>
      </p:cxnSp>
      <p:cxnSp>
        <p:nvCxnSpPr>
          <p:cNvPr id="1669" name="Google Shape;1669;p99"/>
          <p:cNvCxnSpPr>
            <a:endCxn id="1667" idx="1"/>
          </p:cNvCxnSpPr>
          <p:nvPr/>
        </p:nvCxnSpPr>
        <p:spPr>
          <a:xfrm rot="10800000" flipH="1">
            <a:off x="5046675" y="3450488"/>
            <a:ext cx="2070900" cy="12900"/>
          </a:xfrm>
          <a:prstGeom prst="straightConnector1">
            <a:avLst/>
          </a:prstGeom>
          <a:noFill/>
          <a:ln w="9525" cap="flat" cmpd="sng">
            <a:solidFill>
              <a:srgbClr val="6AA84F"/>
            </a:solidFill>
            <a:prstDash val="solid"/>
            <a:round/>
            <a:headEnd type="none" w="med" len="med"/>
            <a:tailEnd type="triangle" w="med" len="med"/>
          </a:ln>
        </p:spPr>
      </p:cxnSp>
      <p:cxnSp>
        <p:nvCxnSpPr>
          <p:cNvPr id="1670" name="Google Shape;1670;p99"/>
          <p:cNvCxnSpPr>
            <a:stCxn id="1667" idx="2"/>
            <a:endCxn id="1644" idx="4"/>
          </p:cNvCxnSpPr>
          <p:nvPr/>
        </p:nvCxnSpPr>
        <p:spPr>
          <a:xfrm rot="5400000">
            <a:off x="6122925" y="2479838"/>
            <a:ext cx="354300" cy="2509500"/>
          </a:xfrm>
          <a:prstGeom prst="bentConnector2">
            <a:avLst/>
          </a:prstGeom>
          <a:noFill/>
          <a:ln w="9525" cap="flat" cmpd="sng">
            <a:solidFill>
              <a:srgbClr val="6AA84F"/>
            </a:solidFill>
            <a:prstDash val="solid"/>
            <a:round/>
            <a:headEnd type="none" w="med" len="med"/>
            <a:tailEnd type="triangle" w="med" len="med"/>
          </a:ln>
        </p:spPr>
      </p:cxnSp>
      <p:cxnSp>
        <p:nvCxnSpPr>
          <p:cNvPr id="1671" name="Google Shape;1671;p99"/>
          <p:cNvCxnSpPr>
            <a:endCxn id="1630" idx="0"/>
          </p:cNvCxnSpPr>
          <p:nvPr/>
        </p:nvCxnSpPr>
        <p:spPr>
          <a:xfrm>
            <a:off x="5046814" y="4028975"/>
            <a:ext cx="2508000" cy="252600"/>
          </a:xfrm>
          <a:prstGeom prst="bentConnector2">
            <a:avLst/>
          </a:prstGeom>
          <a:noFill/>
          <a:ln w="9525" cap="flat" cmpd="sng">
            <a:solidFill>
              <a:srgbClr val="6AA84F"/>
            </a:solidFill>
            <a:prstDash val="solid"/>
            <a:round/>
            <a:headEnd type="none" w="med" len="med"/>
            <a:tailEnd type="triangle" w="med" len="med"/>
          </a:ln>
        </p:spPr>
      </p:cxnSp>
      <p:cxnSp>
        <p:nvCxnSpPr>
          <p:cNvPr id="1672" name="Google Shape;1672;p99"/>
          <p:cNvCxnSpPr>
            <a:stCxn id="1650" idx="0"/>
            <a:endCxn id="1628" idx="2"/>
          </p:cNvCxnSpPr>
          <p:nvPr/>
        </p:nvCxnSpPr>
        <p:spPr>
          <a:xfrm rot="10800000" flipH="1">
            <a:off x="1854955" y="3752075"/>
            <a:ext cx="2400" cy="696600"/>
          </a:xfrm>
          <a:prstGeom prst="straightConnector1">
            <a:avLst/>
          </a:prstGeom>
          <a:noFill/>
          <a:ln w="9525" cap="flat" cmpd="sng">
            <a:solidFill>
              <a:srgbClr val="0000FF"/>
            </a:solidFill>
            <a:prstDash val="solid"/>
            <a:round/>
            <a:headEnd type="none" w="med" len="med"/>
            <a:tailEnd type="triangle" w="med" len="med"/>
          </a:ln>
        </p:spPr>
      </p:cxnSp>
      <p:grpSp>
        <p:nvGrpSpPr>
          <p:cNvPr id="1673" name="Google Shape;1673;p99"/>
          <p:cNvGrpSpPr/>
          <p:nvPr/>
        </p:nvGrpSpPr>
        <p:grpSpPr>
          <a:xfrm>
            <a:off x="3317043" y="3727660"/>
            <a:ext cx="697800" cy="471367"/>
            <a:chOff x="1543350" y="1839908"/>
            <a:chExt cx="697800" cy="471367"/>
          </a:xfrm>
        </p:grpSpPr>
        <p:sp>
          <p:nvSpPr>
            <p:cNvPr id="1674" name="Google Shape;1674;p99"/>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675" name="Google Shape;1675;p99"/>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676" name="Google Shape;1676;p99"/>
          <p:cNvSpPr/>
          <p:nvPr/>
        </p:nvSpPr>
        <p:spPr>
          <a:xfrm>
            <a:off x="2858249" y="3843350"/>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677" name="Google Shape;1677;p99"/>
          <p:cNvCxnSpPr>
            <a:endCxn id="1676" idx="1"/>
          </p:cNvCxnSpPr>
          <p:nvPr/>
        </p:nvCxnSpPr>
        <p:spPr>
          <a:xfrm>
            <a:off x="2611949" y="3963350"/>
            <a:ext cx="246300" cy="0"/>
          </a:xfrm>
          <a:prstGeom prst="straightConnector1">
            <a:avLst/>
          </a:prstGeom>
          <a:noFill/>
          <a:ln w="9525" cap="flat" cmpd="sng">
            <a:solidFill>
              <a:srgbClr val="0000FF"/>
            </a:solidFill>
            <a:prstDash val="solid"/>
            <a:round/>
            <a:headEnd type="none" w="med" len="med"/>
            <a:tailEnd type="triangle" w="med" len="med"/>
          </a:ln>
        </p:spPr>
      </p:cxnSp>
      <p:grpSp>
        <p:nvGrpSpPr>
          <p:cNvPr id="1678" name="Google Shape;1678;p99"/>
          <p:cNvGrpSpPr/>
          <p:nvPr/>
        </p:nvGrpSpPr>
        <p:grpSpPr>
          <a:xfrm>
            <a:off x="4470905" y="4356813"/>
            <a:ext cx="874500" cy="485914"/>
            <a:chOff x="4118269" y="1292336"/>
            <a:chExt cx="874500" cy="485914"/>
          </a:xfrm>
        </p:grpSpPr>
        <p:sp>
          <p:nvSpPr>
            <p:cNvPr id="1679" name="Google Shape;1679;p99"/>
            <p:cNvSpPr txBox="1"/>
            <p:nvPr/>
          </p:nvSpPr>
          <p:spPr>
            <a:xfrm>
              <a:off x="4118269" y="15382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latin typeface="Didact Gothic"/>
                <a:ea typeface="Didact Gothic"/>
                <a:cs typeface="Didact Gothic"/>
                <a:sym typeface="Didact Gothic"/>
              </a:endParaRPr>
            </a:p>
          </p:txBody>
        </p:sp>
        <p:sp>
          <p:nvSpPr>
            <p:cNvPr id="1680" name="Google Shape;1680;p99"/>
            <p:cNvSpPr/>
            <p:nvPr/>
          </p:nvSpPr>
          <p:spPr>
            <a:xfrm>
              <a:off x="4418380" y="12923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681" name="Google Shape;1681;p99"/>
          <p:cNvCxnSpPr>
            <a:stCxn id="1676" idx="2"/>
            <a:endCxn id="1654" idx="0"/>
          </p:cNvCxnSpPr>
          <p:nvPr/>
        </p:nvCxnSpPr>
        <p:spPr>
          <a:xfrm flipH="1">
            <a:off x="3076499" y="4083350"/>
            <a:ext cx="1200" cy="180600"/>
          </a:xfrm>
          <a:prstGeom prst="straightConnector1">
            <a:avLst/>
          </a:prstGeom>
          <a:noFill/>
          <a:ln w="9525" cap="flat" cmpd="sng">
            <a:solidFill>
              <a:srgbClr val="0000FF"/>
            </a:solidFill>
            <a:prstDash val="solid"/>
            <a:round/>
            <a:headEnd type="none" w="med" len="med"/>
            <a:tailEnd type="triangle" w="med" len="med"/>
          </a:ln>
        </p:spPr>
      </p:cxnSp>
      <p:sp>
        <p:nvSpPr>
          <p:cNvPr id="1682" name="Google Shape;1682;p99"/>
          <p:cNvSpPr/>
          <p:nvPr/>
        </p:nvSpPr>
        <p:spPr>
          <a:xfrm>
            <a:off x="4045123" y="4687762"/>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683" name="Google Shape;1683;p99"/>
          <p:cNvCxnSpPr>
            <a:stCxn id="1657" idx="2"/>
            <a:endCxn id="1682" idx="0"/>
          </p:cNvCxnSpPr>
          <p:nvPr/>
        </p:nvCxnSpPr>
        <p:spPr>
          <a:xfrm>
            <a:off x="4261233" y="4513588"/>
            <a:ext cx="3300" cy="174300"/>
          </a:xfrm>
          <a:prstGeom prst="straightConnector1">
            <a:avLst/>
          </a:prstGeom>
          <a:noFill/>
          <a:ln w="9525" cap="flat" cmpd="sng">
            <a:solidFill>
              <a:srgbClr val="0000FF"/>
            </a:solidFill>
            <a:prstDash val="solid"/>
            <a:round/>
            <a:headEnd type="none" w="med" len="med"/>
            <a:tailEnd type="triangle" w="med" len="med"/>
          </a:ln>
        </p:spPr>
      </p:cxnSp>
      <p:sp>
        <p:nvSpPr>
          <p:cNvPr id="1684" name="Google Shape;1684;p99"/>
          <p:cNvSpPr/>
          <p:nvPr/>
        </p:nvSpPr>
        <p:spPr>
          <a:xfrm>
            <a:off x="2850632" y="4681600"/>
            <a:ext cx="438900" cy="2523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685" name="Google Shape;1685;p99"/>
          <p:cNvCxnSpPr>
            <a:stCxn id="1654" idx="2"/>
            <a:endCxn id="1684" idx="0"/>
          </p:cNvCxnSpPr>
          <p:nvPr/>
        </p:nvCxnSpPr>
        <p:spPr>
          <a:xfrm flipH="1">
            <a:off x="3070224" y="4518861"/>
            <a:ext cx="6300" cy="162600"/>
          </a:xfrm>
          <a:prstGeom prst="straightConnector1">
            <a:avLst/>
          </a:prstGeom>
          <a:noFill/>
          <a:ln w="9525" cap="flat" cmpd="sng">
            <a:solidFill>
              <a:srgbClr val="0000FF"/>
            </a:solidFill>
            <a:prstDash val="solid"/>
            <a:round/>
            <a:headEnd type="none" w="med" len="med"/>
            <a:tailEnd type="triangle" w="med" len="med"/>
          </a:ln>
        </p:spPr>
      </p:cxnSp>
      <p:cxnSp>
        <p:nvCxnSpPr>
          <p:cNvPr id="1686" name="Google Shape;1686;p99"/>
          <p:cNvCxnSpPr>
            <a:stCxn id="1684" idx="3"/>
            <a:endCxn id="1675" idx="2"/>
          </p:cNvCxnSpPr>
          <p:nvPr/>
        </p:nvCxnSpPr>
        <p:spPr>
          <a:xfrm rot="10800000" flipH="1">
            <a:off x="3289532" y="3892150"/>
            <a:ext cx="239400" cy="915600"/>
          </a:xfrm>
          <a:prstGeom prst="bentConnector3">
            <a:avLst>
              <a:gd name="adj1" fmla="val 49973"/>
            </a:avLst>
          </a:prstGeom>
          <a:noFill/>
          <a:ln w="9525" cap="flat" cmpd="sng">
            <a:solidFill>
              <a:srgbClr val="0000FF"/>
            </a:solidFill>
            <a:prstDash val="solid"/>
            <a:round/>
            <a:headEnd type="none" w="med" len="med"/>
            <a:tailEnd type="triangle" w="med" len="med"/>
          </a:ln>
        </p:spPr>
      </p:cxnSp>
      <p:cxnSp>
        <p:nvCxnSpPr>
          <p:cNvPr id="1687" name="Google Shape;1687;p99"/>
          <p:cNvCxnSpPr>
            <a:stCxn id="1682" idx="3"/>
            <a:endCxn id="1680" idx="2"/>
          </p:cNvCxnSpPr>
          <p:nvPr/>
        </p:nvCxnSpPr>
        <p:spPr>
          <a:xfrm rot="10800000" flipH="1">
            <a:off x="4484023" y="4521262"/>
            <a:ext cx="287100" cy="286500"/>
          </a:xfrm>
          <a:prstGeom prst="bentConnector3">
            <a:avLst>
              <a:gd name="adj1" fmla="val 49981"/>
            </a:avLst>
          </a:prstGeom>
          <a:noFill/>
          <a:ln w="9525" cap="flat" cmpd="sng">
            <a:solidFill>
              <a:srgbClr val="0000FF"/>
            </a:solidFill>
            <a:prstDash val="solid"/>
            <a:round/>
            <a:headEnd type="none" w="med" len="med"/>
            <a:tailEnd type="triangle" w="med" len="med"/>
          </a:ln>
        </p:spPr>
      </p:cxnSp>
      <p:cxnSp>
        <p:nvCxnSpPr>
          <p:cNvPr id="1688" name="Google Shape;1688;p99"/>
          <p:cNvCxnSpPr/>
          <p:nvPr/>
        </p:nvCxnSpPr>
        <p:spPr>
          <a:xfrm>
            <a:off x="3810248" y="3963350"/>
            <a:ext cx="246300" cy="0"/>
          </a:xfrm>
          <a:prstGeom prst="straightConnector1">
            <a:avLst/>
          </a:prstGeom>
          <a:noFill/>
          <a:ln w="9525" cap="flat" cmpd="sng">
            <a:solidFill>
              <a:srgbClr val="0000FF"/>
            </a:solidFill>
            <a:prstDash val="solid"/>
            <a:round/>
            <a:headEnd type="none" w="med" len="med"/>
            <a:tailEnd type="triangle" w="med" len="med"/>
          </a:ln>
        </p:spPr>
      </p:cxnSp>
      <p:sp>
        <p:nvSpPr>
          <p:cNvPr id="1689" name="Google Shape;1689;p99"/>
          <p:cNvSpPr txBox="1"/>
          <p:nvPr/>
        </p:nvSpPr>
        <p:spPr>
          <a:xfrm>
            <a:off x="6980825" y="341075"/>
            <a:ext cx="2070900" cy="954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Poppins"/>
                <a:ea typeface="Poppins"/>
                <a:cs typeface="Poppins"/>
                <a:sym typeface="Poppins"/>
              </a:rPr>
              <a:t>→       Batches </a:t>
            </a:r>
            <a:endParaRPr sz="1000">
              <a:latin typeface="Poppins"/>
              <a:ea typeface="Poppins"/>
              <a:cs typeface="Poppins"/>
              <a:sym typeface="Poppins"/>
            </a:endParaRPr>
          </a:p>
          <a:p>
            <a:pPr marL="0" lvl="0" indent="0" algn="l" rtl="0">
              <a:spcBef>
                <a:spcPts val="0"/>
              </a:spcBef>
              <a:spcAft>
                <a:spcPts val="0"/>
              </a:spcAft>
              <a:buNone/>
            </a:pPr>
            <a:r>
              <a:rPr lang="en" sz="1000">
                <a:solidFill>
                  <a:srgbClr val="0000FF"/>
                </a:solidFill>
                <a:latin typeface="Poppins"/>
                <a:ea typeface="Poppins"/>
                <a:cs typeface="Poppins"/>
                <a:sym typeface="Poppins"/>
              </a:rPr>
              <a:t>→       Real-Time Feature Flow</a:t>
            </a:r>
            <a:endParaRPr sz="1000">
              <a:solidFill>
                <a:srgbClr val="0000FF"/>
              </a:solidFill>
              <a:latin typeface="Poppins"/>
              <a:ea typeface="Poppins"/>
              <a:cs typeface="Poppins"/>
              <a:sym typeface="Poppins"/>
            </a:endParaRPr>
          </a:p>
          <a:p>
            <a:pPr marL="0" lvl="0" indent="0" algn="l" rtl="0">
              <a:spcBef>
                <a:spcPts val="0"/>
              </a:spcBef>
              <a:spcAft>
                <a:spcPts val="0"/>
              </a:spcAft>
              <a:buNone/>
            </a:pPr>
            <a:r>
              <a:rPr lang="en" sz="1000">
                <a:solidFill>
                  <a:srgbClr val="A9283B"/>
                </a:solidFill>
                <a:latin typeface="Poppins"/>
                <a:ea typeface="Poppins"/>
                <a:cs typeface="Poppins"/>
                <a:sym typeface="Poppins"/>
              </a:rPr>
              <a:t>→       Real-Time Predictions</a:t>
            </a:r>
            <a:endParaRPr sz="1000">
              <a:solidFill>
                <a:srgbClr val="A9283B"/>
              </a:solidFill>
              <a:latin typeface="Poppins"/>
              <a:ea typeface="Poppins"/>
              <a:cs typeface="Poppins"/>
              <a:sym typeface="Poppins"/>
            </a:endParaRPr>
          </a:p>
          <a:p>
            <a:pPr marL="0" lvl="0" indent="0" algn="l" rtl="0">
              <a:spcBef>
                <a:spcPts val="0"/>
              </a:spcBef>
              <a:spcAft>
                <a:spcPts val="0"/>
              </a:spcAft>
              <a:buNone/>
            </a:pPr>
            <a:r>
              <a:rPr lang="en" sz="1000">
                <a:solidFill>
                  <a:srgbClr val="93C47D"/>
                </a:solidFill>
                <a:latin typeface="Poppins"/>
                <a:ea typeface="Poppins"/>
                <a:cs typeface="Poppins"/>
                <a:sym typeface="Poppins"/>
              </a:rPr>
              <a:t>→       Monitoring</a:t>
            </a:r>
            <a:endParaRPr sz="1000">
              <a:solidFill>
                <a:srgbClr val="93C47D"/>
              </a:solidFill>
              <a:latin typeface="Poppins"/>
              <a:ea typeface="Poppins"/>
              <a:cs typeface="Poppins"/>
              <a:sym typeface="Poppins"/>
            </a:endParaRPr>
          </a:p>
          <a:p>
            <a:pPr marL="0" lvl="0" indent="0" algn="l" rtl="0">
              <a:spcBef>
                <a:spcPts val="0"/>
              </a:spcBef>
              <a:spcAft>
                <a:spcPts val="0"/>
              </a:spcAft>
              <a:buNone/>
            </a:pPr>
            <a:r>
              <a:rPr lang="en" sz="1000">
                <a:solidFill>
                  <a:schemeClr val="dk1"/>
                </a:solidFill>
                <a:latin typeface="Poppins"/>
                <a:ea typeface="Poppins"/>
                <a:cs typeface="Poppins"/>
                <a:sym typeface="Poppins"/>
              </a:rPr>
              <a:t>sETL   Streaming ETL </a:t>
            </a:r>
            <a:endParaRPr sz="1000">
              <a:solidFill>
                <a:schemeClr val="dk1"/>
              </a:solidFill>
              <a:latin typeface="Poppins"/>
              <a:ea typeface="Poppins"/>
              <a:cs typeface="Poppins"/>
              <a:sym typeface="Poppins"/>
            </a:endParaRPr>
          </a:p>
        </p:txBody>
      </p:sp>
      <p:sp>
        <p:nvSpPr>
          <p:cNvPr id="1690" name="Google Shape;1690;p99"/>
          <p:cNvSpPr txBox="1">
            <a:spLocks noGrp="1"/>
          </p:cNvSpPr>
          <p:nvPr>
            <p:ph type="title"/>
          </p:nvPr>
        </p:nvSpPr>
        <p:spPr>
          <a:xfrm>
            <a:off x="273500" y="539500"/>
            <a:ext cx="6761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Real-time Model Inference (Kafka)</a:t>
            </a:r>
            <a:endParaRPr/>
          </a:p>
        </p:txBody>
      </p:sp>
      <p:pic>
        <p:nvPicPr>
          <p:cNvPr id="1660" name="Google Shape;1660;p99"/>
          <p:cNvPicPr preferRelativeResize="0"/>
          <p:nvPr/>
        </p:nvPicPr>
        <p:blipFill>
          <a:blip r:embed="rId3">
            <a:alphaModFix/>
          </a:blip>
          <a:stretch>
            <a:fillRect/>
          </a:stretch>
        </p:blipFill>
        <p:spPr>
          <a:xfrm>
            <a:off x="5571165" y="4393226"/>
            <a:ext cx="255000" cy="255000"/>
          </a:xfrm>
          <a:prstGeom prst="rect">
            <a:avLst/>
          </a:prstGeom>
          <a:noFill/>
          <a:ln>
            <a:noFill/>
          </a:ln>
        </p:spPr>
      </p:pic>
      <p:cxnSp>
        <p:nvCxnSpPr>
          <p:cNvPr id="1691" name="Google Shape;1691;p99"/>
          <p:cNvCxnSpPr>
            <a:stCxn id="1680" idx="4"/>
            <a:endCxn id="1660" idx="1"/>
          </p:cNvCxnSpPr>
          <p:nvPr/>
        </p:nvCxnSpPr>
        <p:spPr>
          <a:xfrm rot="10800000" flipH="1">
            <a:off x="5045294" y="4520776"/>
            <a:ext cx="525900" cy="600"/>
          </a:xfrm>
          <a:prstGeom prst="straightConnector1">
            <a:avLst/>
          </a:prstGeom>
          <a:noFill/>
          <a:ln w="9525" cap="flat" cmpd="sng">
            <a:solidFill>
              <a:srgbClr val="A9283B"/>
            </a:solidFill>
            <a:prstDash val="solid"/>
            <a:round/>
            <a:headEnd type="none" w="med" len="med"/>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5"/>
        <p:cNvGrpSpPr/>
        <p:nvPr/>
      </p:nvGrpSpPr>
      <p:grpSpPr>
        <a:xfrm>
          <a:off x="0" y="0"/>
          <a:ext cx="0" cy="0"/>
          <a:chOff x="0" y="0"/>
          <a:chExt cx="0" cy="0"/>
        </a:xfrm>
      </p:grpSpPr>
      <p:sp>
        <p:nvSpPr>
          <p:cNvPr id="1696" name="Google Shape;1696;p100"/>
          <p:cNvSpPr/>
          <p:nvPr/>
        </p:nvSpPr>
        <p:spPr>
          <a:xfrm>
            <a:off x="2155363" y="1168850"/>
            <a:ext cx="652200" cy="3064500"/>
          </a:xfrm>
          <a:prstGeom prst="rect">
            <a:avLst/>
          </a:prstGeom>
          <a:solidFill>
            <a:srgbClr val="BF9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697" name="Google Shape;1697;p100"/>
          <p:cNvGrpSpPr/>
          <p:nvPr/>
        </p:nvGrpSpPr>
        <p:grpSpPr>
          <a:xfrm>
            <a:off x="2121618" y="3217246"/>
            <a:ext cx="697800" cy="466476"/>
            <a:chOff x="1543350" y="1338491"/>
            <a:chExt cx="697800" cy="466476"/>
          </a:xfrm>
        </p:grpSpPr>
        <p:sp>
          <p:nvSpPr>
            <p:cNvPr id="1698" name="Google Shape;1698;p100"/>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699" name="Google Shape;1699;p100"/>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00" name="Google Shape;1700;p100"/>
          <p:cNvGrpSpPr/>
          <p:nvPr/>
        </p:nvGrpSpPr>
        <p:grpSpPr>
          <a:xfrm>
            <a:off x="2121618" y="3728551"/>
            <a:ext cx="697800" cy="471367"/>
            <a:chOff x="1543350" y="1839908"/>
            <a:chExt cx="697800" cy="471367"/>
          </a:xfrm>
        </p:grpSpPr>
        <p:sp>
          <p:nvSpPr>
            <p:cNvPr id="1701" name="Google Shape;1701;p100"/>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event</a:t>
              </a:r>
              <a:endParaRPr sz="900">
                <a:solidFill>
                  <a:srgbClr val="000000"/>
                </a:solidFill>
                <a:latin typeface="Didact Gothic"/>
                <a:ea typeface="Didact Gothic"/>
                <a:cs typeface="Didact Gothic"/>
                <a:sym typeface="Didact Gothic"/>
              </a:endParaRPr>
            </a:p>
          </p:txBody>
        </p:sp>
        <p:sp>
          <p:nvSpPr>
            <p:cNvPr id="1702" name="Google Shape;1702;p100"/>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703" name="Google Shape;1703;p100"/>
          <p:cNvSpPr/>
          <p:nvPr/>
        </p:nvSpPr>
        <p:spPr>
          <a:xfrm>
            <a:off x="1605224" y="3454525"/>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704" name="Google Shape;1704;p100"/>
          <p:cNvCxnSpPr>
            <a:stCxn id="1703" idx="3"/>
            <a:endCxn id="1699" idx="2"/>
          </p:cNvCxnSpPr>
          <p:nvPr/>
        </p:nvCxnSpPr>
        <p:spPr>
          <a:xfrm rot="10800000" flipH="1">
            <a:off x="2044124" y="3381925"/>
            <a:ext cx="289200" cy="192600"/>
          </a:xfrm>
          <a:prstGeom prst="bentConnector3">
            <a:avLst>
              <a:gd name="adj1" fmla="val 50010"/>
            </a:avLst>
          </a:prstGeom>
          <a:noFill/>
          <a:ln w="9525" cap="flat" cmpd="sng">
            <a:solidFill>
              <a:srgbClr val="0000FF"/>
            </a:solidFill>
            <a:prstDash val="solid"/>
            <a:round/>
            <a:headEnd type="none" w="med" len="med"/>
            <a:tailEnd type="triangle" w="med" len="med"/>
          </a:ln>
        </p:spPr>
      </p:cxnSp>
      <p:cxnSp>
        <p:nvCxnSpPr>
          <p:cNvPr id="1705" name="Google Shape;1705;p100"/>
          <p:cNvCxnSpPr>
            <a:stCxn id="1703" idx="3"/>
            <a:endCxn id="1702" idx="2"/>
          </p:cNvCxnSpPr>
          <p:nvPr/>
        </p:nvCxnSpPr>
        <p:spPr>
          <a:xfrm>
            <a:off x="2044124" y="3574525"/>
            <a:ext cx="289200" cy="318600"/>
          </a:xfrm>
          <a:prstGeom prst="bentConnector3">
            <a:avLst>
              <a:gd name="adj1" fmla="val 50010"/>
            </a:avLst>
          </a:prstGeom>
          <a:noFill/>
          <a:ln w="9525" cap="flat" cmpd="sng">
            <a:solidFill>
              <a:srgbClr val="0000FF"/>
            </a:solidFill>
            <a:prstDash val="solid"/>
            <a:round/>
            <a:headEnd type="none" w="med" len="med"/>
            <a:tailEnd type="triangle" w="med" len="med"/>
          </a:ln>
        </p:spPr>
      </p:cxnSp>
      <p:sp>
        <p:nvSpPr>
          <p:cNvPr id="1706" name="Google Shape;1706;p100"/>
          <p:cNvSpPr/>
          <p:nvPr/>
        </p:nvSpPr>
        <p:spPr>
          <a:xfrm>
            <a:off x="4563250" y="1168850"/>
            <a:ext cx="652200" cy="3837000"/>
          </a:xfrm>
          <a:prstGeom prst="rect">
            <a:avLst/>
          </a:prstGeom>
          <a:solidFill>
            <a:srgbClr val="F2D63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707" name="Google Shape;1707;p100"/>
          <p:cNvSpPr/>
          <p:nvPr/>
        </p:nvSpPr>
        <p:spPr>
          <a:xfrm>
            <a:off x="3347796" y="1168850"/>
            <a:ext cx="652200" cy="3064500"/>
          </a:xfrm>
          <a:prstGeom prst="rect">
            <a:avLst/>
          </a:prstGeom>
          <a:solidFill>
            <a:srgbClr val="9FA0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1708" name="Google Shape;1708;p100"/>
          <p:cNvGrpSpPr/>
          <p:nvPr/>
        </p:nvGrpSpPr>
        <p:grpSpPr>
          <a:xfrm>
            <a:off x="2121618" y="1413870"/>
            <a:ext cx="697800" cy="466476"/>
            <a:chOff x="1543350" y="1338491"/>
            <a:chExt cx="697800" cy="466476"/>
          </a:xfrm>
        </p:grpSpPr>
        <p:sp>
          <p:nvSpPr>
            <p:cNvPr id="1709" name="Google Shape;1709;p100"/>
            <p:cNvSpPr txBox="1"/>
            <p:nvPr/>
          </p:nvSpPr>
          <p:spPr>
            <a:xfrm>
              <a:off x="1543350"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710" name="Google Shape;1710;p100"/>
            <p:cNvSpPr/>
            <p:nvPr/>
          </p:nvSpPr>
          <p:spPr>
            <a:xfrm>
              <a:off x="1755111"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11" name="Google Shape;1711;p100"/>
          <p:cNvGrpSpPr/>
          <p:nvPr/>
        </p:nvGrpSpPr>
        <p:grpSpPr>
          <a:xfrm>
            <a:off x="2121618" y="1915287"/>
            <a:ext cx="697800" cy="471367"/>
            <a:chOff x="1543350" y="1839908"/>
            <a:chExt cx="697800" cy="471367"/>
          </a:xfrm>
        </p:grpSpPr>
        <p:sp>
          <p:nvSpPr>
            <p:cNvPr id="1712" name="Google Shape;1712;p100"/>
            <p:cNvSpPr txBox="1"/>
            <p:nvPr/>
          </p:nvSpPr>
          <p:spPr>
            <a:xfrm>
              <a:off x="1543350"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713" name="Google Shape;1713;p100"/>
            <p:cNvSpPr/>
            <p:nvPr/>
          </p:nvSpPr>
          <p:spPr>
            <a:xfrm>
              <a:off x="1755111"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14" name="Google Shape;1714;p100"/>
          <p:cNvGrpSpPr/>
          <p:nvPr/>
        </p:nvGrpSpPr>
        <p:grpSpPr>
          <a:xfrm>
            <a:off x="1887018" y="2416688"/>
            <a:ext cx="1167000" cy="644545"/>
            <a:chOff x="1308750" y="2341309"/>
            <a:chExt cx="1167000" cy="644545"/>
          </a:xfrm>
        </p:grpSpPr>
        <p:sp>
          <p:nvSpPr>
            <p:cNvPr id="1715" name="Google Shape;1715;p100"/>
            <p:cNvSpPr txBox="1"/>
            <p:nvPr/>
          </p:nvSpPr>
          <p:spPr>
            <a:xfrm>
              <a:off x="1308750" y="2596753"/>
              <a:ext cx="1167000" cy="389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716" name="Google Shape;1716;p100"/>
            <p:cNvSpPr/>
            <p:nvPr/>
          </p:nvSpPr>
          <p:spPr>
            <a:xfrm>
              <a:off x="1755111"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17" name="Google Shape;1717;p100"/>
          <p:cNvGrpSpPr/>
          <p:nvPr/>
        </p:nvGrpSpPr>
        <p:grpSpPr>
          <a:xfrm>
            <a:off x="3317043" y="1413870"/>
            <a:ext cx="697800" cy="466476"/>
            <a:chOff x="3151806" y="1338491"/>
            <a:chExt cx="697800" cy="466476"/>
          </a:xfrm>
        </p:grpSpPr>
        <p:sp>
          <p:nvSpPr>
            <p:cNvPr id="1718" name="Google Shape;1718;p100"/>
            <p:cNvSpPr txBox="1"/>
            <p:nvPr/>
          </p:nvSpPr>
          <p:spPr>
            <a:xfrm>
              <a:off x="3151806" y="1564967"/>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user</a:t>
              </a:r>
              <a:endParaRPr sz="900">
                <a:solidFill>
                  <a:srgbClr val="000000"/>
                </a:solidFill>
                <a:latin typeface="Didact Gothic"/>
                <a:ea typeface="Didact Gothic"/>
                <a:cs typeface="Didact Gothic"/>
                <a:sym typeface="Didact Gothic"/>
              </a:endParaRPr>
            </a:p>
          </p:txBody>
        </p:sp>
        <p:sp>
          <p:nvSpPr>
            <p:cNvPr id="1719" name="Google Shape;1719;p100"/>
            <p:cNvSpPr/>
            <p:nvPr/>
          </p:nvSpPr>
          <p:spPr>
            <a:xfrm>
              <a:off x="3363567" y="1338491"/>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20" name="Google Shape;1720;p100"/>
          <p:cNvGrpSpPr/>
          <p:nvPr/>
        </p:nvGrpSpPr>
        <p:grpSpPr>
          <a:xfrm>
            <a:off x="3317043" y="1915287"/>
            <a:ext cx="697800" cy="471367"/>
            <a:chOff x="3151806" y="1839908"/>
            <a:chExt cx="697800" cy="471367"/>
          </a:xfrm>
        </p:grpSpPr>
        <p:sp>
          <p:nvSpPr>
            <p:cNvPr id="1721" name="Google Shape;1721;p100"/>
            <p:cNvSpPr txBox="1"/>
            <p:nvPr/>
          </p:nvSpPr>
          <p:spPr>
            <a:xfrm>
              <a:off x="3151806" y="2071275"/>
              <a:ext cx="6978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solidFill>
                    <a:srgbClr val="000000"/>
                  </a:solidFill>
                  <a:latin typeface="Didact Gothic"/>
                  <a:ea typeface="Didact Gothic"/>
                  <a:cs typeface="Didact Gothic"/>
                  <a:sym typeface="Didact Gothic"/>
                </a:rPr>
                <a:t>room</a:t>
              </a:r>
              <a:endParaRPr sz="900">
                <a:solidFill>
                  <a:srgbClr val="000000"/>
                </a:solidFill>
                <a:latin typeface="Didact Gothic"/>
                <a:ea typeface="Didact Gothic"/>
                <a:cs typeface="Didact Gothic"/>
                <a:sym typeface="Didact Gothic"/>
              </a:endParaRPr>
            </a:p>
          </p:txBody>
        </p:sp>
        <p:sp>
          <p:nvSpPr>
            <p:cNvPr id="1722" name="Google Shape;1722;p100"/>
            <p:cNvSpPr/>
            <p:nvPr/>
          </p:nvSpPr>
          <p:spPr>
            <a:xfrm>
              <a:off x="3363567" y="183990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23" name="Google Shape;1723;p100"/>
          <p:cNvGrpSpPr/>
          <p:nvPr/>
        </p:nvGrpSpPr>
        <p:grpSpPr>
          <a:xfrm>
            <a:off x="3082443" y="2416688"/>
            <a:ext cx="1167000" cy="607945"/>
            <a:chOff x="2917206" y="2341309"/>
            <a:chExt cx="1167000" cy="607945"/>
          </a:xfrm>
        </p:grpSpPr>
        <p:sp>
          <p:nvSpPr>
            <p:cNvPr id="1724" name="Google Shape;1724;p100"/>
            <p:cNvSpPr txBox="1"/>
            <p:nvPr/>
          </p:nvSpPr>
          <p:spPr>
            <a:xfrm>
              <a:off x="2917206" y="2633353"/>
              <a:ext cx="1167000" cy="31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like, gift,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comment</a:t>
              </a:r>
              <a:endParaRPr sz="900">
                <a:latin typeface="Didact Gothic"/>
                <a:ea typeface="Didact Gothic"/>
                <a:cs typeface="Didact Gothic"/>
                <a:sym typeface="Didact Gothic"/>
              </a:endParaRPr>
            </a:p>
          </p:txBody>
        </p:sp>
        <p:sp>
          <p:nvSpPr>
            <p:cNvPr id="1725" name="Google Shape;1725;p100"/>
            <p:cNvSpPr/>
            <p:nvPr/>
          </p:nvSpPr>
          <p:spPr>
            <a:xfrm>
              <a:off x="3363567" y="2341309"/>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26" name="Google Shape;1726;p100"/>
          <p:cNvGrpSpPr/>
          <p:nvPr/>
        </p:nvGrpSpPr>
        <p:grpSpPr>
          <a:xfrm>
            <a:off x="4474896" y="1413873"/>
            <a:ext cx="874500" cy="486902"/>
            <a:chOff x="4118269" y="1397498"/>
            <a:chExt cx="874500" cy="486902"/>
          </a:xfrm>
        </p:grpSpPr>
        <p:sp>
          <p:nvSpPr>
            <p:cNvPr id="1727" name="Google Shape;1727;p100"/>
            <p:cNvSpPr txBox="1"/>
            <p:nvPr/>
          </p:nvSpPr>
          <p:spPr>
            <a:xfrm>
              <a:off x="4118269" y="164440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label</a:t>
              </a:r>
              <a:endParaRPr sz="900">
                <a:solidFill>
                  <a:srgbClr val="000000"/>
                </a:solidFill>
                <a:latin typeface="Didact Gothic"/>
                <a:ea typeface="Didact Gothic"/>
                <a:cs typeface="Didact Gothic"/>
                <a:sym typeface="Didact Gothic"/>
              </a:endParaRPr>
            </a:p>
          </p:txBody>
        </p:sp>
        <p:sp>
          <p:nvSpPr>
            <p:cNvPr id="1728" name="Google Shape;1728;p100"/>
            <p:cNvSpPr/>
            <p:nvPr/>
          </p:nvSpPr>
          <p:spPr>
            <a:xfrm>
              <a:off x="4418380" y="1397498"/>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29" name="Google Shape;1729;p100"/>
          <p:cNvGrpSpPr/>
          <p:nvPr/>
        </p:nvGrpSpPr>
        <p:grpSpPr>
          <a:xfrm>
            <a:off x="4464394" y="1916807"/>
            <a:ext cx="874500" cy="485914"/>
            <a:chOff x="4118269" y="1901936"/>
            <a:chExt cx="874500" cy="485914"/>
          </a:xfrm>
        </p:grpSpPr>
        <p:sp>
          <p:nvSpPr>
            <p:cNvPr id="1730" name="Google Shape;1730;p100"/>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static</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731" name="Google Shape;1731;p100"/>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732" name="Google Shape;1732;p100"/>
          <p:cNvSpPr txBox="1"/>
          <p:nvPr/>
        </p:nvSpPr>
        <p:spPr>
          <a:xfrm>
            <a:off x="2158683" y="1112208"/>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Bronze</a:t>
            </a:r>
            <a:endParaRPr sz="900" b="1">
              <a:solidFill>
                <a:srgbClr val="000000"/>
              </a:solidFill>
              <a:latin typeface="Didact Gothic"/>
              <a:ea typeface="Didact Gothic"/>
              <a:cs typeface="Didact Gothic"/>
              <a:sym typeface="Didact Gothic"/>
            </a:endParaRPr>
          </a:p>
        </p:txBody>
      </p:sp>
      <p:sp>
        <p:nvSpPr>
          <p:cNvPr id="1733" name="Google Shape;1733;p100"/>
          <p:cNvSpPr txBox="1"/>
          <p:nvPr/>
        </p:nvSpPr>
        <p:spPr>
          <a:xfrm>
            <a:off x="3360483"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solidFill>
                  <a:srgbClr val="000000"/>
                </a:solidFill>
                <a:latin typeface="Didact Gothic"/>
                <a:ea typeface="Didact Gothic"/>
                <a:cs typeface="Didact Gothic"/>
                <a:sym typeface="Didact Gothic"/>
              </a:rPr>
              <a:t>Silver</a:t>
            </a:r>
            <a:endParaRPr sz="900" b="1">
              <a:solidFill>
                <a:srgbClr val="000000"/>
              </a:solidFill>
              <a:latin typeface="Didact Gothic"/>
              <a:ea typeface="Didact Gothic"/>
              <a:cs typeface="Didact Gothic"/>
              <a:sym typeface="Didact Gothic"/>
            </a:endParaRPr>
          </a:p>
        </p:txBody>
      </p:sp>
      <p:sp>
        <p:nvSpPr>
          <p:cNvPr id="1734" name="Google Shape;1734;p100"/>
          <p:cNvSpPr/>
          <p:nvPr/>
        </p:nvSpPr>
        <p:spPr>
          <a:xfrm>
            <a:off x="7185214" y="4281575"/>
            <a:ext cx="739200" cy="682200"/>
          </a:xfrm>
          <a:prstGeom prst="ellipse">
            <a:avLst/>
          </a:prstGeom>
          <a:solidFill>
            <a:schemeClr val="accent1"/>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800">
                <a:latin typeface="Roboto"/>
                <a:ea typeface="Roboto"/>
                <a:cs typeface="Roboto"/>
                <a:sym typeface="Roboto"/>
              </a:rPr>
              <a:t>Dashboard</a:t>
            </a:r>
            <a:endParaRPr sz="800">
              <a:latin typeface="Roboto"/>
              <a:ea typeface="Roboto"/>
              <a:cs typeface="Roboto"/>
              <a:sym typeface="Roboto"/>
            </a:endParaRPr>
          </a:p>
        </p:txBody>
      </p:sp>
      <p:sp>
        <p:nvSpPr>
          <p:cNvPr id="1735" name="Google Shape;1735;p100"/>
          <p:cNvSpPr/>
          <p:nvPr/>
        </p:nvSpPr>
        <p:spPr>
          <a:xfrm>
            <a:off x="5746138" y="2716350"/>
            <a:ext cx="13203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ml_predict.py</a:t>
            </a:r>
            <a:endParaRPr sz="900">
              <a:latin typeface="Didact Gothic"/>
              <a:ea typeface="Didact Gothic"/>
              <a:cs typeface="Didact Gothic"/>
              <a:sym typeface="Didact Gothic"/>
            </a:endParaRPr>
          </a:p>
        </p:txBody>
      </p:sp>
      <p:sp>
        <p:nvSpPr>
          <p:cNvPr id="1736" name="Google Shape;1736;p100"/>
          <p:cNvSpPr/>
          <p:nvPr/>
        </p:nvSpPr>
        <p:spPr>
          <a:xfrm>
            <a:off x="6192301" y="2048420"/>
            <a:ext cx="320400" cy="324000"/>
          </a:xfrm>
          <a:prstGeom prst="cube">
            <a:avLst>
              <a:gd name="adj" fmla="val 25000"/>
            </a:avLst>
          </a:prstGeom>
          <a:solidFill>
            <a:srgbClr val="FCFDF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737" name="Google Shape;1737;p100"/>
          <p:cNvSpPr txBox="1"/>
          <p:nvPr/>
        </p:nvSpPr>
        <p:spPr>
          <a:xfrm>
            <a:off x="5590421" y="2015880"/>
            <a:ext cx="784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a:latin typeface="Didact Gothic"/>
                <a:ea typeface="Didact Gothic"/>
                <a:cs typeface="Didact Gothic"/>
                <a:sym typeface="Didact Gothic"/>
              </a:rPr>
              <a:t>model </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bank</a:t>
            </a:r>
            <a:endParaRPr sz="900">
              <a:solidFill>
                <a:srgbClr val="000000"/>
              </a:solidFill>
              <a:latin typeface="Didact Gothic"/>
              <a:ea typeface="Didact Gothic"/>
              <a:cs typeface="Didact Gothic"/>
              <a:sym typeface="Didact Gothic"/>
            </a:endParaRPr>
          </a:p>
        </p:txBody>
      </p:sp>
      <p:cxnSp>
        <p:nvCxnSpPr>
          <p:cNvPr id="1738" name="Google Shape;1738;p100"/>
          <p:cNvCxnSpPr/>
          <p:nvPr/>
        </p:nvCxnSpPr>
        <p:spPr>
          <a:xfrm>
            <a:off x="6381913" y="2374525"/>
            <a:ext cx="4800" cy="348000"/>
          </a:xfrm>
          <a:prstGeom prst="straightConnector1">
            <a:avLst/>
          </a:prstGeom>
          <a:noFill/>
          <a:ln w="9525" cap="flat" cmpd="sng">
            <a:solidFill>
              <a:srgbClr val="000000"/>
            </a:solidFill>
            <a:prstDash val="solid"/>
            <a:round/>
            <a:headEnd type="none" w="med" len="med"/>
            <a:tailEnd type="triangle" w="med" len="med"/>
          </a:ln>
        </p:spPr>
      </p:cxnSp>
      <p:sp>
        <p:nvSpPr>
          <p:cNvPr id="1739" name="Google Shape;1739;p100"/>
          <p:cNvSpPr txBox="1"/>
          <p:nvPr/>
        </p:nvSpPr>
        <p:spPr>
          <a:xfrm>
            <a:off x="4564228" y="1112204"/>
            <a:ext cx="652200" cy="32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900" b="1">
                <a:latin typeface="Didact Gothic"/>
                <a:ea typeface="Didact Gothic"/>
                <a:cs typeface="Didact Gothic"/>
                <a:sym typeface="Didact Gothic"/>
              </a:rPr>
              <a:t>Gold</a:t>
            </a:r>
            <a:endParaRPr sz="900" b="1">
              <a:solidFill>
                <a:srgbClr val="000000"/>
              </a:solidFill>
              <a:latin typeface="Didact Gothic"/>
              <a:ea typeface="Didact Gothic"/>
              <a:cs typeface="Didact Gothic"/>
              <a:sym typeface="Didact Gothic"/>
            </a:endParaRPr>
          </a:p>
        </p:txBody>
      </p:sp>
      <p:grpSp>
        <p:nvGrpSpPr>
          <p:cNvPr id="1740" name="Google Shape;1740;p100"/>
          <p:cNvGrpSpPr/>
          <p:nvPr/>
        </p:nvGrpSpPr>
        <p:grpSpPr>
          <a:xfrm>
            <a:off x="4470905" y="2580338"/>
            <a:ext cx="874500" cy="485914"/>
            <a:chOff x="4118269" y="1901936"/>
            <a:chExt cx="874500" cy="485914"/>
          </a:xfrm>
        </p:grpSpPr>
        <p:sp>
          <p:nvSpPr>
            <p:cNvPr id="1741" name="Google Shape;1741;p100"/>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rolling</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solidFill>
                  <a:srgbClr val="000000"/>
                </a:solidFill>
                <a:latin typeface="Didact Gothic"/>
                <a:ea typeface="Didact Gothic"/>
                <a:cs typeface="Didact Gothic"/>
                <a:sym typeface="Didact Gothic"/>
              </a:endParaRPr>
            </a:p>
          </p:txBody>
        </p:sp>
        <p:sp>
          <p:nvSpPr>
            <p:cNvPr id="1742" name="Google Shape;1742;p100"/>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43" name="Google Shape;1743;p100"/>
          <p:cNvGrpSpPr/>
          <p:nvPr/>
        </p:nvGrpSpPr>
        <p:grpSpPr>
          <a:xfrm>
            <a:off x="4470905" y="3214801"/>
            <a:ext cx="874500" cy="485914"/>
            <a:chOff x="4118269" y="1901936"/>
            <a:chExt cx="874500" cy="485914"/>
          </a:xfrm>
        </p:grpSpPr>
        <p:sp>
          <p:nvSpPr>
            <p:cNvPr id="1744" name="Google Shape;1744;p100"/>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sp>
          <p:nvSpPr>
            <p:cNvPr id="1745" name="Google Shape;1745;p100"/>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grpSp>
        <p:nvGrpSpPr>
          <p:cNvPr id="1746" name="Google Shape;1746;p100"/>
          <p:cNvGrpSpPr/>
          <p:nvPr/>
        </p:nvGrpSpPr>
        <p:grpSpPr>
          <a:xfrm>
            <a:off x="4470905" y="3747213"/>
            <a:ext cx="874500" cy="485914"/>
            <a:chOff x="4118269" y="1901936"/>
            <a:chExt cx="874500" cy="485914"/>
          </a:xfrm>
        </p:grpSpPr>
        <p:sp>
          <p:nvSpPr>
            <p:cNvPr id="1747" name="Google Shape;1747;p100"/>
            <p:cNvSpPr txBox="1"/>
            <p:nvPr/>
          </p:nvSpPr>
          <p:spPr>
            <a:xfrm>
              <a:off x="4118269" y="21478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metric</a:t>
              </a:r>
              <a:endParaRPr sz="900">
                <a:solidFill>
                  <a:srgbClr val="000000"/>
                </a:solidFill>
                <a:latin typeface="Didact Gothic"/>
                <a:ea typeface="Didact Gothic"/>
                <a:cs typeface="Didact Gothic"/>
                <a:sym typeface="Didact Gothic"/>
              </a:endParaRPr>
            </a:p>
          </p:txBody>
        </p:sp>
        <p:sp>
          <p:nvSpPr>
            <p:cNvPr id="1748" name="Google Shape;1748;p100"/>
            <p:cNvSpPr/>
            <p:nvPr/>
          </p:nvSpPr>
          <p:spPr>
            <a:xfrm>
              <a:off x="4418380" y="19019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cxnSp>
        <p:nvCxnSpPr>
          <p:cNvPr id="1749" name="Google Shape;1749;p100"/>
          <p:cNvCxnSpPr>
            <a:endCxn id="1745" idx="4"/>
          </p:cNvCxnSpPr>
          <p:nvPr/>
        </p:nvCxnSpPr>
        <p:spPr>
          <a:xfrm flipH="1">
            <a:off x="5045294" y="2932063"/>
            <a:ext cx="1026900" cy="447300"/>
          </a:xfrm>
          <a:prstGeom prst="bentConnector3">
            <a:avLst>
              <a:gd name="adj1" fmla="val -9"/>
            </a:avLst>
          </a:prstGeom>
          <a:noFill/>
          <a:ln w="9525" cap="flat" cmpd="sng">
            <a:solidFill>
              <a:srgbClr val="A9283B"/>
            </a:solidFill>
            <a:prstDash val="solid"/>
            <a:round/>
            <a:headEnd type="none" w="med" len="med"/>
            <a:tailEnd type="triangle" w="med" len="med"/>
          </a:ln>
        </p:spPr>
      </p:cxnSp>
      <p:cxnSp>
        <p:nvCxnSpPr>
          <p:cNvPr id="1750" name="Google Shape;1750;p100"/>
          <p:cNvCxnSpPr/>
          <p:nvPr/>
        </p:nvCxnSpPr>
        <p:spPr>
          <a:xfrm>
            <a:off x="5034963" y="2161629"/>
            <a:ext cx="741000" cy="671400"/>
          </a:xfrm>
          <a:prstGeom prst="bentConnector3">
            <a:avLst>
              <a:gd name="adj1" fmla="val 68289"/>
            </a:avLst>
          </a:prstGeom>
          <a:noFill/>
          <a:ln w="9525" cap="flat" cmpd="sng">
            <a:solidFill>
              <a:srgbClr val="A9283B"/>
            </a:solidFill>
            <a:prstDash val="solid"/>
            <a:round/>
            <a:headEnd type="none" w="med" len="med"/>
            <a:tailEnd type="triangle" w="med" len="med"/>
          </a:ln>
        </p:spPr>
      </p:cxnSp>
      <p:cxnSp>
        <p:nvCxnSpPr>
          <p:cNvPr id="1751" name="Google Shape;1751;p100"/>
          <p:cNvCxnSpPr/>
          <p:nvPr/>
        </p:nvCxnSpPr>
        <p:spPr>
          <a:xfrm rot="10800000" flipH="1">
            <a:off x="5044088" y="2830509"/>
            <a:ext cx="733800" cy="4500"/>
          </a:xfrm>
          <a:prstGeom prst="straightConnector1">
            <a:avLst/>
          </a:prstGeom>
          <a:noFill/>
          <a:ln w="9525" cap="flat" cmpd="sng">
            <a:solidFill>
              <a:srgbClr val="A9283B"/>
            </a:solidFill>
            <a:prstDash val="solid"/>
            <a:round/>
            <a:headEnd type="none" w="med" len="med"/>
            <a:tailEnd type="triangle" w="med" len="med"/>
          </a:ln>
        </p:spPr>
      </p:cxnSp>
      <p:cxnSp>
        <p:nvCxnSpPr>
          <p:cNvPr id="1752" name="Google Shape;1752;p100"/>
          <p:cNvCxnSpPr>
            <a:stCxn id="1753" idx="3"/>
          </p:cNvCxnSpPr>
          <p:nvPr/>
        </p:nvCxnSpPr>
        <p:spPr>
          <a:xfrm rot="10800000" flipH="1">
            <a:off x="5826165" y="2914826"/>
            <a:ext cx="366000" cy="1605900"/>
          </a:xfrm>
          <a:prstGeom prst="bentConnector2">
            <a:avLst/>
          </a:prstGeom>
          <a:noFill/>
          <a:ln w="9525" cap="flat" cmpd="sng">
            <a:solidFill>
              <a:srgbClr val="A9283B"/>
            </a:solidFill>
            <a:prstDash val="solid"/>
            <a:round/>
            <a:headEnd type="none" w="med" len="med"/>
            <a:tailEnd type="triangle" w="med" len="med"/>
          </a:ln>
        </p:spPr>
      </p:cxnSp>
      <p:grpSp>
        <p:nvGrpSpPr>
          <p:cNvPr id="1754" name="Google Shape;1754;p100"/>
          <p:cNvGrpSpPr/>
          <p:nvPr/>
        </p:nvGrpSpPr>
        <p:grpSpPr>
          <a:xfrm>
            <a:off x="5965526" y="4474050"/>
            <a:ext cx="874500" cy="453918"/>
            <a:chOff x="6512501" y="4457725"/>
            <a:chExt cx="874500" cy="453918"/>
          </a:xfrm>
        </p:grpSpPr>
        <p:pic>
          <p:nvPicPr>
            <p:cNvPr id="1755" name="Google Shape;1755;p100"/>
            <p:cNvPicPr preferRelativeResize="0"/>
            <p:nvPr/>
          </p:nvPicPr>
          <p:blipFill rotWithShape="1">
            <a:blip r:embed="rId3">
              <a:alphaModFix/>
            </a:blip>
            <a:srcRect t="8291"/>
            <a:stretch/>
          </p:blipFill>
          <p:spPr>
            <a:xfrm>
              <a:off x="6789551" y="4457725"/>
              <a:ext cx="320399" cy="293825"/>
            </a:xfrm>
            <a:prstGeom prst="rect">
              <a:avLst/>
            </a:prstGeom>
            <a:noFill/>
            <a:ln>
              <a:noFill/>
            </a:ln>
          </p:spPr>
        </p:pic>
        <p:sp>
          <p:nvSpPr>
            <p:cNvPr id="1756" name="Google Shape;1756;p100"/>
            <p:cNvSpPr txBox="1"/>
            <p:nvPr/>
          </p:nvSpPr>
          <p:spPr>
            <a:xfrm>
              <a:off x="6512501" y="4671643"/>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redis</a:t>
              </a:r>
              <a:endParaRPr sz="900">
                <a:latin typeface="Didact Gothic"/>
                <a:ea typeface="Didact Gothic"/>
                <a:cs typeface="Didact Gothic"/>
                <a:sym typeface="Didact Gothic"/>
              </a:endParaRPr>
            </a:p>
          </p:txBody>
        </p:sp>
      </p:grpSp>
      <p:cxnSp>
        <p:nvCxnSpPr>
          <p:cNvPr id="1757" name="Google Shape;1757;p100"/>
          <p:cNvCxnSpPr>
            <a:stCxn id="1735" idx="2"/>
            <a:endCxn id="1755" idx="0"/>
          </p:cNvCxnSpPr>
          <p:nvPr/>
        </p:nvCxnSpPr>
        <p:spPr>
          <a:xfrm flipH="1">
            <a:off x="6402688" y="2930250"/>
            <a:ext cx="3600" cy="1543800"/>
          </a:xfrm>
          <a:prstGeom prst="straightConnector1">
            <a:avLst/>
          </a:prstGeom>
          <a:noFill/>
          <a:ln w="9525" cap="flat" cmpd="sng">
            <a:solidFill>
              <a:srgbClr val="A9283B"/>
            </a:solidFill>
            <a:prstDash val="solid"/>
            <a:round/>
            <a:headEnd type="none" w="med" len="med"/>
            <a:tailEnd type="triangle" w="med" len="med"/>
          </a:ln>
        </p:spPr>
      </p:cxnSp>
      <p:sp>
        <p:nvSpPr>
          <p:cNvPr id="1758" name="Google Shape;1758;p100"/>
          <p:cNvSpPr txBox="1"/>
          <p:nvPr/>
        </p:nvSpPr>
        <p:spPr>
          <a:xfrm>
            <a:off x="6287605" y="2849177"/>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prediction</a:t>
            </a:r>
            <a:endParaRPr sz="900">
              <a:solidFill>
                <a:srgbClr val="000000"/>
              </a:solidFill>
              <a:latin typeface="Didact Gothic"/>
              <a:ea typeface="Didact Gothic"/>
              <a:cs typeface="Didact Gothic"/>
              <a:sym typeface="Didact Gothic"/>
            </a:endParaRPr>
          </a:p>
        </p:txBody>
      </p:sp>
      <p:cxnSp>
        <p:nvCxnSpPr>
          <p:cNvPr id="1759" name="Google Shape;1759;p100"/>
          <p:cNvCxnSpPr>
            <a:stCxn id="1755" idx="3"/>
            <a:endCxn id="1734" idx="2"/>
          </p:cNvCxnSpPr>
          <p:nvPr/>
        </p:nvCxnSpPr>
        <p:spPr>
          <a:xfrm>
            <a:off x="6562976" y="4620963"/>
            <a:ext cx="622200" cy="1800"/>
          </a:xfrm>
          <a:prstGeom prst="straightConnector1">
            <a:avLst/>
          </a:prstGeom>
          <a:noFill/>
          <a:ln w="9525" cap="flat" cmpd="sng">
            <a:solidFill>
              <a:schemeClr val="dk1"/>
            </a:solidFill>
            <a:prstDash val="solid"/>
            <a:round/>
            <a:headEnd type="none" w="med" len="med"/>
            <a:tailEnd type="triangle" w="med" len="med"/>
          </a:ln>
        </p:spPr>
      </p:cxnSp>
      <p:sp>
        <p:nvSpPr>
          <p:cNvPr id="1760" name="Google Shape;1760;p100"/>
          <p:cNvSpPr/>
          <p:nvPr/>
        </p:nvSpPr>
        <p:spPr>
          <a:xfrm>
            <a:off x="7117575" y="3343538"/>
            <a:ext cx="874500" cy="213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ml_monitor.py</a:t>
            </a:r>
            <a:endParaRPr sz="900">
              <a:latin typeface="Didact Gothic"/>
              <a:ea typeface="Didact Gothic"/>
              <a:cs typeface="Didact Gothic"/>
              <a:sym typeface="Didact Gothic"/>
            </a:endParaRPr>
          </a:p>
        </p:txBody>
      </p:sp>
      <p:cxnSp>
        <p:nvCxnSpPr>
          <p:cNvPr id="1761" name="Google Shape;1761;p100"/>
          <p:cNvCxnSpPr>
            <a:stCxn id="1728" idx="4"/>
            <a:endCxn id="1760" idx="0"/>
          </p:cNvCxnSpPr>
          <p:nvPr/>
        </p:nvCxnSpPr>
        <p:spPr>
          <a:xfrm>
            <a:off x="5049285" y="1578436"/>
            <a:ext cx="2505600" cy="1765200"/>
          </a:xfrm>
          <a:prstGeom prst="bentConnector2">
            <a:avLst/>
          </a:prstGeom>
          <a:noFill/>
          <a:ln w="9525" cap="flat" cmpd="sng">
            <a:solidFill>
              <a:srgbClr val="6AA84F"/>
            </a:solidFill>
            <a:prstDash val="solid"/>
            <a:round/>
            <a:headEnd type="none" w="med" len="med"/>
            <a:tailEnd type="triangle" w="med" len="med"/>
          </a:ln>
        </p:spPr>
      </p:cxnSp>
      <p:cxnSp>
        <p:nvCxnSpPr>
          <p:cNvPr id="1762" name="Google Shape;1762;p100"/>
          <p:cNvCxnSpPr>
            <a:endCxn id="1760" idx="1"/>
          </p:cNvCxnSpPr>
          <p:nvPr/>
        </p:nvCxnSpPr>
        <p:spPr>
          <a:xfrm rot="10800000" flipH="1">
            <a:off x="5046675" y="3450488"/>
            <a:ext cx="2070900" cy="12900"/>
          </a:xfrm>
          <a:prstGeom prst="straightConnector1">
            <a:avLst/>
          </a:prstGeom>
          <a:noFill/>
          <a:ln w="9525" cap="flat" cmpd="sng">
            <a:solidFill>
              <a:srgbClr val="6AA84F"/>
            </a:solidFill>
            <a:prstDash val="solid"/>
            <a:round/>
            <a:headEnd type="none" w="med" len="med"/>
            <a:tailEnd type="triangle" w="med" len="med"/>
          </a:ln>
        </p:spPr>
      </p:cxnSp>
      <p:cxnSp>
        <p:nvCxnSpPr>
          <p:cNvPr id="1763" name="Google Shape;1763;p100"/>
          <p:cNvCxnSpPr>
            <a:stCxn id="1760" idx="2"/>
            <a:endCxn id="1748" idx="4"/>
          </p:cNvCxnSpPr>
          <p:nvPr/>
        </p:nvCxnSpPr>
        <p:spPr>
          <a:xfrm rot="5400000">
            <a:off x="6122925" y="2479838"/>
            <a:ext cx="354300" cy="2509500"/>
          </a:xfrm>
          <a:prstGeom prst="bentConnector2">
            <a:avLst/>
          </a:prstGeom>
          <a:noFill/>
          <a:ln w="9525" cap="flat" cmpd="sng">
            <a:solidFill>
              <a:srgbClr val="6AA84F"/>
            </a:solidFill>
            <a:prstDash val="solid"/>
            <a:round/>
            <a:headEnd type="none" w="med" len="med"/>
            <a:tailEnd type="triangle" w="med" len="med"/>
          </a:ln>
        </p:spPr>
      </p:cxnSp>
      <p:cxnSp>
        <p:nvCxnSpPr>
          <p:cNvPr id="1764" name="Google Shape;1764;p100"/>
          <p:cNvCxnSpPr>
            <a:endCxn id="1734" idx="0"/>
          </p:cNvCxnSpPr>
          <p:nvPr/>
        </p:nvCxnSpPr>
        <p:spPr>
          <a:xfrm>
            <a:off x="5046814" y="4028975"/>
            <a:ext cx="2508000" cy="252600"/>
          </a:xfrm>
          <a:prstGeom prst="bentConnector2">
            <a:avLst/>
          </a:prstGeom>
          <a:noFill/>
          <a:ln w="9525" cap="flat" cmpd="sng">
            <a:solidFill>
              <a:srgbClr val="6AA84F"/>
            </a:solidFill>
            <a:prstDash val="solid"/>
            <a:round/>
            <a:headEnd type="none" w="med" len="med"/>
            <a:tailEnd type="triangle" w="med" len="med"/>
          </a:ln>
        </p:spPr>
      </p:cxnSp>
      <p:grpSp>
        <p:nvGrpSpPr>
          <p:cNvPr id="1765" name="Google Shape;1765;p100"/>
          <p:cNvGrpSpPr/>
          <p:nvPr/>
        </p:nvGrpSpPr>
        <p:grpSpPr>
          <a:xfrm>
            <a:off x="4470905" y="4356813"/>
            <a:ext cx="874500" cy="485914"/>
            <a:chOff x="4118269" y="1292336"/>
            <a:chExt cx="874500" cy="485914"/>
          </a:xfrm>
        </p:grpSpPr>
        <p:sp>
          <p:nvSpPr>
            <p:cNvPr id="1766" name="Google Shape;1766;p100"/>
            <p:cNvSpPr txBox="1"/>
            <p:nvPr/>
          </p:nvSpPr>
          <p:spPr>
            <a:xfrm>
              <a:off x="4118269" y="1538250"/>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feature</a:t>
              </a:r>
              <a:endParaRPr sz="900">
                <a:latin typeface="Didact Gothic"/>
                <a:ea typeface="Didact Gothic"/>
                <a:cs typeface="Didact Gothic"/>
                <a:sym typeface="Didact Gothic"/>
              </a:endParaRPr>
            </a:p>
          </p:txBody>
        </p:sp>
        <p:sp>
          <p:nvSpPr>
            <p:cNvPr id="1767" name="Google Shape;1767;p100"/>
            <p:cNvSpPr/>
            <p:nvPr/>
          </p:nvSpPr>
          <p:spPr>
            <a:xfrm>
              <a:off x="4418380" y="1292336"/>
              <a:ext cx="274278" cy="329125"/>
            </a:xfrm>
            <a:prstGeom prst="flowChartMagneticDisk">
              <a:avLst/>
            </a:prstGeom>
            <a:solidFill>
              <a:srgbClr val="FCFDF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sp>
        <p:nvSpPr>
          <p:cNvPr id="1768" name="Google Shape;1768;p100"/>
          <p:cNvSpPr txBox="1"/>
          <p:nvPr/>
        </p:nvSpPr>
        <p:spPr>
          <a:xfrm>
            <a:off x="6980825" y="341075"/>
            <a:ext cx="2070900" cy="954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Poppins"/>
                <a:ea typeface="Poppins"/>
                <a:cs typeface="Poppins"/>
                <a:sym typeface="Poppins"/>
              </a:rPr>
              <a:t>→       Batches </a:t>
            </a:r>
            <a:endParaRPr sz="1000">
              <a:latin typeface="Poppins"/>
              <a:ea typeface="Poppins"/>
              <a:cs typeface="Poppins"/>
              <a:sym typeface="Poppins"/>
            </a:endParaRPr>
          </a:p>
          <a:p>
            <a:pPr marL="0" lvl="0" indent="0" algn="l" rtl="0">
              <a:spcBef>
                <a:spcPts val="0"/>
              </a:spcBef>
              <a:spcAft>
                <a:spcPts val="0"/>
              </a:spcAft>
              <a:buNone/>
            </a:pPr>
            <a:r>
              <a:rPr lang="en" sz="1000">
                <a:solidFill>
                  <a:srgbClr val="0000FF"/>
                </a:solidFill>
                <a:latin typeface="Poppins"/>
                <a:ea typeface="Poppins"/>
                <a:cs typeface="Poppins"/>
                <a:sym typeface="Poppins"/>
              </a:rPr>
              <a:t>→       Real-Time Feature Flow</a:t>
            </a:r>
            <a:endParaRPr sz="1000">
              <a:solidFill>
                <a:srgbClr val="0000FF"/>
              </a:solidFill>
              <a:latin typeface="Poppins"/>
              <a:ea typeface="Poppins"/>
              <a:cs typeface="Poppins"/>
              <a:sym typeface="Poppins"/>
            </a:endParaRPr>
          </a:p>
          <a:p>
            <a:pPr marL="0" lvl="0" indent="0" algn="l" rtl="0">
              <a:spcBef>
                <a:spcPts val="0"/>
              </a:spcBef>
              <a:spcAft>
                <a:spcPts val="0"/>
              </a:spcAft>
              <a:buNone/>
            </a:pPr>
            <a:r>
              <a:rPr lang="en" sz="1000">
                <a:solidFill>
                  <a:srgbClr val="A9283B"/>
                </a:solidFill>
                <a:latin typeface="Poppins"/>
                <a:ea typeface="Poppins"/>
                <a:cs typeface="Poppins"/>
                <a:sym typeface="Poppins"/>
              </a:rPr>
              <a:t>→       Real-Time Predictions</a:t>
            </a:r>
            <a:endParaRPr sz="1000">
              <a:solidFill>
                <a:srgbClr val="A9283B"/>
              </a:solidFill>
              <a:latin typeface="Poppins"/>
              <a:ea typeface="Poppins"/>
              <a:cs typeface="Poppins"/>
              <a:sym typeface="Poppins"/>
            </a:endParaRPr>
          </a:p>
          <a:p>
            <a:pPr marL="0" lvl="0" indent="0" algn="l" rtl="0">
              <a:spcBef>
                <a:spcPts val="0"/>
              </a:spcBef>
              <a:spcAft>
                <a:spcPts val="0"/>
              </a:spcAft>
              <a:buNone/>
            </a:pPr>
            <a:r>
              <a:rPr lang="en" sz="1000">
                <a:solidFill>
                  <a:srgbClr val="93C47D"/>
                </a:solidFill>
                <a:latin typeface="Poppins"/>
                <a:ea typeface="Poppins"/>
                <a:cs typeface="Poppins"/>
                <a:sym typeface="Poppins"/>
              </a:rPr>
              <a:t>→       Monitoring</a:t>
            </a:r>
            <a:endParaRPr sz="1000">
              <a:solidFill>
                <a:srgbClr val="93C47D"/>
              </a:solidFill>
              <a:latin typeface="Poppins"/>
              <a:ea typeface="Poppins"/>
              <a:cs typeface="Poppins"/>
              <a:sym typeface="Poppins"/>
            </a:endParaRPr>
          </a:p>
          <a:p>
            <a:pPr marL="0" lvl="0" indent="0" algn="l" rtl="0">
              <a:spcBef>
                <a:spcPts val="0"/>
              </a:spcBef>
              <a:spcAft>
                <a:spcPts val="0"/>
              </a:spcAft>
              <a:buNone/>
            </a:pPr>
            <a:r>
              <a:rPr lang="en" sz="1000">
                <a:solidFill>
                  <a:schemeClr val="dk1"/>
                </a:solidFill>
                <a:latin typeface="Poppins"/>
                <a:ea typeface="Poppins"/>
                <a:cs typeface="Poppins"/>
                <a:sym typeface="Poppins"/>
              </a:rPr>
              <a:t>sETL   Streaming ETL </a:t>
            </a:r>
            <a:endParaRPr sz="1000">
              <a:solidFill>
                <a:schemeClr val="dk1"/>
              </a:solidFill>
              <a:latin typeface="Poppins"/>
              <a:ea typeface="Poppins"/>
              <a:cs typeface="Poppins"/>
              <a:sym typeface="Poppins"/>
            </a:endParaRPr>
          </a:p>
        </p:txBody>
      </p:sp>
      <p:sp>
        <p:nvSpPr>
          <p:cNvPr id="1769" name="Google Shape;1769;p100"/>
          <p:cNvSpPr txBox="1">
            <a:spLocks noGrp="1"/>
          </p:cNvSpPr>
          <p:nvPr>
            <p:ph type="title"/>
          </p:nvPr>
        </p:nvSpPr>
        <p:spPr>
          <a:xfrm>
            <a:off x="273500" y="539500"/>
            <a:ext cx="6761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Real-time Model Inference (Kafka)</a:t>
            </a:r>
            <a:endParaRPr/>
          </a:p>
        </p:txBody>
      </p:sp>
      <p:pic>
        <p:nvPicPr>
          <p:cNvPr id="1753" name="Google Shape;1753;p100"/>
          <p:cNvPicPr preferRelativeResize="0"/>
          <p:nvPr/>
        </p:nvPicPr>
        <p:blipFill>
          <a:blip r:embed="rId4">
            <a:alphaModFix/>
          </a:blip>
          <a:stretch>
            <a:fillRect/>
          </a:stretch>
        </p:blipFill>
        <p:spPr>
          <a:xfrm>
            <a:off x="5571165" y="4393226"/>
            <a:ext cx="255000" cy="255000"/>
          </a:xfrm>
          <a:prstGeom prst="rect">
            <a:avLst/>
          </a:prstGeom>
          <a:noFill/>
          <a:ln>
            <a:noFill/>
          </a:ln>
        </p:spPr>
      </p:pic>
      <p:cxnSp>
        <p:nvCxnSpPr>
          <p:cNvPr id="1770" name="Google Shape;1770;p100"/>
          <p:cNvCxnSpPr>
            <a:stCxn id="1767" idx="4"/>
            <a:endCxn id="1753" idx="1"/>
          </p:cNvCxnSpPr>
          <p:nvPr/>
        </p:nvCxnSpPr>
        <p:spPr>
          <a:xfrm rot="10800000" flipH="1">
            <a:off x="5045294" y="4520776"/>
            <a:ext cx="525900" cy="600"/>
          </a:xfrm>
          <a:prstGeom prst="straightConnector1">
            <a:avLst/>
          </a:prstGeom>
          <a:noFill/>
          <a:ln w="9525" cap="flat" cmpd="sng">
            <a:solidFill>
              <a:srgbClr val="A9283B"/>
            </a:solidFill>
            <a:prstDash val="solid"/>
            <a:round/>
            <a:headEnd type="none" w="med" len="med"/>
            <a:tailEnd type="triangle" w="med" len="med"/>
          </a:ln>
        </p:spPr>
      </p:cxnSp>
      <p:sp>
        <p:nvSpPr>
          <p:cNvPr id="1771" name="Google Shape;1771;p100"/>
          <p:cNvSpPr/>
          <p:nvPr/>
        </p:nvSpPr>
        <p:spPr>
          <a:xfrm>
            <a:off x="2428949" y="4456175"/>
            <a:ext cx="4464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cxnSp>
        <p:nvCxnSpPr>
          <p:cNvPr id="1772" name="Google Shape;1772;p100"/>
          <p:cNvCxnSpPr>
            <a:stCxn id="1773" idx="3"/>
            <a:endCxn id="1771" idx="1"/>
          </p:cNvCxnSpPr>
          <p:nvPr/>
        </p:nvCxnSpPr>
        <p:spPr>
          <a:xfrm>
            <a:off x="1982549" y="4576175"/>
            <a:ext cx="446400" cy="0"/>
          </a:xfrm>
          <a:prstGeom prst="straightConnector1">
            <a:avLst/>
          </a:prstGeom>
          <a:noFill/>
          <a:ln w="9525" cap="flat" cmpd="sng">
            <a:solidFill>
              <a:srgbClr val="0000FF"/>
            </a:solidFill>
            <a:prstDash val="solid"/>
            <a:round/>
            <a:headEnd type="none" w="med" len="med"/>
            <a:tailEnd type="triangle" w="med" len="med"/>
          </a:ln>
        </p:spPr>
      </p:cxnSp>
      <p:cxnSp>
        <p:nvCxnSpPr>
          <p:cNvPr id="1774" name="Google Shape;1774;p100"/>
          <p:cNvCxnSpPr>
            <a:stCxn id="1771" idx="3"/>
            <a:endCxn id="1775" idx="1"/>
          </p:cNvCxnSpPr>
          <p:nvPr/>
        </p:nvCxnSpPr>
        <p:spPr>
          <a:xfrm>
            <a:off x="2875349" y="4576175"/>
            <a:ext cx="372900" cy="0"/>
          </a:xfrm>
          <a:prstGeom prst="straightConnector1">
            <a:avLst/>
          </a:prstGeom>
          <a:noFill/>
          <a:ln w="9525" cap="flat" cmpd="sng">
            <a:solidFill>
              <a:srgbClr val="0000FF"/>
            </a:solidFill>
            <a:prstDash val="solid"/>
            <a:round/>
            <a:headEnd type="none" w="med" len="med"/>
            <a:tailEnd type="triangle" w="med" len="med"/>
          </a:ln>
        </p:spPr>
      </p:cxnSp>
      <p:sp>
        <p:nvSpPr>
          <p:cNvPr id="1776" name="Google Shape;1776;p100"/>
          <p:cNvSpPr/>
          <p:nvPr/>
        </p:nvSpPr>
        <p:spPr>
          <a:xfrm>
            <a:off x="3909400" y="4456175"/>
            <a:ext cx="438900" cy="2400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sETL</a:t>
            </a:r>
            <a:endParaRPr sz="900">
              <a:latin typeface="Didact Gothic"/>
              <a:ea typeface="Didact Gothic"/>
              <a:cs typeface="Didact Gothic"/>
              <a:sym typeface="Didact Gothic"/>
            </a:endParaRPr>
          </a:p>
        </p:txBody>
      </p:sp>
      <p:grpSp>
        <p:nvGrpSpPr>
          <p:cNvPr id="1777" name="Google Shape;1777;p100"/>
          <p:cNvGrpSpPr/>
          <p:nvPr/>
        </p:nvGrpSpPr>
        <p:grpSpPr>
          <a:xfrm>
            <a:off x="2938631" y="4448675"/>
            <a:ext cx="874500" cy="417568"/>
            <a:chOff x="3247093" y="4432300"/>
            <a:chExt cx="874500" cy="417568"/>
          </a:xfrm>
        </p:grpSpPr>
        <p:sp>
          <p:nvSpPr>
            <p:cNvPr id="1778" name="Google Shape;1778;p100"/>
            <p:cNvSpPr txBox="1"/>
            <p:nvPr/>
          </p:nvSpPr>
          <p:spPr>
            <a:xfrm>
              <a:off x="32470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validated</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event</a:t>
              </a:r>
              <a:endParaRPr sz="900">
                <a:latin typeface="Didact Gothic"/>
                <a:ea typeface="Didact Gothic"/>
                <a:cs typeface="Didact Gothic"/>
                <a:sym typeface="Didact Gothic"/>
              </a:endParaRPr>
            </a:p>
          </p:txBody>
        </p:sp>
        <p:pic>
          <p:nvPicPr>
            <p:cNvPr id="1775" name="Google Shape;1775;p100"/>
            <p:cNvPicPr preferRelativeResize="0"/>
            <p:nvPr/>
          </p:nvPicPr>
          <p:blipFill>
            <a:blip r:embed="rId4">
              <a:alphaModFix/>
            </a:blip>
            <a:stretch>
              <a:fillRect/>
            </a:stretch>
          </p:blipFill>
          <p:spPr>
            <a:xfrm>
              <a:off x="3556843" y="4432300"/>
              <a:ext cx="255000" cy="255000"/>
            </a:xfrm>
            <a:prstGeom prst="rect">
              <a:avLst/>
            </a:prstGeom>
            <a:noFill/>
            <a:ln>
              <a:noFill/>
            </a:ln>
          </p:spPr>
        </p:pic>
      </p:grpSp>
      <p:cxnSp>
        <p:nvCxnSpPr>
          <p:cNvPr id="1779" name="Google Shape;1779;p100"/>
          <p:cNvCxnSpPr>
            <a:stCxn id="1775" idx="3"/>
            <a:endCxn id="1776" idx="1"/>
          </p:cNvCxnSpPr>
          <p:nvPr/>
        </p:nvCxnSpPr>
        <p:spPr>
          <a:xfrm>
            <a:off x="3503381" y="4576175"/>
            <a:ext cx="405900" cy="0"/>
          </a:xfrm>
          <a:prstGeom prst="straightConnector1">
            <a:avLst/>
          </a:prstGeom>
          <a:noFill/>
          <a:ln w="9525" cap="flat" cmpd="sng">
            <a:solidFill>
              <a:srgbClr val="0000FF"/>
            </a:solidFill>
            <a:prstDash val="solid"/>
            <a:round/>
            <a:headEnd type="none" w="med" len="med"/>
            <a:tailEnd type="triangle" w="med" len="med"/>
          </a:ln>
        </p:spPr>
      </p:cxnSp>
      <p:cxnSp>
        <p:nvCxnSpPr>
          <p:cNvPr id="1780" name="Google Shape;1780;p100"/>
          <p:cNvCxnSpPr>
            <a:stCxn id="1776" idx="3"/>
            <a:endCxn id="1781" idx="1"/>
          </p:cNvCxnSpPr>
          <p:nvPr/>
        </p:nvCxnSpPr>
        <p:spPr>
          <a:xfrm>
            <a:off x="4348300" y="4576175"/>
            <a:ext cx="438900" cy="0"/>
          </a:xfrm>
          <a:prstGeom prst="straightConnector1">
            <a:avLst/>
          </a:prstGeom>
          <a:noFill/>
          <a:ln w="9525" cap="flat" cmpd="sng">
            <a:solidFill>
              <a:srgbClr val="0000FF"/>
            </a:solidFill>
            <a:prstDash val="solid"/>
            <a:round/>
            <a:headEnd type="none" w="med" len="med"/>
            <a:tailEnd type="triangle" w="med" len="med"/>
          </a:ln>
        </p:spPr>
      </p:cxnSp>
      <p:cxnSp>
        <p:nvCxnSpPr>
          <p:cNvPr id="1782" name="Google Shape;1782;p100"/>
          <p:cNvCxnSpPr>
            <a:endCxn id="1703" idx="1"/>
          </p:cNvCxnSpPr>
          <p:nvPr/>
        </p:nvCxnSpPr>
        <p:spPr>
          <a:xfrm rot="-5400000">
            <a:off x="758024" y="3649525"/>
            <a:ext cx="922200" cy="772200"/>
          </a:xfrm>
          <a:prstGeom prst="bentConnector2">
            <a:avLst/>
          </a:prstGeom>
          <a:noFill/>
          <a:ln w="9525" cap="flat" cmpd="sng">
            <a:solidFill>
              <a:srgbClr val="0000FF"/>
            </a:solidFill>
            <a:prstDash val="solid"/>
            <a:round/>
            <a:headEnd type="none" w="med" len="med"/>
            <a:tailEnd type="triangle" w="med" len="med"/>
          </a:ln>
        </p:spPr>
      </p:cxnSp>
      <p:sp>
        <p:nvSpPr>
          <p:cNvPr id="1783" name="Google Shape;1783;p100"/>
          <p:cNvSpPr/>
          <p:nvPr/>
        </p:nvSpPr>
        <p:spPr>
          <a:xfrm>
            <a:off x="2864212" y="3454521"/>
            <a:ext cx="380400" cy="240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ETL</a:t>
            </a:r>
            <a:endParaRPr sz="900">
              <a:latin typeface="Didact Gothic"/>
              <a:ea typeface="Didact Gothic"/>
              <a:cs typeface="Didact Gothic"/>
              <a:sym typeface="Didact Gothic"/>
            </a:endParaRPr>
          </a:p>
        </p:txBody>
      </p:sp>
      <p:cxnSp>
        <p:nvCxnSpPr>
          <p:cNvPr id="1784" name="Google Shape;1784;p100"/>
          <p:cNvCxnSpPr>
            <a:stCxn id="1783" idx="3"/>
            <a:endCxn id="1725" idx="2"/>
          </p:cNvCxnSpPr>
          <p:nvPr/>
        </p:nvCxnSpPr>
        <p:spPr>
          <a:xfrm rot="10800000" flipH="1">
            <a:off x="3244612" y="2581221"/>
            <a:ext cx="284100" cy="993300"/>
          </a:xfrm>
          <a:prstGeom prst="bentConnector3">
            <a:avLst>
              <a:gd name="adj1" fmla="val 50016"/>
            </a:avLst>
          </a:prstGeom>
          <a:noFill/>
          <a:ln w="9525" cap="flat" cmpd="sng">
            <a:solidFill>
              <a:schemeClr val="dk1"/>
            </a:solidFill>
            <a:prstDash val="solid"/>
            <a:round/>
            <a:headEnd type="none" w="med" len="med"/>
            <a:tailEnd type="triangle" w="med" len="med"/>
          </a:ln>
        </p:spPr>
      </p:cxnSp>
      <p:cxnSp>
        <p:nvCxnSpPr>
          <p:cNvPr id="1785" name="Google Shape;1785;p100"/>
          <p:cNvCxnSpPr/>
          <p:nvPr/>
        </p:nvCxnSpPr>
        <p:spPr>
          <a:xfrm>
            <a:off x="2607657" y="3381809"/>
            <a:ext cx="256500" cy="192600"/>
          </a:xfrm>
          <a:prstGeom prst="bentConnector3">
            <a:avLst>
              <a:gd name="adj1" fmla="val 50011"/>
            </a:avLst>
          </a:prstGeom>
          <a:noFill/>
          <a:ln w="9525" cap="flat" cmpd="sng">
            <a:solidFill>
              <a:schemeClr val="dk1"/>
            </a:solidFill>
            <a:prstDash val="solid"/>
            <a:round/>
            <a:headEnd type="none" w="med" len="med"/>
            <a:tailEnd type="triangle" w="med" len="med"/>
          </a:ln>
        </p:spPr>
      </p:cxnSp>
      <p:cxnSp>
        <p:nvCxnSpPr>
          <p:cNvPr id="1786" name="Google Shape;1786;p100"/>
          <p:cNvCxnSpPr/>
          <p:nvPr/>
        </p:nvCxnSpPr>
        <p:spPr>
          <a:xfrm rot="10800000" flipH="1">
            <a:off x="2607657" y="3574513"/>
            <a:ext cx="256500" cy="318600"/>
          </a:xfrm>
          <a:prstGeom prst="bentConnector3">
            <a:avLst>
              <a:gd name="adj1" fmla="val 50011"/>
            </a:avLst>
          </a:prstGeom>
          <a:noFill/>
          <a:ln w="9525" cap="flat" cmpd="sng">
            <a:solidFill>
              <a:schemeClr val="dk1"/>
            </a:solidFill>
            <a:prstDash val="solid"/>
            <a:round/>
            <a:headEnd type="none" w="med" len="med"/>
            <a:tailEnd type="triangle" w="med" len="med"/>
          </a:ln>
        </p:spPr>
      </p:cxnSp>
      <p:cxnSp>
        <p:nvCxnSpPr>
          <p:cNvPr id="1787" name="Google Shape;1787;p100"/>
          <p:cNvCxnSpPr/>
          <p:nvPr/>
        </p:nvCxnSpPr>
        <p:spPr>
          <a:xfrm rot="10800000" flipH="1">
            <a:off x="3244612" y="1578321"/>
            <a:ext cx="284100" cy="1996200"/>
          </a:xfrm>
          <a:prstGeom prst="bentConnector3">
            <a:avLst>
              <a:gd name="adj1" fmla="val 50016"/>
            </a:avLst>
          </a:prstGeom>
          <a:noFill/>
          <a:ln w="9525" cap="flat" cmpd="sng">
            <a:solidFill>
              <a:schemeClr val="dk1"/>
            </a:solidFill>
            <a:prstDash val="solid"/>
            <a:round/>
            <a:headEnd type="none" w="med" len="med"/>
            <a:tailEnd type="triangle" w="med" len="med"/>
          </a:ln>
        </p:spPr>
      </p:cxnSp>
      <p:cxnSp>
        <p:nvCxnSpPr>
          <p:cNvPr id="1788" name="Google Shape;1788;p100"/>
          <p:cNvCxnSpPr/>
          <p:nvPr/>
        </p:nvCxnSpPr>
        <p:spPr>
          <a:xfrm rot="10800000" flipH="1">
            <a:off x="3244612" y="2079921"/>
            <a:ext cx="284100" cy="1494600"/>
          </a:xfrm>
          <a:prstGeom prst="bentConnector3">
            <a:avLst>
              <a:gd name="adj1" fmla="val 50016"/>
            </a:avLst>
          </a:prstGeom>
          <a:noFill/>
          <a:ln w="9525" cap="flat" cmpd="sng">
            <a:solidFill>
              <a:schemeClr val="dk1"/>
            </a:solidFill>
            <a:prstDash val="solid"/>
            <a:round/>
            <a:headEnd type="none" w="med" len="med"/>
            <a:tailEnd type="triangle" w="med" len="med"/>
          </a:ln>
        </p:spPr>
      </p:cxnSp>
      <p:cxnSp>
        <p:nvCxnSpPr>
          <p:cNvPr id="1789" name="Google Shape;1789;p100"/>
          <p:cNvCxnSpPr/>
          <p:nvPr/>
        </p:nvCxnSpPr>
        <p:spPr>
          <a:xfrm rot="10800000" flipH="1">
            <a:off x="3244612" y="2581221"/>
            <a:ext cx="284100" cy="993300"/>
          </a:xfrm>
          <a:prstGeom prst="bentConnector3">
            <a:avLst>
              <a:gd name="adj1" fmla="val 50016"/>
            </a:avLst>
          </a:prstGeom>
          <a:noFill/>
          <a:ln w="9525" cap="flat" cmpd="sng">
            <a:solidFill>
              <a:schemeClr val="dk2"/>
            </a:solidFill>
            <a:prstDash val="solid"/>
            <a:round/>
            <a:headEnd type="none" w="med" len="med"/>
            <a:tailEnd type="triangle" w="med" len="med"/>
          </a:ln>
        </p:spPr>
      </p:cxnSp>
      <p:sp>
        <p:nvSpPr>
          <p:cNvPr id="1790" name="Google Shape;1790;p100"/>
          <p:cNvSpPr/>
          <p:nvPr/>
        </p:nvSpPr>
        <p:spPr>
          <a:xfrm>
            <a:off x="352238" y="4486394"/>
            <a:ext cx="961800" cy="509100"/>
          </a:xfrm>
          <a:prstGeom prst="rect">
            <a:avLst/>
          </a:prstGeom>
          <a:solidFill>
            <a:srgbClr val="9BACCA"/>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Realtime</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OmniBehaviour</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Simulation</a:t>
            </a:r>
            <a:endParaRPr sz="900">
              <a:latin typeface="Didact Gothic"/>
              <a:ea typeface="Didact Gothic"/>
              <a:cs typeface="Didact Gothic"/>
              <a:sym typeface="Didact Gothic"/>
            </a:endParaRPr>
          </a:p>
        </p:txBody>
      </p:sp>
      <p:cxnSp>
        <p:nvCxnSpPr>
          <p:cNvPr id="1791" name="Google Shape;1791;p100"/>
          <p:cNvCxnSpPr>
            <a:stCxn id="1790" idx="3"/>
            <a:endCxn id="1792" idx="1"/>
          </p:cNvCxnSpPr>
          <p:nvPr/>
        </p:nvCxnSpPr>
        <p:spPr>
          <a:xfrm rot="10800000" flipH="1">
            <a:off x="1314038" y="4576244"/>
            <a:ext cx="413400" cy="164700"/>
          </a:xfrm>
          <a:prstGeom prst="bentConnector3">
            <a:avLst>
              <a:gd name="adj1" fmla="val 50002"/>
            </a:avLst>
          </a:prstGeom>
          <a:noFill/>
          <a:ln w="9525" cap="flat" cmpd="sng">
            <a:solidFill>
              <a:srgbClr val="0000FF"/>
            </a:solidFill>
            <a:prstDash val="solid"/>
            <a:round/>
            <a:headEnd type="none" w="med" len="med"/>
            <a:tailEnd type="triangle" w="med" len="med"/>
          </a:ln>
        </p:spPr>
      </p:cxnSp>
      <p:grpSp>
        <p:nvGrpSpPr>
          <p:cNvPr id="1793" name="Google Shape;1793;p100"/>
          <p:cNvGrpSpPr/>
          <p:nvPr/>
        </p:nvGrpSpPr>
        <p:grpSpPr>
          <a:xfrm>
            <a:off x="1417705" y="4448675"/>
            <a:ext cx="874500" cy="417568"/>
            <a:chOff x="1928393" y="4432300"/>
            <a:chExt cx="874500" cy="417568"/>
          </a:xfrm>
        </p:grpSpPr>
        <p:sp>
          <p:nvSpPr>
            <p:cNvPr id="1794" name="Google Shape;1794;p100"/>
            <p:cNvSpPr txBox="1"/>
            <p:nvPr/>
          </p:nvSpPr>
          <p:spPr>
            <a:xfrm>
              <a:off x="1928393" y="4609868"/>
              <a:ext cx="874500" cy="24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00">
                  <a:latin typeface="Didact Gothic"/>
                  <a:ea typeface="Didact Gothic"/>
                  <a:cs typeface="Didact Gothic"/>
                  <a:sym typeface="Didact Gothic"/>
                </a:rPr>
                <a:t>raw</a:t>
              </a:r>
              <a:endParaRPr sz="900">
                <a:latin typeface="Didact Gothic"/>
                <a:ea typeface="Didact Gothic"/>
                <a:cs typeface="Didact Gothic"/>
                <a:sym typeface="Didact Gothic"/>
              </a:endParaRPr>
            </a:p>
            <a:p>
              <a:pPr marL="0" lvl="0" indent="0" algn="ctr" rtl="0">
                <a:spcBef>
                  <a:spcPts val="0"/>
                </a:spcBef>
                <a:spcAft>
                  <a:spcPts val="0"/>
                </a:spcAft>
                <a:buNone/>
              </a:pPr>
              <a:r>
                <a:rPr lang="en" sz="900">
                  <a:latin typeface="Didact Gothic"/>
                  <a:ea typeface="Didact Gothic"/>
                  <a:cs typeface="Didact Gothic"/>
                  <a:sym typeface="Didact Gothic"/>
                </a:rPr>
                <a:t>event</a:t>
              </a:r>
              <a:endParaRPr sz="900">
                <a:latin typeface="Didact Gothic"/>
                <a:ea typeface="Didact Gothic"/>
                <a:cs typeface="Didact Gothic"/>
                <a:sym typeface="Didact Gothic"/>
              </a:endParaRPr>
            </a:p>
          </p:txBody>
        </p:sp>
        <p:pic>
          <p:nvPicPr>
            <p:cNvPr id="1792" name="Google Shape;1792;p100"/>
            <p:cNvPicPr preferRelativeResize="0"/>
            <p:nvPr/>
          </p:nvPicPr>
          <p:blipFill>
            <a:blip r:embed="rId4">
              <a:alphaModFix/>
            </a:blip>
            <a:stretch>
              <a:fillRect/>
            </a:stretch>
          </p:blipFill>
          <p:spPr>
            <a:xfrm>
              <a:off x="2238143" y="4432300"/>
              <a:ext cx="255000" cy="255000"/>
            </a:xfrm>
            <a:prstGeom prst="rect">
              <a:avLst/>
            </a:prstGeom>
            <a:noFill/>
            <a:ln>
              <a:noFill/>
            </a:ln>
          </p:spPr>
        </p:pic>
      </p:grpSp>
      <p:cxnSp>
        <p:nvCxnSpPr>
          <p:cNvPr id="1795" name="Google Shape;1795;p100"/>
          <p:cNvCxnSpPr>
            <a:stCxn id="1792" idx="0"/>
            <a:endCxn id="1701" idx="2"/>
          </p:cNvCxnSpPr>
          <p:nvPr/>
        </p:nvCxnSpPr>
        <p:spPr>
          <a:xfrm rot="10800000" flipH="1">
            <a:off x="1854955" y="4199975"/>
            <a:ext cx="615600" cy="248700"/>
          </a:xfrm>
          <a:prstGeom prst="straightConnector1">
            <a:avLst/>
          </a:prstGeom>
          <a:noFill/>
          <a:ln w="9525" cap="flat" cmpd="sng">
            <a:solidFill>
              <a:srgbClr val="0000FF"/>
            </a:solidFill>
            <a:prstDash val="solid"/>
            <a:round/>
            <a:headEnd type="none" w="med" len="med"/>
            <a:tailEnd type="triangle" w="med" len="med"/>
          </a:ln>
        </p:spPr>
      </p:cxnSp>
      <p:cxnSp>
        <p:nvCxnSpPr>
          <p:cNvPr id="1796" name="Google Shape;1796;p100"/>
          <p:cNvCxnSpPr>
            <a:stCxn id="1775" idx="0"/>
            <a:endCxn id="1707" idx="2"/>
          </p:cNvCxnSpPr>
          <p:nvPr/>
        </p:nvCxnSpPr>
        <p:spPr>
          <a:xfrm rot="10800000" flipH="1">
            <a:off x="3375881" y="4233275"/>
            <a:ext cx="297900" cy="215400"/>
          </a:xfrm>
          <a:prstGeom prst="straightConnector1">
            <a:avLst/>
          </a:prstGeom>
          <a:noFill/>
          <a:ln w="9525" cap="flat" cmpd="sng">
            <a:solidFill>
              <a:srgbClr val="0000FF"/>
            </a:solidFill>
            <a:prstDash val="solid"/>
            <a:round/>
            <a:headEnd type="none" w="med" len="med"/>
            <a:tailEnd type="triangl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01"/>
        <p:cNvGrpSpPr/>
        <p:nvPr/>
      </p:nvGrpSpPr>
      <p:grpSpPr>
        <a:xfrm>
          <a:off x="0" y="0"/>
          <a:ext cx="0" cy="0"/>
          <a:chOff x="0" y="0"/>
          <a:chExt cx="0" cy="0"/>
        </a:xfrm>
      </p:grpSpPr>
      <p:sp>
        <p:nvSpPr>
          <p:cNvPr id="2002" name="Google Shape;2002;p103"/>
          <p:cNvSpPr txBox="1">
            <a:spLocks noGrp="1"/>
          </p:cNvSpPr>
          <p:nvPr>
            <p:ph type="title"/>
          </p:nvPr>
        </p:nvSpPr>
        <p:spPr>
          <a:xfrm>
            <a:off x="273500" y="539500"/>
            <a:ext cx="859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Monitoring Simulation </a:t>
            </a:r>
            <a:endParaRPr/>
          </a:p>
        </p:txBody>
      </p:sp>
      <p:sp>
        <p:nvSpPr>
          <p:cNvPr id="2003" name="Google Shape;2003;p103"/>
          <p:cNvSpPr txBox="1">
            <a:spLocks noGrp="1"/>
          </p:cNvSpPr>
          <p:nvPr>
            <p:ph type="body" idx="1"/>
          </p:nvPr>
        </p:nvSpPr>
        <p:spPr>
          <a:xfrm>
            <a:off x="273450" y="3449075"/>
            <a:ext cx="8597100" cy="1608300"/>
          </a:xfrm>
          <a:prstGeom prst="rect">
            <a:avLst/>
          </a:prstGeom>
        </p:spPr>
        <p:txBody>
          <a:bodyPr spcFirstLastPara="1" wrap="square" lIns="91425" tIns="91425" rIns="91425" bIns="91425" anchor="t" anchorCtr="0">
            <a:noAutofit/>
          </a:bodyPr>
          <a:lstStyle/>
          <a:p>
            <a:pPr marL="457200" lvl="0" indent="-330200" algn="l" rtl="0">
              <a:lnSpc>
                <a:spcPct val="125000"/>
              </a:lnSpc>
              <a:spcBef>
                <a:spcPts val="800"/>
              </a:spcBef>
              <a:spcAft>
                <a:spcPts val="0"/>
              </a:spcAft>
              <a:buSzPts val="1600"/>
              <a:buChar char="●"/>
            </a:pPr>
            <a:r>
              <a:rPr lang="en"/>
              <a:t>Performance metrics: PR-AUC Lift, ROC-AUC</a:t>
            </a:r>
            <a:endParaRPr/>
          </a:p>
          <a:p>
            <a:pPr marL="457200" lvl="0" indent="-330200" algn="l" rtl="0">
              <a:lnSpc>
                <a:spcPct val="125000"/>
              </a:lnSpc>
              <a:spcBef>
                <a:spcPts val="0"/>
              </a:spcBef>
              <a:spcAft>
                <a:spcPts val="0"/>
              </a:spcAft>
              <a:buSzPts val="1600"/>
              <a:buChar char="●"/>
            </a:pPr>
            <a:r>
              <a:rPr lang="en"/>
              <a:t>Stability metrics: PSI, CSI</a:t>
            </a:r>
            <a:endParaRPr/>
          </a:p>
          <a:p>
            <a:pPr marL="457200" lvl="0" indent="-330200" algn="l" rtl="0">
              <a:lnSpc>
                <a:spcPct val="125000"/>
              </a:lnSpc>
              <a:spcBef>
                <a:spcPts val="0"/>
              </a:spcBef>
              <a:spcAft>
                <a:spcPts val="0"/>
              </a:spcAft>
              <a:buSzPts val="1600"/>
              <a:buChar char="●"/>
            </a:pPr>
            <a:r>
              <a:rPr lang="en"/>
              <a:t>Other monitoring: </a:t>
            </a:r>
            <a:endParaRPr/>
          </a:p>
          <a:p>
            <a:pPr marL="914400" lvl="1" indent="-317500" algn="l" rtl="0">
              <a:lnSpc>
                <a:spcPct val="125000"/>
              </a:lnSpc>
              <a:spcBef>
                <a:spcPts val="0"/>
              </a:spcBef>
              <a:spcAft>
                <a:spcPts val="0"/>
              </a:spcAft>
              <a:buSzPts val="1400"/>
              <a:buChar char="○"/>
            </a:pPr>
            <a:r>
              <a:rPr lang="en"/>
              <a:t>Volume monitoring for </a:t>
            </a:r>
            <a:r>
              <a:rPr lang="en" b="1"/>
              <a:t>data quality tracing</a:t>
            </a:r>
            <a:r>
              <a:rPr lang="en"/>
              <a:t>: gifters, viewers, streams</a:t>
            </a:r>
            <a:endParaRPr/>
          </a:p>
          <a:p>
            <a:pPr marL="914400" lvl="1" indent="-317500" algn="l" rtl="0">
              <a:lnSpc>
                <a:spcPct val="125000"/>
              </a:lnSpc>
              <a:spcBef>
                <a:spcPts val="0"/>
              </a:spcBef>
              <a:spcAft>
                <a:spcPts val="0"/>
              </a:spcAft>
              <a:buSzPts val="1400"/>
              <a:buChar char="○"/>
            </a:pPr>
            <a:r>
              <a:rPr lang="en"/>
              <a:t>Bias monitoring for </a:t>
            </a:r>
            <a:r>
              <a:rPr lang="en" b="1"/>
              <a:t>model</a:t>
            </a:r>
            <a:r>
              <a:rPr lang="en"/>
              <a:t> </a:t>
            </a:r>
            <a:r>
              <a:rPr lang="en" b="1"/>
              <a:t>fairness review</a:t>
            </a:r>
            <a:r>
              <a:rPr lang="en"/>
              <a:t>: gender, age</a:t>
            </a:r>
            <a:endParaRPr/>
          </a:p>
        </p:txBody>
      </p:sp>
      <p:graphicFrame>
        <p:nvGraphicFramePr>
          <p:cNvPr id="2004" name="Google Shape;2004;p103"/>
          <p:cNvGraphicFramePr/>
          <p:nvPr/>
        </p:nvGraphicFramePr>
        <p:xfrm>
          <a:off x="372725" y="1362938"/>
          <a:ext cx="8497900" cy="2086125"/>
        </p:xfrm>
        <a:graphic>
          <a:graphicData uri="http://schemas.openxmlformats.org/drawingml/2006/table">
            <a:tbl>
              <a:tblPr>
                <a:noFill/>
                <a:tableStyleId>{74E38131-4129-46C3-9160-80A10F144541}</a:tableStyleId>
              </a:tblPr>
              <a:tblGrid>
                <a:gridCol w="748825">
                  <a:extLst>
                    <a:ext uri="{9D8B030D-6E8A-4147-A177-3AD203B41FA5}">
                      <a16:colId xmlns:a16="http://schemas.microsoft.com/office/drawing/2014/main" val="20000"/>
                    </a:ext>
                  </a:extLst>
                </a:gridCol>
                <a:gridCol w="1535650">
                  <a:extLst>
                    <a:ext uri="{9D8B030D-6E8A-4147-A177-3AD203B41FA5}">
                      <a16:colId xmlns:a16="http://schemas.microsoft.com/office/drawing/2014/main" val="20001"/>
                    </a:ext>
                  </a:extLst>
                </a:gridCol>
                <a:gridCol w="3911325">
                  <a:extLst>
                    <a:ext uri="{9D8B030D-6E8A-4147-A177-3AD203B41FA5}">
                      <a16:colId xmlns:a16="http://schemas.microsoft.com/office/drawing/2014/main" val="20002"/>
                    </a:ext>
                  </a:extLst>
                </a:gridCol>
                <a:gridCol w="2302100">
                  <a:extLst>
                    <a:ext uri="{9D8B030D-6E8A-4147-A177-3AD203B41FA5}">
                      <a16:colId xmlns:a16="http://schemas.microsoft.com/office/drawing/2014/main" val="20003"/>
                    </a:ext>
                  </a:extLst>
                </a:gridCol>
              </a:tblGrid>
              <a:tr h="417225">
                <a:tc>
                  <a:txBody>
                    <a:bodyPr/>
                    <a:lstStyle/>
                    <a:p>
                      <a:pPr marL="0" lvl="0" indent="0" algn="l" rtl="0">
                        <a:spcBef>
                          <a:spcPts val="0"/>
                        </a:spcBef>
                        <a:spcAft>
                          <a:spcPts val="0"/>
                        </a:spcAft>
                        <a:buNone/>
                      </a:pPr>
                      <a:r>
                        <a:rPr lang="en" b="1">
                          <a:solidFill>
                            <a:schemeClr val="accent6"/>
                          </a:solidFill>
                          <a:latin typeface="Didact Gothic"/>
                          <a:ea typeface="Didact Gothic"/>
                          <a:cs typeface="Didact Gothic"/>
                          <a:sym typeface="Didact Gothic"/>
                        </a:rPr>
                        <a:t>Stage</a:t>
                      </a:r>
                      <a:endParaRPr b="1">
                        <a:solidFill>
                          <a:schemeClr val="accent6"/>
                        </a:solidFill>
                        <a:latin typeface="Didact Gothic"/>
                        <a:ea typeface="Didact Gothic"/>
                        <a:cs typeface="Didact Gothic"/>
                        <a:sym typeface="Didact Gothic"/>
                      </a:endParaRPr>
                    </a:p>
                  </a:txBody>
                  <a:tcPr marL="91425" marR="91425" marT="91425" marB="91425">
                    <a:solidFill>
                      <a:srgbClr val="374768"/>
                    </a:solidFill>
                  </a:tcPr>
                </a:tc>
                <a:tc>
                  <a:txBody>
                    <a:bodyPr/>
                    <a:lstStyle/>
                    <a:p>
                      <a:pPr marL="0" lvl="0" indent="0" algn="l" rtl="0">
                        <a:spcBef>
                          <a:spcPts val="0"/>
                        </a:spcBef>
                        <a:spcAft>
                          <a:spcPts val="0"/>
                        </a:spcAft>
                        <a:buNone/>
                      </a:pPr>
                      <a:r>
                        <a:rPr lang="en" b="1">
                          <a:solidFill>
                            <a:schemeClr val="accent6"/>
                          </a:solidFill>
                          <a:latin typeface="Didact Gothic"/>
                          <a:ea typeface="Didact Gothic"/>
                          <a:cs typeface="Didact Gothic"/>
                          <a:sym typeface="Didact Gothic"/>
                        </a:rPr>
                        <a:t>Dates</a:t>
                      </a:r>
                      <a:endParaRPr b="1">
                        <a:solidFill>
                          <a:schemeClr val="accent6"/>
                        </a:solidFill>
                        <a:latin typeface="Didact Gothic"/>
                        <a:ea typeface="Didact Gothic"/>
                        <a:cs typeface="Didact Gothic"/>
                        <a:sym typeface="Didact Gothic"/>
                      </a:endParaRPr>
                    </a:p>
                  </a:txBody>
                  <a:tcPr marL="91425" marR="91425" marT="91425" marB="91425">
                    <a:solidFill>
                      <a:srgbClr val="374768"/>
                    </a:solidFill>
                  </a:tcPr>
                </a:tc>
                <a:tc>
                  <a:txBody>
                    <a:bodyPr/>
                    <a:lstStyle/>
                    <a:p>
                      <a:pPr marL="0" lvl="0" indent="0" algn="l" rtl="0">
                        <a:spcBef>
                          <a:spcPts val="0"/>
                        </a:spcBef>
                        <a:spcAft>
                          <a:spcPts val="0"/>
                        </a:spcAft>
                        <a:buNone/>
                      </a:pPr>
                      <a:r>
                        <a:rPr lang="en" b="1">
                          <a:solidFill>
                            <a:schemeClr val="accent6"/>
                          </a:solidFill>
                          <a:latin typeface="Didact Gothic"/>
                          <a:ea typeface="Didact Gothic"/>
                          <a:cs typeface="Didact Gothic"/>
                          <a:sym typeface="Didact Gothic"/>
                        </a:rPr>
                        <a:t>Phase</a:t>
                      </a:r>
                      <a:endParaRPr b="1">
                        <a:solidFill>
                          <a:schemeClr val="accent6"/>
                        </a:solidFill>
                        <a:latin typeface="Didact Gothic"/>
                        <a:ea typeface="Didact Gothic"/>
                        <a:cs typeface="Didact Gothic"/>
                        <a:sym typeface="Didact Gothic"/>
                      </a:endParaRPr>
                    </a:p>
                  </a:txBody>
                  <a:tcPr marL="91425" marR="91425" marT="91425" marB="91425">
                    <a:solidFill>
                      <a:srgbClr val="374768"/>
                    </a:solidFill>
                  </a:tcPr>
                </a:tc>
                <a:tc>
                  <a:txBody>
                    <a:bodyPr/>
                    <a:lstStyle/>
                    <a:p>
                      <a:pPr marL="0" lvl="0" indent="0" algn="l" rtl="0">
                        <a:spcBef>
                          <a:spcPts val="0"/>
                        </a:spcBef>
                        <a:spcAft>
                          <a:spcPts val="0"/>
                        </a:spcAft>
                        <a:buNone/>
                      </a:pPr>
                      <a:r>
                        <a:rPr lang="en" b="1">
                          <a:solidFill>
                            <a:schemeClr val="accent6"/>
                          </a:solidFill>
                          <a:latin typeface="Didact Gothic"/>
                          <a:ea typeface="Didact Gothic"/>
                          <a:cs typeface="Didact Gothic"/>
                          <a:sym typeface="Didact Gothic"/>
                        </a:rPr>
                        <a:t>Expected Outcome</a:t>
                      </a:r>
                      <a:endParaRPr b="1">
                        <a:solidFill>
                          <a:schemeClr val="accent6"/>
                        </a:solidFill>
                        <a:latin typeface="Didact Gothic"/>
                        <a:ea typeface="Didact Gothic"/>
                        <a:cs typeface="Didact Gothic"/>
                        <a:sym typeface="Didact Gothic"/>
                      </a:endParaRPr>
                    </a:p>
                  </a:txBody>
                  <a:tcPr marL="91425" marR="91425" marT="91425" marB="91425">
                    <a:solidFill>
                      <a:srgbClr val="374768"/>
                    </a:solidFill>
                  </a:tcPr>
                </a:tc>
                <a:extLst>
                  <a:ext uri="{0D108BD9-81ED-4DB2-BD59-A6C34878D82A}">
                    <a16:rowId xmlns:a16="http://schemas.microsoft.com/office/drawing/2014/main" val="10000"/>
                  </a:ext>
                </a:extLst>
              </a:tr>
              <a:tr h="417225">
                <a:tc>
                  <a:txBody>
                    <a:bodyPr/>
                    <a:lstStyle/>
                    <a:p>
                      <a:pPr marL="0" lvl="0" indent="0" algn="l" rtl="0">
                        <a:spcBef>
                          <a:spcPts val="0"/>
                        </a:spcBef>
                        <a:spcAft>
                          <a:spcPts val="0"/>
                        </a:spcAft>
                        <a:buNone/>
                      </a:pPr>
                      <a:r>
                        <a:rPr lang="en">
                          <a:latin typeface="Didact Gothic"/>
                          <a:ea typeface="Didact Gothic"/>
                          <a:cs typeface="Didact Gothic"/>
                          <a:sym typeface="Didact Gothic"/>
                        </a:rPr>
                        <a:t>1</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a:latin typeface="Didact Gothic"/>
                          <a:ea typeface="Didact Gothic"/>
                          <a:cs typeface="Didact Gothic"/>
                          <a:sym typeface="Didact Gothic"/>
                        </a:rPr>
                        <a:t>May 5 to 25</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b="1">
                          <a:latin typeface="Didact Gothic"/>
                          <a:ea typeface="Didact Gothic"/>
                          <a:cs typeface="Didact Gothic"/>
                          <a:sym typeface="Didact Gothic"/>
                        </a:rPr>
                        <a:t>Training: </a:t>
                      </a:r>
                      <a:r>
                        <a:rPr lang="en">
                          <a:latin typeface="Didact Gothic"/>
                          <a:ea typeface="Didact Gothic"/>
                          <a:cs typeface="Didact Gothic"/>
                          <a:sym typeface="Didact Gothic"/>
                        </a:rPr>
                        <a:t>train model 1 on historical dataset</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a:latin typeface="Didact Gothic"/>
                          <a:ea typeface="Didact Gothic"/>
                          <a:cs typeface="Didact Gothic"/>
                          <a:sym typeface="Didact Gothic"/>
                        </a:rPr>
                        <a:t>Baseline performance</a:t>
                      </a:r>
                      <a:endParaRPr>
                        <a:latin typeface="Didact Gothic"/>
                        <a:ea typeface="Didact Gothic"/>
                        <a:cs typeface="Didact Gothic"/>
                        <a:sym typeface="Didact Gothic"/>
                      </a:endParaRPr>
                    </a:p>
                  </a:txBody>
                  <a:tcPr marL="91425" marR="91425" marT="91425" marB="91425">
                    <a:solidFill>
                      <a:schemeClr val="accent6"/>
                    </a:solidFill>
                  </a:tcPr>
                </a:tc>
                <a:extLst>
                  <a:ext uri="{0D108BD9-81ED-4DB2-BD59-A6C34878D82A}">
                    <a16:rowId xmlns:a16="http://schemas.microsoft.com/office/drawing/2014/main" val="10001"/>
                  </a:ext>
                </a:extLst>
              </a:tr>
              <a:tr h="417225">
                <a:tc>
                  <a:txBody>
                    <a:bodyPr/>
                    <a:lstStyle/>
                    <a:p>
                      <a:pPr marL="0" lvl="0" indent="0" algn="l" rtl="0">
                        <a:spcBef>
                          <a:spcPts val="0"/>
                        </a:spcBef>
                        <a:spcAft>
                          <a:spcPts val="0"/>
                        </a:spcAft>
                        <a:buNone/>
                      </a:pPr>
                      <a:r>
                        <a:rPr lang="en">
                          <a:latin typeface="Didact Gothic"/>
                          <a:ea typeface="Didact Gothic"/>
                          <a:cs typeface="Didact Gothic"/>
                          <a:sym typeface="Didact Gothic"/>
                        </a:rPr>
                        <a:t>2</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a:latin typeface="Didact Gothic"/>
                          <a:ea typeface="Didact Gothic"/>
                          <a:cs typeface="Didact Gothic"/>
                          <a:sym typeface="Didact Gothic"/>
                        </a:rPr>
                        <a:t>Sep 1 to 20</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b="1">
                          <a:latin typeface="Didact Gothic"/>
                          <a:ea typeface="Didact Gothic"/>
                          <a:cs typeface="Didact Gothic"/>
                          <a:sym typeface="Didact Gothic"/>
                        </a:rPr>
                        <a:t>Drift:</a:t>
                      </a:r>
                      <a:r>
                        <a:rPr lang="en">
                          <a:latin typeface="Didact Gothic"/>
                          <a:ea typeface="Didact Gothic"/>
                          <a:cs typeface="Didact Gothic"/>
                          <a:sym typeface="Didact Gothic"/>
                        </a:rPr>
                        <a:t> population changes in new dataset</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a:latin typeface="Didact Gothic"/>
                          <a:ea typeface="Didact Gothic"/>
                          <a:cs typeface="Didact Gothic"/>
                          <a:sym typeface="Didact Gothic"/>
                        </a:rPr>
                        <a:t>Degraded performance </a:t>
                      </a:r>
                      <a:endParaRPr>
                        <a:latin typeface="Didact Gothic"/>
                        <a:ea typeface="Didact Gothic"/>
                        <a:cs typeface="Didact Gothic"/>
                        <a:sym typeface="Didact Gothic"/>
                      </a:endParaRPr>
                    </a:p>
                  </a:txBody>
                  <a:tcPr marL="91425" marR="91425" marT="91425" marB="91425">
                    <a:solidFill>
                      <a:schemeClr val="accent6"/>
                    </a:solidFill>
                  </a:tcPr>
                </a:tc>
                <a:extLst>
                  <a:ext uri="{0D108BD9-81ED-4DB2-BD59-A6C34878D82A}">
                    <a16:rowId xmlns:a16="http://schemas.microsoft.com/office/drawing/2014/main" val="10002"/>
                  </a:ext>
                </a:extLst>
              </a:tr>
              <a:tr h="417225">
                <a:tc>
                  <a:txBody>
                    <a:bodyPr/>
                    <a:lstStyle/>
                    <a:p>
                      <a:pPr marL="0" lvl="0" indent="0" algn="l" rtl="0">
                        <a:spcBef>
                          <a:spcPts val="0"/>
                        </a:spcBef>
                        <a:spcAft>
                          <a:spcPts val="0"/>
                        </a:spcAft>
                        <a:buNone/>
                      </a:pPr>
                      <a:r>
                        <a:rPr lang="en">
                          <a:latin typeface="Didact Gothic"/>
                          <a:ea typeface="Didact Gothic"/>
                          <a:cs typeface="Didact Gothic"/>
                          <a:sym typeface="Didact Gothic"/>
                        </a:rPr>
                        <a:t>3</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a:latin typeface="Didact Gothic"/>
                          <a:ea typeface="Didact Gothic"/>
                          <a:cs typeface="Didact Gothic"/>
                          <a:sym typeface="Didact Gothic"/>
                        </a:rPr>
                        <a:t>Sep 20</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b="1">
                          <a:latin typeface="Didact Gothic"/>
                          <a:ea typeface="Didact Gothic"/>
                          <a:cs typeface="Didact Gothic"/>
                          <a:sym typeface="Didact Gothic"/>
                        </a:rPr>
                        <a:t>Retraining: </a:t>
                      </a:r>
                      <a:r>
                        <a:rPr lang="en">
                          <a:latin typeface="Didact Gothic"/>
                          <a:ea typeface="Didact Gothic"/>
                          <a:cs typeface="Didact Gothic"/>
                          <a:sym typeface="Didact Gothic"/>
                        </a:rPr>
                        <a:t>train model 2 on new dataset</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a:latin typeface="Didact Gothic"/>
                          <a:ea typeface="Didact Gothic"/>
                          <a:cs typeface="Didact Gothic"/>
                          <a:sym typeface="Didact Gothic"/>
                        </a:rPr>
                        <a:t>New baseline</a:t>
                      </a:r>
                      <a:endParaRPr>
                        <a:latin typeface="Didact Gothic"/>
                        <a:ea typeface="Didact Gothic"/>
                        <a:cs typeface="Didact Gothic"/>
                        <a:sym typeface="Didact Gothic"/>
                      </a:endParaRPr>
                    </a:p>
                  </a:txBody>
                  <a:tcPr marL="91425" marR="91425" marT="91425" marB="91425">
                    <a:solidFill>
                      <a:schemeClr val="accent6"/>
                    </a:solidFill>
                  </a:tcPr>
                </a:tc>
                <a:extLst>
                  <a:ext uri="{0D108BD9-81ED-4DB2-BD59-A6C34878D82A}">
                    <a16:rowId xmlns:a16="http://schemas.microsoft.com/office/drawing/2014/main" val="10003"/>
                  </a:ext>
                </a:extLst>
              </a:tr>
              <a:tr h="417225">
                <a:tc>
                  <a:txBody>
                    <a:bodyPr/>
                    <a:lstStyle/>
                    <a:p>
                      <a:pPr marL="0" lvl="0" indent="0" algn="l" rtl="0">
                        <a:spcBef>
                          <a:spcPts val="0"/>
                        </a:spcBef>
                        <a:spcAft>
                          <a:spcPts val="0"/>
                        </a:spcAft>
                        <a:buNone/>
                      </a:pPr>
                      <a:r>
                        <a:rPr lang="en">
                          <a:latin typeface="Didact Gothic"/>
                          <a:ea typeface="Didact Gothic"/>
                          <a:cs typeface="Didact Gothic"/>
                          <a:sym typeface="Didact Gothic"/>
                        </a:rPr>
                        <a:t>4</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a:latin typeface="Didact Gothic"/>
                          <a:ea typeface="Didact Gothic"/>
                          <a:cs typeface="Didact Gothic"/>
                          <a:sym typeface="Didact Gothic"/>
                        </a:rPr>
                        <a:t>Sep 21 onwards</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b="1">
                          <a:latin typeface="Didact Gothic"/>
                          <a:ea typeface="Didact Gothic"/>
                          <a:cs typeface="Didact Gothic"/>
                          <a:sym typeface="Didact Gothic"/>
                        </a:rPr>
                        <a:t>Deployment: </a:t>
                      </a:r>
                      <a:r>
                        <a:rPr lang="en">
                          <a:latin typeface="Didact Gothic"/>
                          <a:ea typeface="Didact Gothic"/>
                          <a:cs typeface="Didact Gothic"/>
                          <a:sym typeface="Didact Gothic"/>
                        </a:rPr>
                        <a:t>switch to model 2</a:t>
                      </a:r>
                      <a:endParaRPr>
                        <a:latin typeface="Didact Gothic"/>
                        <a:ea typeface="Didact Gothic"/>
                        <a:cs typeface="Didact Gothic"/>
                        <a:sym typeface="Didact Gothic"/>
                      </a:endParaRPr>
                    </a:p>
                  </a:txBody>
                  <a:tcPr marL="91425" marR="91425" marT="91425" marB="91425">
                    <a:solidFill>
                      <a:schemeClr val="accent6"/>
                    </a:solidFill>
                  </a:tcPr>
                </a:tc>
                <a:tc>
                  <a:txBody>
                    <a:bodyPr/>
                    <a:lstStyle/>
                    <a:p>
                      <a:pPr marL="0" lvl="0" indent="0" algn="l" rtl="0">
                        <a:spcBef>
                          <a:spcPts val="0"/>
                        </a:spcBef>
                        <a:spcAft>
                          <a:spcPts val="0"/>
                        </a:spcAft>
                        <a:buNone/>
                      </a:pPr>
                      <a:r>
                        <a:rPr lang="en">
                          <a:latin typeface="Didact Gothic"/>
                          <a:ea typeface="Didact Gothic"/>
                          <a:cs typeface="Didact Gothic"/>
                          <a:sym typeface="Didact Gothic"/>
                        </a:rPr>
                        <a:t>Performance improvement</a:t>
                      </a:r>
                      <a:endParaRPr>
                        <a:latin typeface="Didact Gothic"/>
                        <a:ea typeface="Didact Gothic"/>
                        <a:cs typeface="Didact Gothic"/>
                        <a:sym typeface="Didact Gothic"/>
                      </a:endParaRPr>
                    </a:p>
                  </a:txBody>
                  <a:tcPr marL="91425" marR="91425" marT="91425" marB="91425">
                    <a:solidFill>
                      <a:schemeClr val="accent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2008"/>
        <p:cNvGrpSpPr/>
        <p:nvPr/>
      </p:nvGrpSpPr>
      <p:grpSpPr>
        <a:xfrm>
          <a:off x="0" y="0"/>
          <a:ext cx="0" cy="0"/>
          <a:chOff x="0" y="0"/>
          <a:chExt cx="0" cy="0"/>
        </a:xfrm>
      </p:grpSpPr>
      <p:grpSp>
        <p:nvGrpSpPr>
          <p:cNvPr id="2009" name="Google Shape;2009;p104"/>
          <p:cNvGrpSpPr/>
          <p:nvPr/>
        </p:nvGrpSpPr>
        <p:grpSpPr>
          <a:xfrm>
            <a:off x="5131000" y="269075"/>
            <a:ext cx="3702600" cy="650775"/>
            <a:chOff x="5131000" y="269075"/>
            <a:chExt cx="3702600" cy="650775"/>
          </a:xfrm>
        </p:grpSpPr>
        <p:sp>
          <p:nvSpPr>
            <p:cNvPr id="2010" name="Google Shape;2010;p104"/>
            <p:cNvSpPr/>
            <p:nvPr/>
          </p:nvSpPr>
          <p:spPr>
            <a:xfrm>
              <a:off x="5131000" y="347150"/>
              <a:ext cx="3702600" cy="5727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idact Gothic"/>
                <a:ea typeface="Didact Gothic"/>
                <a:cs typeface="Didact Gothic"/>
                <a:sym typeface="Didact Gothic"/>
              </a:endParaRPr>
            </a:p>
          </p:txBody>
        </p:sp>
        <p:pic>
          <p:nvPicPr>
            <p:cNvPr id="2011" name="Google Shape;2011;p104" title="Picture3.png"/>
            <p:cNvPicPr preferRelativeResize="0"/>
            <p:nvPr/>
          </p:nvPicPr>
          <p:blipFill rotWithShape="1">
            <a:blip r:embed="rId3">
              <a:alphaModFix/>
            </a:blip>
            <a:srcRect b="6942"/>
            <a:stretch/>
          </p:blipFill>
          <p:spPr>
            <a:xfrm>
              <a:off x="5306175" y="480825"/>
              <a:ext cx="3352274" cy="414325"/>
            </a:xfrm>
            <a:prstGeom prst="rect">
              <a:avLst/>
            </a:prstGeom>
            <a:noFill/>
            <a:ln>
              <a:noFill/>
            </a:ln>
          </p:spPr>
        </p:pic>
        <p:sp>
          <p:nvSpPr>
            <p:cNvPr id="2012" name="Google Shape;2012;p104"/>
            <p:cNvSpPr txBox="1"/>
            <p:nvPr/>
          </p:nvSpPr>
          <p:spPr>
            <a:xfrm>
              <a:off x="6651726" y="269075"/>
              <a:ext cx="630000" cy="303900"/>
            </a:xfrm>
            <a:prstGeom prst="rect">
              <a:avLst/>
            </a:prstGeom>
            <a:noFill/>
            <a:ln>
              <a:noFill/>
            </a:ln>
          </p:spPr>
          <p:txBody>
            <a:bodyPr spcFirstLastPara="1" wrap="square" lIns="90300" tIns="90300" rIns="90300" bIns="90300" anchor="t" anchorCtr="0">
              <a:spAutoFit/>
            </a:bodyPr>
            <a:lstStyle/>
            <a:p>
              <a:pPr marL="0" lvl="0" indent="0" algn="ctr" rtl="0">
                <a:spcBef>
                  <a:spcPts val="0"/>
                </a:spcBef>
                <a:spcAft>
                  <a:spcPts val="0"/>
                </a:spcAft>
                <a:buNone/>
              </a:pPr>
              <a:r>
                <a:rPr lang="en" sz="790" b="1" u="sng">
                  <a:latin typeface="Poppins"/>
                  <a:ea typeface="Poppins"/>
                  <a:cs typeface="Poppins"/>
                  <a:sym typeface="Poppins"/>
                </a:rPr>
                <a:t>LEGEND</a:t>
              </a:r>
              <a:endParaRPr sz="790">
                <a:solidFill>
                  <a:schemeClr val="dk1"/>
                </a:solidFill>
                <a:latin typeface="Poppins"/>
                <a:ea typeface="Poppins"/>
                <a:cs typeface="Poppins"/>
                <a:sym typeface="Poppins"/>
              </a:endParaRPr>
            </a:p>
          </p:txBody>
        </p:sp>
      </p:grpSp>
      <p:sp>
        <p:nvSpPr>
          <p:cNvPr id="2013" name="Google Shape;2013;p104"/>
          <p:cNvSpPr txBox="1">
            <a:spLocks noGrp="1"/>
          </p:cNvSpPr>
          <p:nvPr>
            <p:ph type="title"/>
          </p:nvPr>
        </p:nvSpPr>
        <p:spPr>
          <a:xfrm>
            <a:off x="273500" y="327125"/>
            <a:ext cx="4622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Monitoring Results</a:t>
            </a:r>
            <a:endParaRPr/>
          </a:p>
        </p:txBody>
      </p:sp>
      <p:grpSp>
        <p:nvGrpSpPr>
          <p:cNvPr id="2014" name="Google Shape;2014;p104"/>
          <p:cNvGrpSpPr/>
          <p:nvPr/>
        </p:nvGrpSpPr>
        <p:grpSpPr>
          <a:xfrm>
            <a:off x="5131025" y="919850"/>
            <a:ext cx="3772749" cy="4283565"/>
            <a:chOff x="5131025" y="919850"/>
            <a:chExt cx="3772749" cy="4283565"/>
          </a:xfrm>
        </p:grpSpPr>
        <p:sp>
          <p:nvSpPr>
            <p:cNvPr id="2015" name="Google Shape;2015;p104"/>
            <p:cNvSpPr/>
            <p:nvPr/>
          </p:nvSpPr>
          <p:spPr>
            <a:xfrm>
              <a:off x="5131028" y="1216620"/>
              <a:ext cx="3692462" cy="3915347"/>
            </a:xfrm>
            <a:prstGeom prst="rect">
              <a:avLst/>
            </a:prstGeom>
            <a:noFill/>
            <a:ln w="9425" cap="flat" cmpd="sng">
              <a:solidFill>
                <a:schemeClr val="dk2"/>
              </a:solidFill>
              <a:prstDash val="solid"/>
              <a:round/>
              <a:headEnd type="none" w="sm" len="sm"/>
              <a:tailEnd type="none" w="sm" len="sm"/>
            </a:ln>
          </p:spPr>
          <p:txBody>
            <a:bodyPr spcFirstLastPara="1" wrap="square" lIns="90575" tIns="90575" rIns="90575" bIns="90575" anchor="ctr" anchorCtr="0">
              <a:noAutofit/>
            </a:bodyPr>
            <a:lstStyle/>
            <a:p>
              <a:pPr marL="0" lvl="0" indent="0" algn="ctr" rtl="0">
                <a:spcBef>
                  <a:spcPts val="0"/>
                </a:spcBef>
                <a:spcAft>
                  <a:spcPts val="0"/>
                </a:spcAft>
                <a:buNone/>
              </a:pPr>
              <a:endParaRPr sz="1387">
                <a:solidFill>
                  <a:schemeClr val="lt1"/>
                </a:solidFill>
                <a:latin typeface="Didact Gothic"/>
                <a:ea typeface="Didact Gothic"/>
                <a:cs typeface="Didact Gothic"/>
                <a:sym typeface="Didact Gothic"/>
              </a:endParaRPr>
            </a:p>
          </p:txBody>
        </p:sp>
        <p:sp>
          <p:nvSpPr>
            <p:cNvPr id="2016" name="Google Shape;2016;p104"/>
            <p:cNvSpPr txBox="1"/>
            <p:nvPr/>
          </p:nvSpPr>
          <p:spPr>
            <a:xfrm>
              <a:off x="7240956" y="4881815"/>
              <a:ext cx="14454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CSI</a:t>
              </a:r>
              <a:endParaRPr sz="900" b="1">
                <a:solidFill>
                  <a:schemeClr val="dk1"/>
                </a:solidFill>
                <a:latin typeface="Didact Gothic"/>
                <a:ea typeface="Didact Gothic"/>
                <a:cs typeface="Didact Gothic"/>
                <a:sym typeface="Didact Gothic"/>
              </a:endParaRPr>
            </a:p>
          </p:txBody>
        </p:sp>
        <p:sp>
          <p:nvSpPr>
            <p:cNvPr id="2017" name="Google Shape;2017;p104"/>
            <p:cNvSpPr txBox="1"/>
            <p:nvPr/>
          </p:nvSpPr>
          <p:spPr>
            <a:xfrm>
              <a:off x="5551810" y="4881815"/>
              <a:ext cx="14454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CSI</a:t>
              </a:r>
              <a:endParaRPr sz="900" b="1">
                <a:solidFill>
                  <a:schemeClr val="dk1"/>
                </a:solidFill>
                <a:latin typeface="Didact Gothic"/>
                <a:ea typeface="Didact Gothic"/>
                <a:cs typeface="Didact Gothic"/>
                <a:sym typeface="Didact Gothic"/>
              </a:endParaRPr>
            </a:p>
          </p:txBody>
        </p:sp>
        <p:pic>
          <p:nvPicPr>
            <p:cNvPr id="2018" name="Google Shape;2018;p104" title="Picture1.png"/>
            <p:cNvPicPr preferRelativeResize="0"/>
            <p:nvPr/>
          </p:nvPicPr>
          <p:blipFill rotWithShape="1">
            <a:blip r:embed="rId4">
              <a:alphaModFix/>
            </a:blip>
            <a:srcRect l="1105" r="1105"/>
            <a:stretch/>
          </p:blipFill>
          <p:spPr>
            <a:xfrm>
              <a:off x="5551810" y="1439504"/>
              <a:ext cx="3271622" cy="3492460"/>
            </a:xfrm>
            <a:prstGeom prst="rect">
              <a:avLst/>
            </a:prstGeom>
            <a:noFill/>
            <a:ln>
              <a:noFill/>
            </a:ln>
          </p:spPr>
        </p:pic>
        <p:sp>
          <p:nvSpPr>
            <p:cNvPr id="2019" name="Google Shape;2019;p104"/>
            <p:cNvSpPr txBox="1"/>
            <p:nvPr/>
          </p:nvSpPr>
          <p:spPr>
            <a:xfrm>
              <a:off x="7240956" y="1225194"/>
              <a:ext cx="14454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Daily</a:t>
              </a:r>
              <a:endParaRPr sz="900" b="1">
                <a:solidFill>
                  <a:schemeClr val="dk1"/>
                </a:solidFill>
                <a:latin typeface="Didact Gothic"/>
                <a:ea typeface="Didact Gothic"/>
                <a:cs typeface="Didact Gothic"/>
                <a:sym typeface="Didact Gothic"/>
              </a:endParaRPr>
            </a:p>
          </p:txBody>
        </p:sp>
        <p:sp>
          <p:nvSpPr>
            <p:cNvPr id="2020" name="Google Shape;2020;p104"/>
            <p:cNvSpPr txBox="1"/>
            <p:nvPr/>
          </p:nvSpPr>
          <p:spPr>
            <a:xfrm>
              <a:off x="5551811" y="1225194"/>
              <a:ext cx="14454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7-Day Rolling</a:t>
              </a:r>
              <a:endParaRPr sz="900" b="1">
                <a:solidFill>
                  <a:schemeClr val="dk1"/>
                </a:solidFill>
                <a:latin typeface="Didact Gothic"/>
                <a:ea typeface="Didact Gothic"/>
                <a:cs typeface="Didact Gothic"/>
                <a:sym typeface="Didact Gothic"/>
              </a:endParaRPr>
            </a:p>
          </p:txBody>
        </p:sp>
        <p:sp>
          <p:nvSpPr>
            <p:cNvPr id="2021" name="Google Shape;2021;p104"/>
            <p:cNvSpPr txBox="1"/>
            <p:nvPr/>
          </p:nvSpPr>
          <p:spPr>
            <a:xfrm>
              <a:off x="5396537" y="2864359"/>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May</a:t>
              </a:r>
              <a:endParaRPr sz="700">
                <a:solidFill>
                  <a:schemeClr val="dk1"/>
                </a:solidFill>
                <a:latin typeface="Didact Gothic"/>
                <a:ea typeface="Didact Gothic"/>
                <a:cs typeface="Didact Gothic"/>
                <a:sym typeface="Didact Gothic"/>
              </a:endParaRPr>
            </a:p>
          </p:txBody>
        </p:sp>
        <p:sp>
          <p:nvSpPr>
            <p:cNvPr id="2022" name="Google Shape;2022;p104"/>
            <p:cNvSpPr txBox="1"/>
            <p:nvPr/>
          </p:nvSpPr>
          <p:spPr>
            <a:xfrm>
              <a:off x="6656866" y="2864359"/>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Dec</a:t>
              </a:r>
              <a:endParaRPr sz="700">
                <a:solidFill>
                  <a:schemeClr val="dk1"/>
                </a:solidFill>
                <a:latin typeface="Didact Gothic"/>
                <a:ea typeface="Didact Gothic"/>
                <a:cs typeface="Didact Gothic"/>
                <a:sym typeface="Didact Gothic"/>
              </a:endParaRPr>
            </a:p>
          </p:txBody>
        </p:sp>
        <p:sp>
          <p:nvSpPr>
            <p:cNvPr id="2023" name="Google Shape;2023;p104"/>
            <p:cNvSpPr txBox="1"/>
            <p:nvPr/>
          </p:nvSpPr>
          <p:spPr>
            <a:xfrm>
              <a:off x="7074539" y="2864359"/>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May</a:t>
              </a:r>
              <a:endParaRPr sz="700">
                <a:solidFill>
                  <a:schemeClr val="dk1"/>
                </a:solidFill>
                <a:latin typeface="Didact Gothic"/>
                <a:ea typeface="Didact Gothic"/>
                <a:cs typeface="Didact Gothic"/>
                <a:sym typeface="Didact Gothic"/>
              </a:endParaRPr>
            </a:p>
          </p:txBody>
        </p:sp>
        <p:sp>
          <p:nvSpPr>
            <p:cNvPr id="2024" name="Google Shape;2024;p104"/>
            <p:cNvSpPr txBox="1"/>
            <p:nvPr/>
          </p:nvSpPr>
          <p:spPr>
            <a:xfrm>
              <a:off x="8334868" y="2864359"/>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Dec</a:t>
              </a:r>
              <a:endParaRPr sz="700">
                <a:solidFill>
                  <a:schemeClr val="dk1"/>
                </a:solidFill>
                <a:latin typeface="Didact Gothic"/>
                <a:ea typeface="Didact Gothic"/>
                <a:cs typeface="Didact Gothic"/>
                <a:sym typeface="Didact Gothic"/>
              </a:endParaRPr>
            </a:p>
          </p:txBody>
        </p:sp>
        <p:sp>
          <p:nvSpPr>
            <p:cNvPr id="2025" name="Google Shape;2025;p104"/>
            <p:cNvSpPr txBox="1"/>
            <p:nvPr/>
          </p:nvSpPr>
          <p:spPr>
            <a:xfrm rot="-5400000">
              <a:off x="4709378" y="2223339"/>
              <a:ext cx="11649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PSI</a:t>
              </a:r>
              <a:endParaRPr sz="900" b="1">
                <a:solidFill>
                  <a:schemeClr val="dk1"/>
                </a:solidFill>
                <a:latin typeface="Didact Gothic"/>
                <a:ea typeface="Didact Gothic"/>
                <a:cs typeface="Didact Gothic"/>
                <a:sym typeface="Didact Gothic"/>
              </a:endParaRPr>
            </a:p>
          </p:txBody>
        </p:sp>
        <p:sp>
          <p:nvSpPr>
            <p:cNvPr id="2026" name="Google Shape;2026;p104"/>
            <p:cNvSpPr txBox="1"/>
            <p:nvPr/>
          </p:nvSpPr>
          <p:spPr>
            <a:xfrm>
              <a:off x="5240885" y="1678943"/>
              <a:ext cx="3657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0.25</a:t>
              </a:r>
              <a:endParaRPr sz="700">
                <a:solidFill>
                  <a:schemeClr val="dk1"/>
                </a:solidFill>
                <a:latin typeface="Didact Gothic"/>
                <a:ea typeface="Didact Gothic"/>
                <a:cs typeface="Didact Gothic"/>
                <a:sym typeface="Didact Gothic"/>
              </a:endParaRPr>
            </a:p>
          </p:txBody>
        </p:sp>
        <p:sp>
          <p:nvSpPr>
            <p:cNvPr id="2027" name="Google Shape;2027;p104"/>
            <p:cNvSpPr txBox="1"/>
            <p:nvPr/>
          </p:nvSpPr>
          <p:spPr>
            <a:xfrm>
              <a:off x="5228404" y="2803313"/>
              <a:ext cx="3909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0.00</a:t>
              </a:r>
              <a:endParaRPr sz="700">
                <a:solidFill>
                  <a:schemeClr val="dk1"/>
                </a:solidFill>
                <a:latin typeface="Didact Gothic"/>
                <a:ea typeface="Didact Gothic"/>
                <a:cs typeface="Didact Gothic"/>
                <a:sym typeface="Didact Gothic"/>
              </a:endParaRPr>
            </a:p>
          </p:txBody>
        </p:sp>
        <p:sp>
          <p:nvSpPr>
            <p:cNvPr id="2028" name="Google Shape;2028;p104"/>
            <p:cNvSpPr txBox="1"/>
            <p:nvPr/>
          </p:nvSpPr>
          <p:spPr>
            <a:xfrm rot="-5400000">
              <a:off x="4546028" y="3992996"/>
              <a:ext cx="14916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Top 10 CSI Features</a:t>
              </a:r>
              <a:endParaRPr sz="900" b="1">
                <a:solidFill>
                  <a:schemeClr val="dk1"/>
                </a:solidFill>
                <a:latin typeface="Didact Gothic"/>
                <a:ea typeface="Didact Gothic"/>
                <a:cs typeface="Didact Gothic"/>
                <a:sym typeface="Didact Gothic"/>
              </a:endParaRPr>
            </a:p>
          </p:txBody>
        </p:sp>
        <p:sp>
          <p:nvSpPr>
            <p:cNvPr id="2029" name="Google Shape;2029;p104"/>
            <p:cNvSpPr txBox="1"/>
            <p:nvPr/>
          </p:nvSpPr>
          <p:spPr>
            <a:xfrm>
              <a:off x="5396537" y="4845008"/>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0.00</a:t>
              </a:r>
              <a:endParaRPr sz="700">
                <a:solidFill>
                  <a:schemeClr val="dk1"/>
                </a:solidFill>
                <a:latin typeface="Didact Gothic"/>
                <a:ea typeface="Didact Gothic"/>
                <a:cs typeface="Didact Gothic"/>
                <a:sym typeface="Didact Gothic"/>
              </a:endParaRPr>
            </a:p>
          </p:txBody>
        </p:sp>
        <p:sp>
          <p:nvSpPr>
            <p:cNvPr id="2030" name="Google Shape;2030;p104"/>
            <p:cNvSpPr txBox="1"/>
            <p:nvPr/>
          </p:nvSpPr>
          <p:spPr>
            <a:xfrm>
              <a:off x="6707672" y="4845008"/>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2.00</a:t>
              </a:r>
              <a:endParaRPr sz="700">
                <a:solidFill>
                  <a:schemeClr val="dk1"/>
                </a:solidFill>
                <a:latin typeface="Didact Gothic"/>
                <a:ea typeface="Didact Gothic"/>
                <a:cs typeface="Didact Gothic"/>
                <a:sym typeface="Didact Gothic"/>
              </a:endParaRPr>
            </a:p>
          </p:txBody>
        </p:sp>
        <p:sp>
          <p:nvSpPr>
            <p:cNvPr id="2031" name="Google Shape;2031;p104"/>
            <p:cNvSpPr txBox="1"/>
            <p:nvPr/>
          </p:nvSpPr>
          <p:spPr>
            <a:xfrm>
              <a:off x="7074539" y="4845008"/>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0.00</a:t>
              </a:r>
              <a:endParaRPr sz="700">
                <a:solidFill>
                  <a:schemeClr val="dk1"/>
                </a:solidFill>
                <a:latin typeface="Didact Gothic"/>
                <a:ea typeface="Didact Gothic"/>
                <a:cs typeface="Didact Gothic"/>
                <a:sym typeface="Didact Gothic"/>
              </a:endParaRPr>
            </a:p>
          </p:txBody>
        </p:sp>
        <p:sp>
          <p:nvSpPr>
            <p:cNvPr id="2032" name="Google Shape;2032;p104"/>
            <p:cNvSpPr txBox="1"/>
            <p:nvPr/>
          </p:nvSpPr>
          <p:spPr>
            <a:xfrm>
              <a:off x="8385674" y="4845008"/>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2.00</a:t>
              </a:r>
              <a:endParaRPr sz="700">
                <a:solidFill>
                  <a:schemeClr val="dk1"/>
                </a:solidFill>
                <a:latin typeface="Didact Gothic"/>
                <a:ea typeface="Didact Gothic"/>
                <a:cs typeface="Didact Gothic"/>
                <a:sym typeface="Didact Gothic"/>
              </a:endParaRPr>
            </a:p>
          </p:txBody>
        </p:sp>
        <p:sp>
          <p:nvSpPr>
            <p:cNvPr id="2033" name="Google Shape;2033;p104"/>
            <p:cNvSpPr txBox="1"/>
            <p:nvPr/>
          </p:nvSpPr>
          <p:spPr>
            <a:xfrm>
              <a:off x="5131025" y="919850"/>
              <a:ext cx="3702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dk1"/>
                  </a:solidFill>
                  <a:latin typeface="Didact Gothic"/>
                  <a:ea typeface="Didact Gothic"/>
                  <a:cs typeface="Didact Gothic"/>
                  <a:sym typeface="Didact Gothic"/>
                </a:rPr>
                <a:t>Stability</a:t>
              </a:r>
              <a:endParaRPr sz="1200" b="1">
                <a:solidFill>
                  <a:schemeClr val="dk1"/>
                </a:solidFill>
                <a:latin typeface="Didact Gothic"/>
                <a:ea typeface="Didact Gothic"/>
                <a:cs typeface="Didact Gothic"/>
                <a:sym typeface="Didact Gothic"/>
              </a:endParaRPr>
            </a:p>
          </p:txBody>
        </p:sp>
      </p:grpSp>
      <p:sp>
        <p:nvSpPr>
          <p:cNvPr id="2034" name="Google Shape;2034;p104"/>
          <p:cNvSpPr/>
          <p:nvPr/>
        </p:nvSpPr>
        <p:spPr>
          <a:xfrm>
            <a:off x="294673" y="1215567"/>
            <a:ext cx="4247400" cy="3915300"/>
          </a:xfrm>
          <a:prstGeom prst="rect">
            <a:avLst/>
          </a:prstGeom>
          <a:noFill/>
          <a:ln w="9425" cap="flat" cmpd="sng">
            <a:solidFill>
              <a:schemeClr val="dk2"/>
            </a:solidFill>
            <a:prstDash val="solid"/>
            <a:round/>
            <a:headEnd type="none" w="sm" len="sm"/>
            <a:tailEnd type="none" w="sm" len="sm"/>
          </a:ln>
        </p:spPr>
        <p:txBody>
          <a:bodyPr spcFirstLastPara="1" wrap="square" lIns="90575" tIns="90575" rIns="90575" bIns="90575" anchor="ctr" anchorCtr="0">
            <a:noAutofit/>
          </a:bodyPr>
          <a:lstStyle/>
          <a:p>
            <a:pPr marL="0" lvl="0" indent="0" algn="ctr" rtl="0">
              <a:spcBef>
                <a:spcPts val="0"/>
              </a:spcBef>
              <a:spcAft>
                <a:spcPts val="0"/>
              </a:spcAft>
              <a:buNone/>
            </a:pPr>
            <a:endParaRPr sz="1387">
              <a:solidFill>
                <a:schemeClr val="lt1"/>
              </a:solidFill>
              <a:latin typeface="Didact Gothic"/>
              <a:ea typeface="Didact Gothic"/>
              <a:cs typeface="Didact Gothic"/>
              <a:sym typeface="Didact Gothic"/>
            </a:endParaRPr>
          </a:p>
        </p:txBody>
      </p:sp>
      <p:sp>
        <p:nvSpPr>
          <p:cNvPr id="2035" name="Google Shape;2035;p104"/>
          <p:cNvSpPr txBox="1"/>
          <p:nvPr/>
        </p:nvSpPr>
        <p:spPr>
          <a:xfrm>
            <a:off x="781318" y="4886737"/>
            <a:ext cx="15648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Time</a:t>
            </a:r>
            <a:endParaRPr sz="900" b="1">
              <a:solidFill>
                <a:schemeClr val="dk1"/>
              </a:solidFill>
              <a:latin typeface="Didact Gothic"/>
              <a:ea typeface="Didact Gothic"/>
              <a:cs typeface="Didact Gothic"/>
              <a:sym typeface="Didact Gothic"/>
            </a:endParaRPr>
          </a:p>
        </p:txBody>
      </p:sp>
      <p:sp>
        <p:nvSpPr>
          <p:cNvPr id="2036" name="Google Shape;2036;p104"/>
          <p:cNvSpPr txBox="1"/>
          <p:nvPr/>
        </p:nvSpPr>
        <p:spPr>
          <a:xfrm>
            <a:off x="2590525" y="4892118"/>
            <a:ext cx="15648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Time</a:t>
            </a:r>
            <a:endParaRPr sz="900" b="1">
              <a:solidFill>
                <a:schemeClr val="dk1"/>
              </a:solidFill>
              <a:latin typeface="Didact Gothic"/>
              <a:ea typeface="Didact Gothic"/>
              <a:cs typeface="Didact Gothic"/>
              <a:sym typeface="Didact Gothic"/>
            </a:endParaRPr>
          </a:p>
        </p:txBody>
      </p:sp>
      <p:pic>
        <p:nvPicPr>
          <p:cNvPr id="2037" name="Google Shape;2037;p104" title="Picture1.png"/>
          <p:cNvPicPr preferRelativeResize="0"/>
          <p:nvPr/>
        </p:nvPicPr>
        <p:blipFill rotWithShape="1">
          <a:blip r:embed="rId5">
            <a:alphaModFix/>
          </a:blip>
          <a:srcRect/>
          <a:stretch/>
        </p:blipFill>
        <p:spPr>
          <a:xfrm>
            <a:off x="664861" y="1434663"/>
            <a:ext cx="3541863" cy="3553258"/>
          </a:xfrm>
          <a:prstGeom prst="rect">
            <a:avLst/>
          </a:prstGeom>
          <a:noFill/>
          <a:ln>
            <a:noFill/>
          </a:ln>
        </p:spPr>
      </p:pic>
      <p:sp>
        <p:nvSpPr>
          <p:cNvPr id="2038" name="Google Shape;2038;p104"/>
          <p:cNvSpPr txBox="1"/>
          <p:nvPr/>
        </p:nvSpPr>
        <p:spPr>
          <a:xfrm rot="-5400000">
            <a:off x="-193220" y="4116822"/>
            <a:ext cx="12990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P1: ROC-AUC</a:t>
            </a:r>
            <a:endParaRPr sz="900" b="1">
              <a:solidFill>
                <a:schemeClr val="dk1"/>
              </a:solidFill>
              <a:latin typeface="Didact Gothic"/>
              <a:ea typeface="Didact Gothic"/>
              <a:cs typeface="Didact Gothic"/>
              <a:sym typeface="Didact Gothic"/>
            </a:endParaRPr>
          </a:p>
        </p:txBody>
      </p:sp>
      <p:sp>
        <p:nvSpPr>
          <p:cNvPr id="2039" name="Google Shape;2039;p104"/>
          <p:cNvSpPr txBox="1"/>
          <p:nvPr/>
        </p:nvSpPr>
        <p:spPr>
          <a:xfrm rot="-5400000">
            <a:off x="-220520" y="2316745"/>
            <a:ext cx="13536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P0: PR-AUC Lift</a:t>
            </a:r>
            <a:endParaRPr sz="900" b="1">
              <a:solidFill>
                <a:schemeClr val="dk1"/>
              </a:solidFill>
              <a:latin typeface="Didact Gothic"/>
              <a:ea typeface="Didact Gothic"/>
              <a:cs typeface="Didact Gothic"/>
              <a:sym typeface="Didact Gothic"/>
            </a:endParaRPr>
          </a:p>
        </p:txBody>
      </p:sp>
      <p:sp>
        <p:nvSpPr>
          <p:cNvPr id="2040" name="Google Shape;2040;p104"/>
          <p:cNvSpPr txBox="1"/>
          <p:nvPr/>
        </p:nvSpPr>
        <p:spPr>
          <a:xfrm>
            <a:off x="2568224" y="1225204"/>
            <a:ext cx="15648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Daily</a:t>
            </a:r>
            <a:endParaRPr sz="900" b="1">
              <a:solidFill>
                <a:schemeClr val="dk1"/>
              </a:solidFill>
              <a:latin typeface="Didact Gothic"/>
              <a:ea typeface="Didact Gothic"/>
              <a:cs typeface="Didact Gothic"/>
              <a:sym typeface="Didact Gothic"/>
            </a:endParaRPr>
          </a:p>
        </p:txBody>
      </p:sp>
      <p:sp>
        <p:nvSpPr>
          <p:cNvPr id="2041" name="Google Shape;2041;p104"/>
          <p:cNvSpPr txBox="1"/>
          <p:nvPr/>
        </p:nvSpPr>
        <p:spPr>
          <a:xfrm>
            <a:off x="759017" y="1205169"/>
            <a:ext cx="15648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chemeClr val="dk1"/>
                </a:solidFill>
                <a:latin typeface="Didact Gothic"/>
                <a:ea typeface="Didact Gothic"/>
                <a:cs typeface="Didact Gothic"/>
                <a:sym typeface="Didact Gothic"/>
              </a:rPr>
              <a:t>7-Day Rolling</a:t>
            </a:r>
            <a:endParaRPr sz="900" b="1">
              <a:solidFill>
                <a:schemeClr val="dk1"/>
              </a:solidFill>
              <a:latin typeface="Didact Gothic"/>
              <a:ea typeface="Didact Gothic"/>
              <a:cs typeface="Didact Gothic"/>
              <a:sym typeface="Didact Gothic"/>
            </a:endParaRPr>
          </a:p>
        </p:txBody>
      </p:sp>
      <p:sp>
        <p:nvSpPr>
          <p:cNvPr id="2042" name="Google Shape;2042;p104"/>
          <p:cNvSpPr txBox="1"/>
          <p:nvPr/>
        </p:nvSpPr>
        <p:spPr>
          <a:xfrm>
            <a:off x="664871" y="4825986"/>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May</a:t>
            </a:r>
            <a:endParaRPr sz="700">
              <a:solidFill>
                <a:schemeClr val="dk1"/>
              </a:solidFill>
              <a:latin typeface="Didact Gothic"/>
              <a:ea typeface="Didact Gothic"/>
              <a:cs typeface="Didact Gothic"/>
              <a:sym typeface="Didact Gothic"/>
            </a:endParaRPr>
          </a:p>
        </p:txBody>
      </p:sp>
      <p:sp>
        <p:nvSpPr>
          <p:cNvPr id="2043" name="Google Shape;2043;p104"/>
          <p:cNvSpPr txBox="1"/>
          <p:nvPr/>
        </p:nvSpPr>
        <p:spPr>
          <a:xfrm>
            <a:off x="1942746" y="4825982"/>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Dec</a:t>
            </a:r>
            <a:endParaRPr sz="700">
              <a:solidFill>
                <a:schemeClr val="dk1"/>
              </a:solidFill>
              <a:latin typeface="Didact Gothic"/>
              <a:ea typeface="Didact Gothic"/>
              <a:cs typeface="Didact Gothic"/>
              <a:sym typeface="Didact Gothic"/>
            </a:endParaRPr>
          </a:p>
        </p:txBody>
      </p:sp>
      <p:sp>
        <p:nvSpPr>
          <p:cNvPr id="2044" name="Google Shape;2044;p104"/>
          <p:cNvSpPr txBox="1"/>
          <p:nvPr/>
        </p:nvSpPr>
        <p:spPr>
          <a:xfrm>
            <a:off x="2452660" y="4825986"/>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May</a:t>
            </a:r>
            <a:endParaRPr sz="700">
              <a:solidFill>
                <a:schemeClr val="dk1"/>
              </a:solidFill>
              <a:latin typeface="Didact Gothic"/>
              <a:ea typeface="Didact Gothic"/>
              <a:cs typeface="Didact Gothic"/>
              <a:sym typeface="Didact Gothic"/>
            </a:endParaRPr>
          </a:p>
        </p:txBody>
      </p:sp>
      <p:sp>
        <p:nvSpPr>
          <p:cNvPr id="2045" name="Google Shape;2045;p104"/>
          <p:cNvSpPr txBox="1"/>
          <p:nvPr/>
        </p:nvSpPr>
        <p:spPr>
          <a:xfrm>
            <a:off x="3742477" y="4825982"/>
            <a:ext cx="51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Dec</a:t>
            </a:r>
            <a:endParaRPr sz="700">
              <a:solidFill>
                <a:schemeClr val="dk1"/>
              </a:solidFill>
              <a:latin typeface="Didact Gothic"/>
              <a:ea typeface="Didact Gothic"/>
              <a:cs typeface="Didact Gothic"/>
              <a:sym typeface="Didact Gothic"/>
            </a:endParaRPr>
          </a:p>
        </p:txBody>
      </p:sp>
      <p:sp>
        <p:nvSpPr>
          <p:cNvPr id="2046" name="Google Shape;2046;p104"/>
          <p:cNvSpPr txBox="1"/>
          <p:nvPr/>
        </p:nvSpPr>
        <p:spPr>
          <a:xfrm rot="5400000">
            <a:off x="3704501" y="2316690"/>
            <a:ext cx="1353600" cy="3216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900" b="1">
                <a:solidFill>
                  <a:srgbClr val="B4A7D6"/>
                </a:solidFill>
                <a:latin typeface="Didact Gothic"/>
                <a:ea typeface="Didact Gothic"/>
                <a:cs typeface="Didact Gothic"/>
                <a:sym typeface="Didact Gothic"/>
              </a:rPr>
              <a:t>Positive Rate</a:t>
            </a:r>
            <a:endParaRPr sz="900" b="1">
              <a:solidFill>
                <a:srgbClr val="B4A7D6"/>
              </a:solidFill>
              <a:latin typeface="Didact Gothic"/>
              <a:ea typeface="Didact Gothic"/>
              <a:cs typeface="Didact Gothic"/>
              <a:sym typeface="Didact Gothic"/>
            </a:endParaRPr>
          </a:p>
        </p:txBody>
      </p:sp>
      <p:sp>
        <p:nvSpPr>
          <p:cNvPr id="2047" name="Google Shape;2047;p104"/>
          <p:cNvSpPr txBox="1"/>
          <p:nvPr/>
        </p:nvSpPr>
        <p:spPr>
          <a:xfrm>
            <a:off x="458865" y="4606144"/>
            <a:ext cx="390900" cy="3048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92">
                <a:solidFill>
                  <a:schemeClr val="dk1"/>
                </a:solidFill>
                <a:latin typeface="Didact Gothic"/>
                <a:ea typeface="Didact Gothic"/>
                <a:cs typeface="Didact Gothic"/>
                <a:sym typeface="Didact Gothic"/>
              </a:rPr>
              <a:t>0.4</a:t>
            </a:r>
            <a:endParaRPr sz="792">
              <a:solidFill>
                <a:schemeClr val="dk1"/>
              </a:solidFill>
              <a:latin typeface="Didact Gothic"/>
              <a:ea typeface="Didact Gothic"/>
              <a:cs typeface="Didact Gothic"/>
              <a:sym typeface="Didact Gothic"/>
            </a:endParaRPr>
          </a:p>
        </p:txBody>
      </p:sp>
      <p:sp>
        <p:nvSpPr>
          <p:cNvPr id="2048" name="Google Shape;2048;p104"/>
          <p:cNvSpPr txBox="1"/>
          <p:nvPr/>
        </p:nvSpPr>
        <p:spPr>
          <a:xfrm>
            <a:off x="498638" y="3529262"/>
            <a:ext cx="3081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1.0</a:t>
            </a:r>
            <a:endParaRPr sz="700">
              <a:solidFill>
                <a:schemeClr val="dk1"/>
              </a:solidFill>
              <a:latin typeface="Didact Gothic"/>
              <a:ea typeface="Didact Gothic"/>
              <a:cs typeface="Didact Gothic"/>
              <a:sym typeface="Didact Gothic"/>
            </a:endParaRPr>
          </a:p>
        </p:txBody>
      </p:sp>
      <p:sp>
        <p:nvSpPr>
          <p:cNvPr id="2049" name="Google Shape;2049;p104"/>
          <p:cNvSpPr txBox="1"/>
          <p:nvPr/>
        </p:nvSpPr>
        <p:spPr>
          <a:xfrm>
            <a:off x="555972" y="2928811"/>
            <a:ext cx="2508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0</a:t>
            </a:r>
            <a:endParaRPr sz="700">
              <a:solidFill>
                <a:schemeClr val="dk1"/>
              </a:solidFill>
              <a:latin typeface="Didact Gothic"/>
              <a:ea typeface="Didact Gothic"/>
              <a:cs typeface="Didact Gothic"/>
              <a:sym typeface="Didact Gothic"/>
            </a:endParaRPr>
          </a:p>
        </p:txBody>
      </p:sp>
      <p:sp>
        <p:nvSpPr>
          <p:cNvPr id="2050" name="Google Shape;2050;p104"/>
          <p:cNvSpPr txBox="1"/>
          <p:nvPr/>
        </p:nvSpPr>
        <p:spPr>
          <a:xfrm>
            <a:off x="4057096" y="1785520"/>
            <a:ext cx="3657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rgbClr val="B4A7D6"/>
                </a:solidFill>
                <a:latin typeface="Didact Gothic"/>
                <a:ea typeface="Didact Gothic"/>
                <a:cs typeface="Didact Gothic"/>
                <a:sym typeface="Didact Gothic"/>
              </a:rPr>
              <a:t>0.12</a:t>
            </a:r>
            <a:endParaRPr sz="700">
              <a:solidFill>
                <a:srgbClr val="B4A7D6"/>
              </a:solidFill>
              <a:latin typeface="Didact Gothic"/>
              <a:ea typeface="Didact Gothic"/>
              <a:cs typeface="Didact Gothic"/>
              <a:sym typeface="Didact Gothic"/>
            </a:endParaRPr>
          </a:p>
        </p:txBody>
      </p:sp>
      <p:sp>
        <p:nvSpPr>
          <p:cNvPr id="2051" name="Google Shape;2051;p104"/>
          <p:cNvSpPr txBox="1"/>
          <p:nvPr/>
        </p:nvSpPr>
        <p:spPr>
          <a:xfrm>
            <a:off x="4044615" y="2928810"/>
            <a:ext cx="3909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rgbClr val="B4A7D6"/>
                </a:solidFill>
                <a:latin typeface="Didact Gothic"/>
                <a:ea typeface="Didact Gothic"/>
                <a:cs typeface="Didact Gothic"/>
                <a:sym typeface="Didact Gothic"/>
              </a:rPr>
              <a:t>0.00</a:t>
            </a:r>
            <a:endParaRPr sz="700">
              <a:solidFill>
                <a:srgbClr val="B4A7D6"/>
              </a:solidFill>
              <a:latin typeface="Didact Gothic"/>
              <a:ea typeface="Didact Gothic"/>
              <a:cs typeface="Didact Gothic"/>
              <a:sym typeface="Didact Gothic"/>
            </a:endParaRPr>
          </a:p>
        </p:txBody>
      </p:sp>
      <p:sp>
        <p:nvSpPr>
          <p:cNvPr id="2052" name="Google Shape;2052;p104"/>
          <p:cNvSpPr/>
          <p:nvPr/>
        </p:nvSpPr>
        <p:spPr>
          <a:xfrm>
            <a:off x="796425" y="3726900"/>
            <a:ext cx="255000" cy="255000"/>
          </a:xfrm>
          <a:prstGeom prst="ellipse">
            <a:avLst/>
          </a:prstGeom>
          <a:solidFill>
            <a:schemeClr val="lt2"/>
          </a:solidFill>
          <a:ln w="7050" cap="flat" cmpd="sng">
            <a:solidFill>
              <a:schemeClr val="dk2"/>
            </a:solidFill>
            <a:prstDash val="solid"/>
            <a:round/>
            <a:headEnd type="none" w="sm" len="sm"/>
            <a:tailEnd type="none" w="sm" len="sm"/>
          </a:ln>
        </p:spPr>
        <p:txBody>
          <a:bodyPr spcFirstLastPara="1" wrap="square" lIns="67575" tIns="67575" rIns="67575" bIns="67575" anchor="ctr" anchorCtr="0">
            <a:noAutofit/>
          </a:bodyPr>
          <a:lstStyle/>
          <a:p>
            <a:pPr marL="0" lvl="0" indent="0" algn="ctr" rtl="0">
              <a:spcBef>
                <a:spcPts val="0"/>
              </a:spcBef>
              <a:spcAft>
                <a:spcPts val="0"/>
              </a:spcAft>
              <a:buNone/>
            </a:pPr>
            <a:r>
              <a:rPr lang="en" sz="739">
                <a:solidFill>
                  <a:schemeClr val="lt1"/>
                </a:solidFill>
                <a:latin typeface="Didact Gothic"/>
                <a:ea typeface="Didact Gothic"/>
                <a:cs typeface="Didact Gothic"/>
                <a:sym typeface="Didact Gothic"/>
              </a:rPr>
              <a:t>1</a:t>
            </a:r>
            <a:endParaRPr sz="739">
              <a:solidFill>
                <a:schemeClr val="lt1"/>
              </a:solidFill>
              <a:latin typeface="Didact Gothic"/>
              <a:ea typeface="Didact Gothic"/>
              <a:cs typeface="Didact Gothic"/>
              <a:sym typeface="Didact Gothic"/>
            </a:endParaRPr>
          </a:p>
        </p:txBody>
      </p:sp>
      <p:sp>
        <p:nvSpPr>
          <p:cNvPr id="2053" name="Google Shape;2053;p104"/>
          <p:cNvSpPr/>
          <p:nvPr/>
        </p:nvSpPr>
        <p:spPr>
          <a:xfrm>
            <a:off x="1436224" y="4278264"/>
            <a:ext cx="255000" cy="255000"/>
          </a:xfrm>
          <a:prstGeom prst="ellipse">
            <a:avLst/>
          </a:prstGeom>
          <a:solidFill>
            <a:schemeClr val="lt2"/>
          </a:solidFill>
          <a:ln w="7050" cap="flat" cmpd="sng">
            <a:solidFill>
              <a:schemeClr val="dk2"/>
            </a:solidFill>
            <a:prstDash val="solid"/>
            <a:round/>
            <a:headEnd type="none" w="sm" len="sm"/>
            <a:tailEnd type="none" w="sm" len="sm"/>
          </a:ln>
        </p:spPr>
        <p:txBody>
          <a:bodyPr spcFirstLastPara="1" wrap="square" lIns="67575" tIns="67575" rIns="67575" bIns="67575" anchor="ctr" anchorCtr="0">
            <a:noAutofit/>
          </a:bodyPr>
          <a:lstStyle/>
          <a:p>
            <a:pPr marL="0" lvl="0" indent="0" algn="ctr" rtl="0">
              <a:spcBef>
                <a:spcPts val="0"/>
              </a:spcBef>
              <a:spcAft>
                <a:spcPts val="0"/>
              </a:spcAft>
              <a:buNone/>
            </a:pPr>
            <a:r>
              <a:rPr lang="en" sz="739">
                <a:solidFill>
                  <a:schemeClr val="lt1"/>
                </a:solidFill>
                <a:latin typeface="Didact Gothic"/>
                <a:ea typeface="Didact Gothic"/>
                <a:cs typeface="Didact Gothic"/>
                <a:sym typeface="Didact Gothic"/>
              </a:rPr>
              <a:t>2</a:t>
            </a:r>
            <a:endParaRPr sz="739">
              <a:solidFill>
                <a:schemeClr val="lt1"/>
              </a:solidFill>
              <a:latin typeface="Didact Gothic"/>
              <a:ea typeface="Didact Gothic"/>
              <a:cs typeface="Didact Gothic"/>
              <a:sym typeface="Didact Gothic"/>
            </a:endParaRPr>
          </a:p>
        </p:txBody>
      </p:sp>
      <p:sp>
        <p:nvSpPr>
          <p:cNvPr id="2054" name="Google Shape;2054;p104"/>
          <p:cNvSpPr/>
          <p:nvPr/>
        </p:nvSpPr>
        <p:spPr>
          <a:xfrm rot="10800000">
            <a:off x="1843025" y="4587388"/>
            <a:ext cx="171300" cy="3423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Didact Gothic"/>
              <a:ea typeface="Didact Gothic"/>
              <a:cs typeface="Didact Gothic"/>
              <a:sym typeface="Didact Gothic"/>
            </a:endParaRPr>
          </a:p>
        </p:txBody>
      </p:sp>
      <p:sp>
        <p:nvSpPr>
          <p:cNvPr id="2055" name="Google Shape;2055;p104"/>
          <p:cNvSpPr txBox="1"/>
          <p:nvPr/>
        </p:nvSpPr>
        <p:spPr>
          <a:xfrm>
            <a:off x="1974767" y="4508201"/>
            <a:ext cx="9258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1"/>
                </a:solidFill>
                <a:latin typeface="Didact Gothic"/>
                <a:ea typeface="Didact Gothic"/>
                <a:cs typeface="Didact Gothic"/>
                <a:sym typeface="Didact Gothic"/>
              </a:rPr>
              <a:t>Golden Week</a:t>
            </a:r>
            <a:endParaRPr sz="900">
              <a:solidFill>
                <a:schemeClr val="dk1"/>
              </a:solidFill>
              <a:latin typeface="Didact Gothic"/>
              <a:ea typeface="Didact Gothic"/>
              <a:cs typeface="Didact Gothic"/>
              <a:sym typeface="Didact Gothic"/>
            </a:endParaRPr>
          </a:p>
        </p:txBody>
      </p:sp>
      <p:sp>
        <p:nvSpPr>
          <p:cNvPr id="2056" name="Google Shape;2056;p104"/>
          <p:cNvSpPr txBox="1"/>
          <p:nvPr/>
        </p:nvSpPr>
        <p:spPr>
          <a:xfrm>
            <a:off x="294550" y="943871"/>
            <a:ext cx="42474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chemeClr val="dk1"/>
                </a:solidFill>
                <a:latin typeface="Didact Gothic"/>
                <a:ea typeface="Didact Gothic"/>
                <a:cs typeface="Didact Gothic"/>
                <a:sym typeface="Didact Gothic"/>
              </a:rPr>
              <a:t>Performance</a:t>
            </a:r>
            <a:endParaRPr sz="1200" b="1">
              <a:solidFill>
                <a:schemeClr val="dk1"/>
              </a:solidFill>
              <a:latin typeface="Didact Gothic"/>
              <a:ea typeface="Didact Gothic"/>
              <a:cs typeface="Didact Gothic"/>
              <a:sym typeface="Didact Gothic"/>
            </a:endParaRPr>
          </a:p>
        </p:txBody>
      </p:sp>
      <p:sp>
        <p:nvSpPr>
          <p:cNvPr id="2057" name="Google Shape;2057;p104"/>
          <p:cNvSpPr txBox="1"/>
          <p:nvPr/>
        </p:nvSpPr>
        <p:spPr>
          <a:xfrm>
            <a:off x="471347" y="1689235"/>
            <a:ext cx="365700" cy="290700"/>
          </a:xfrm>
          <a:prstGeom prst="rect">
            <a:avLst/>
          </a:prstGeom>
          <a:noFill/>
          <a:ln>
            <a:noFill/>
          </a:ln>
        </p:spPr>
        <p:txBody>
          <a:bodyPr spcFirstLastPara="1" wrap="square" lIns="90575" tIns="90575" rIns="90575" bIns="90575" anchor="t" anchorCtr="0">
            <a:spAutoFit/>
          </a:bodyPr>
          <a:lstStyle/>
          <a:p>
            <a:pPr marL="0" lvl="0" indent="0" algn="ctr" rtl="0">
              <a:spcBef>
                <a:spcPts val="0"/>
              </a:spcBef>
              <a:spcAft>
                <a:spcPts val="0"/>
              </a:spcAft>
              <a:buNone/>
            </a:pPr>
            <a:r>
              <a:rPr lang="en" sz="700">
                <a:solidFill>
                  <a:schemeClr val="dk1"/>
                </a:solidFill>
                <a:latin typeface="Didact Gothic"/>
                <a:ea typeface="Didact Gothic"/>
                <a:cs typeface="Didact Gothic"/>
                <a:sym typeface="Didact Gothic"/>
              </a:rPr>
              <a:t>300</a:t>
            </a:r>
            <a:endParaRPr sz="700">
              <a:solidFill>
                <a:schemeClr val="dk1"/>
              </a:solidFill>
              <a:latin typeface="Didact Gothic"/>
              <a:ea typeface="Didact Gothic"/>
              <a:cs typeface="Didact Gothic"/>
              <a:sym typeface="Didact Gothic"/>
            </a:endParaRPr>
          </a:p>
        </p:txBody>
      </p:sp>
      <p:sp>
        <p:nvSpPr>
          <p:cNvPr id="2058" name="Google Shape;2058;p104"/>
          <p:cNvSpPr/>
          <p:nvPr/>
        </p:nvSpPr>
        <p:spPr>
          <a:xfrm>
            <a:off x="1843025" y="3628125"/>
            <a:ext cx="250800" cy="255000"/>
          </a:xfrm>
          <a:prstGeom prst="ellipse">
            <a:avLst/>
          </a:prstGeom>
          <a:solidFill>
            <a:schemeClr val="lt2"/>
          </a:solidFill>
          <a:ln w="7050" cap="flat" cmpd="sng">
            <a:solidFill>
              <a:schemeClr val="dk2"/>
            </a:solidFill>
            <a:prstDash val="solid"/>
            <a:round/>
            <a:headEnd type="none" w="sm" len="sm"/>
            <a:tailEnd type="none" w="sm" len="sm"/>
          </a:ln>
        </p:spPr>
        <p:txBody>
          <a:bodyPr spcFirstLastPara="1" wrap="square" lIns="67575" tIns="67575" rIns="67575" bIns="67575" anchor="ctr" anchorCtr="0">
            <a:noAutofit/>
          </a:bodyPr>
          <a:lstStyle/>
          <a:p>
            <a:pPr marL="0" lvl="0" indent="0" algn="ctr" rtl="0">
              <a:spcBef>
                <a:spcPts val="0"/>
              </a:spcBef>
              <a:spcAft>
                <a:spcPts val="0"/>
              </a:spcAft>
              <a:buNone/>
            </a:pPr>
            <a:r>
              <a:rPr lang="en" sz="739">
                <a:solidFill>
                  <a:schemeClr val="lt1"/>
                </a:solidFill>
                <a:latin typeface="Didact Gothic"/>
                <a:ea typeface="Didact Gothic"/>
                <a:cs typeface="Didact Gothic"/>
                <a:sym typeface="Didact Gothic"/>
              </a:rPr>
              <a:t>4</a:t>
            </a:r>
            <a:endParaRPr sz="739">
              <a:solidFill>
                <a:schemeClr val="lt1"/>
              </a:solidFill>
              <a:latin typeface="Didact Gothic"/>
              <a:ea typeface="Didact Gothic"/>
              <a:cs typeface="Didact Gothic"/>
              <a:sym typeface="Didact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8"/>
        <p:cNvGrpSpPr/>
        <p:nvPr/>
      </p:nvGrpSpPr>
      <p:grpSpPr>
        <a:xfrm>
          <a:off x="0" y="0"/>
          <a:ext cx="0" cy="0"/>
          <a:chOff x="0" y="0"/>
          <a:chExt cx="0" cy="0"/>
        </a:xfrm>
      </p:grpSpPr>
      <p:sp>
        <p:nvSpPr>
          <p:cNvPr id="2119" name="Google Shape;2119;p106"/>
          <p:cNvSpPr txBox="1">
            <a:spLocks noGrp="1"/>
          </p:cNvSpPr>
          <p:nvPr>
            <p:ph type="title"/>
          </p:nvPr>
        </p:nvSpPr>
        <p:spPr>
          <a:xfrm>
            <a:off x="273500" y="539500"/>
            <a:ext cx="8597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Dashboard</a:t>
            </a:r>
            <a:endParaRPr/>
          </a:p>
        </p:txBody>
      </p:sp>
      <p:pic>
        <p:nvPicPr>
          <p:cNvPr id="2120" name="Google Shape;2120;p106"/>
          <p:cNvPicPr preferRelativeResize="0"/>
          <p:nvPr/>
        </p:nvPicPr>
        <p:blipFill>
          <a:blip r:embed="rId3">
            <a:alphaModFix/>
          </a:blip>
          <a:stretch>
            <a:fillRect/>
          </a:stretch>
        </p:blipFill>
        <p:spPr>
          <a:xfrm>
            <a:off x="342825" y="1112200"/>
            <a:ext cx="4589481" cy="3953899"/>
          </a:xfrm>
          <a:prstGeom prst="rect">
            <a:avLst/>
          </a:prstGeom>
          <a:noFill/>
          <a:ln>
            <a:noFill/>
          </a:ln>
        </p:spPr>
      </p:pic>
      <p:pic>
        <p:nvPicPr>
          <p:cNvPr id="2121" name="Google Shape;2121;p106"/>
          <p:cNvPicPr preferRelativeResize="0"/>
          <p:nvPr/>
        </p:nvPicPr>
        <p:blipFill>
          <a:blip r:embed="rId4">
            <a:alphaModFix/>
          </a:blip>
          <a:stretch>
            <a:fillRect/>
          </a:stretch>
        </p:blipFill>
        <p:spPr>
          <a:xfrm>
            <a:off x="5146450" y="441599"/>
            <a:ext cx="3686524" cy="2847559"/>
          </a:xfrm>
          <a:prstGeom prst="rect">
            <a:avLst/>
          </a:prstGeom>
          <a:noFill/>
          <a:ln>
            <a:noFill/>
          </a:ln>
        </p:spPr>
      </p:pic>
      <p:pic>
        <p:nvPicPr>
          <p:cNvPr id="2122" name="Google Shape;2122;p106"/>
          <p:cNvPicPr preferRelativeResize="0"/>
          <p:nvPr/>
        </p:nvPicPr>
        <p:blipFill>
          <a:blip r:embed="rId5">
            <a:alphaModFix/>
          </a:blip>
          <a:stretch>
            <a:fillRect/>
          </a:stretch>
        </p:blipFill>
        <p:spPr>
          <a:xfrm>
            <a:off x="5146459" y="3074773"/>
            <a:ext cx="3686518" cy="1991323"/>
          </a:xfrm>
          <a:prstGeom prst="rect">
            <a:avLst/>
          </a:prstGeom>
          <a:noFill/>
          <a:ln>
            <a:noFill/>
          </a:ln>
        </p:spPr>
      </p:pic>
    </p:spTree>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4803</Words>
  <Application>Microsoft Office PowerPoint</Application>
  <PresentationFormat>On-screen Show (16:9)</PresentationFormat>
  <Paragraphs>823</Paragraphs>
  <Slides>17</Slides>
  <Notes>17</Notes>
  <HiddenSlides>0</HiddenSlides>
  <MMClips>0</MMClips>
  <ScaleCrop>false</ScaleCrop>
  <HeadingPairs>
    <vt:vector size="6" baseType="variant">
      <vt:variant>
        <vt:lpstr>Fonts Used</vt:lpstr>
      </vt:variant>
      <vt:variant>
        <vt:i4>14</vt:i4>
      </vt:variant>
      <vt:variant>
        <vt:lpstr>Theme</vt:lpstr>
      </vt:variant>
      <vt:variant>
        <vt:i4>4</vt:i4>
      </vt:variant>
      <vt:variant>
        <vt:lpstr>Slide Titles</vt:lpstr>
      </vt:variant>
      <vt:variant>
        <vt:i4>17</vt:i4>
      </vt:variant>
    </vt:vector>
  </HeadingPairs>
  <TitlesOfParts>
    <vt:vector size="35" baseType="lpstr">
      <vt:lpstr>Poppins</vt:lpstr>
      <vt:lpstr>Libre Franklin</vt:lpstr>
      <vt:lpstr>Consolas</vt:lpstr>
      <vt:lpstr>Material Icons</vt:lpstr>
      <vt:lpstr>Inter</vt:lpstr>
      <vt:lpstr>Oswald</vt:lpstr>
      <vt:lpstr>Roboto Mono</vt:lpstr>
      <vt:lpstr>Nunito Light</vt:lpstr>
      <vt:lpstr>Didact Gothic</vt:lpstr>
      <vt:lpstr>Arial</vt:lpstr>
      <vt:lpstr>Roboto</vt:lpstr>
      <vt:lpstr>Raleway</vt:lpstr>
      <vt:lpstr>Poppins Medium</vt:lpstr>
      <vt:lpstr>Poppins SemiBold</vt:lpstr>
      <vt:lpstr>Cycle Diagrams Theme for a Business Plan by Slidesgo</vt:lpstr>
      <vt:lpstr>Cycle Diagrams Theme for a Business Plan by Slidesgo</vt:lpstr>
      <vt:lpstr>Cycle Diagrams Theme for a Business Plan by Slidesgo</vt:lpstr>
      <vt:lpstr>Cycle Diagrams Theme for a Business Plan by Slidesgo</vt:lpstr>
      <vt:lpstr>Predicting  User Gifting Behaviour  in KuaiShou (快手) Livestreams</vt:lpstr>
      <vt:lpstr>Background</vt:lpstr>
      <vt:lpstr>Architecture Overview</vt:lpstr>
      <vt:lpstr>Deployment &amp; Metrics</vt:lpstr>
      <vt:lpstr>Feature Engineering - Overview</vt:lpstr>
      <vt:lpstr>FeatEng - Data Harmonization</vt:lpstr>
      <vt:lpstr>FeatEng - Feature Vector Generation</vt:lpstr>
      <vt:lpstr>Model Results</vt:lpstr>
      <vt:lpstr>Architecture Overview</vt:lpstr>
      <vt:lpstr>Model Pipeline &amp; Training</vt:lpstr>
      <vt:lpstr>Live Flow &amp; Monitoring</vt:lpstr>
      <vt:lpstr>Historical Feature Updates</vt:lpstr>
      <vt:lpstr>Real-time Model Inference (Kafka)</vt:lpstr>
      <vt:lpstr>Real-time Model Inference (Kafka)</vt:lpstr>
      <vt:lpstr>Monitoring Simulation </vt:lpstr>
      <vt:lpstr>Main Monitoring Results</vt:lpstr>
      <vt:lpstr>Dashboard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YS Goh</cp:lastModifiedBy>
  <cp:revision>2</cp:revision>
  <dcterms:modified xsi:type="dcterms:W3CDTF">2026-09-02T16:19:16Z</dcterms:modified>
</cp:coreProperties>
</file>