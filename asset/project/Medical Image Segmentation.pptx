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Anaheim" panose="020B0604020202020204" charset="0"/>
      <p:regular r:id="rId26"/>
      <p:bold r:id="rId27"/>
    </p:embeddedFont>
    <p:embeddedFont>
      <p:font typeface="Open Sans" panose="020B0606030504020204" pitchFamily="34" charset="0"/>
      <p:regular r:id="rId28"/>
      <p:bold r:id="rId29"/>
      <p:italic r:id="rId30"/>
      <p:boldItalic r:id="rId31"/>
    </p:embeddedFont>
    <p:embeddedFont>
      <p:font typeface="Roboto"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h9yCea1oN/ZhPtZGXT1kHiWyY1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A7876C2-90C0-4B93-85D5-C01E0D184563}">
  <a:tblStyle styleId="{2A7876C2-90C0-4B93-85D5-C01E0D18456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ED0191E-08E3-481A-83CA-989CE56C45E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github.com/wasserth/TotalSegmentator"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github.com/MIC-DKFZ/nnUNet?tab=readme-ov-file"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Good afternoon everyone, we are Team 8.</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9dcdded7dd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g39dcdded7dd_1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This is the flow of our presentation today.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9dcdded7dd_1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9dcdded7dd_1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SzPts val="1100"/>
              <a:buNone/>
            </a:pPr>
            <a:r>
              <a:rPr lang="en-US"/>
              <a:t>I’ll first give an introduction or recap of the project requirements.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9dcdded7dd_1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39dcdded7dd_1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SzPts val="1100"/>
              <a:buChar char="●"/>
            </a:pPr>
            <a:r>
              <a:rPr lang="en-US"/>
              <a:t>This project is a </a:t>
            </a:r>
            <a:r>
              <a:rPr lang="en-US" b="1"/>
              <a:t>semantic segmentation</a:t>
            </a:r>
            <a:r>
              <a:rPr lang="en-US"/>
              <a:t> problem for </a:t>
            </a:r>
            <a:r>
              <a:rPr lang="en-US" b="1"/>
              <a:t>12 abdominal organs</a:t>
            </a:r>
            <a:r>
              <a:rPr lang="en-US"/>
              <a:t>.</a:t>
            </a:r>
            <a:endParaRPr/>
          </a:p>
          <a:p>
            <a:pPr marL="457200" lvl="0" indent="-298450" algn="l" rtl="0">
              <a:lnSpc>
                <a:spcPct val="115000"/>
              </a:lnSpc>
              <a:spcBef>
                <a:spcPts val="0"/>
              </a:spcBef>
              <a:spcAft>
                <a:spcPts val="0"/>
              </a:spcAft>
              <a:buClr>
                <a:srgbClr val="0000FF"/>
              </a:buClr>
              <a:buSzPts val="1100"/>
              <a:buChar char="●"/>
            </a:pPr>
            <a:r>
              <a:rPr lang="en-US">
                <a:solidFill>
                  <a:srgbClr val="0000FF"/>
                </a:solidFill>
              </a:rPr>
              <a:t>We were provided with CT images that has been preprocessed into </a:t>
            </a:r>
            <a:r>
              <a:rPr lang="en-US" b="1">
                <a:solidFill>
                  <a:srgbClr val="0000FF"/>
                </a:solidFill>
              </a:rPr>
              <a:t>2D grayscale slices</a:t>
            </a:r>
            <a:r>
              <a:rPr lang="en-US">
                <a:solidFill>
                  <a:srgbClr val="0000FF"/>
                </a:solidFill>
              </a:rPr>
              <a:t>. </a:t>
            </a:r>
            <a:endParaRPr>
              <a:solidFill>
                <a:srgbClr val="0000FF"/>
              </a:solidFill>
            </a:endParaRPr>
          </a:p>
          <a:p>
            <a:pPr marL="457200" lvl="0" indent="-298450" algn="l" rtl="0">
              <a:lnSpc>
                <a:spcPct val="115000"/>
              </a:lnSpc>
              <a:spcBef>
                <a:spcPts val="0"/>
              </a:spcBef>
              <a:spcAft>
                <a:spcPts val="0"/>
              </a:spcAft>
              <a:buClr>
                <a:srgbClr val="0000FF"/>
              </a:buClr>
              <a:buSzPts val="1100"/>
              <a:buChar char="●"/>
            </a:pPr>
            <a:r>
              <a:rPr lang="en-US">
                <a:solidFill>
                  <a:srgbClr val="0000FF"/>
                </a:solidFill>
              </a:rPr>
              <a:t>Some useful information given includes: </a:t>
            </a:r>
            <a:endParaRPr>
              <a:solidFill>
                <a:srgbClr val="0000FF"/>
              </a:solidFill>
            </a:endParaRPr>
          </a:p>
          <a:p>
            <a:pPr marL="914400" lvl="1" indent="-298450" algn="l" rtl="0">
              <a:lnSpc>
                <a:spcPct val="115000"/>
              </a:lnSpc>
              <a:spcBef>
                <a:spcPts val="0"/>
              </a:spcBef>
              <a:spcAft>
                <a:spcPts val="0"/>
              </a:spcAft>
              <a:buClr>
                <a:srgbClr val="0000FF"/>
              </a:buClr>
              <a:buSzPts val="1100"/>
              <a:buChar char="○"/>
            </a:pPr>
            <a:r>
              <a:rPr lang="en-US" b="1">
                <a:solidFill>
                  <a:srgbClr val="0000FF"/>
                </a:solidFill>
              </a:rPr>
              <a:t>Voxel value range</a:t>
            </a:r>
            <a:r>
              <a:rPr lang="en-US">
                <a:solidFill>
                  <a:srgbClr val="0000FF"/>
                </a:solidFill>
              </a:rPr>
              <a:t>, used to convert the images back to </a:t>
            </a:r>
            <a:r>
              <a:rPr lang="en-US" b="1">
                <a:solidFill>
                  <a:srgbClr val="0000FF"/>
                </a:solidFill>
              </a:rPr>
              <a:t>CT range in Houndsfield Units</a:t>
            </a:r>
            <a:endParaRPr b="1">
              <a:solidFill>
                <a:srgbClr val="0000FF"/>
              </a:solidFill>
            </a:endParaRPr>
          </a:p>
          <a:p>
            <a:pPr marL="914400" lvl="1" indent="-298450" algn="l" rtl="0">
              <a:lnSpc>
                <a:spcPct val="115000"/>
              </a:lnSpc>
              <a:spcBef>
                <a:spcPts val="0"/>
              </a:spcBef>
              <a:spcAft>
                <a:spcPts val="0"/>
              </a:spcAft>
              <a:buClr>
                <a:srgbClr val="0000FF"/>
              </a:buClr>
              <a:buSzPts val="1100"/>
              <a:buChar char="○"/>
            </a:pPr>
            <a:r>
              <a:rPr lang="en-US" b="1">
                <a:solidFill>
                  <a:srgbClr val="0000FF"/>
                </a:solidFill>
              </a:rPr>
              <a:t>Spacing</a:t>
            </a:r>
            <a:r>
              <a:rPr lang="en-US">
                <a:solidFill>
                  <a:srgbClr val="0000FF"/>
                </a:solidFill>
              </a:rPr>
              <a:t>, used to create </a:t>
            </a:r>
            <a:r>
              <a:rPr lang="en-US" b="1">
                <a:solidFill>
                  <a:srgbClr val="0000FF"/>
                </a:solidFill>
              </a:rPr>
              <a:t>3D volumes </a:t>
            </a:r>
            <a:r>
              <a:rPr lang="en-US">
                <a:solidFill>
                  <a:srgbClr val="0000FF"/>
                </a:solidFill>
              </a:rPr>
              <a:t>and calculate </a:t>
            </a:r>
            <a:r>
              <a:rPr lang="en-US" b="1">
                <a:solidFill>
                  <a:srgbClr val="0000FF"/>
                </a:solidFill>
              </a:rPr>
              <a:t>Normalized Surface Dice</a:t>
            </a:r>
            <a:endParaRPr b="1">
              <a:solidFill>
                <a:srgbClr val="0000FF"/>
              </a:solidFill>
            </a:endParaRPr>
          </a:p>
          <a:p>
            <a:pPr marL="914400" lvl="1" indent="-298450" algn="l" rtl="0">
              <a:lnSpc>
                <a:spcPct val="115000"/>
              </a:lnSpc>
              <a:spcBef>
                <a:spcPts val="0"/>
              </a:spcBef>
              <a:spcAft>
                <a:spcPts val="0"/>
              </a:spcAft>
              <a:buClr>
                <a:srgbClr val="0000FF"/>
              </a:buClr>
              <a:buSzPts val="1100"/>
              <a:buChar char="○"/>
            </a:pPr>
            <a:r>
              <a:rPr lang="en-US">
                <a:solidFill>
                  <a:srgbClr val="0000FF"/>
                </a:solidFill>
              </a:rPr>
              <a:t>And </a:t>
            </a:r>
            <a:r>
              <a:rPr lang="en-US" b="1">
                <a:solidFill>
                  <a:srgbClr val="0000FF"/>
                </a:solidFill>
              </a:rPr>
              <a:t>bounding bo</a:t>
            </a:r>
            <a:r>
              <a:rPr lang="en-US">
                <a:solidFill>
                  <a:srgbClr val="0000FF"/>
                </a:solidFill>
              </a:rPr>
              <a:t>x, used to</a:t>
            </a:r>
            <a:r>
              <a:rPr lang="en-US" b="1">
                <a:solidFill>
                  <a:srgbClr val="0000FF"/>
                </a:solidFill>
              </a:rPr>
              <a:t> suppress background</a:t>
            </a:r>
            <a:endParaRPr b="1">
              <a:solidFill>
                <a:srgbClr val="0000FF"/>
              </a:solidFill>
            </a:endParaRPr>
          </a:p>
          <a:p>
            <a:pPr marL="457200" lvl="0" indent="-298450" algn="l" rtl="0">
              <a:lnSpc>
                <a:spcPct val="115000"/>
              </a:lnSpc>
              <a:spcBef>
                <a:spcPts val="0"/>
              </a:spcBef>
              <a:spcAft>
                <a:spcPts val="0"/>
              </a:spcAft>
              <a:buSzPts val="1100"/>
              <a:buChar char="●"/>
            </a:pPr>
            <a:r>
              <a:rPr lang="en-US"/>
              <a:t>The data we were given has been split into </a:t>
            </a:r>
            <a:r>
              <a:rPr lang="en-US" b="1"/>
              <a:t>train/valid/test</a:t>
            </a:r>
            <a:endParaRPr b="1"/>
          </a:p>
          <a:p>
            <a:pPr marL="457200" lvl="0" indent="-298450" algn="l" rtl="0">
              <a:lnSpc>
                <a:spcPct val="115000"/>
              </a:lnSpc>
              <a:spcBef>
                <a:spcPts val="0"/>
              </a:spcBef>
              <a:spcAft>
                <a:spcPts val="0"/>
              </a:spcAft>
              <a:buSzPts val="1100"/>
              <a:buChar char="●"/>
            </a:pPr>
            <a:r>
              <a:rPr lang="en-US"/>
              <a:t>From the training set, we noticed that the classes are highly </a:t>
            </a:r>
            <a:r>
              <a:rPr lang="en-US" b="1"/>
              <a:t>imbalance</a:t>
            </a:r>
            <a:r>
              <a:rPr lang="en-US"/>
              <a:t>, either due to </a:t>
            </a:r>
            <a:r>
              <a:rPr lang="en-US" b="1"/>
              <a:t>organ size or frequency</a:t>
            </a:r>
            <a:r>
              <a:rPr lang="en-US"/>
              <a:t>, which we will have to address during training later 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9dcdded7dd_1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US"/>
              <a:t>Our group tested 2 models: SAMed as </a:t>
            </a:r>
            <a:r>
              <a:rPr lang="en-US" b="1"/>
              <a:t>baseline</a:t>
            </a:r>
            <a:r>
              <a:rPr lang="en-US"/>
              <a:t>, and TS, one of the most </a:t>
            </a:r>
            <a:r>
              <a:rPr lang="en-US" b="1"/>
              <a:t>comprehensive </a:t>
            </a:r>
            <a:r>
              <a:rPr lang="en-US"/>
              <a:t>medical segmentation model.</a:t>
            </a:r>
            <a:endParaRPr/>
          </a:p>
          <a:p>
            <a:pPr marL="457200" lvl="0" indent="-298450" algn="l" rtl="0">
              <a:spcBef>
                <a:spcPts val="0"/>
              </a:spcBef>
              <a:spcAft>
                <a:spcPts val="0"/>
              </a:spcAft>
              <a:buClr>
                <a:srgbClr val="0000FF"/>
              </a:buClr>
              <a:buSzPts val="1100"/>
              <a:buChar char="●"/>
            </a:pPr>
            <a:r>
              <a:rPr lang="en-US">
                <a:solidFill>
                  <a:srgbClr val="0000FF"/>
                </a:solidFill>
              </a:rPr>
              <a:t>We prepared the data for SAMed by </a:t>
            </a:r>
            <a:r>
              <a:rPr lang="en-US" b="1">
                <a:solidFill>
                  <a:srgbClr val="0000FF"/>
                </a:solidFill>
              </a:rPr>
              <a:t>rescaling </a:t>
            </a:r>
            <a:r>
              <a:rPr lang="en-US">
                <a:solidFill>
                  <a:srgbClr val="0000FF"/>
                </a:solidFill>
              </a:rPr>
              <a:t>the images to the required range.</a:t>
            </a:r>
            <a:endParaRPr>
              <a:solidFill>
                <a:srgbClr val="0000FF"/>
              </a:solidFill>
            </a:endParaRPr>
          </a:p>
          <a:p>
            <a:pPr marL="457200" lvl="0" indent="-298450" algn="l" rtl="0">
              <a:spcBef>
                <a:spcPts val="0"/>
              </a:spcBef>
              <a:spcAft>
                <a:spcPts val="0"/>
              </a:spcAft>
              <a:buClr>
                <a:srgbClr val="0000FF"/>
              </a:buClr>
              <a:buSzPts val="1100"/>
              <a:buChar char="●"/>
            </a:pPr>
            <a:r>
              <a:rPr lang="en-US">
                <a:solidFill>
                  <a:srgbClr val="0000FF"/>
                </a:solidFill>
              </a:rPr>
              <a:t>As medical images are not as varied as images like the birds in our assignment, we kept data augmentation </a:t>
            </a:r>
            <a:r>
              <a:rPr lang="en-US" b="1">
                <a:solidFill>
                  <a:srgbClr val="0000FF"/>
                </a:solidFill>
              </a:rPr>
              <a:t>light and realistic</a:t>
            </a:r>
            <a:r>
              <a:rPr lang="en-US">
                <a:solidFill>
                  <a:srgbClr val="0000FF"/>
                </a:solidFill>
              </a:rPr>
              <a:t>.</a:t>
            </a:r>
            <a:endParaRPr>
              <a:solidFill>
                <a:srgbClr val="0000FF"/>
              </a:solidFill>
            </a:endParaRPr>
          </a:p>
          <a:p>
            <a:pPr marL="457200" lvl="0" indent="-298450" algn="l" rtl="0">
              <a:spcBef>
                <a:spcPts val="0"/>
              </a:spcBef>
              <a:spcAft>
                <a:spcPts val="0"/>
              </a:spcAft>
              <a:buClr>
                <a:srgbClr val="0000FF"/>
              </a:buClr>
              <a:buSzPts val="1100"/>
              <a:buChar char="●"/>
            </a:pPr>
            <a:r>
              <a:rPr lang="en-US">
                <a:solidFill>
                  <a:srgbClr val="0000FF"/>
                </a:solidFill>
              </a:rPr>
              <a:t>We also computed class and sample </a:t>
            </a:r>
            <a:r>
              <a:rPr lang="en-US" b="1">
                <a:solidFill>
                  <a:srgbClr val="0000FF"/>
                </a:solidFill>
              </a:rPr>
              <a:t>weights </a:t>
            </a:r>
            <a:r>
              <a:rPr lang="en-US">
                <a:solidFill>
                  <a:srgbClr val="0000FF"/>
                </a:solidFill>
              </a:rPr>
              <a:t>in an attempt to address class imbalance. Initial testing of weighted sampling showed that it </a:t>
            </a:r>
            <a:r>
              <a:rPr lang="en-US" b="1">
                <a:solidFill>
                  <a:srgbClr val="0000FF"/>
                </a:solidFill>
              </a:rPr>
              <a:t>did not help </a:t>
            </a:r>
            <a:r>
              <a:rPr lang="en-US">
                <a:solidFill>
                  <a:srgbClr val="0000FF"/>
                </a:solidFill>
              </a:rPr>
              <a:t>with minority classes, so we didn’t implement it in the end.</a:t>
            </a:r>
            <a:endParaRPr/>
          </a:p>
          <a:p>
            <a:pPr marL="457200" lvl="0" indent="-298450" algn="l" rtl="0">
              <a:spcBef>
                <a:spcPts val="0"/>
              </a:spcBef>
              <a:spcAft>
                <a:spcPts val="0"/>
              </a:spcAft>
              <a:buSzPts val="1100"/>
              <a:buChar char="●"/>
            </a:pPr>
            <a:r>
              <a:rPr lang="en-US"/>
              <a:t>For training, we transferred the </a:t>
            </a:r>
            <a:r>
              <a:rPr lang="en-US" b="1"/>
              <a:t>pretrained </a:t>
            </a:r>
            <a:r>
              <a:rPr lang="en-US"/>
              <a:t>weights for existing organs.</a:t>
            </a:r>
            <a:endParaRPr/>
          </a:p>
          <a:p>
            <a:pPr marL="457200" lvl="0" indent="-298450" algn="l" rtl="0">
              <a:spcBef>
                <a:spcPts val="0"/>
              </a:spcBef>
              <a:spcAft>
                <a:spcPts val="0"/>
              </a:spcAft>
              <a:buSzPts val="1100"/>
              <a:buChar char="●"/>
            </a:pPr>
            <a:r>
              <a:rPr lang="en-US"/>
              <a:t>We also tried to do a </a:t>
            </a:r>
            <a:r>
              <a:rPr lang="en-US" b="1"/>
              <a:t>staged training</a:t>
            </a:r>
            <a:r>
              <a:rPr lang="en-US"/>
              <a:t>, but it made the results worse so we got rid of it.</a:t>
            </a:r>
            <a:endParaRPr/>
          </a:p>
          <a:p>
            <a:pPr marL="457200" lvl="0" indent="-298450" algn="l" rtl="0">
              <a:spcBef>
                <a:spcPts val="0"/>
              </a:spcBef>
              <a:spcAft>
                <a:spcPts val="0"/>
              </a:spcAft>
              <a:buClr>
                <a:srgbClr val="0000FF"/>
              </a:buClr>
              <a:buSzPts val="1100"/>
              <a:buChar char="●"/>
            </a:pPr>
            <a:r>
              <a:rPr lang="en-US">
                <a:solidFill>
                  <a:srgbClr val="0000FF"/>
                </a:solidFill>
              </a:rPr>
              <a:t>As TS is pretrained on 3D CT and MRI images, we converted the images back to </a:t>
            </a:r>
            <a:r>
              <a:rPr lang="en-US" b="1">
                <a:solidFill>
                  <a:srgbClr val="0000FF"/>
                </a:solidFill>
              </a:rPr>
              <a:t>CT range</a:t>
            </a:r>
            <a:r>
              <a:rPr lang="en-US">
                <a:solidFill>
                  <a:srgbClr val="0000FF"/>
                </a:solidFill>
              </a:rPr>
              <a:t> and stacked them into </a:t>
            </a:r>
            <a:r>
              <a:rPr lang="en-US" b="1">
                <a:solidFill>
                  <a:srgbClr val="0000FF"/>
                </a:solidFill>
              </a:rPr>
              <a:t>3D</a:t>
            </a:r>
            <a:r>
              <a:rPr lang="en-US">
                <a:solidFill>
                  <a:srgbClr val="0000FF"/>
                </a:solidFill>
              </a:rPr>
              <a:t> volumes.</a:t>
            </a:r>
            <a:endParaRPr>
              <a:solidFill>
                <a:srgbClr val="0000FF"/>
              </a:solidFill>
            </a:endParaRPr>
          </a:p>
          <a:p>
            <a:pPr marL="457200" lvl="0" indent="-298450" algn="l" rtl="0">
              <a:spcBef>
                <a:spcPts val="0"/>
              </a:spcBef>
              <a:spcAft>
                <a:spcPts val="0"/>
              </a:spcAft>
              <a:buClr>
                <a:srgbClr val="0000FF"/>
              </a:buClr>
              <a:buSzPts val="1100"/>
              <a:buChar char="●"/>
            </a:pPr>
            <a:r>
              <a:rPr lang="en-US">
                <a:solidFill>
                  <a:srgbClr val="0000FF"/>
                </a:solidFill>
              </a:rPr>
              <a:t>We did not have to worry about augmentation as this model </a:t>
            </a:r>
            <a:r>
              <a:rPr lang="en-US" b="1">
                <a:solidFill>
                  <a:srgbClr val="0000FF"/>
                </a:solidFill>
              </a:rPr>
              <a:t>automatically </a:t>
            </a:r>
            <a:r>
              <a:rPr lang="en-US">
                <a:solidFill>
                  <a:srgbClr val="0000FF"/>
                </a:solidFill>
              </a:rPr>
              <a:t>preprocess the data based on the dataset statistics.</a:t>
            </a:r>
            <a:endParaRPr/>
          </a:p>
          <a:p>
            <a:pPr marL="457200" lvl="0" indent="-298450" algn="l" rtl="0">
              <a:spcBef>
                <a:spcPts val="0"/>
              </a:spcBef>
              <a:spcAft>
                <a:spcPts val="0"/>
              </a:spcAft>
              <a:buSzPts val="1100"/>
              <a:buChar char="●"/>
            </a:pPr>
            <a:r>
              <a:rPr lang="en-US"/>
              <a:t>For training, again, we transferred the </a:t>
            </a:r>
            <a:r>
              <a:rPr lang="en-US" b="1"/>
              <a:t>pretrained </a:t>
            </a:r>
            <a:r>
              <a:rPr lang="en-US"/>
              <a:t>weights.</a:t>
            </a:r>
            <a:endParaRPr/>
          </a:p>
          <a:p>
            <a:pPr marL="457200" lvl="0" indent="-298450" algn="l" rtl="0">
              <a:spcBef>
                <a:spcPts val="0"/>
              </a:spcBef>
              <a:spcAft>
                <a:spcPts val="0"/>
              </a:spcAft>
              <a:buSzPts val="1100"/>
              <a:buChar char="●"/>
            </a:pPr>
            <a:r>
              <a:rPr lang="en-US"/>
              <a:t>And let the model automatically handle class imbalance via </a:t>
            </a:r>
            <a:r>
              <a:rPr lang="en-US" b="1"/>
              <a:t>cross</a:t>
            </a:r>
            <a:r>
              <a:rPr lang="en-US"/>
              <a:t>-</a:t>
            </a:r>
            <a:r>
              <a:rPr lang="en-US" b="1"/>
              <a:t>validation &amp; ensembling</a:t>
            </a:r>
            <a:endParaRPr b="1"/>
          </a:p>
          <a:p>
            <a:pPr marL="457200" lvl="0" indent="-298450" algn="l" rtl="0">
              <a:spcBef>
                <a:spcPts val="0"/>
              </a:spcBef>
              <a:spcAft>
                <a:spcPts val="0"/>
              </a:spcAft>
              <a:buClr>
                <a:srgbClr val="0000FF"/>
              </a:buClr>
              <a:buSzPts val="1100"/>
              <a:buChar char="●"/>
            </a:pPr>
            <a:r>
              <a:rPr lang="en-US">
                <a:solidFill>
                  <a:srgbClr val="0000FF"/>
                </a:solidFill>
              </a:rPr>
              <a:t>Finally, we post-process the outputs from both models by setting the areas outside </a:t>
            </a:r>
            <a:r>
              <a:rPr lang="en-US" b="1">
                <a:solidFill>
                  <a:srgbClr val="0000FF"/>
                </a:solidFill>
              </a:rPr>
              <a:t>bbox </a:t>
            </a:r>
            <a:r>
              <a:rPr lang="en-US">
                <a:solidFill>
                  <a:srgbClr val="0000FF"/>
                </a:solidFill>
              </a:rPr>
              <a:t>as 0..</a:t>
            </a:r>
            <a:endParaRPr>
              <a:solidFill>
                <a:srgbClr val="0000FF"/>
              </a:solidFill>
            </a:endParaRPr>
          </a:p>
          <a:p>
            <a:pPr marL="457200" lvl="0" indent="-298450" algn="l" rtl="0">
              <a:spcBef>
                <a:spcPts val="0"/>
              </a:spcBef>
              <a:spcAft>
                <a:spcPts val="0"/>
              </a:spcAft>
              <a:buClr>
                <a:srgbClr val="0000FF"/>
              </a:buClr>
              <a:buSzPts val="1100"/>
              <a:buChar char="●"/>
            </a:pPr>
            <a:r>
              <a:rPr lang="en-US">
                <a:solidFill>
                  <a:srgbClr val="0000FF"/>
                </a:solidFill>
              </a:rPr>
              <a:t>For </a:t>
            </a:r>
            <a:r>
              <a:rPr lang="en-US" b="1">
                <a:solidFill>
                  <a:srgbClr val="0000FF"/>
                </a:solidFill>
              </a:rPr>
              <a:t>future work</a:t>
            </a:r>
            <a:r>
              <a:rPr lang="en-US">
                <a:solidFill>
                  <a:srgbClr val="0000FF"/>
                </a:solidFill>
              </a:rPr>
              <a:t>, we can also try to crop the images before prediction.</a:t>
            </a:r>
            <a:endParaRPr>
              <a:solidFill>
                <a:srgbClr val="0000FF"/>
              </a:solidFill>
            </a:endParaRPr>
          </a:p>
        </p:txBody>
      </p:sp>
      <p:sp>
        <p:nvSpPr>
          <p:cNvPr id="139" name="Google Shape;139;g39dcdded7dd_1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9fc7e9f363_1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9fc7e9f363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is the automated processing for Total Segmentator which handles augmentation, cross validation and ensembling. We didn’t examine the details as it worked well without any modifications. But tweaking this could be a future work for further improvements.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9dcdded7dd_1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US"/>
              <a:t>For semantic segmentation, the </a:t>
            </a:r>
            <a:r>
              <a:rPr lang="en-US" b="1"/>
              <a:t>common </a:t>
            </a:r>
            <a:r>
              <a:rPr lang="en-US"/>
              <a:t>evaluation metrics are pixel accuracy, mean accuracy, and mean IoU, which I will not go through as they have already been taught in class.</a:t>
            </a:r>
            <a:endParaRPr/>
          </a:p>
          <a:p>
            <a:pPr marL="457200" lvl="0" indent="-298450" algn="l" rtl="0">
              <a:spcBef>
                <a:spcPts val="0"/>
              </a:spcBef>
              <a:spcAft>
                <a:spcPts val="0"/>
              </a:spcAft>
              <a:buSzPts val="1100"/>
              <a:buChar char="●"/>
            </a:pPr>
            <a:r>
              <a:rPr lang="en-US"/>
              <a:t>However, they are not suitable for medical images as they do not account for </a:t>
            </a:r>
            <a:r>
              <a:rPr lang="en-US" b="1"/>
              <a:t>background dominance and boundary precision requirements.</a:t>
            </a:r>
            <a:endParaRPr b="1"/>
          </a:p>
          <a:p>
            <a:pPr marL="457200" lvl="0" indent="-298450" algn="l" rtl="0">
              <a:spcBef>
                <a:spcPts val="0"/>
              </a:spcBef>
              <a:spcAft>
                <a:spcPts val="0"/>
              </a:spcAft>
              <a:buSzPts val="1100"/>
              <a:buChar char="●"/>
            </a:pPr>
            <a:r>
              <a:rPr lang="en-US"/>
              <a:t>For our evaluation, we will use DSC and NSD, as they are the </a:t>
            </a:r>
            <a:r>
              <a:rPr lang="en-US" b="1"/>
              <a:t>competition metrics</a:t>
            </a:r>
            <a:r>
              <a:rPr lang="en-US"/>
              <a:t>, and are more commonly used in </a:t>
            </a:r>
            <a:r>
              <a:rPr lang="en-US" b="1"/>
              <a:t>medical domain.</a:t>
            </a:r>
            <a:endParaRPr b="1"/>
          </a:p>
          <a:p>
            <a:pPr marL="457200" lvl="0" indent="-298450" algn="l" rtl="0">
              <a:spcBef>
                <a:spcPts val="0"/>
              </a:spcBef>
              <a:spcAft>
                <a:spcPts val="0"/>
              </a:spcAft>
              <a:buClr>
                <a:srgbClr val="0000FF"/>
              </a:buClr>
              <a:buSzPts val="1100"/>
              <a:buChar char="●"/>
            </a:pPr>
            <a:r>
              <a:rPr lang="en-US">
                <a:solidFill>
                  <a:srgbClr val="0000FF"/>
                </a:solidFill>
              </a:rPr>
              <a:t>DSC is suitable for background-dominated medical images as it excludes true negatives in its calculations.</a:t>
            </a:r>
            <a:endParaRPr>
              <a:solidFill>
                <a:srgbClr val="0000FF"/>
              </a:solidFill>
            </a:endParaRPr>
          </a:p>
          <a:p>
            <a:pPr marL="457200" lvl="0" indent="-298450" algn="l" rtl="0">
              <a:spcBef>
                <a:spcPts val="0"/>
              </a:spcBef>
              <a:spcAft>
                <a:spcPts val="0"/>
              </a:spcAft>
              <a:buSzPts val="1100"/>
              <a:buChar char="●"/>
            </a:pPr>
            <a:r>
              <a:rPr lang="en-US"/>
              <a:t>And NSD is specially designed to calculate the surface boundary precision within a tolerance distance.</a:t>
            </a:r>
            <a:endParaRPr/>
          </a:p>
        </p:txBody>
      </p:sp>
      <p:sp>
        <p:nvSpPr>
          <p:cNvPr id="163" name="Google Shape;163;g39dcdded7dd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9dcdded7dd_1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9dcdded7dd_1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98c6dbd69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98c6dbd69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9235"/>
              </a:lnSpc>
              <a:spcBef>
                <a:spcPts val="0"/>
              </a:spcBef>
              <a:spcAft>
                <a:spcPts val="0"/>
              </a:spcAft>
              <a:buClr>
                <a:schemeClr val="dk1"/>
              </a:buClr>
              <a:buSzPts val="942"/>
              <a:buFont typeface="Arial"/>
              <a:buNone/>
            </a:pPr>
            <a:r>
              <a:rPr lang="en-US" sz="1142">
                <a:solidFill>
                  <a:schemeClr val="dk1"/>
                </a:solidFill>
                <a:latin typeface="Open Sans"/>
                <a:ea typeface="Open Sans"/>
                <a:cs typeface="Open Sans"/>
                <a:sym typeface="Open Sans"/>
              </a:rPr>
              <a:t>SAM : image encoder, prompt encoder, and lightweight mask decoder</a:t>
            </a:r>
            <a:endParaRPr sz="1142">
              <a:solidFill>
                <a:schemeClr val="dk1"/>
              </a:solidFill>
              <a:latin typeface="Open Sans"/>
              <a:ea typeface="Open Sans"/>
              <a:cs typeface="Open Sans"/>
              <a:sym typeface="Open Sans"/>
            </a:endParaRPr>
          </a:p>
          <a:p>
            <a:pPr marL="0" lvl="0" indent="0" algn="l" rtl="0">
              <a:lnSpc>
                <a:spcPct val="159235"/>
              </a:lnSpc>
              <a:spcBef>
                <a:spcPts val="0"/>
              </a:spcBef>
              <a:spcAft>
                <a:spcPts val="0"/>
              </a:spcAft>
              <a:buClr>
                <a:schemeClr val="dk1"/>
              </a:buClr>
              <a:buSzPts val="942"/>
              <a:buFont typeface="Arial"/>
              <a:buNone/>
            </a:pPr>
            <a:r>
              <a:rPr lang="en-US" sz="1142">
                <a:solidFill>
                  <a:schemeClr val="dk1"/>
                </a:solidFill>
                <a:latin typeface="Open Sans"/>
                <a:ea typeface="Open Sans"/>
                <a:cs typeface="Open Sans"/>
                <a:sym typeface="Open Sans"/>
              </a:rPr>
              <a:t>LORA: can allow us Efficient fine-tuning by training lightweight layers while freezing pretrained weights</a:t>
            </a:r>
            <a:endParaRPr sz="13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a126cea2f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a126cea2f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a:solidFill>
                  <a:schemeClr val="dk1"/>
                </a:solidFill>
              </a:rPr>
              <a:t>some organs are very small  + dataset is strong class imbalanced,</a:t>
            </a:r>
            <a:endParaRPr>
              <a:solidFill>
                <a:schemeClr val="dk1"/>
              </a:solidFill>
            </a:endParaRPr>
          </a:p>
          <a:p>
            <a:pPr marL="0" lvl="0" indent="0" algn="l" rtl="0">
              <a:lnSpc>
                <a:spcPct val="115000"/>
              </a:lnSpc>
              <a:spcBef>
                <a:spcPts val="800"/>
              </a:spcBef>
              <a:spcAft>
                <a:spcPts val="0"/>
              </a:spcAft>
              <a:buNone/>
            </a:pPr>
            <a:r>
              <a:rPr lang="en-US">
                <a:solidFill>
                  <a:schemeClr val="dk1"/>
                </a:solidFill>
              </a:rPr>
              <a:t>👉loss function : weighted CE + Dice Loss</a:t>
            </a:r>
            <a:endParaRPr>
              <a:solidFill>
                <a:schemeClr val="dk1"/>
              </a:solidFill>
            </a:endParaRPr>
          </a:p>
          <a:p>
            <a:pPr marL="0" lvl="0" indent="0" algn="l" rtl="0">
              <a:lnSpc>
                <a:spcPct val="115000"/>
              </a:lnSpc>
              <a:spcBef>
                <a:spcPts val="800"/>
              </a:spcBef>
              <a:spcAft>
                <a:spcPts val="0"/>
              </a:spcAft>
              <a:buClr>
                <a:schemeClr val="dk1"/>
              </a:buClr>
              <a:buSzPts val="1100"/>
              <a:buFont typeface="Arial"/>
              <a:buNone/>
            </a:pPr>
            <a:r>
              <a:rPr lang="en-US">
                <a:solidFill>
                  <a:schemeClr val="dk1"/>
                </a:solidFill>
              </a:rPr>
              <a:t>Weighted CE helps the model pay more attention to </a:t>
            </a:r>
            <a:r>
              <a:rPr lang="en-US" b="1">
                <a:solidFill>
                  <a:schemeClr val="dk1"/>
                </a:solidFill>
              </a:rPr>
              <a:t>rare, small organs</a:t>
            </a:r>
            <a:r>
              <a:rPr lang="en-US">
                <a:solidFill>
                  <a:schemeClr val="dk1"/>
                </a:solidFill>
              </a:rPr>
              <a:t>,</a:t>
            </a:r>
            <a:endParaRPr>
              <a:solidFill>
                <a:schemeClr val="dk1"/>
              </a:solidFill>
            </a:endParaRPr>
          </a:p>
          <a:p>
            <a:pPr marL="0" lvl="0" indent="0" algn="l" rtl="0">
              <a:lnSpc>
                <a:spcPct val="115000"/>
              </a:lnSpc>
              <a:spcBef>
                <a:spcPts val="800"/>
              </a:spcBef>
              <a:spcAft>
                <a:spcPts val="0"/>
              </a:spcAft>
              <a:buNone/>
            </a:pPr>
            <a:r>
              <a:rPr lang="en-US">
                <a:solidFill>
                  <a:schemeClr val="dk1"/>
                </a:solidFill>
              </a:rPr>
              <a:t>while Dice Loss helps us to get a consistent </a:t>
            </a:r>
            <a:r>
              <a:rPr lang="en-US" b="1">
                <a:solidFill>
                  <a:schemeClr val="dk1"/>
                </a:solidFill>
              </a:rPr>
              <a:t>shape and boundary</a:t>
            </a:r>
            <a:r>
              <a:rPr lang="en-US">
                <a:solidFill>
                  <a:schemeClr val="dk1"/>
                </a:solidFill>
              </a:rPr>
              <a:t>.</a:t>
            </a:r>
            <a:endParaRPr>
              <a:solidFill>
                <a:schemeClr val="dk1"/>
              </a:solidFill>
            </a:endParaRPr>
          </a:p>
          <a:p>
            <a:pPr marL="0" lvl="0" indent="0" algn="l" rtl="0">
              <a:lnSpc>
                <a:spcPct val="115000"/>
              </a:lnSpc>
              <a:spcBef>
                <a:spcPts val="800"/>
              </a:spcBef>
              <a:spcAft>
                <a:spcPts val="0"/>
              </a:spcAft>
              <a:buNone/>
            </a:pPr>
            <a:r>
              <a:rPr lang="en-US">
                <a:solidFill>
                  <a:schemeClr val="dk1"/>
                </a:solidFill>
              </a:rPr>
              <a:t>Finally, we use </a:t>
            </a:r>
            <a:r>
              <a:rPr lang="en-US" b="1">
                <a:solidFill>
                  <a:schemeClr val="dk1"/>
                </a:solidFill>
              </a:rPr>
              <a:t>transfer learning</a:t>
            </a:r>
            <a:r>
              <a:rPr lang="en-US">
                <a:solidFill>
                  <a:schemeClr val="dk1"/>
                </a:solidFill>
              </a:rPr>
              <a:t>:</a:t>
            </a:r>
            <a:endParaRPr>
              <a:solidFill>
                <a:schemeClr val="dk1"/>
              </a:solidFill>
            </a:endParaRPr>
          </a:p>
          <a:p>
            <a:pPr marL="0" lvl="0" indent="0" algn="l" rtl="0">
              <a:lnSpc>
                <a:spcPct val="115000"/>
              </a:lnSpc>
              <a:spcBef>
                <a:spcPts val="800"/>
              </a:spcBef>
              <a:spcAft>
                <a:spcPts val="0"/>
              </a:spcAft>
              <a:buClr>
                <a:schemeClr val="dk1"/>
              </a:buClr>
              <a:buSzPts val="1100"/>
              <a:buFont typeface="Arial"/>
              <a:buNone/>
            </a:pPr>
            <a:r>
              <a:rPr lang="en-US">
                <a:solidFill>
                  <a:schemeClr val="dk1"/>
                </a:solidFill>
              </a:rPr>
              <a:t>Transferred pre-trained weights for 8 existing organ classes, initialized 4 new classes</a:t>
            </a:r>
            <a:endParaRPr>
              <a:solidFill>
                <a:schemeClr val="dk1"/>
              </a:solidFill>
            </a:endParaRPr>
          </a:p>
          <a:p>
            <a:pPr marL="0" lvl="0" indent="0" algn="l" rtl="0">
              <a:spcBef>
                <a:spcPts val="80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a126cea2f9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a126cea2f9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epoch 6</a:t>
            </a:r>
            <a:endParaRPr/>
          </a:p>
          <a:p>
            <a:pPr marL="0" lvl="0" indent="0" algn="l" rtl="0">
              <a:lnSpc>
                <a:spcPct val="115000"/>
              </a:lnSpc>
              <a:spcBef>
                <a:spcPts val="0"/>
              </a:spcBef>
              <a:spcAft>
                <a:spcPts val="0"/>
              </a:spcAft>
              <a:buNone/>
            </a:pPr>
            <a:r>
              <a:rPr lang="en-US" b="1">
                <a:solidFill>
                  <a:schemeClr val="dk1"/>
                </a:solidFill>
              </a:rPr>
              <a:t>learned efficiently</a:t>
            </a:r>
            <a:r>
              <a:rPr lang="en-US">
                <a:solidFill>
                  <a:schemeClr val="dk1"/>
                </a:solidFill>
              </a:rPr>
              <a:t> without overfitting.</a:t>
            </a:r>
            <a:endParaRPr>
              <a:solidFill>
                <a:schemeClr val="dk1"/>
              </a:solidFill>
            </a:endParaRPr>
          </a:p>
          <a:p>
            <a:pPr marL="0" lvl="0" indent="0" algn="l" rtl="0">
              <a:lnSpc>
                <a:spcPct val="115000"/>
              </a:lnSpc>
              <a:spcBef>
                <a:spcPts val="800"/>
              </a:spcBef>
              <a:spcAft>
                <a:spcPts val="0"/>
              </a:spcAft>
              <a:buClr>
                <a:schemeClr val="dk1"/>
              </a:buClr>
              <a:buSzPts val="1100"/>
              <a:buFont typeface="Arial"/>
              <a:buNone/>
            </a:pPr>
            <a:r>
              <a:rPr lang="en-US" b="1">
                <a:solidFill>
                  <a:schemeClr val="dk1"/>
                </a:solidFill>
              </a:rPr>
              <a:t>Get Key Point : Using [weighted loss ]is crucial</a:t>
            </a:r>
            <a:r>
              <a:rPr lang="en-US">
                <a:solidFill>
                  <a:schemeClr val="dk1"/>
                </a:solidFill>
              </a:rPr>
              <a:t> for small organ segmentation in imbalanced datasets.</a:t>
            </a:r>
            <a:endParaRPr>
              <a:solidFill>
                <a:schemeClr val="dk1"/>
              </a:solidFill>
            </a:endParaRPr>
          </a:p>
          <a:p>
            <a:pPr marL="0" lvl="0" indent="0" algn="l" rtl="0">
              <a:spcBef>
                <a:spcPts val="80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a145d5a476_5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a145d5a476_5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well in large organs : liver, stomach, spleen, and kidneys.</a:t>
            </a:r>
            <a:endParaRPr/>
          </a:p>
          <a:p>
            <a:pPr marL="0" lvl="0" indent="0" algn="l" rtl="0">
              <a:spcBef>
                <a:spcPts val="0"/>
              </a:spcBef>
              <a:spcAft>
                <a:spcPts val="0"/>
              </a:spcAft>
              <a:buNone/>
            </a:pPr>
            <a:r>
              <a:rPr lang="en-US"/>
              <a:t>not very well in small and inrregular shaped organs : </a:t>
            </a:r>
            <a:r>
              <a:rPr lang="en-US">
                <a:solidFill>
                  <a:schemeClr val="dk1"/>
                </a:solidFill>
              </a:rPr>
              <a:t>such as the pancreas and adrenal glands.</a:t>
            </a:r>
            <a:endParaRPr>
              <a:solidFill>
                <a:schemeClr val="dk1"/>
              </a:solidFill>
            </a:endParaRPr>
          </a:p>
          <a:p>
            <a:pPr marL="0" lvl="0" indent="0" algn="l" rtl="0">
              <a:lnSpc>
                <a:spcPct val="115000"/>
              </a:lnSpc>
              <a:spcBef>
                <a:spcPts val="0"/>
              </a:spcBef>
              <a:spcAft>
                <a:spcPts val="0"/>
              </a:spcAft>
              <a:buNone/>
            </a:pPr>
            <a:r>
              <a:rPr lang="en-US">
                <a:solidFill>
                  <a:schemeClr val="dk1"/>
                </a:solidFill>
              </a:rPr>
              <a:t>These small organs have </a:t>
            </a:r>
            <a:r>
              <a:rPr lang="en-US" b="1">
                <a:solidFill>
                  <a:schemeClr val="dk1"/>
                </a:solidFill>
              </a:rPr>
              <a:t>fewer pixels</a:t>
            </a:r>
            <a:r>
              <a:rPr lang="en-US">
                <a:solidFill>
                  <a:schemeClr val="dk1"/>
                </a:solidFill>
              </a:rPr>
              <a:t>, and their boundaries are more complex</a:t>
            </a:r>
            <a:endParaRPr>
              <a:solidFill>
                <a:schemeClr val="dk1"/>
              </a:solidFill>
            </a:endParaRPr>
          </a:p>
          <a:p>
            <a:pPr marL="0" lvl="0" indent="0" algn="l" rtl="0">
              <a:lnSpc>
                <a:spcPct val="115000"/>
              </a:lnSpc>
              <a:spcBef>
                <a:spcPts val="800"/>
              </a:spcBef>
              <a:spcAft>
                <a:spcPts val="0"/>
              </a:spcAft>
              <a:buNone/>
            </a:pPr>
            <a:r>
              <a:rPr lang="en-US">
                <a:solidFill>
                  <a:schemeClr val="dk1"/>
                </a:solidFill>
              </a:rPr>
              <a:t>DSC and NSD lower, NSD&lt;DSC</a:t>
            </a:r>
            <a:endParaRPr>
              <a:solidFill>
                <a:schemeClr val="dk1"/>
              </a:solidFill>
            </a:endParaRPr>
          </a:p>
          <a:p>
            <a:pPr marL="0" lvl="0" indent="0" algn="l" rtl="0">
              <a:lnSpc>
                <a:spcPct val="115000"/>
              </a:lnSpc>
              <a:spcBef>
                <a:spcPts val="1200"/>
              </a:spcBef>
              <a:spcAft>
                <a:spcPts val="0"/>
              </a:spcAft>
              <a:buNone/>
            </a:pPr>
            <a:r>
              <a:rPr lang="en-US">
                <a:solidFill>
                  <a:schemeClr val="dk1"/>
                </a:solidFill>
              </a:rPr>
              <a:t>“So overall, SAMed provides a </a:t>
            </a:r>
            <a:r>
              <a:rPr lang="en-US" b="1">
                <a:solidFill>
                  <a:schemeClr val="dk1"/>
                </a:solidFill>
              </a:rPr>
              <a:t>fast and efficient adaptation</a:t>
            </a:r>
            <a:r>
              <a:rPr lang="en-US">
                <a:solidFill>
                  <a:schemeClr val="dk1"/>
                </a:solidFill>
              </a:rPr>
              <a:t> of a foundation model to medical segmentation.</a:t>
            </a:r>
            <a:endParaRPr>
              <a:solidFill>
                <a:schemeClr val="dk1"/>
              </a:solidFill>
            </a:endParaRPr>
          </a:p>
          <a:p>
            <a:pPr marL="0" lvl="0" indent="0" algn="l" rtl="0">
              <a:lnSpc>
                <a:spcPct val="115000"/>
              </a:lnSpc>
              <a:spcBef>
                <a:spcPts val="1200"/>
              </a:spcBef>
              <a:spcAft>
                <a:spcPts val="0"/>
              </a:spcAft>
              <a:buNone/>
            </a:pPr>
            <a:r>
              <a:rPr lang="en-US">
                <a:solidFill>
                  <a:schemeClr val="dk1"/>
                </a:solidFill>
              </a:rPr>
              <a:t>but still needs improvement for small organs and boundary accuracy, which motivates our use of a 3D approach in the next model.</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spcBef>
                <a:spcPts val="80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9dcdded7dd_1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3" name="Google Shape;323;g39dcdded7dd_1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9dcdded7dd_1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u="sng">
                <a:solidFill>
                  <a:schemeClr val="dk1"/>
                </a:solidFill>
                <a:hlinkClick r:id="rId3">
                  <a:extLst>
                    <a:ext uri="{A12FA001-AC4F-418D-AE19-62706E023703}">
                      <ahyp:hlinkClr xmlns:ahyp="http://schemas.microsoft.com/office/drawing/2018/hyperlinkcolor" val="tx"/>
                    </a:ext>
                  </a:extLst>
                </a:hlinkClick>
              </a:rPr>
              <a:t>https://github.com/wasserth/TotalSegmentator</a:t>
            </a:r>
            <a:endParaRPr>
              <a:solidFill>
                <a:schemeClr val="dk1"/>
              </a:solidFill>
            </a:endParaRPr>
          </a:p>
          <a:p>
            <a:pPr marL="0" lvl="0" indent="0" algn="l" rtl="0">
              <a:spcBef>
                <a:spcPts val="0"/>
              </a:spcBef>
              <a:spcAft>
                <a:spcPts val="0"/>
              </a:spcAft>
              <a:buNone/>
            </a:pPr>
            <a:r>
              <a:rPr lang="en-US" u="sng">
                <a:solidFill>
                  <a:schemeClr val="dk1"/>
                </a:solidFill>
                <a:hlinkClick r:id="rId4">
                  <a:extLst>
                    <a:ext uri="{A12FA001-AC4F-418D-AE19-62706E023703}">
                      <ahyp:hlinkClr xmlns:ahyp="http://schemas.microsoft.com/office/drawing/2018/hyperlinkcolor" val="tx"/>
                    </a:ext>
                  </a:extLst>
                </a:hlinkClick>
              </a:rPr>
              <a:t>https://github.com/MIC-DKFZ/nnUNet?tab=readme-ov-file</a:t>
            </a:r>
            <a:r>
              <a:rPr lang="en-US">
                <a:solidFill>
                  <a:schemeClr val="dk1"/>
                </a:solidFill>
              </a:rPr>
              <a:t> </a:t>
            </a:r>
            <a:endParaRPr>
              <a:solidFill>
                <a:schemeClr val="dk1"/>
              </a:solidFill>
            </a:endParaRPr>
          </a:p>
          <a:p>
            <a:pPr marL="457200" lvl="0" indent="-317500" algn="l" rtl="0">
              <a:lnSpc>
                <a:spcPct val="115000"/>
              </a:lnSpc>
              <a:spcBef>
                <a:spcPts val="0"/>
              </a:spcBef>
              <a:spcAft>
                <a:spcPts val="0"/>
              </a:spcAft>
              <a:buClr>
                <a:schemeClr val="dk1"/>
              </a:buClr>
              <a:buSzPts val="1400"/>
              <a:buFont typeface="Open Sans"/>
              <a:buChar char="●"/>
            </a:pPr>
            <a:r>
              <a:rPr lang="en-US" sz="1400">
                <a:solidFill>
                  <a:schemeClr val="dk1"/>
                </a:solidFill>
                <a:latin typeface="Open Sans"/>
                <a:ea typeface="Open Sans"/>
                <a:cs typeface="Open Sans"/>
                <a:sym typeface="Open Sans"/>
              </a:rPr>
              <a:t>What is nnU-Net? </a:t>
            </a:r>
            <a:endParaRPr sz="1400">
              <a:solidFill>
                <a:schemeClr val="dk1"/>
              </a:solidFill>
              <a:latin typeface="Open Sans"/>
              <a:ea typeface="Open Sans"/>
              <a:cs typeface="Open Sans"/>
              <a:sym typeface="Open Sans"/>
            </a:endParaRPr>
          </a:p>
          <a:p>
            <a:pPr marL="914400" lvl="1" indent="-304800" algn="l" rtl="0">
              <a:lnSpc>
                <a:spcPct val="115000"/>
              </a:lnSpc>
              <a:spcBef>
                <a:spcPts val="0"/>
              </a:spcBef>
              <a:spcAft>
                <a:spcPts val="0"/>
              </a:spcAft>
              <a:buClr>
                <a:schemeClr val="dk1"/>
              </a:buClr>
              <a:buSzPts val="1200"/>
              <a:buFont typeface="Open Sans"/>
              <a:buChar char="○"/>
            </a:pPr>
            <a:r>
              <a:rPr lang="en-US" sz="1200">
                <a:solidFill>
                  <a:schemeClr val="dk1"/>
                </a:solidFill>
                <a:latin typeface="Open Sans"/>
                <a:ea typeface="Open Sans"/>
                <a:cs typeface="Open Sans"/>
                <a:sym typeface="Open Sans"/>
              </a:rPr>
              <a:t>U-Net variant architecture</a:t>
            </a:r>
            <a:endParaRPr sz="1200">
              <a:solidFill>
                <a:schemeClr val="dk1"/>
              </a:solidFill>
              <a:latin typeface="Open Sans"/>
              <a:ea typeface="Open Sans"/>
              <a:cs typeface="Open Sans"/>
              <a:sym typeface="Open Sans"/>
            </a:endParaRPr>
          </a:p>
          <a:p>
            <a:pPr marL="914400" lvl="1" indent="-304800" algn="l" rtl="0">
              <a:lnSpc>
                <a:spcPct val="115000"/>
              </a:lnSpc>
              <a:spcBef>
                <a:spcPts val="0"/>
              </a:spcBef>
              <a:spcAft>
                <a:spcPts val="0"/>
              </a:spcAft>
              <a:buClr>
                <a:schemeClr val="dk1"/>
              </a:buClr>
              <a:buSzPts val="1200"/>
              <a:buFont typeface="Open Sans"/>
              <a:buChar char="○"/>
            </a:pPr>
            <a:r>
              <a:rPr lang="en-US" sz="1200">
                <a:solidFill>
                  <a:schemeClr val="dk1"/>
                </a:solidFill>
                <a:latin typeface="Open Sans"/>
                <a:ea typeface="Open Sans"/>
                <a:cs typeface="Open Sans"/>
                <a:sym typeface="Open Sans"/>
              </a:rPr>
              <a:t>nnU-Net (v2)  is a fully automated semantic segmentation that automatically configures preprocessing, architecture, training, and postprocessing for a given dataset (biomedical domain), ensuring near-optimal segmentation performance with minimal manual tuning. It’s a proven, high-performing architecture for medical image segmentation and forms the backbone of TotalSegmentator’s robustness and accuracy.</a:t>
            </a:r>
            <a:endParaRPr sz="1200">
              <a:solidFill>
                <a:schemeClr val="dk1"/>
              </a:solidFill>
              <a:latin typeface="Open Sans"/>
              <a:ea typeface="Open Sans"/>
              <a:cs typeface="Open Sans"/>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en-US" sz="1400">
                <a:solidFill>
                  <a:schemeClr val="dk1"/>
                </a:solidFill>
                <a:latin typeface="Open Sans"/>
                <a:ea typeface="Open Sans"/>
                <a:cs typeface="Open Sans"/>
                <a:sym typeface="Open Sans"/>
              </a:rPr>
              <a:t>Why Total Segmentator? </a:t>
            </a:r>
            <a:endParaRPr sz="1400">
              <a:solidFill>
                <a:schemeClr val="dk1"/>
              </a:solidFill>
              <a:latin typeface="Open Sans"/>
              <a:ea typeface="Open Sans"/>
              <a:cs typeface="Open Sans"/>
              <a:sym typeface="Open Sans"/>
            </a:endParaRPr>
          </a:p>
          <a:p>
            <a:pPr marL="914400" lvl="1" indent="-304800" algn="l" rtl="0">
              <a:lnSpc>
                <a:spcPct val="115000"/>
              </a:lnSpc>
              <a:spcBef>
                <a:spcPts val="0"/>
              </a:spcBef>
              <a:spcAft>
                <a:spcPts val="0"/>
              </a:spcAft>
              <a:buClr>
                <a:schemeClr val="dk1"/>
              </a:buClr>
              <a:buSzPts val="1200"/>
              <a:buFont typeface="Open Sans"/>
              <a:buChar char="○"/>
            </a:pPr>
            <a:r>
              <a:rPr lang="en-US" sz="1200">
                <a:solidFill>
                  <a:schemeClr val="dk1"/>
                </a:solidFill>
                <a:latin typeface="Open Sans"/>
                <a:ea typeface="Open Sans"/>
                <a:cs typeface="Open Sans"/>
                <a:sym typeface="Open Sans"/>
              </a:rPr>
              <a:t>Built on top of </a:t>
            </a:r>
            <a:r>
              <a:rPr lang="en-US" sz="1200" b="1">
                <a:solidFill>
                  <a:schemeClr val="dk1"/>
                </a:solidFill>
                <a:latin typeface="Open Sans"/>
                <a:ea typeface="Open Sans"/>
                <a:cs typeface="Open Sans"/>
                <a:sym typeface="Open Sans"/>
              </a:rPr>
              <a:t>nnU-Net</a:t>
            </a:r>
            <a:r>
              <a:rPr lang="en-US" sz="1200">
                <a:solidFill>
                  <a:schemeClr val="dk1"/>
                </a:solidFill>
                <a:latin typeface="Open Sans"/>
                <a:ea typeface="Open Sans"/>
                <a:cs typeface="Open Sans"/>
                <a:sym typeface="Open Sans"/>
              </a:rPr>
              <a:t>, TotalSegmentator is a robust, domain-specific foundation model for </a:t>
            </a:r>
            <a:r>
              <a:rPr lang="en-US" sz="1200" b="1">
                <a:solidFill>
                  <a:schemeClr val="dk1"/>
                </a:solidFill>
                <a:latin typeface="Open Sans"/>
                <a:ea typeface="Open Sans"/>
                <a:cs typeface="Open Sans"/>
                <a:sym typeface="Open Sans"/>
              </a:rPr>
              <a:t>whole-body CT segmentation</a:t>
            </a:r>
            <a:r>
              <a:rPr lang="en-US" sz="1200">
                <a:solidFill>
                  <a:schemeClr val="dk1"/>
                </a:solidFill>
                <a:latin typeface="Open Sans"/>
                <a:ea typeface="Open Sans"/>
                <a:cs typeface="Open Sans"/>
                <a:sym typeface="Open Sans"/>
              </a:rPr>
              <a:t>. It has been </a:t>
            </a:r>
            <a:r>
              <a:rPr lang="en-US" sz="1200" b="1">
                <a:solidFill>
                  <a:schemeClr val="dk1"/>
                </a:solidFill>
                <a:latin typeface="Open Sans"/>
                <a:ea typeface="Open Sans"/>
                <a:cs typeface="Open Sans"/>
                <a:sym typeface="Open Sans"/>
              </a:rPr>
              <a:t>pretrained on thousands of CT scans across &gt;100 anatomical structures</a:t>
            </a:r>
            <a:r>
              <a:rPr lang="en-US" sz="1200">
                <a:solidFill>
                  <a:schemeClr val="dk1"/>
                </a:solidFill>
                <a:latin typeface="Open Sans"/>
                <a:ea typeface="Open Sans"/>
                <a:cs typeface="Open Sans"/>
                <a:sym typeface="Open Sans"/>
              </a:rPr>
              <a:t>, giving it strong generalization to diverse organs, scanners, and protocols. As a medical-domain model, it captures volumetric context (3D) natively, unlike 2D vision foundation models.</a:t>
            </a:r>
            <a:endParaRPr sz="1200">
              <a:solidFill>
                <a:schemeClr val="dk1"/>
              </a:solidFill>
              <a:latin typeface="Open Sans"/>
              <a:ea typeface="Open Sans"/>
              <a:cs typeface="Open Sans"/>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en-US" sz="1400">
                <a:solidFill>
                  <a:schemeClr val="dk1"/>
                </a:solidFill>
                <a:latin typeface="Open Sans"/>
                <a:ea typeface="Open Sans"/>
                <a:cs typeface="Open Sans"/>
                <a:sym typeface="Open Sans"/>
              </a:rPr>
              <a:t>Disadvantages: </a:t>
            </a:r>
            <a:r>
              <a:rPr lang="en-US" sz="1200">
                <a:solidFill>
                  <a:schemeClr val="dk1"/>
                </a:solidFill>
                <a:latin typeface="Open Sans"/>
                <a:ea typeface="Open Sans"/>
                <a:cs typeface="Open Sans"/>
                <a:sym typeface="Open Sans"/>
              </a:rPr>
              <a:t>Limited generalizability to specific populations as model is trained on adult data set and there is variability with organ size and age.</a:t>
            </a:r>
            <a:endParaRPr sz="1400">
              <a:solidFill>
                <a:schemeClr val="dk1"/>
              </a:solidFill>
              <a:latin typeface="Open Sans"/>
              <a:ea typeface="Open Sans"/>
              <a:cs typeface="Open Sans"/>
              <a:sym typeface="Open Sans"/>
            </a:endParaRPr>
          </a:p>
          <a:p>
            <a:pPr marL="0" lvl="0" indent="0" algn="l" rtl="0">
              <a:spcBef>
                <a:spcPts val="0"/>
              </a:spcBef>
              <a:spcAft>
                <a:spcPts val="0"/>
              </a:spcAft>
              <a:buNone/>
            </a:pPr>
            <a:endParaRPr>
              <a:solidFill>
                <a:schemeClr val="dk1"/>
              </a:solidFill>
            </a:endParaRPr>
          </a:p>
        </p:txBody>
      </p:sp>
      <p:sp>
        <p:nvSpPr>
          <p:cNvPr id="346" name="Google Shape;346;g39dcdded7dd_1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98c53b899c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98c53b899c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9dcdded7dd_1_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9dcdded7dd_1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400" b="1">
                <a:solidFill>
                  <a:schemeClr val="dk1"/>
                </a:solidFill>
                <a:latin typeface="Open Sans"/>
                <a:ea typeface="Open Sans"/>
                <a:cs typeface="Open Sans"/>
                <a:sym typeface="Open Sans"/>
              </a:rPr>
              <a:t>Transferred weights for all 12 classes</a:t>
            </a:r>
            <a:endParaRPr sz="1400">
              <a:solidFill>
                <a:schemeClr val="dk1"/>
              </a:solidFill>
              <a:latin typeface="Open Sans"/>
              <a:ea typeface="Open Sans"/>
              <a:cs typeface="Open Sans"/>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en-US" sz="1400" b="1">
                <a:solidFill>
                  <a:schemeClr val="dk1"/>
                </a:solidFill>
                <a:latin typeface="Open Sans"/>
                <a:ea typeface="Open Sans"/>
                <a:cs typeface="Open Sans"/>
                <a:sym typeface="Open Sans"/>
              </a:rPr>
              <a:t>Loss</a:t>
            </a:r>
            <a:r>
              <a:rPr lang="en-US" sz="1400">
                <a:solidFill>
                  <a:schemeClr val="dk1"/>
                </a:solidFill>
                <a:latin typeface="Open Sans"/>
                <a:ea typeface="Open Sans"/>
                <a:cs typeface="Open Sans"/>
                <a:sym typeface="Open Sans"/>
              </a:rPr>
              <a:t>: Combination of 50% Cross-entropy + 50% soft Dice loss (uses continuous probabilities for more stable gradient)</a:t>
            </a:r>
            <a:endParaRPr sz="1400">
              <a:solidFill>
                <a:schemeClr val="dk1"/>
              </a:solidFill>
              <a:latin typeface="Open Sans"/>
              <a:ea typeface="Open Sans"/>
              <a:cs typeface="Open Sans"/>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en-US" sz="1400" b="1">
                <a:solidFill>
                  <a:schemeClr val="dk1"/>
                </a:solidFill>
                <a:latin typeface="Open Sans"/>
                <a:ea typeface="Open Sans"/>
                <a:cs typeface="Open Sans"/>
                <a:sym typeface="Open Sans"/>
              </a:rPr>
              <a:t>Deep supervision</a:t>
            </a:r>
            <a:r>
              <a:rPr lang="en-US" sz="1400">
                <a:solidFill>
                  <a:schemeClr val="dk1"/>
                </a:solidFill>
                <a:latin typeface="Open Sans"/>
                <a:ea typeface="Open Sans"/>
                <a:cs typeface="Open Sans"/>
                <a:sym typeface="Open Sans"/>
              </a:rPr>
              <a:t>: Losses from intermediate decoder outputs also considered, each weighted exponentially which improves training stability and feature learning.</a:t>
            </a:r>
            <a:endParaRPr sz="1400">
              <a:solidFill>
                <a:schemeClr val="dk1"/>
              </a:solidFill>
              <a:latin typeface="Open Sans"/>
              <a:ea typeface="Open Sans"/>
              <a:cs typeface="Open Sans"/>
              <a:sym typeface="Open Sans"/>
            </a:endParaRPr>
          </a:p>
          <a:p>
            <a:pPr marL="457200" lvl="0" indent="0" algn="l" rtl="0">
              <a:lnSpc>
                <a:spcPct val="115000"/>
              </a:lnSpc>
              <a:spcBef>
                <a:spcPts val="0"/>
              </a:spcBef>
              <a:spcAft>
                <a:spcPts val="0"/>
              </a:spcAft>
              <a:buClr>
                <a:schemeClr val="dk1"/>
              </a:buClr>
              <a:buSzPts val="1100"/>
              <a:buFont typeface="Arial"/>
              <a:buNone/>
            </a:pPr>
            <a:endParaRPr sz="1400">
              <a:solidFill>
                <a:schemeClr val="dk1"/>
              </a:solidFill>
              <a:latin typeface="Open Sans"/>
              <a:ea typeface="Open Sans"/>
              <a:cs typeface="Open Sans"/>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en-US" sz="1400" b="1">
                <a:solidFill>
                  <a:schemeClr val="dk1"/>
                </a:solidFill>
                <a:latin typeface="Open Sans"/>
                <a:ea typeface="Open Sans"/>
                <a:cs typeface="Open Sans"/>
                <a:sym typeface="Open Sans"/>
              </a:rPr>
              <a:t>Multi-step testing</a:t>
            </a:r>
            <a:r>
              <a:rPr lang="en-US" sz="1400">
                <a:solidFill>
                  <a:schemeClr val="dk1"/>
                </a:solidFill>
                <a:latin typeface="Open Sans"/>
                <a:ea typeface="Open Sans"/>
                <a:cs typeface="Open Sans"/>
                <a:sym typeface="Open Sans"/>
              </a:rPr>
              <a:t>:</a:t>
            </a:r>
            <a:endParaRPr sz="1400">
              <a:solidFill>
                <a:schemeClr val="dk1"/>
              </a:solidFill>
              <a:latin typeface="Open Sans"/>
              <a:ea typeface="Open Sans"/>
              <a:cs typeface="Open Sans"/>
              <a:sym typeface="Open Sans"/>
            </a:endParaRPr>
          </a:p>
          <a:p>
            <a:pPr marL="914400" lvl="1" indent="-317500" algn="l" rtl="0">
              <a:lnSpc>
                <a:spcPct val="115000"/>
              </a:lnSpc>
              <a:spcBef>
                <a:spcPts val="0"/>
              </a:spcBef>
              <a:spcAft>
                <a:spcPts val="0"/>
              </a:spcAft>
              <a:buClr>
                <a:schemeClr val="dk1"/>
              </a:buClr>
              <a:buSzPts val="1400"/>
              <a:buFont typeface="Open Sans"/>
              <a:buAutoNum type="alphaLcPeriod"/>
            </a:pPr>
            <a:r>
              <a:rPr lang="en-US" sz="1400">
                <a:solidFill>
                  <a:schemeClr val="dk1"/>
                </a:solidFill>
                <a:latin typeface="Open Sans"/>
                <a:ea typeface="Open Sans"/>
                <a:cs typeface="Open Sans"/>
                <a:sym typeface="Open Sans"/>
              </a:rPr>
              <a:t>Low-resolution 3D model captures global structure, runs in 5-fold setting for robustness and efficiency.</a:t>
            </a:r>
            <a:endParaRPr sz="1400">
              <a:solidFill>
                <a:schemeClr val="dk1"/>
              </a:solidFill>
              <a:latin typeface="Open Sans"/>
              <a:ea typeface="Open Sans"/>
              <a:cs typeface="Open Sans"/>
              <a:sym typeface="Open Sans"/>
            </a:endParaRPr>
          </a:p>
          <a:p>
            <a:pPr marL="914400" lvl="1" indent="-317500" algn="l" rtl="0">
              <a:lnSpc>
                <a:spcPct val="115000"/>
              </a:lnSpc>
              <a:spcBef>
                <a:spcPts val="0"/>
              </a:spcBef>
              <a:spcAft>
                <a:spcPts val="0"/>
              </a:spcAft>
              <a:buClr>
                <a:schemeClr val="dk1"/>
              </a:buClr>
              <a:buSzPts val="1400"/>
              <a:buFont typeface="Open Sans"/>
              <a:buAutoNum type="alphaLcPeriod"/>
            </a:pPr>
            <a:r>
              <a:rPr lang="en-US" sz="1400">
                <a:solidFill>
                  <a:schemeClr val="dk1"/>
                </a:solidFill>
                <a:latin typeface="Open Sans"/>
                <a:ea typeface="Open Sans"/>
                <a:cs typeface="Open Sans"/>
                <a:sym typeface="Open Sans"/>
              </a:rPr>
              <a:t>One high resolution fold to refine local details</a:t>
            </a:r>
            <a:endParaRPr sz="1400">
              <a:solidFill>
                <a:schemeClr val="dk1"/>
              </a:solidFill>
              <a:latin typeface="Open Sans"/>
              <a:ea typeface="Open Sans"/>
              <a:cs typeface="Open Sans"/>
              <a:sym typeface="Open Sans"/>
            </a:endParaRPr>
          </a:p>
          <a:p>
            <a:pPr marL="914400" lvl="1" indent="-317500" algn="l" rtl="0">
              <a:lnSpc>
                <a:spcPct val="115000"/>
              </a:lnSpc>
              <a:spcBef>
                <a:spcPts val="0"/>
              </a:spcBef>
              <a:spcAft>
                <a:spcPts val="0"/>
              </a:spcAft>
              <a:buClr>
                <a:schemeClr val="dk1"/>
              </a:buClr>
              <a:buSzPts val="1400"/>
              <a:buFont typeface="Open Sans"/>
              <a:buAutoNum type="alphaLcPeriod"/>
            </a:pPr>
            <a:r>
              <a:rPr lang="en-US" sz="1400">
                <a:solidFill>
                  <a:schemeClr val="dk1"/>
                </a:solidFill>
                <a:latin typeface="Open Sans"/>
                <a:ea typeface="Open Sans"/>
                <a:cs typeface="Open Sans"/>
                <a:sym typeface="Open Sans"/>
              </a:rPr>
              <a:t>Outputs from both are ensembled for optimal segmentation</a:t>
            </a:r>
            <a:endParaRPr sz="1400">
              <a:solidFill>
                <a:schemeClr val="dk1"/>
              </a:solidFill>
              <a:latin typeface="Open Sans"/>
              <a:ea typeface="Open Sans"/>
              <a:cs typeface="Open Sans"/>
              <a:sym typeface="Open Sans"/>
            </a:endParaRPr>
          </a:p>
          <a:p>
            <a:pPr marL="457200" lvl="0" indent="-317500" algn="l" rtl="0">
              <a:lnSpc>
                <a:spcPct val="115000"/>
              </a:lnSpc>
              <a:spcBef>
                <a:spcPts val="0"/>
              </a:spcBef>
              <a:spcAft>
                <a:spcPts val="0"/>
              </a:spcAft>
              <a:buClr>
                <a:schemeClr val="dk1"/>
              </a:buClr>
              <a:buSzPts val="1400"/>
              <a:buFont typeface="Open Sans"/>
              <a:buChar char="●"/>
            </a:pPr>
            <a:r>
              <a:rPr lang="en-US" sz="1400">
                <a:solidFill>
                  <a:schemeClr val="dk1"/>
                </a:solidFill>
                <a:latin typeface="Open Sans"/>
                <a:ea typeface="Open Sans"/>
                <a:cs typeface="Open Sans"/>
                <a:sym typeface="Open Sans"/>
              </a:rPr>
              <a:t>Pipeline balances speed, resource use, and accuracy by combining low/high res outputs, with deep supervision ensuring richer, more reliable training.</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98c6dbd69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398c6dbd69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9dcdded7dd_1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9dcdded7dd_1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smaller organs:esophagus and adrenal glands</a:t>
            </a:r>
            <a:endParaRPr/>
          </a:p>
          <a:p>
            <a:pPr marL="0" lvl="0" indent="0" algn="l" rtl="0">
              <a:spcBef>
                <a:spcPts val="0"/>
              </a:spcBef>
              <a:spcAft>
                <a:spcPts val="0"/>
              </a:spcAft>
              <a:buNone/>
            </a:pPr>
            <a:r>
              <a:rPr lang="en-US"/>
              <a:t>Improvement in NSD and DSC, managed to address and improve the edge accuracy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9dcdded7dd_1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g39dcdded7dd_1_1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9dcdded7dd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a:solidFill>
                  <a:schemeClr val="dk1"/>
                </a:solidFill>
              </a:rPr>
              <a:t>There are </a:t>
            </a:r>
            <a:r>
              <a:rPr lang="en-US" sz="1600" b="1" u="sng">
                <a:solidFill>
                  <a:schemeClr val="dk1"/>
                </a:solidFill>
              </a:rPr>
              <a:t>three</a:t>
            </a:r>
            <a:r>
              <a:rPr lang="en-US" sz="1600">
                <a:solidFill>
                  <a:schemeClr val="dk1"/>
                </a:solidFill>
              </a:rPr>
              <a:t> kinds of Methods.</a:t>
            </a:r>
            <a:endParaRPr sz="16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600">
                <a:solidFill>
                  <a:schemeClr val="dk1"/>
                </a:solidFill>
              </a:rPr>
              <a:t>Based on the evaluation results, …</a:t>
            </a:r>
            <a:endParaRPr sz="16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400" b="1">
                <a:solidFill>
                  <a:schemeClr val="dk1"/>
                </a:solidFill>
              </a:rPr>
              <a:t>Val DSC (Validation</a:t>
            </a:r>
            <a:r>
              <a:rPr lang="en-US" sz="1400">
                <a:solidFill>
                  <a:schemeClr val="dk1"/>
                </a:solidFill>
              </a:rPr>
              <a:t> </a:t>
            </a:r>
            <a:r>
              <a:rPr lang="en-US" sz="1400" b="1">
                <a:solidFill>
                  <a:schemeClr val="dk1"/>
                </a:solidFill>
              </a:rPr>
              <a:t>Dice Similarity Coefficient): </a:t>
            </a:r>
            <a:r>
              <a:rPr lang="en-US" sz="1400">
                <a:solidFill>
                  <a:schemeClr val="dk1"/>
                </a:solidFill>
              </a:rPr>
              <a:t>Overlap between predicted segmentation and ground truth</a:t>
            </a: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400" b="1">
                <a:solidFill>
                  <a:schemeClr val="dk1"/>
                </a:solidFill>
              </a:rPr>
              <a:t>Val NSD (Validation</a:t>
            </a:r>
            <a:r>
              <a:rPr lang="en-US" sz="1400">
                <a:solidFill>
                  <a:schemeClr val="dk1"/>
                </a:solidFill>
              </a:rPr>
              <a:t> </a:t>
            </a:r>
            <a:r>
              <a:rPr lang="en-US" sz="1400" b="1">
                <a:solidFill>
                  <a:schemeClr val="dk1"/>
                </a:solidFill>
              </a:rPr>
              <a:t>Normalized Surface Distance): </a:t>
            </a:r>
            <a:r>
              <a:rPr lang="en-US" sz="1400">
                <a:solidFill>
                  <a:schemeClr val="dk1"/>
                </a:solidFill>
              </a:rPr>
              <a:t>How well the boundaries of the segmentation match </a:t>
            </a: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400" b="1">
                <a:solidFill>
                  <a:schemeClr val="dk1"/>
                </a:solidFill>
              </a:rPr>
              <a:t>Range:</a:t>
            </a:r>
            <a:r>
              <a:rPr lang="en-US" sz="1400">
                <a:solidFill>
                  <a:schemeClr val="dk1"/>
                </a:solidFill>
              </a:rPr>
              <a:t> 0 to 1 (higher is better)</a:t>
            </a: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400" b="1">
                <a:solidFill>
                  <a:schemeClr val="dk1"/>
                </a:solidFill>
              </a:rPr>
              <a:t>DSC Interpretation: </a:t>
            </a:r>
            <a:r>
              <a:rPr lang="en-US" sz="1400">
                <a:solidFill>
                  <a:schemeClr val="dk1"/>
                </a:solidFill>
              </a:rPr>
              <a:t>1.0 = perfect overlap, 0.0 = no overlap,</a:t>
            </a:r>
            <a:r>
              <a:rPr lang="en-US" sz="1400" b="1" u="sng">
                <a:solidFill>
                  <a:schemeClr val="dk1"/>
                </a:solidFill>
              </a:rPr>
              <a:t> 0.8+ is typically considered good performance</a:t>
            </a:r>
            <a:endParaRPr sz="1400" b="1" u="sng">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400" b="1" u="sng">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400" b="1">
                <a:solidFill>
                  <a:schemeClr val="dk1"/>
                </a:solidFill>
              </a:rPr>
              <a:t>Ensemble Combination</a:t>
            </a:r>
            <a:r>
              <a:rPr lang="en-US" sz="1400">
                <a:solidFill>
                  <a:schemeClr val="dk1"/>
                </a:solidFill>
              </a:rPr>
              <a:t> (</a:t>
            </a:r>
            <a:r>
              <a:rPr lang="en-US" sz="1400" b="1" u="sng">
                <a:solidFill>
                  <a:schemeClr val="dk1"/>
                </a:solidFill>
              </a:rPr>
              <a:t>equal voting</a:t>
            </a:r>
            <a:r>
              <a:rPr lang="en-US" sz="1400">
                <a:solidFill>
                  <a:schemeClr val="dk1"/>
                </a:solidFill>
              </a:rPr>
              <a:t>): Each model produces probability maps for all 12 organ classes -&gt; Average probabilities from all models -&gt; Convert to segmentation by argmax operation</a:t>
            </a: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400" b="1">
                <a:solidFill>
                  <a:schemeClr val="dk1"/>
                </a:solidFill>
              </a:rPr>
              <a:t>NSD Why it matters:</a:t>
            </a:r>
            <a:endParaRPr sz="14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400">
                <a:solidFill>
                  <a:schemeClr val="dk1"/>
                </a:solidFill>
              </a:rPr>
              <a:t>- DSC can be high even if boundaries are slightly misaligned</a:t>
            </a: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400">
                <a:solidFill>
                  <a:schemeClr val="dk1"/>
                </a:solidFill>
              </a:rPr>
              <a:t>- NSD is more sensitive to boundary accuracy, which is crucial for medical applications (e.g., surgery planning, tumor margins)</a:t>
            </a: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400">
                <a:solidFill>
                  <a:schemeClr val="dk1"/>
                </a:solidFill>
              </a:rPr>
              <a:t>- Considers the distance between the predicted and true surfaces within a tolerance threshold</a:t>
            </a: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400" b="1">
                <a:solidFill>
                  <a:schemeClr val="dk1"/>
                </a:solidFill>
              </a:rPr>
              <a:t>NSD Interpretation:</a:t>
            </a:r>
            <a:r>
              <a:rPr lang="en-US" sz="1400">
                <a:solidFill>
                  <a:schemeClr val="dk1"/>
                </a:solidFill>
              </a:rPr>
              <a:t> Stricter than DSC for boundary precision; Critical for applications requiring accurate delineation</a:t>
            </a:r>
            <a:endParaRPr sz="1400"/>
          </a:p>
        </p:txBody>
      </p:sp>
      <p:sp>
        <p:nvSpPr>
          <p:cNvPr id="401" name="Google Shape;401;g39dcdded7dd_1_1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9f16969047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600" b="1">
                <a:solidFill>
                  <a:schemeClr val="dk1"/>
                </a:solidFill>
              </a:rPr>
              <a:t>TS ensemble low-resolution</a:t>
            </a:r>
            <a:r>
              <a:rPr lang="en-US" sz="1600">
                <a:solidFill>
                  <a:schemeClr val="dk1"/>
                </a:solidFill>
              </a:rPr>
              <a:t> method includes 5 TotalSegmentator low-resolution models from cross-validation; based one the results, </a:t>
            </a:r>
            <a:r>
              <a:rPr lang="en-US" sz="1500">
                <a:solidFill>
                  <a:schemeClr val="dk1"/>
                </a:solidFill>
              </a:rPr>
              <a:t>its DSC and NSD are …</a:t>
            </a:r>
            <a:endParaRPr sz="15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rPr>
              <a:t>TS ensemble all method </a:t>
            </a:r>
            <a:r>
              <a:rPr lang="en-US" sz="1600">
                <a:solidFill>
                  <a:schemeClr val="dk1"/>
                </a:solidFill>
              </a:rPr>
              <a:t>combines these 5 TotalSegmentator low-resolution models </a:t>
            </a:r>
            <a:r>
              <a:rPr lang="en-US" sz="1600" b="1">
                <a:solidFill>
                  <a:schemeClr val="dk1"/>
                </a:solidFill>
              </a:rPr>
              <a:t>and 1 cascade full-resolution model; </a:t>
            </a:r>
            <a:r>
              <a:rPr lang="en-US" sz="1600">
                <a:solidFill>
                  <a:schemeClr val="dk1"/>
                </a:solidFill>
              </a:rPr>
              <a:t>It uses a multiple-resolution diversity strategy</a:t>
            </a:r>
            <a:endParaRPr sz="1600">
              <a:solidFill>
                <a:schemeClr val="dk1"/>
              </a:solidFill>
            </a:endParaRPr>
          </a:p>
          <a:p>
            <a:pPr marL="0" lvl="0" indent="0" algn="l" rtl="0">
              <a:lnSpc>
                <a:spcPct val="115000"/>
              </a:lnSpc>
              <a:spcBef>
                <a:spcPts val="0"/>
              </a:spcBef>
              <a:spcAft>
                <a:spcPts val="0"/>
              </a:spcAft>
              <a:buNone/>
            </a:pPr>
            <a:r>
              <a:rPr lang="en-US" sz="1600" b="1">
                <a:solidFill>
                  <a:schemeClr val="dk1"/>
                </a:solidFill>
              </a:rPr>
              <a:t>The performance of </a:t>
            </a:r>
            <a:r>
              <a:rPr lang="en-US" sz="1600" b="1">
                <a:solidFill>
                  <a:schemeClr val="dk1"/>
                </a:solidFill>
                <a:latin typeface="Open Sans"/>
                <a:ea typeface="Open Sans"/>
                <a:cs typeface="Open Sans"/>
                <a:sym typeface="Open Sans"/>
              </a:rPr>
              <a:t>TS ensemble all method</a:t>
            </a:r>
            <a:r>
              <a:rPr lang="en-US" sz="1600">
                <a:solidFill>
                  <a:schemeClr val="dk1"/>
                </a:solidFill>
                <a:latin typeface="Open Sans"/>
                <a:ea typeface="Open Sans"/>
                <a:cs typeface="Open Sans"/>
                <a:sym typeface="Open Sans"/>
              </a:rPr>
              <a:t> is almost the same as the TS ensemble l</a:t>
            </a:r>
            <a:r>
              <a:rPr lang="en-US" sz="1600">
                <a:solidFill>
                  <a:schemeClr val="dk1"/>
                </a:solidFill>
              </a:rPr>
              <a:t>ow-resolution</a:t>
            </a:r>
            <a:r>
              <a:rPr lang="en-US" sz="1600" b="1">
                <a:solidFill>
                  <a:schemeClr val="dk1"/>
                </a:solidFill>
              </a:rPr>
              <a:t>. </a:t>
            </a:r>
            <a:r>
              <a:rPr lang="en-US" sz="1600">
                <a:solidFill>
                  <a:schemeClr val="dk1"/>
                </a:solidFill>
              </a:rPr>
              <a:t>Although it scores slightly lower on validation (-0.1%) but has </a:t>
            </a:r>
            <a:r>
              <a:rPr lang="en-US" sz="1600" b="1">
                <a:solidFill>
                  <a:schemeClr val="dk1"/>
                </a:solidFill>
              </a:rPr>
              <a:t>stronger test performance.</a:t>
            </a:r>
            <a:endParaRPr sz="1600" b="1">
              <a:solidFill>
                <a:schemeClr val="dk1"/>
              </a:solidFill>
            </a:endParaRPr>
          </a:p>
          <a:p>
            <a:pPr marL="0" lvl="0" indent="0" algn="l" rtl="0">
              <a:lnSpc>
                <a:spcPct val="115000"/>
              </a:lnSpc>
              <a:spcBef>
                <a:spcPts val="0"/>
              </a:spcBef>
              <a:spcAft>
                <a:spcPts val="0"/>
              </a:spcAft>
              <a:buNone/>
            </a:pPr>
            <a:r>
              <a:rPr lang="en-US" sz="1500" b="1">
                <a:solidFill>
                  <a:schemeClr val="dk1"/>
                </a:solidFill>
              </a:rPr>
              <a:t>In conclusion …</a:t>
            </a:r>
            <a:endParaRPr sz="1500" b="1">
              <a:solidFill>
                <a:schemeClr val="dk1"/>
              </a:solidFill>
            </a:endParaRPr>
          </a:p>
          <a:p>
            <a:pPr marL="0" lvl="0" indent="0" algn="l" rtl="0">
              <a:lnSpc>
                <a:spcPct val="115000"/>
              </a:lnSpc>
              <a:spcBef>
                <a:spcPts val="0"/>
              </a:spcBef>
              <a:spcAft>
                <a:spcPts val="0"/>
              </a:spcAft>
              <a:buClr>
                <a:srgbClr val="000000"/>
              </a:buClr>
              <a:buSzPts val="1100"/>
              <a:buFont typeface="Arial"/>
              <a:buNone/>
            </a:pPr>
            <a:r>
              <a:rPr lang="en-US" sz="1700" b="1">
                <a:solidFill>
                  <a:schemeClr val="dk1"/>
                </a:solidFill>
              </a:rPr>
              <a:t>Referring to reasons</a:t>
            </a:r>
            <a:r>
              <a:rPr lang="en-US" sz="1600">
                <a:solidFill>
                  <a:schemeClr val="dk1"/>
                </a:solidFill>
              </a:rPr>
              <a:t> for the </a:t>
            </a:r>
            <a:r>
              <a:rPr lang="en-US" sz="1600" b="1">
                <a:solidFill>
                  <a:schemeClr val="dk1"/>
                </a:solidFill>
              </a:rPr>
              <a:t>higher</a:t>
            </a:r>
            <a:r>
              <a:rPr lang="en-US" sz="1600">
                <a:solidFill>
                  <a:schemeClr val="dk1"/>
                </a:solidFill>
              </a:rPr>
              <a:t> performance:</a:t>
            </a:r>
            <a:endParaRPr sz="1600">
              <a:solidFill>
                <a:schemeClr val="dk1"/>
              </a:solidFill>
            </a:endParaRPr>
          </a:p>
          <a:p>
            <a:pPr marL="0" lvl="0" indent="0" algn="l" rtl="0">
              <a:lnSpc>
                <a:spcPct val="115000"/>
              </a:lnSpc>
              <a:spcBef>
                <a:spcPts val="0"/>
              </a:spcBef>
              <a:spcAft>
                <a:spcPts val="0"/>
              </a:spcAft>
              <a:buNone/>
            </a:pPr>
            <a:r>
              <a:rPr lang="en-US" sz="1600">
                <a:solidFill>
                  <a:schemeClr val="dk1"/>
                </a:solidFill>
              </a:rPr>
              <a:t>First, the </a:t>
            </a:r>
            <a:r>
              <a:rPr lang="en-US" sz="1600" b="1" u="sng">
                <a:solidFill>
                  <a:schemeClr val="dk1"/>
                </a:solidFill>
              </a:rPr>
              <a:t>higher resolution processing</a:t>
            </a:r>
            <a:r>
              <a:rPr lang="en-US" sz="1600">
                <a:solidFill>
                  <a:schemeClr val="dk1"/>
                </a:solidFill>
              </a:rPr>
              <a:t> captures finer details</a:t>
            </a:r>
            <a:br>
              <a:rPr lang="en-US" sz="1600">
                <a:solidFill>
                  <a:schemeClr val="dk1"/>
                </a:solidFill>
              </a:rPr>
            </a:br>
            <a:r>
              <a:rPr lang="en-US" sz="1600">
                <a:solidFill>
                  <a:schemeClr val="dk1"/>
                </a:solidFill>
              </a:rPr>
              <a:t>It also provides </a:t>
            </a:r>
            <a:r>
              <a:rPr lang="en-US" sz="1600" b="1" u="sng">
                <a:solidFill>
                  <a:schemeClr val="dk1"/>
                </a:solidFill>
              </a:rPr>
              <a:t>complementary predictions</a:t>
            </a:r>
            <a:r>
              <a:rPr lang="en-US" sz="1600" b="1">
                <a:solidFill>
                  <a:schemeClr val="dk1"/>
                </a:solidFill>
              </a:rPr>
              <a:t> </a:t>
            </a:r>
            <a:r>
              <a:rPr lang="en-US" sz="1600">
                <a:solidFill>
                  <a:schemeClr val="dk1"/>
                </a:solidFill>
              </a:rPr>
              <a:t>from different resolution strategies</a:t>
            </a:r>
            <a:br>
              <a:rPr lang="en-US" sz="1600">
                <a:solidFill>
                  <a:schemeClr val="dk1"/>
                </a:solidFill>
              </a:rPr>
            </a:br>
            <a:r>
              <a:rPr lang="en-US" sz="1600">
                <a:solidFill>
                  <a:schemeClr val="dk1"/>
                </a:solidFill>
              </a:rPr>
              <a:t>As a result, it performs </a:t>
            </a:r>
            <a:r>
              <a:rPr lang="en-US" sz="1600" b="1" u="sng">
                <a:solidFill>
                  <a:schemeClr val="dk1"/>
                </a:solidFill>
              </a:rPr>
              <a:t>better</a:t>
            </a:r>
            <a:r>
              <a:rPr lang="en-US" sz="1600">
                <a:solidFill>
                  <a:schemeClr val="dk1"/>
                </a:solidFill>
              </a:rPr>
              <a:t> on </a:t>
            </a:r>
            <a:r>
              <a:rPr lang="en-US" sz="1600" b="1" u="sng">
                <a:solidFill>
                  <a:schemeClr val="dk1"/>
                </a:solidFill>
              </a:rPr>
              <a:t>unseen data</a:t>
            </a:r>
            <a:endParaRPr sz="1600" b="1" u="sng">
              <a:solidFill>
                <a:schemeClr val="dk1"/>
              </a:solidFill>
            </a:endParaRPr>
          </a:p>
        </p:txBody>
      </p:sp>
      <p:sp>
        <p:nvSpPr>
          <p:cNvPr id="412" name="Google Shape;412;g39f16969047_2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98c53b899c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500">
                <a:solidFill>
                  <a:schemeClr val="dk1"/>
                </a:solidFill>
              </a:rPr>
              <a:t>Referring to reasons, there are 5 aspects: The first one, </a:t>
            </a:r>
            <a:r>
              <a:rPr lang="en-US" sz="1500" b="1">
                <a:solidFill>
                  <a:schemeClr val="dk1"/>
                </a:solidFill>
              </a:rPr>
              <a:t>Training Data</a:t>
            </a:r>
            <a:endParaRPr sz="1500" b="1">
              <a:solidFill>
                <a:schemeClr val="dk1"/>
              </a:solidFill>
            </a:endParaRPr>
          </a:p>
          <a:p>
            <a:pPr marL="457200" lvl="0" indent="-323850" algn="l" rtl="0">
              <a:spcBef>
                <a:spcPts val="0"/>
              </a:spcBef>
              <a:spcAft>
                <a:spcPts val="0"/>
              </a:spcAft>
              <a:buClr>
                <a:schemeClr val="dk1"/>
              </a:buClr>
              <a:buSzPts val="1500"/>
              <a:buChar char="●"/>
            </a:pPr>
            <a:r>
              <a:rPr lang="en-US" sz="1500">
                <a:solidFill>
                  <a:schemeClr val="dk1"/>
                </a:solidFill>
              </a:rPr>
              <a:t>TotalSegmentator is pretrained on thousands of full-body CT scans with 12 organs, covering all target classes</a:t>
            </a:r>
            <a:endParaRPr sz="1500">
              <a:solidFill>
                <a:schemeClr val="dk1"/>
              </a:solidFill>
            </a:endParaRPr>
          </a:p>
          <a:p>
            <a:pPr marL="457200" lvl="0" indent="-323850" algn="l" rtl="0">
              <a:spcBef>
                <a:spcPts val="0"/>
              </a:spcBef>
              <a:spcAft>
                <a:spcPts val="0"/>
              </a:spcAft>
              <a:buClr>
                <a:schemeClr val="dk1"/>
              </a:buClr>
              <a:buSzPts val="1500"/>
              <a:buChar char="●"/>
            </a:pPr>
            <a:r>
              <a:rPr lang="en-US" sz="1500">
                <a:solidFill>
                  <a:schemeClr val="dk1"/>
                </a:solidFill>
              </a:rPr>
              <a:t>SAMed uses a smaller mixed-modality dataset with only 8 pretrained classes</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Architecture</a:t>
            </a:r>
            <a:endParaRPr sz="1500" b="1">
              <a:solidFill>
                <a:schemeClr val="dk1"/>
              </a:solidFill>
            </a:endParaRPr>
          </a:p>
          <a:p>
            <a:pPr marL="457200" lvl="0" indent="-323850" algn="l" rtl="0">
              <a:spcBef>
                <a:spcPts val="0"/>
              </a:spcBef>
              <a:spcAft>
                <a:spcPts val="0"/>
              </a:spcAft>
              <a:buClr>
                <a:schemeClr val="dk1"/>
              </a:buClr>
              <a:buSzPts val="1500"/>
              <a:buChar char="●"/>
            </a:pPr>
            <a:r>
              <a:rPr lang="en-US" sz="1500">
                <a:solidFill>
                  <a:schemeClr val="dk1"/>
                </a:solidFill>
              </a:rPr>
              <a:t>TotalSegmentator </a:t>
            </a:r>
            <a:r>
              <a:rPr lang="en-US" sz="1500">
                <a:solidFill>
                  <a:srgbClr val="0E0E0E"/>
                </a:solidFill>
              </a:rPr>
              <a:t>built on nnU-Net, is a fully convolutional network tailored for 3D medical volumes.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SAMed, based on the 2D Vision Transformer (SAM) for natural images, performs poorly on volumetric data</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Processing</a:t>
            </a:r>
            <a:endParaRPr sz="1500" b="1">
              <a:solidFill>
                <a:schemeClr val="dk1"/>
              </a:solidFill>
            </a:endParaRPr>
          </a:p>
          <a:p>
            <a:pPr marL="457200" lvl="0" indent="-323850" algn="l" rtl="0">
              <a:spcBef>
                <a:spcPts val="0"/>
              </a:spcBef>
              <a:spcAft>
                <a:spcPts val="0"/>
              </a:spcAft>
              <a:buClr>
                <a:schemeClr val="dk1"/>
              </a:buClr>
              <a:buSzPts val="1500"/>
              <a:buChar char="●"/>
            </a:pPr>
            <a:r>
              <a:rPr lang="en-US" sz="1500">
                <a:solidFill>
                  <a:schemeClr val="dk1"/>
                </a:solidFill>
              </a:rPr>
              <a:t>TotalSegmentator uses a native 3D pipeline with enhanced spatial consistency and 3D post-processing</a:t>
            </a:r>
            <a:endParaRPr sz="1500">
              <a:solidFill>
                <a:schemeClr val="dk1"/>
              </a:solidFill>
            </a:endParaRPr>
          </a:p>
          <a:p>
            <a:pPr marL="457200" lvl="0" indent="-323850" algn="l" rtl="0">
              <a:spcBef>
                <a:spcPts val="0"/>
              </a:spcBef>
              <a:spcAft>
                <a:spcPts val="0"/>
              </a:spcAft>
              <a:buClr>
                <a:schemeClr val="dk1"/>
              </a:buClr>
              <a:buSzPts val="1500"/>
              <a:buChar char="●"/>
            </a:pPr>
            <a:r>
              <a:rPr lang="en-US" sz="1500">
                <a:solidFill>
                  <a:schemeClr val="dk1"/>
                </a:solidFill>
              </a:rPr>
              <a:t>SAMed is based on 2D slice-by-slice and results less cohesive across slices</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CT-Specific Optimization</a:t>
            </a:r>
            <a:endParaRPr sz="1500" b="1">
              <a:solidFill>
                <a:schemeClr val="dk1"/>
              </a:solidFill>
            </a:endParaRPr>
          </a:p>
          <a:p>
            <a:pPr marL="457200" lvl="0" indent="-323850" algn="l" rtl="0">
              <a:spcBef>
                <a:spcPts val="0"/>
              </a:spcBef>
              <a:spcAft>
                <a:spcPts val="0"/>
              </a:spcAft>
              <a:buClr>
                <a:schemeClr val="dk1"/>
              </a:buClr>
              <a:buSzPts val="1500"/>
              <a:buChar char="●"/>
            </a:pPr>
            <a:r>
              <a:rPr lang="en-US" sz="1500">
                <a:solidFill>
                  <a:schemeClr val="dk1"/>
                </a:solidFill>
              </a:rPr>
              <a:t>TotalSegmentator uses a medical-grade preprocessing, including Hounsfield unit clipping, intensity normalization, and isotropic resampling</a:t>
            </a:r>
            <a:endParaRPr sz="1500">
              <a:solidFill>
                <a:schemeClr val="dk1"/>
              </a:solidFill>
            </a:endParaRPr>
          </a:p>
          <a:p>
            <a:pPr marL="457200" lvl="0" indent="-323850" algn="l" rtl="0">
              <a:spcBef>
                <a:spcPts val="0"/>
              </a:spcBef>
              <a:spcAft>
                <a:spcPts val="0"/>
              </a:spcAft>
              <a:buClr>
                <a:schemeClr val="dk1"/>
              </a:buClr>
              <a:buSzPts val="1500"/>
              <a:buChar char="●"/>
            </a:pPr>
            <a:r>
              <a:rPr lang="en-US" sz="1500">
                <a:solidFill>
                  <a:schemeClr val="dk1"/>
                </a:solidFill>
              </a:rPr>
              <a:t>SAMed uses a general RGB-oriented pipeline, which is not tailored for CT.</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Class Balancing</a:t>
            </a:r>
            <a:endParaRPr sz="1500" b="1">
              <a:solidFill>
                <a:schemeClr val="dk1"/>
              </a:solidFill>
            </a:endParaRPr>
          </a:p>
          <a:p>
            <a:pPr marL="457200" lvl="0" indent="-323850" algn="l" rtl="0">
              <a:spcBef>
                <a:spcPts val="0"/>
              </a:spcBef>
              <a:spcAft>
                <a:spcPts val="0"/>
              </a:spcAft>
              <a:buClr>
                <a:schemeClr val="dk1"/>
              </a:buClr>
              <a:buSzPts val="1500"/>
              <a:buChar char="●"/>
            </a:pPr>
            <a:r>
              <a:rPr lang="en-US" sz="1500">
                <a:solidFill>
                  <a:schemeClr val="dk1"/>
                </a:solidFill>
              </a:rPr>
              <a:t>TotalSegmentator automatically balances class frequencies and emphasizes small organs</a:t>
            </a:r>
            <a:endParaRPr sz="1500">
              <a:solidFill>
                <a:schemeClr val="dk1"/>
              </a:solidFill>
            </a:endParaRPr>
          </a:p>
          <a:p>
            <a:pPr marL="457200" lvl="0" indent="-323850" algn="l" rtl="0">
              <a:spcBef>
                <a:spcPts val="0"/>
              </a:spcBef>
              <a:spcAft>
                <a:spcPts val="0"/>
              </a:spcAft>
              <a:buClr>
                <a:schemeClr val="dk1"/>
              </a:buClr>
              <a:buSzPts val="1500"/>
              <a:buChar char="●"/>
            </a:pPr>
            <a:r>
              <a:rPr lang="en-US" sz="1500">
                <a:solidFill>
                  <a:schemeClr val="dk1"/>
                </a:solidFill>
              </a:rPr>
              <a:t>SAMed uses a uniform slice sampling, which might overlook small structures</a:t>
            </a:r>
            <a:endParaRPr sz="1500">
              <a:solidFill>
                <a:schemeClr val="dk1"/>
              </a:solidFill>
            </a:endParaRPr>
          </a:p>
          <a:p>
            <a:pPr marL="0" lvl="0" indent="0" algn="l" rtl="0">
              <a:spcBef>
                <a:spcPts val="0"/>
              </a:spcBef>
              <a:spcAft>
                <a:spcPts val="0"/>
              </a:spcAft>
              <a:buNone/>
            </a:pP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Segmentator</a:t>
            </a:r>
            <a:r>
              <a:rPr lang="en-US" sz="1500">
                <a:solidFill>
                  <a:schemeClr val="dk1"/>
                </a:solidFill>
              </a:rPr>
              <a:t>: 12 target classes(organs) pretrained + 1 background = 13 output channels</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SAMed</a:t>
            </a:r>
            <a:r>
              <a:rPr lang="en-US" sz="1500">
                <a:solidFill>
                  <a:schemeClr val="dk1"/>
                </a:solidFill>
              </a:rPr>
              <a:t>: 8 target classes pretrained + </a:t>
            </a:r>
            <a:r>
              <a:rPr lang="en-US" sz="1500" b="1" u="sng">
                <a:solidFill>
                  <a:schemeClr val="dk1"/>
                </a:solidFill>
              </a:rPr>
              <a:t>4 classes (from scratch during the training)</a:t>
            </a:r>
            <a:r>
              <a:rPr lang="en-US" sz="1500">
                <a:solidFill>
                  <a:schemeClr val="dk1"/>
                </a:solidFill>
              </a:rPr>
              <a:t>  + 1 background =  13 output channels</a:t>
            </a:r>
            <a:endParaRPr sz="1500">
              <a:solidFill>
                <a:schemeClr val="dk1"/>
              </a:solidFill>
            </a:endParaRPr>
          </a:p>
          <a:p>
            <a:pPr marL="0" lvl="0" indent="0" algn="l" rtl="0">
              <a:spcBef>
                <a:spcPts val="0"/>
              </a:spcBef>
              <a:spcAft>
                <a:spcPts val="0"/>
              </a:spcAft>
              <a:buNone/>
            </a:pPr>
            <a:endParaRPr sz="1500">
              <a:solidFill>
                <a:schemeClr val="dk1"/>
              </a:solidFill>
            </a:endParaRPr>
          </a:p>
        </p:txBody>
      </p:sp>
      <p:sp>
        <p:nvSpPr>
          <p:cNvPr id="423" name="Google Shape;423;g398c53b899c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98c6dbd69e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98c6dbd69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
        <p:cNvGrpSpPr/>
        <p:nvPr/>
      </p:nvGrpSpPr>
      <p:grpSpPr>
        <a:xfrm>
          <a:off x="0" y="0"/>
          <a:ext cx="0" cy="0"/>
          <a:chOff x="0" y="0"/>
          <a:chExt cx="0" cy="0"/>
        </a:xfrm>
      </p:grpSpPr>
      <p:sp>
        <p:nvSpPr>
          <p:cNvPr id="10" name="Google Shape;10;p15"/>
          <p:cNvSpPr/>
          <p:nvPr/>
        </p:nvSpPr>
        <p:spPr>
          <a:xfrm>
            <a:off x="275550" y="277500"/>
            <a:ext cx="8592900" cy="4588500"/>
          </a:xfrm>
          <a:prstGeom prst="roundRect">
            <a:avLst>
              <a:gd name="adj" fmla="val 791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11" name="Google Shape;11;p1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2" name="Google Shape;12;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3"/>
        <p:cNvGrpSpPr/>
        <p:nvPr/>
      </p:nvGrpSpPr>
      <p:grpSpPr>
        <a:xfrm>
          <a:off x="0" y="0"/>
          <a:ext cx="0" cy="0"/>
          <a:chOff x="0" y="0"/>
          <a:chExt cx="0" cy="0"/>
        </a:xfrm>
      </p:grpSpPr>
      <p:sp>
        <p:nvSpPr>
          <p:cNvPr id="14" name="Google Shape;14;p16"/>
          <p:cNvSpPr/>
          <p:nvPr/>
        </p:nvSpPr>
        <p:spPr>
          <a:xfrm>
            <a:off x="275550" y="277500"/>
            <a:ext cx="8592900" cy="4588500"/>
          </a:xfrm>
          <a:prstGeom prst="roundRect">
            <a:avLst>
              <a:gd name="adj" fmla="val 791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15" name="Google Shape;15;p16"/>
          <p:cNvSpPr txBox="1">
            <a:spLocks noGrp="1"/>
          </p:cNvSpPr>
          <p:nvPr>
            <p:ph type="title"/>
          </p:nvPr>
        </p:nvSpPr>
        <p:spPr>
          <a:xfrm>
            <a:off x="926677" y="1380900"/>
            <a:ext cx="6915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6" name="Google Shape;16;p16"/>
          <p:cNvSpPr txBox="1">
            <a:spLocks noGrp="1"/>
          </p:cNvSpPr>
          <p:nvPr>
            <p:ph type="title" idx="2"/>
          </p:nvPr>
        </p:nvSpPr>
        <p:spPr>
          <a:xfrm>
            <a:off x="5167775" y="2679325"/>
            <a:ext cx="6951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7" name="Google Shape;17;p16"/>
          <p:cNvSpPr txBox="1">
            <a:spLocks noGrp="1"/>
          </p:cNvSpPr>
          <p:nvPr>
            <p:ph type="title" idx="3"/>
          </p:nvPr>
        </p:nvSpPr>
        <p:spPr>
          <a:xfrm>
            <a:off x="5167775" y="1380900"/>
            <a:ext cx="6951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8" name="Google Shape;18;p16"/>
          <p:cNvSpPr txBox="1">
            <a:spLocks noGrp="1"/>
          </p:cNvSpPr>
          <p:nvPr>
            <p:ph type="title" idx="4"/>
          </p:nvPr>
        </p:nvSpPr>
        <p:spPr>
          <a:xfrm>
            <a:off x="926677" y="4015100"/>
            <a:ext cx="6915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9" name="Google Shape;19;p16"/>
          <p:cNvSpPr txBox="1">
            <a:spLocks noGrp="1"/>
          </p:cNvSpPr>
          <p:nvPr>
            <p:ph type="title" idx="5"/>
          </p:nvPr>
        </p:nvSpPr>
        <p:spPr>
          <a:xfrm>
            <a:off x="923225" y="2679325"/>
            <a:ext cx="6915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0" name="Google Shape;20;p16"/>
          <p:cNvSpPr txBox="1">
            <a:spLocks noGrp="1"/>
          </p:cNvSpPr>
          <p:nvPr>
            <p:ph type="title" idx="6"/>
          </p:nvPr>
        </p:nvSpPr>
        <p:spPr>
          <a:xfrm>
            <a:off x="5167775" y="4015100"/>
            <a:ext cx="695100" cy="593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1" name="Google Shape;21;p16"/>
          <p:cNvSpPr txBox="1">
            <a:spLocks noGrp="1"/>
          </p:cNvSpPr>
          <p:nvPr>
            <p:ph type="title" idx="7"/>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2" name="Google Shape;22;p16"/>
          <p:cNvSpPr txBox="1">
            <a:spLocks noGrp="1"/>
          </p:cNvSpPr>
          <p:nvPr>
            <p:ph type="subTitle" idx="1"/>
          </p:nvPr>
        </p:nvSpPr>
        <p:spPr>
          <a:xfrm>
            <a:off x="1623535" y="1480800"/>
            <a:ext cx="2555700" cy="393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None/>
              <a:defRPr sz="2000">
                <a:solidFill>
                  <a:schemeClr val="dk1"/>
                </a:solidFill>
              </a:defRPr>
            </a:lvl1pPr>
            <a:lvl2pPr lvl="1" algn="l">
              <a:lnSpc>
                <a:spcPct val="100000"/>
              </a:lnSpc>
              <a:spcBef>
                <a:spcPts val="0"/>
              </a:spcBef>
              <a:spcAft>
                <a:spcPts val="0"/>
              </a:spcAft>
              <a:buClr>
                <a:schemeClr val="dk1"/>
              </a:buClr>
              <a:buSzPts val="2000"/>
              <a:buNone/>
              <a:defRPr sz="2000" b="1">
                <a:solidFill>
                  <a:schemeClr val="dk1"/>
                </a:solidFill>
              </a:defRPr>
            </a:lvl2pPr>
            <a:lvl3pPr lvl="2" algn="l">
              <a:lnSpc>
                <a:spcPct val="100000"/>
              </a:lnSpc>
              <a:spcBef>
                <a:spcPts val="0"/>
              </a:spcBef>
              <a:spcAft>
                <a:spcPts val="0"/>
              </a:spcAft>
              <a:buClr>
                <a:schemeClr val="dk1"/>
              </a:buClr>
              <a:buSzPts val="2000"/>
              <a:buNone/>
              <a:defRPr sz="2000" b="1">
                <a:solidFill>
                  <a:schemeClr val="dk1"/>
                </a:solidFill>
              </a:defRPr>
            </a:lvl3pPr>
            <a:lvl4pPr lvl="3" algn="l">
              <a:lnSpc>
                <a:spcPct val="100000"/>
              </a:lnSpc>
              <a:spcBef>
                <a:spcPts val="0"/>
              </a:spcBef>
              <a:spcAft>
                <a:spcPts val="0"/>
              </a:spcAft>
              <a:buClr>
                <a:schemeClr val="dk1"/>
              </a:buClr>
              <a:buSzPts val="2000"/>
              <a:buNone/>
              <a:defRPr sz="2000" b="1">
                <a:solidFill>
                  <a:schemeClr val="dk1"/>
                </a:solidFill>
              </a:defRPr>
            </a:lvl4pPr>
            <a:lvl5pPr lvl="4" algn="l">
              <a:lnSpc>
                <a:spcPct val="100000"/>
              </a:lnSpc>
              <a:spcBef>
                <a:spcPts val="0"/>
              </a:spcBef>
              <a:spcAft>
                <a:spcPts val="0"/>
              </a:spcAft>
              <a:buClr>
                <a:schemeClr val="dk1"/>
              </a:buClr>
              <a:buSzPts val="2000"/>
              <a:buNone/>
              <a:defRPr sz="2000" b="1">
                <a:solidFill>
                  <a:schemeClr val="dk1"/>
                </a:solidFill>
              </a:defRPr>
            </a:lvl5pPr>
            <a:lvl6pPr lvl="5" algn="l">
              <a:lnSpc>
                <a:spcPct val="100000"/>
              </a:lnSpc>
              <a:spcBef>
                <a:spcPts val="0"/>
              </a:spcBef>
              <a:spcAft>
                <a:spcPts val="0"/>
              </a:spcAft>
              <a:buClr>
                <a:schemeClr val="dk1"/>
              </a:buClr>
              <a:buSzPts val="2000"/>
              <a:buNone/>
              <a:defRPr sz="2000" b="1">
                <a:solidFill>
                  <a:schemeClr val="dk1"/>
                </a:solidFill>
              </a:defRPr>
            </a:lvl6pPr>
            <a:lvl7pPr lvl="6" algn="l">
              <a:lnSpc>
                <a:spcPct val="100000"/>
              </a:lnSpc>
              <a:spcBef>
                <a:spcPts val="0"/>
              </a:spcBef>
              <a:spcAft>
                <a:spcPts val="0"/>
              </a:spcAft>
              <a:buClr>
                <a:schemeClr val="dk1"/>
              </a:buClr>
              <a:buSzPts val="2000"/>
              <a:buNone/>
              <a:defRPr sz="2000" b="1">
                <a:solidFill>
                  <a:schemeClr val="dk1"/>
                </a:solidFill>
              </a:defRPr>
            </a:lvl7pPr>
            <a:lvl8pPr lvl="7" algn="l">
              <a:lnSpc>
                <a:spcPct val="100000"/>
              </a:lnSpc>
              <a:spcBef>
                <a:spcPts val="0"/>
              </a:spcBef>
              <a:spcAft>
                <a:spcPts val="0"/>
              </a:spcAft>
              <a:buClr>
                <a:schemeClr val="dk1"/>
              </a:buClr>
              <a:buSzPts val="2000"/>
              <a:buNone/>
              <a:defRPr sz="2000" b="1">
                <a:solidFill>
                  <a:schemeClr val="dk1"/>
                </a:solidFill>
              </a:defRPr>
            </a:lvl8pPr>
            <a:lvl9pPr lvl="8" algn="l">
              <a:lnSpc>
                <a:spcPct val="100000"/>
              </a:lnSpc>
              <a:spcBef>
                <a:spcPts val="0"/>
              </a:spcBef>
              <a:spcAft>
                <a:spcPts val="0"/>
              </a:spcAft>
              <a:buClr>
                <a:schemeClr val="dk1"/>
              </a:buClr>
              <a:buSzPts val="2000"/>
              <a:buNone/>
              <a:defRPr sz="2000" b="1">
                <a:solidFill>
                  <a:schemeClr val="dk1"/>
                </a:solidFill>
              </a:defRPr>
            </a:lvl9pPr>
          </a:lstStyle>
          <a:p>
            <a:endParaRPr/>
          </a:p>
        </p:txBody>
      </p:sp>
      <p:sp>
        <p:nvSpPr>
          <p:cNvPr id="23" name="Google Shape;23;p16"/>
          <p:cNvSpPr txBox="1">
            <a:spLocks noGrp="1"/>
          </p:cNvSpPr>
          <p:nvPr>
            <p:ph type="subTitle" idx="8"/>
          </p:nvPr>
        </p:nvSpPr>
        <p:spPr>
          <a:xfrm>
            <a:off x="5862900" y="2779225"/>
            <a:ext cx="2561100" cy="393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None/>
              <a:defRPr sz="2000">
                <a:solidFill>
                  <a:schemeClr val="dk1"/>
                </a:solidFill>
              </a:defRPr>
            </a:lvl1pPr>
            <a:lvl2pPr lvl="1" algn="l">
              <a:lnSpc>
                <a:spcPct val="100000"/>
              </a:lnSpc>
              <a:spcBef>
                <a:spcPts val="0"/>
              </a:spcBef>
              <a:spcAft>
                <a:spcPts val="0"/>
              </a:spcAft>
              <a:buClr>
                <a:schemeClr val="dk1"/>
              </a:buClr>
              <a:buSzPts val="2000"/>
              <a:buNone/>
              <a:defRPr sz="2000" b="1">
                <a:solidFill>
                  <a:schemeClr val="dk1"/>
                </a:solidFill>
              </a:defRPr>
            </a:lvl2pPr>
            <a:lvl3pPr lvl="2" algn="l">
              <a:lnSpc>
                <a:spcPct val="100000"/>
              </a:lnSpc>
              <a:spcBef>
                <a:spcPts val="0"/>
              </a:spcBef>
              <a:spcAft>
                <a:spcPts val="0"/>
              </a:spcAft>
              <a:buClr>
                <a:schemeClr val="dk1"/>
              </a:buClr>
              <a:buSzPts val="2000"/>
              <a:buNone/>
              <a:defRPr sz="2000" b="1">
                <a:solidFill>
                  <a:schemeClr val="dk1"/>
                </a:solidFill>
              </a:defRPr>
            </a:lvl3pPr>
            <a:lvl4pPr lvl="3" algn="l">
              <a:lnSpc>
                <a:spcPct val="100000"/>
              </a:lnSpc>
              <a:spcBef>
                <a:spcPts val="0"/>
              </a:spcBef>
              <a:spcAft>
                <a:spcPts val="0"/>
              </a:spcAft>
              <a:buClr>
                <a:schemeClr val="dk1"/>
              </a:buClr>
              <a:buSzPts val="2000"/>
              <a:buNone/>
              <a:defRPr sz="2000" b="1">
                <a:solidFill>
                  <a:schemeClr val="dk1"/>
                </a:solidFill>
              </a:defRPr>
            </a:lvl4pPr>
            <a:lvl5pPr lvl="4" algn="l">
              <a:lnSpc>
                <a:spcPct val="100000"/>
              </a:lnSpc>
              <a:spcBef>
                <a:spcPts val="0"/>
              </a:spcBef>
              <a:spcAft>
                <a:spcPts val="0"/>
              </a:spcAft>
              <a:buClr>
                <a:schemeClr val="dk1"/>
              </a:buClr>
              <a:buSzPts val="2000"/>
              <a:buNone/>
              <a:defRPr sz="2000" b="1">
                <a:solidFill>
                  <a:schemeClr val="dk1"/>
                </a:solidFill>
              </a:defRPr>
            </a:lvl5pPr>
            <a:lvl6pPr lvl="5" algn="l">
              <a:lnSpc>
                <a:spcPct val="100000"/>
              </a:lnSpc>
              <a:spcBef>
                <a:spcPts val="0"/>
              </a:spcBef>
              <a:spcAft>
                <a:spcPts val="0"/>
              </a:spcAft>
              <a:buClr>
                <a:schemeClr val="dk1"/>
              </a:buClr>
              <a:buSzPts val="2000"/>
              <a:buNone/>
              <a:defRPr sz="2000" b="1">
                <a:solidFill>
                  <a:schemeClr val="dk1"/>
                </a:solidFill>
              </a:defRPr>
            </a:lvl6pPr>
            <a:lvl7pPr lvl="6" algn="l">
              <a:lnSpc>
                <a:spcPct val="100000"/>
              </a:lnSpc>
              <a:spcBef>
                <a:spcPts val="0"/>
              </a:spcBef>
              <a:spcAft>
                <a:spcPts val="0"/>
              </a:spcAft>
              <a:buClr>
                <a:schemeClr val="dk1"/>
              </a:buClr>
              <a:buSzPts val="2000"/>
              <a:buNone/>
              <a:defRPr sz="2000" b="1">
                <a:solidFill>
                  <a:schemeClr val="dk1"/>
                </a:solidFill>
              </a:defRPr>
            </a:lvl7pPr>
            <a:lvl8pPr lvl="7" algn="l">
              <a:lnSpc>
                <a:spcPct val="100000"/>
              </a:lnSpc>
              <a:spcBef>
                <a:spcPts val="0"/>
              </a:spcBef>
              <a:spcAft>
                <a:spcPts val="0"/>
              </a:spcAft>
              <a:buClr>
                <a:schemeClr val="dk1"/>
              </a:buClr>
              <a:buSzPts val="2000"/>
              <a:buNone/>
              <a:defRPr sz="2000" b="1">
                <a:solidFill>
                  <a:schemeClr val="dk1"/>
                </a:solidFill>
              </a:defRPr>
            </a:lvl8pPr>
            <a:lvl9pPr lvl="8" algn="l">
              <a:lnSpc>
                <a:spcPct val="100000"/>
              </a:lnSpc>
              <a:spcBef>
                <a:spcPts val="0"/>
              </a:spcBef>
              <a:spcAft>
                <a:spcPts val="0"/>
              </a:spcAft>
              <a:buClr>
                <a:schemeClr val="dk1"/>
              </a:buClr>
              <a:buSzPts val="2000"/>
              <a:buNone/>
              <a:defRPr sz="2000" b="1">
                <a:solidFill>
                  <a:schemeClr val="dk1"/>
                </a:solidFill>
              </a:defRPr>
            </a:lvl9pPr>
          </a:lstStyle>
          <a:p>
            <a:endParaRPr/>
          </a:p>
        </p:txBody>
      </p:sp>
      <p:sp>
        <p:nvSpPr>
          <p:cNvPr id="24" name="Google Shape;24;p16"/>
          <p:cNvSpPr txBox="1">
            <a:spLocks noGrp="1"/>
          </p:cNvSpPr>
          <p:nvPr>
            <p:ph type="subTitle" idx="9"/>
          </p:nvPr>
        </p:nvSpPr>
        <p:spPr>
          <a:xfrm>
            <a:off x="5862900" y="1480800"/>
            <a:ext cx="2561100" cy="393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None/>
              <a:defRPr sz="2000">
                <a:solidFill>
                  <a:schemeClr val="dk1"/>
                </a:solidFill>
              </a:defRPr>
            </a:lvl1pPr>
            <a:lvl2pPr lvl="1" algn="l">
              <a:lnSpc>
                <a:spcPct val="100000"/>
              </a:lnSpc>
              <a:spcBef>
                <a:spcPts val="0"/>
              </a:spcBef>
              <a:spcAft>
                <a:spcPts val="0"/>
              </a:spcAft>
              <a:buClr>
                <a:schemeClr val="dk1"/>
              </a:buClr>
              <a:buSzPts val="2000"/>
              <a:buNone/>
              <a:defRPr sz="2000" b="1">
                <a:solidFill>
                  <a:schemeClr val="dk1"/>
                </a:solidFill>
              </a:defRPr>
            </a:lvl2pPr>
            <a:lvl3pPr lvl="2" algn="l">
              <a:lnSpc>
                <a:spcPct val="100000"/>
              </a:lnSpc>
              <a:spcBef>
                <a:spcPts val="0"/>
              </a:spcBef>
              <a:spcAft>
                <a:spcPts val="0"/>
              </a:spcAft>
              <a:buClr>
                <a:schemeClr val="dk1"/>
              </a:buClr>
              <a:buSzPts val="2000"/>
              <a:buNone/>
              <a:defRPr sz="2000" b="1">
                <a:solidFill>
                  <a:schemeClr val="dk1"/>
                </a:solidFill>
              </a:defRPr>
            </a:lvl3pPr>
            <a:lvl4pPr lvl="3" algn="l">
              <a:lnSpc>
                <a:spcPct val="100000"/>
              </a:lnSpc>
              <a:spcBef>
                <a:spcPts val="0"/>
              </a:spcBef>
              <a:spcAft>
                <a:spcPts val="0"/>
              </a:spcAft>
              <a:buClr>
                <a:schemeClr val="dk1"/>
              </a:buClr>
              <a:buSzPts val="2000"/>
              <a:buNone/>
              <a:defRPr sz="2000" b="1">
                <a:solidFill>
                  <a:schemeClr val="dk1"/>
                </a:solidFill>
              </a:defRPr>
            </a:lvl4pPr>
            <a:lvl5pPr lvl="4" algn="l">
              <a:lnSpc>
                <a:spcPct val="100000"/>
              </a:lnSpc>
              <a:spcBef>
                <a:spcPts val="0"/>
              </a:spcBef>
              <a:spcAft>
                <a:spcPts val="0"/>
              </a:spcAft>
              <a:buClr>
                <a:schemeClr val="dk1"/>
              </a:buClr>
              <a:buSzPts val="2000"/>
              <a:buNone/>
              <a:defRPr sz="2000" b="1">
                <a:solidFill>
                  <a:schemeClr val="dk1"/>
                </a:solidFill>
              </a:defRPr>
            </a:lvl5pPr>
            <a:lvl6pPr lvl="5" algn="l">
              <a:lnSpc>
                <a:spcPct val="100000"/>
              </a:lnSpc>
              <a:spcBef>
                <a:spcPts val="0"/>
              </a:spcBef>
              <a:spcAft>
                <a:spcPts val="0"/>
              </a:spcAft>
              <a:buClr>
                <a:schemeClr val="dk1"/>
              </a:buClr>
              <a:buSzPts val="2000"/>
              <a:buNone/>
              <a:defRPr sz="2000" b="1">
                <a:solidFill>
                  <a:schemeClr val="dk1"/>
                </a:solidFill>
              </a:defRPr>
            </a:lvl6pPr>
            <a:lvl7pPr lvl="6" algn="l">
              <a:lnSpc>
                <a:spcPct val="100000"/>
              </a:lnSpc>
              <a:spcBef>
                <a:spcPts val="0"/>
              </a:spcBef>
              <a:spcAft>
                <a:spcPts val="0"/>
              </a:spcAft>
              <a:buClr>
                <a:schemeClr val="dk1"/>
              </a:buClr>
              <a:buSzPts val="2000"/>
              <a:buNone/>
              <a:defRPr sz="2000" b="1">
                <a:solidFill>
                  <a:schemeClr val="dk1"/>
                </a:solidFill>
              </a:defRPr>
            </a:lvl7pPr>
            <a:lvl8pPr lvl="7" algn="l">
              <a:lnSpc>
                <a:spcPct val="100000"/>
              </a:lnSpc>
              <a:spcBef>
                <a:spcPts val="0"/>
              </a:spcBef>
              <a:spcAft>
                <a:spcPts val="0"/>
              </a:spcAft>
              <a:buClr>
                <a:schemeClr val="dk1"/>
              </a:buClr>
              <a:buSzPts val="2000"/>
              <a:buNone/>
              <a:defRPr sz="2000" b="1">
                <a:solidFill>
                  <a:schemeClr val="dk1"/>
                </a:solidFill>
              </a:defRPr>
            </a:lvl8pPr>
            <a:lvl9pPr lvl="8" algn="l">
              <a:lnSpc>
                <a:spcPct val="100000"/>
              </a:lnSpc>
              <a:spcBef>
                <a:spcPts val="0"/>
              </a:spcBef>
              <a:spcAft>
                <a:spcPts val="0"/>
              </a:spcAft>
              <a:buClr>
                <a:schemeClr val="dk1"/>
              </a:buClr>
              <a:buSzPts val="2000"/>
              <a:buNone/>
              <a:defRPr sz="2000" b="1">
                <a:solidFill>
                  <a:schemeClr val="dk1"/>
                </a:solidFill>
              </a:defRPr>
            </a:lvl9pPr>
          </a:lstStyle>
          <a:p>
            <a:endParaRPr/>
          </a:p>
        </p:txBody>
      </p:sp>
      <p:sp>
        <p:nvSpPr>
          <p:cNvPr id="25" name="Google Shape;25;p16"/>
          <p:cNvSpPr txBox="1">
            <a:spLocks noGrp="1"/>
          </p:cNvSpPr>
          <p:nvPr>
            <p:ph type="subTitle" idx="13"/>
          </p:nvPr>
        </p:nvSpPr>
        <p:spPr>
          <a:xfrm>
            <a:off x="1623535" y="4115000"/>
            <a:ext cx="2555700" cy="393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None/>
              <a:defRPr sz="2000">
                <a:solidFill>
                  <a:schemeClr val="dk1"/>
                </a:solidFill>
              </a:defRPr>
            </a:lvl1pPr>
            <a:lvl2pPr lvl="1" algn="l">
              <a:lnSpc>
                <a:spcPct val="100000"/>
              </a:lnSpc>
              <a:spcBef>
                <a:spcPts val="0"/>
              </a:spcBef>
              <a:spcAft>
                <a:spcPts val="0"/>
              </a:spcAft>
              <a:buClr>
                <a:schemeClr val="dk1"/>
              </a:buClr>
              <a:buSzPts val="2000"/>
              <a:buNone/>
              <a:defRPr sz="2000" b="1">
                <a:solidFill>
                  <a:schemeClr val="dk1"/>
                </a:solidFill>
              </a:defRPr>
            </a:lvl2pPr>
            <a:lvl3pPr lvl="2" algn="l">
              <a:lnSpc>
                <a:spcPct val="100000"/>
              </a:lnSpc>
              <a:spcBef>
                <a:spcPts val="0"/>
              </a:spcBef>
              <a:spcAft>
                <a:spcPts val="0"/>
              </a:spcAft>
              <a:buClr>
                <a:schemeClr val="dk1"/>
              </a:buClr>
              <a:buSzPts val="2000"/>
              <a:buNone/>
              <a:defRPr sz="2000" b="1">
                <a:solidFill>
                  <a:schemeClr val="dk1"/>
                </a:solidFill>
              </a:defRPr>
            </a:lvl3pPr>
            <a:lvl4pPr lvl="3" algn="l">
              <a:lnSpc>
                <a:spcPct val="100000"/>
              </a:lnSpc>
              <a:spcBef>
                <a:spcPts val="0"/>
              </a:spcBef>
              <a:spcAft>
                <a:spcPts val="0"/>
              </a:spcAft>
              <a:buClr>
                <a:schemeClr val="dk1"/>
              </a:buClr>
              <a:buSzPts val="2000"/>
              <a:buNone/>
              <a:defRPr sz="2000" b="1">
                <a:solidFill>
                  <a:schemeClr val="dk1"/>
                </a:solidFill>
              </a:defRPr>
            </a:lvl4pPr>
            <a:lvl5pPr lvl="4" algn="l">
              <a:lnSpc>
                <a:spcPct val="100000"/>
              </a:lnSpc>
              <a:spcBef>
                <a:spcPts val="0"/>
              </a:spcBef>
              <a:spcAft>
                <a:spcPts val="0"/>
              </a:spcAft>
              <a:buClr>
                <a:schemeClr val="dk1"/>
              </a:buClr>
              <a:buSzPts val="2000"/>
              <a:buNone/>
              <a:defRPr sz="2000" b="1">
                <a:solidFill>
                  <a:schemeClr val="dk1"/>
                </a:solidFill>
              </a:defRPr>
            </a:lvl5pPr>
            <a:lvl6pPr lvl="5" algn="l">
              <a:lnSpc>
                <a:spcPct val="100000"/>
              </a:lnSpc>
              <a:spcBef>
                <a:spcPts val="0"/>
              </a:spcBef>
              <a:spcAft>
                <a:spcPts val="0"/>
              </a:spcAft>
              <a:buClr>
                <a:schemeClr val="dk1"/>
              </a:buClr>
              <a:buSzPts val="2000"/>
              <a:buNone/>
              <a:defRPr sz="2000" b="1">
                <a:solidFill>
                  <a:schemeClr val="dk1"/>
                </a:solidFill>
              </a:defRPr>
            </a:lvl6pPr>
            <a:lvl7pPr lvl="6" algn="l">
              <a:lnSpc>
                <a:spcPct val="100000"/>
              </a:lnSpc>
              <a:spcBef>
                <a:spcPts val="0"/>
              </a:spcBef>
              <a:spcAft>
                <a:spcPts val="0"/>
              </a:spcAft>
              <a:buClr>
                <a:schemeClr val="dk1"/>
              </a:buClr>
              <a:buSzPts val="2000"/>
              <a:buNone/>
              <a:defRPr sz="2000" b="1">
                <a:solidFill>
                  <a:schemeClr val="dk1"/>
                </a:solidFill>
              </a:defRPr>
            </a:lvl7pPr>
            <a:lvl8pPr lvl="7" algn="l">
              <a:lnSpc>
                <a:spcPct val="100000"/>
              </a:lnSpc>
              <a:spcBef>
                <a:spcPts val="0"/>
              </a:spcBef>
              <a:spcAft>
                <a:spcPts val="0"/>
              </a:spcAft>
              <a:buClr>
                <a:schemeClr val="dk1"/>
              </a:buClr>
              <a:buSzPts val="2000"/>
              <a:buNone/>
              <a:defRPr sz="2000" b="1">
                <a:solidFill>
                  <a:schemeClr val="dk1"/>
                </a:solidFill>
              </a:defRPr>
            </a:lvl8pPr>
            <a:lvl9pPr lvl="8" algn="l">
              <a:lnSpc>
                <a:spcPct val="100000"/>
              </a:lnSpc>
              <a:spcBef>
                <a:spcPts val="0"/>
              </a:spcBef>
              <a:spcAft>
                <a:spcPts val="0"/>
              </a:spcAft>
              <a:buClr>
                <a:schemeClr val="dk1"/>
              </a:buClr>
              <a:buSzPts val="2000"/>
              <a:buNone/>
              <a:defRPr sz="2000" b="1">
                <a:solidFill>
                  <a:schemeClr val="dk1"/>
                </a:solidFill>
              </a:defRPr>
            </a:lvl9pPr>
          </a:lstStyle>
          <a:p>
            <a:endParaRPr/>
          </a:p>
        </p:txBody>
      </p:sp>
      <p:sp>
        <p:nvSpPr>
          <p:cNvPr id="26" name="Google Shape;26;p16"/>
          <p:cNvSpPr txBox="1">
            <a:spLocks noGrp="1"/>
          </p:cNvSpPr>
          <p:nvPr>
            <p:ph type="subTitle" idx="14"/>
          </p:nvPr>
        </p:nvSpPr>
        <p:spPr>
          <a:xfrm>
            <a:off x="1618175" y="2779225"/>
            <a:ext cx="2555700" cy="393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None/>
              <a:defRPr sz="2000">
                <a:solidFill>
                  <a:schemeClr val="dk1"/>
                </a:solidFill>
              </a:defRPr>
            </a:lvl1pPr>
            <a:lvl2pPr lvl="1" algn="l">
              <a:lnSpc>
                <a:spcPct val="100000"/>
              </a:lnSpc>
              <a:spcBef>
                <a:spcPts val="0"/>
              </a:spcBef>
              <a:spcAft>
                <a:spcPts val="0"/>
              </a:spcAft>
              <a:buClr>
                <a:schemeClr val="dk1"/>
              </a:buClr>
              <a:buSzPts val="2000"/>
              <a:buNone/>
              <a:defRPr sz="2000" b="1">
                <a:solidFill>
                  <a:schemeClr val="dk1"/>
                </a:solidFill>
              </a:defRPr>
            </a:lvl2pPr>
            <a:lvl3pPr lvl="2" algn="l">
              <a:lnSpc>
                <a:spcPct val="100000"/>
              </a:lnSpc>
              <a:spcBef>
                <a:spcPts val="0"/>
              </a:spcBef>
              <a:spcAft>
                <a:spcPts val="0"/>
              </a:spcAft>
              <a:buClr>
                <a:schemeClr val="dk1"/>
              </a:buClr>
              <a:buSzPts val="2000"/>
              <a:buNone/>
              <a:defRPr sz="2000" b="1">
                <a:solidFill>
                  <a:schemeClr val="dk1"/>
                </a:solidFill>
              </a:defRPr>
            </a:lvl3pPr>
            <a:lvl4pPr lvl="3" algn="l">
              <a:lnSpc>
                <a:spcPct val="100000"/>
              </a:lnSpc>
              <a:spcBef>
                <a:spcPts val="0"/>
              </a:spcBef>
              <a:spcAft>
                <a:spcPts val="0"/>
              </a:spcAft>
              <a:buClr>
                <a:schemeClr val="dk1"/>
              </a:buClr>
              <a:buSzPts val="2000"/>
              <a:buNone/>
              <a:defRPr sz="2000" b="1">
                <a:solidFill>
                  <a:schemeClr val="dk1"/>
                </a:solidFill>
              </a:defRPr>
            </a:lvl4pPr>
            <a:lvl5pPr lvl="4" algn="l">
              <a:lnSpc>
                <a:spcPct val="100000"/>
              </a:lnSpc>
              <a:spcBef>
                <a:spcPts val="0"/>
              </a:spcBef>
              <a:spcAft>
                <a:spcPts val="0"/>
              </a:spcAft>
              <a:buClr>
                <a:schemeClr val="dk1"/>
              </a:buClr>
              <a:buSzPts val="2000"/>
              <a:buNone/>
              <a:defRPr sz="2000" b="1">
                <a:solidFill>
                  <a:schemeClr val="dk1"/>
                </a:solidFill>
              </a:defRPr>
            </a:lvl5pPr>
            <a:lvl6pPr lvl="5" algn="l">
              <a:lnSpc>
                <a:spcPct val="100000"/>
              </a:lnSpc>
              <a:spcBef>
                <a:spcPts val="0"/>
              </a:spcBef>
              <a:spcAft>
                <a:spcPts val="0"/>
              </a:spcAft>
              <a:buClr>
                <a:schemeClr val="dk1"/>
              </a:buClr>
              <a:buSzPts val="2000"/>
              <a:buNone/>
              <a:defRPr sz="2000" b="1">
                <a:solidFill>
                  <a:schemeClr val="dk1"/>
                </a:solidFill>
              </a:defRPr>
            </a:lvl6pPr>
            <a:lvl7pPr lvl="6" algn="l">
              <a:lnSpc>
                <a:spcPct val="100000"/>
              </a:lnSpc>
              <a:spcBef>
                <a:spcPts val="0"/>
              </a:spcBef>
              <a:spcAft>
                <a:spcPts val="0"/>
              </a:spcAft>
              <a:buClr>
                <a:schemeClr val="dk1"/>
              </a:buClr>
              <a:buSzPts val="2000"/>
              <a:buNone/>
              <a:defRPr sz="2000" b="1">
                <a:solidFill>
                  <a:schemeClr val="dk1"/>
                </a:solidFill>
              </a:defRPr>
            </a:lvl7pPr>
            <a:lvl8pPr lvl="7" algn="l">
              <a:lnSpc>
                <a:spcPct val="100000"/>
              </a:lnSpc>
              <a:spcBef>
                <a:spcPts val="0"/>
              </a:spcBef>
              <a:spcAft>
                <a:spcPts val="0"/>
              </a:spcAft>
              <a:buClr>
                <a:schemeClr val="dk1"/>
              </a:buClr>
              <a:buSzPts val="2000"/>
              <a:buNone/>
              <a:defRPr sz="2000" b="1">
                <a:solidFill>
                  <a:schemeClr val="dk1"/>
                </a:solidFill>
              </a:defRPr>
            </a:lvl8pPr>
            <a:lvl9pPr lvl="8" algn="l">
              <a:lnSpc>
                <a:spcPct val="100000"/>
              </a:lnSpc>
              <a:spcBef>
                <a:spcPts val="0"/>
              </a:spcBef>
              <a:spcAft>
                <a:spcPts val="0"/>
              </a:spcAft>
              <a:buClr>
                <a:schemeClr val="dk1"/>
              </a:buClr>
              <a:buSzPts val="2000"/>
              <a:buNone/>
              <a:defRPr sz="2000" b="1">
                <a:solidFill>
                  <a:schemeClr val="dk1"/>
                </a:solidFill>
              </a:defRPr>
            </a:lvl9pPr>
          </a:lstStyle>
          <a:p>
            <a:endParaRPr/>
          </a:p>
        </p:txBody>
      </p:sp>
      <p:sp>
        <p:nvSpPr>
          <p:cNvPr id="27" name="Google Shape;27;p16"/>
          <p:cNvSpPr txBox="1">
            <a:spLocks noGrp="1"/>
          </p:cNvSpPr>
          <p:nvPr>
            <p:ph type="subTitle" idx="15"/>
          </p:nvPr>
        </p:nvSpPr>
        <p:spPr>
          <a:xfrm>
            <a:off x="5862900" y="4115000"/>
            <a:ext cx="2561100" cy="393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000"/>
              <a:buNone/>
              <a:defRPr sz="2000">
                <a:solidFill>
                  <a:schemeClr val="dk1"/>
                </a:solidFill>
              </a:defRPr>
            </a:lvl1pPr>
            <a:lvl2pPr lvl="1" algn="l">
              <a:lnSpc>
                <a:spcPct val="100000"/>
              </a:lnSpc>
              <a:spcBef>
                <a:spcPts val="0"/>
              </a:spcBef>
              <a:spcAft>
                <a:spcPts val="0"/>
              </a:spcAft>
              <a:buClr>
                <a:schemeClr val="dk1"/>
              </a:buClr>
              <a:buSzPts val="2000"/>
              <a:buNone/>
              <a:defRPr sz="2000" b="1">
                <a:solidFill>
                  <a:schemeClr val="dk1"/>
                </a:solidFill>
              </a:defRPr>
            </a:lvl2pPr>
            <a:lvl3pPr lvl="2" algn="l">
              <a:lnSpc>
                <a:spcPct val="100000"/>
              </a:lnSpc>
              <a:spcBef>
                <a:spcPts val="0"/>
              </a:spcBef>
              <a:spcAft>
                <a:spcPts val="0"/>
              </a:spcAft>
              <a:buClr>
                <a:schemeClr val="dk1"/>
              </a:buClr>
              <a:buSzPts val="2000"/>
              <a:buNone/>
              <a:defRPr sz="2000" b="1">
                <a:solidFill>
                  <a:schemeClr val="dk1"/>
                </a:solidFill>
              </a:defRPr>
            </a:lvl3pPr>
            <a:lvl4pPr lvl="3" algn="l">
              <a:lnSpc>
                <a:spcPct val="100000"/>
              </a:lnSpc>
              <a:spcBef>
                <a:spcPts val="0"/>
              </a:spcBef>
              <a:spcAft>
                <a:spcPts val="0"/>
              </a:spcAft>
              <a:buClr>
                <a:schemeClr val="dk1"/>
              </a:buClr>
              <a:buSzPts val="2000"/>
              <a:buNone/>
              <a:defRPr sz="2000" b="1">
                <a:solidFill>
                  <a:schemeClr val="dk1"/>
                </a:solidFill>
              </a:defRPr>
            </a:lvl4pPr>
            <a:lvl5pPr lvl="4" algn="l">
              <a:lnSpc>
                <a:spcPct val="100000"/>
              </a:lnSpc>
              <a:spcBef>
                <a:spcPts val="0"/>
              </a:spcBef>
              <a:spcAft>
                <a:spcPts val="0"/>
              </a:spcAft>
              <a:buClr>
                <a:schemeClr val="dk1"/>
              </a:buClr>
              <a:buSzPts val="2000"/>
              <a:buNone/>
              <a:defRPr sz="2000" b="1">
                <a:solidFill>
                  <a:schemeClr val="dk1"/>
                </a:solidFill>
              </a:defRPr>
            </a:lvl5pPr>
            <a:lvl6pPr lvl="5" algn="l">
              <a:lnSpc>
                <a:spcPct val="100000"/>
              </a:lnSpc>
              <a:spcBef>
                <a:spcPts val="0"/>
              </a:spcBef>
              <a:spcAft>
                <a:spcPts val="0"/>
              </a:spcAft>
              <a:buClr>
                <a:schemeClr val="dk1"/>
              </a:buClr>
              <a:buSzPts val="2000"/>
              <a:buNone/>
              <a:defRPr sz="2000" b="1">
                <a:solidFill>
                  <a:schemeClr val="dk1"/>
                </a:solidFill>
              </a:defRPr>
            </a:lvl6pPr>
            <a:lvl7pPr lvl="6" algn="l">
              <a:lnSpc>
                <a:spcPct val="100000"/>
              </a:lnSpc>
              <a:spcBef>
                <a:spcPts val="0"/>
              </a:spcBef>
              <a:spcAft>
                <a:spcPts val="0"/>
              </a:spcAft>
              <a:buClr>
                <a:schemeClr val="dk1"/>
              </a:buClr>
              <a:buSzPts val="2000"/>
              <a:buNone/>
              <a:defRPr sz="2000" b="1">
                <a:solidFill>
                  <a:schemeClr val="dk1"/>
                </a:solidFill>
              </a:defRPr>
            </a:lvl7pPr>
            <a:lvl8pPr lvl="7" algn="l">
              <a:lnSpc>
                <a:spcPct val="100000"/>
              </a:lnSpc>
              <a:spcBef>
                <a:spcPts val="0"/>
              </a:spcBef>
              <a:spcAft>
                <a:spcPts val="0"/>
              </a:spcAft>
              <a:buClr>
                <a:schemeClr val="dk1"/>
              </a:buClr>
              <a:buSzPts val="2000"/>
              <a:buNone/>
              <a:defRPr sz="2000" b="1">
                <a:solidFill>
                  <a:schemeClr val="dk1"/>
                </a:solidFill>
              </a:defRPr>
            </a:lvl8pPr>
            <a:lvl9pPr lvl="8" algn="l">
              <a:lnSpc>
                <a:spcPct val="100000"/>
              </a:lnSpc>
              <a:spcBef>
                <a:spcPts val="0"/>
              </a:spcBef>
              <a:spcAft>
                <a:spcPts val="0"/>
              </a:spcAft>
              <a:buClr>
                <a:schemeClr val="dk1"/>
              </a:buClr>
              <a:buSzPts val="2000"/>
              <a:buNone/>
              <a:defRPr sz="2000" b="1">
                <a:solidFill>
                  <a:schemeClr val="dk1"/>
                </a:solidFill>
              </a:defRPr>
            </a:lvl9pPr>
          </a:lstStyle>
          <a:p>
            <a:endParaRPr/>
          </a:p>
        </p:txBody>
      </p:sp>
      <p:sp>
        <p:nvSpPr>
          <p:cNvPr id="28" name="Google Shape;28;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9"/>
        <p:cNvGrpSpPr/>
        <p:nvPr/>
      </p:nvGrpSpPr>
      <p:grpSpPr>
        <a:xfrm>
          <a:off x="0" y="0"/>
          <a:ext cx="0" cy="0"/>
          <a:chOff x="0" y="0"/>
          <a:chExt cx="0" cy="0"/>
        </a:xfrm>
      </p:grpSpPr>
      <p:sp>
        <p:nvSpPr>
          <p:cNvPr id="30" name="Google Shape;30;p17"/>
          <p:cNvSpPr txBox="1">
            <a:spLocks noGrp="1"/>
          </p:cNvSpPr>
          <p:nvPr>
            <p:ph type="title"/>
          </p:nvPr>
        </p:nvSpPr>
        <p:spPr>
          <a:xfrm>
            <a:off x="720000" y="2285400"/>
            <a:ext cx="77040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
        <p:nvSpPr>
          <p:cNvPr id="31" name="Google Shape;31;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p18"/>
          <p:cNvSpPr/>
          <p:nvPr/>
        </p:nvSpPr>
        <p:spPr>
          <a:xfrm>
            <a:off x="275550" y="277500"/>
            <a:ext cx="8592900" cy="4588500"/>
          </a:xfrm>
          <a:prstGeom prst="roundRect">
            <a:avLst>
              <a:gd name="adj" fmla="val 791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34" name="Google Shape;34;p1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35" name="Google Shape;35;p18"/>
          <p:cNvSpPr txBox="1">
            <a:spLocks noGrp="1"/>
          </p:cNvSpPr>
          <p:nvPr>
            <p:ph type="body" idx="1"/>
          </p:nvPr>
        </p:nvSpPr>
        <p:spPr>
          <a:xfrm>
            <a:off x="720000" y="1257300"/>
            <a:ext cx="7704000" cy="1155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accent1"/>
              </a:buClr>
              <a:buSzPts val="1400"/>
              <a:buChar char="●"/>
              <a:defRPr sz="1400">
                <a:solidFill>
                  <a:schemeClr val="dk1"/>
                </a:solidFill>
              </a:defRPr>
            </a:lvl1pPr>
            <a:lvl2pPr marL="914400" lvl="1" indent="-304800" algn="l">
              <a:lnSpc>
                <a:spcPct val="115000"/>
              </a:lnSpc>
              <a:spcBef>
                <a:spcPts val="0"/>
              </a:spcBef>
              <a:spcAft>
                <a:spcPts val="0"/>
              </a:spcAft>
              <a:buClr>
                <a:schemeClr val="dk1"/>
              </a:buClr>
              <a:buSzPts val="1200"/>
              <a:buChar char="○"/>
              <a:defRPr>
                <a:solidFill>
                  <a:schemeClr val="dk1"/>
                </a:solidFill>
              </a:defRPr>
            </a:lvl2pPr>
            <a:lvl3pPr marL="1371600" lvl="2" indent="-304800" algn="l">
              <a:lnSpc>
                <a:spcPct val="115000"/>
              </a:lnSpc>
              <a:spcBef>
                <a:spcPts val="0"/>
              </a:spcBef>
              <a:spcAft>
                <a:spcPts val="0"/>
              </a:spcAft>
              <a:buClr>
                <a:schemeClr val="dk1"/>
              </a:buClr>
              <a:buSzPts val="1200"/>
              <a:buChar char="■"/>
              <a:defRPr>
                <a:solidFill>
                  <a:schemeClr val="dk1"/>
                </a:solidFill>
              </a:defRPr>
            </a:lvl3pPr>
            <a:lvl4pPr marL="1828800" lvl="3" indent="-304800" algn="l">
              <a:lnSpc>
                <a:spcPct val="115000"/>
              </a:lnSpc>
              <a:spcBef>
                <a:spcPts val="0"/>
              </a:spcBef>
              <a:spcAft>
                <a:spcPts val="0"/>
              </a:spcAft>
              <a:buClr>
                <a:schemeClr val="dk1"/>
              </a:buClr>
              <a:buSzPts val="1200"/>
              <a:buChar char="●"/>
              <a:defRPr>
                <a:solidFill>
                  <a:schemeClr val="dk1"/>
                </a:solidFill>
              </a:defRPr>
            </a:lvl4pPr>
            <a:lvl5pPr marL="2286000" lvl="4" indent="-304800" algn="l">
              <a:lnSpc>
                <a:spcPct val="115000"/>
              </a:lnSpc>
              <a:spcBef>
                <a:spcPts val="0"/>
              </a:spcBef>
              <a:spcAft>
                <a:spcPts val="0"/>
              </a:spcAft>
              <a:buClr>
                <a:schemeClr val="dk1"/>
              </a:buClr>
              <a:buSzPts val="1200"/>
              <a:buChar char="○"/>
              <a:defRPr>
                <a:solidFill>
                  <a:schemeClr val="dk1"/>
                </a:solidFill>
              </a:defRPr>
            </a:lvl5pPr>
            <a:lvl6pPr marL="2743200" lvl="5" indent="-304800" algn="l">
              <a:lnSpc>
                <a:spcPct val="115000"/>
              </a:lnSpc>
              <a:spcBef>
                <a:spcPts val="0"/>
              </a:spcBef>
              <a:spcAft>
                <a:spcPts val="0"/>
              </a:spcAft>
              <a:buClr>
                <a:schemeClr val="dk1"/>
              </a:buClr>
              <a:buSzPts val="1200"/>
              <a:buChar char="■"/>
              <a:defRPr>
                <a:solidFill>
                  <a:schemeClr val="dk1"/>
                </a:solidFill>
              </a:defRPr>
            </a:lvl6pPr>
            <a:lvl7pPr marL="3200400" lvl="6" indent="-304800" algn="l">
              <a:lnSpc>
                <a:spcPct val="115000"/>
              </a:lnSpc>
              <a:spcBef>
                <a:spcPts val="0"/>
              </a:spcBef>
              <a:spcAft>
                <a:spcPts val="0"/>
              </a:spcAft>
              <a:buClr>
                <a:schemeClr val="dk1"/>
              </a:buClr>
              <a:buSzPts val="1200"/>
              <a:buChar char="●"/>
              <a:defRPr>
                <a:solidFill>
                  <a:schemeClr val="dk1"/>
                </a:solidFill>
              </a:defRPr>
            </a:lvl7pPr>
            <a:lvl8pPr marL="3657600" lvl="7" indent="-304800" algn="l">
              <a:lnSpc>
                <a:spcPct val="115000"/>
              </a:lnSpc>
              <a:spcBef>
                <a:spcPts val="0"/>
              </a:spcBef>
              <a:spcAft>
                <a:spcPts val="0"/>
              </a:spcAft>
              <a:buClr>
                <a:schemeClr val="dk1"/>
              </a:buClr>
              <a:buSzPts val="1200"/>
              <a:buChar char="○"/>
              <a:defRPr>
                <a:solidFill>
                  <a:schemeClr val="dk1"/>
                </a:solidFill>
              </a:defRPr>
            </a:lvl8pPr>
            <a:lvl9pPr marL="4114800" lvl="8" indent="-304800" algn="l">
              <a:lnSpc>
                <a:spcPct val="115000"/>
              </a:lnSpc>
              <a:spcBef>
                <a:spcPts val="0"/>
              </a:spcBef>
              <a:spcAft>
                <a:spcPts val="0"/>
              </a:spcAft>
              <a:buClr>
                <a:schemeClr val="dk1"/>
              </a:buClr>
              <a:buSzPts val="1200"/>
              <a:buChar char="■"/>
              <a:defRPr>
                <a:solidFill>
                  <a:schemeClr val="dk1"/>
                </a:solidFill>
              </a:defRPr>
            </a:lvl9pPr>
          </a:lstStyle>
          <a:p>
            <a:endParaRPr/>
          </a:p>
        </p:txBody>
      </p:sp>
      <p:sp>
        <p:nvSpPr>
          <p:cNvPr id="36" name="Google Shape;36;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
        <p:cNvGrpSpPr/>
        <p:nvPr/>
      </p:nvGrpSpPr>
      <p:grpSpPr>
        <a:xfrm>
          <a:off x="0" y="0"/>
          <a:ext cx="0" cy="0"/>
          <a:chOff x="0" y="0"/>
          <a:chExt cx="0" cy="0"/>
        </a:xfrm>
      </p:grpSpPr>
      <p:sp>
        <p:nvSpPr>
          <p:cNvPr id="38" name="Google Shape;38;p19"/>
          <p:cNvSpPr txBox="1">
            <a:spLocks noGrp="1"/>
          </p:cNvSpPr>
          <p:nvPr>
            <p:ph type="ctrTitle"/>
          </p:nvPr>
        </p:nvSpPr>
        <p:spPr>
          <a:xfrm>
            <a:off x="2904066" y="1320025"/>
            <a:ext cx="5200800" cy="18075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SzPts val="5200"/>
              <a:buNone/>
              <a:defRPr sz="5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39" name="Google Shape;39;p19"/>
          <p:cNvSpPr txBox="1">
            <a:spLocks noGrp="1"/>
          </p:cNvSpPr>
          <p:nvPr>
            <p:ph type="subTitle" idx="1"/>
          </p:nvPr>
        </p:nvSpPr>
        <p:spPr>
          <a:xfrm>
            <a:off x="2904075" y="3475800"/>
            <a:ext cx="5200800" cy="285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0" name="Google Shape;40;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20"/>
          <p:cNvSpPr txBox="1">
            <a:spLocks noGrp="1"/>
          </p:cNvSpPr>
          <p:nvPr>
            <p:ph type="title"/>
          </p:nvPr>
        </p:nvSpPr>
        <p:spPr>
          <a:xfrm>
            <a:off x="5352543" y="2773625"/>
            <a:ext cx="2349900" cy="841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43" name="Google Shape;43;p20"/>
          <p:cNvSpPr txBox="1">
            <a:spLocks noGrp="1"/>
          </p:cNvSpPr>
          <p:nvPr>
            <p:ph type="title" idx="2"/>
          </p:nvPr>
        </p:nvSpPr>
        <p:spPr>
          <a:xfrm>
            <a:off x="5352650" y="1528050"/>
            <a:ext cx="23499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44" name="Google Shape;44;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5"/>
        <p:cNvGrpSpPr/>
        <p:nvPr/>
      </p:nvGrpSpPr>
      <p:grpSpPr>
        <a:xfrm>
          <a:off x="0" y="0"/>
          <a:ext cx="0" cy="0"/>
          <a:chOff x="0" y="0"/>
          <a:chExt cx="0" cy="0"/>
        </a:xfrm>
      </p:grpSpPr>
      <p:sp>
        <p:nvSpPr>
          <p:cNvPr id="46" name="Google Shape;46;p21"/>
          <p:cNvSpPr/>
          <p:nvPr/>
        </p:nvSpPr>
        <p:spPr>
          <a:xfrm>
            <a:off x="275550" y="277500"/>
            <a:ext cx="8592900" cy="4588500"/>
          </a:xfrm>
          <a:prstGeom prst="roundRect">
            <a:avLst>
              <a:gd name="adj" fmla="val 791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47" name="Google Shape;47;p21"/>
          <p:cNvSpPr txBox="1">
            <a:spLocks noGrp="1"/>
          </p:cNvSpPr>
          <p:nvPr>
            <p:ph type="title"/>
          </p:nvPr>
        </p:nvSpPr>
        <p:spPr>
          <a:xfrm>
            <a:off x="720000" y="445025"/>
            <a:ext cx="38757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48" name="Google Shape;48;p21"/>
          <p:cNvSpPr txBox="1">
            <a:spLocks noGrp="1"/>
          </p:cNvSpPr>
          <p:nvPr>
            <p:ph type="body" idx="1"/>
          </p:nvPr>
        </p:nvSpPr>
        <p:spPr>
          <a:xfrm>
            <a:off x="720000" y="1152475"/>
            <a:ext cx="35232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chemeClr val="accent1"/>
              </a:buClr>
              <a:buSzPts val="1400"/>
              <a:buChar char="●"/>
              <a:defRPr>
                <a:solidFill>
                  <a:schemeClr val="dk1"/>
                </a:solidFill>
              </a:defRPr>
            </a:lvl1pPr>
            <a:lvl2pPr marL="914400" lvl="1" indent="-304800" algn="l">
              <a:lnSpc>
                <a:spcPct val="115000"/>
              </a:lnSpc>
              <a:spcBef>
                <a:spcPts val="0"/>
              </a:spcBef>
              <a:spcAft>
                <a:spcPts val="0"/>
              </a:spcAft>
              <a:buClr>
                <a:schemeClr val="dk1"/>
              </a:buClr>
              <a:buSzPts val="1200"/>
              <a:buChar char="○"/>
              <a:defRPr>
                <a:solidFill>
                  <a:schemeClr val="dk1"/>
                </a:solidFill>
              </a:defRPr>
            </a:lvl2pPr>
            <a:lvl3pPr marL="1371600" lvl="2" indent="-304800" algn="l">
              <a:lnSpc>
                <a:spcPct val="115000"/>
              </a:lnSpc>
              <a:spcBef>
                <a:spcPts val="0"/>
              </a:spcBef>
              <a:spcAft>
                <a:spcPts val="0"/>
              </a:spcAft>
              <a:buClr>
                <a:schemeClr val="dk1"/>
              </a:buClr>
              <a:buSzPts val="1200"/>
              <a:buChar char="■"/>
              <a:defRPr>
                <a:solidFill>
                  <a:schemeClr val="dk1"/>
                </a:solidFill>
              </a:defRPr>
            </a:lvl3pPr>
            <a:lvl4pPr marL="1828800" lvl="3" indent="-304800" algn="l">
              <a:lnSpc>
                <a:spcPct val="115000"/>
              </a:lnSpc>
              <a:spcBef>
                <a:spcPts val="0"/>
              </a:spcBef>
              <a:spcAft>
                <a:spcPts val="0"/>
              </a:spcAft>
              <a:buClr>
                <a:schemeClr val="dk1"/>
              </a:buClr>
              <a:buSzPts val="1200"/>
              <a:buChar char="●"/>
              <a:defRPr>
                <a:solidFill>
                  <a:schemeClr val="dk1"/>
                </a:solidFill>
              </a:defRPr>
            </a:lvl4pPr>
            <a:lvl5pPr marL="2286000" lvl="4" indent="-304800" algn="l">
              <a:lnSpc>
                <a:spcPct val="115000"/>
              </a:lnSpc>
              <a:spcBef>
                <a:spcPts val="0"/>
              </a:spcBef>
              <a:spcAft>
                <a:spcPts val="0"/>
              </a:spcAft>
              <a:buClr>
                <a:schemeClr val="dk1"/>
              </a:buClr>
              <a:buSzPts val="1200"/>
              <a:buChar char="○"/>
              <a:defRPr>
                <a:solidFill>
                  <a:schemeClr val="dk1"/>
                </a:solidFill>
              </a:defRPr>
            </a:lvl5pPr>
            <a:lvl6pPr marL="2743200" lvl="5" indent="-304800" algn="l">
              <a:lnSpc>
                <a:spcPct val="115000"/>
              </a:lnSpc>
              <a:spcBef>
                <a:spcPts val="0"/>
              </a:spcBef>
              <a:spcAft>
                <a:spcPts val="0"/>
              </a:spcAft>
              <a:buClr>
                <a:schemeClr val="dk1"/>
              </a:buClr>
              <a:buSzPts val="1200"/>
              <a:buChar char="■"/>
              <a:defRPr>
                <a:solidFill>
                  <a:schemeClr val="dk1"/>
                </a:solidFill>
              </a:defRPr>
            </a:lvl6pPr>
            <a:lvl7pPr marL="3200400" lvl="6" indent="-304800" algn="l">
              <a:lnSpc>
                <a:spcPct val="115000"/>
              </a:lnSpc>
              <a:spcBef>
                <a:spcPts val="0"/>
              </a:spcBef>
              <a:spcAft>
                <a:spcPts val="0"/>
              </a:spcAft>
              <a:buClr>
                <a:schemeClr val="dk1"/>
              </a:buClr>
              <a:buSzPts val="1200"/>
              <a:buChar char="●"/>
              <a:defRPr>
                <a:solidFill>
                  <a:schemeClr val="dk1"/>
                </a:solidFill>
              </a:defRPr>
            </a:lvl7pPr>
            <a:lvl8pPr marL="3657600" lvl="7" indent="-304800" algn="l">
              <a:lnSpc>
                <a:spcPct val="115000"/>
              </a:lnSpc>
              <a:spcBef>
                <a:spcPts val="0"/>
              </a:spcBef>
              <a:spcAft>
                <a:spcPts val="0"/>
              </a:spcAft>
              <a:buClr>
                <a:schemeClr val="dk1"/>
              </a:buClr>
              <a:buSzPts val="1200"/>
              <a:buChar char="○"/>
              <a:defRPr>
                <a:solidFill>
                  <a:schemeClr val="dk1"/>
                </a:solidFill>
              </a:defRPr>
            </a:lvl8pPr>
            <a:lvl9pPr marL="4114800" lvl="8" indent="-304800" algn="l">
              <a:lnSpc>
                <a:spcPct val="115000"/>
              </a:lnSpc>
              <a:spcBef>
                <a:spcPts val="0"/>
              </a:spcBef>
              <a:spcAft>
                <a:spcPts val="0"/>
              </a:spcAft>
              <a:buClr>
                <a:schemeClr val="dk1"/>
              </a:buClr>
              <a:buSzPts val="1200"/>
              <a:buChar char="■"/>
              <a:defRPr>
                <a:solidFill>
                  <a:schemeClr val="dk1"/>
                </a:solidFill>
              </a:defRPr>
            </a:lvl9pPr>
          </a:lstStyle>
          <a:p>
            <a:endParaRPr/>
          </a:p>
        </p:txBody>
      </p:sp>
      <p:sp>
        <p:nvSpPr>
          <p:cNvPr id="49" name="Google Shape;49;p21"/>
          <p:cNvSpPr>
            <a:spLocks noGrp="1"/>
          </p:cNvSpPr>
          <p:nvPr>
            <p:ph type="pic" idx="2"/>
          </p:nvPr>
        </p:nvSpPr>
        <p:spPr>
          <a:xfrm>
            <a:off x="5235625" y="737300"/>
            <a:ext cx="2953500" cy="3751500"/>
          </a:xfrm>
          <a:prstGeom prst="roundRect">
            <a:avLst>
              <a:gd name="adj" fmla="val 16667"/>
            </a:avLst>
          </a:prstGeom>
          <a:noFill/>
          <a:ln>
            <a:noFill/>
          </a:ln>
        </p:spPr>
      </p:sp>
      <p:sp>
        <p:nvSpPr>
          <p:cNvPr id="50" name="Google Shape;50;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1"/>
        <p:cNvGrpSpPr/>
        <p:nvPr/>
      </p:nvGrpSpPr>
      <p:grpSpPr>
        <a:xfrm>
          <a:off x="0" y="0"/>
          <a:ext cx="0" cy="0"/>
          <a:chOff x="0" y="0"/>
          <a:chExt cx="0" cy="0"/>
        </a:xfrm>
      </p:grpSpPr>
      <p:sp>
        <p:nvSpPr>
          <p:cNvPr id="52" name="Google Shape;52;p22"/>
          <p:cNvSpPr/>
          <p:nvPr/>
        </p:nvSpPr>
        <p:spPr>
          <a:xfrm>
            <a:off x="275550" y="277500"/>
            <a:ext cx="8592900" cy="4588500"/>
          </a:xfrm>
          <a:prstGeom prst="roundRect">
            <a:avLst>
              <a:gd name="adj" fmla="val 791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naheim"/>
                <a:ea typeface="Anaheim"/>
                <a:cs typeface="Anaheim"/>
                <a:sym typeface="Anaheim"/>
              </a:rPr>
              <a:t> </a:t>
            </a:r>
            <a:endParaRPr sz="1400" b="0" i="0" u="none" strike="noStrike" cap="none">
              <a:solidFill>
                <a:srgbClr val="000000"/>
              </a:solidFill>
              <a:latin typeface="Anaheim"/>
              <a:ea typeface="Anaheim"/>
              <a:cs typeface="Anaheim"/>
              <a:sym typeface="Anaheim"/>
            </a:endParaRPr>
          </a:p>
        </p:txBody>
      </p:sp>
      <p:sp>
        <p:nvSpPr>
          <p:cNvPr id="53" name="Google Shape;53;p22"/>
          <p:cNvSpPr txBox="1">
            <a:spLocks noGrp="1"/>
          </p:cNvSpPr>
          <p:nvPr>
            <p:ph type="title"/>
          </p:nvPr>
        </p:nvSpPr>
        <p:spPr>
          <a:xfrm>
            <a:off x="1388100" y="1307100"/>
            <a:ext cx="6367800" cy="2529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54" name="Google Shape;54;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5"/>
        <p:cNvGrpSpPr/>
        <p:nvPr/>
      </p:nvGrpSpPr>
      <p:grpSpPr>
        <a:xfrm>
          <a:off x="0" y="0"/>
          <a:ext cx="0" cy="0"/>
          <a:chOff x="0" y="0"/>
          <a:chExt cx="0" cy="0"/>
        </a:xfrm>
      </p:grpSpPr>
      <p:sp>
        <p:nvSpPr>
          <p:cNvPr id="56" name="Google Shape;56;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57"/>
        <p:cNvGrpSpPr/>
        <p:nvPr/>
      </p:nvGrpSpPr>
      <p:grpSpPr>
        <a:xfrm>
          <a:off x="0" y="0"/>
          <a:ext cx="0" cy="0"/>
          <a:chOff x="0" y="0"/>
          <a:chExt cx="0" cy="0"/>
        </a:xfrm>
      </p:grpSpPr>
      <p:sp>
        <p:nvSpPr>
          <p:cNvPr id="58" name="Google Shape;58;p24"/>
          <p:cNvSpPr/>
          <p:nvPr/>
        </p:nvSpPr>
        <p:spPr>
          <a:xfrm>
            <a:off x="275550" y="277500"/>
            <a:ext cx="8592900" cy="4588500"/>
          </a:xfrm>
          <a:prstGeom prst="roundRect">
            <a:avLst>
              <a:gd name="adj" fmla="val 791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59" name="Google Shape;59;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60"/>
        <p:cNvGrpSpPr/>
        <p:nvPr/>
      </p:nvGrpSpPr>
      <p:grpSpPr>
        <a:xfrm>
          <a:off x="0" y="0"/>
          <a:ext cx="0" cy="0"/>
          <a:chOff x="0" y="0"/>
          <a:chExt cx="0" cy="0"/>
        </a:xfrm>
      </p:grpSpPr>
      <p:sp>
        <p:nvSpPr>
          <p:cNvPr id="61" name="Google Shape;61;p25"/>
          <p:cNvSpPr/>
          <p:nvPr/>
        </p:nvSpPr>
        <p:spPr>
          <a:xfrm rot="10800000">
            <a:off x="715100" y="534969"/>
            <a:ext cx="5848800" cy="4073400"/>
          </a:xfrm>
          <a:prstGeom prst="roundRect">
            <a:avLst>
              <a:gd name="adj" fmla="val 791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grpSp>
        <p:nvGrpSpPr>
          <p:cNvPr id="62" name="Google Shape;62;p25"/>
          <p:cNvGrpSpPr/>
          <p:nvPr/>
        </p:nvGrpSpPr>
        <p:grpSpPr>
          <a:xfrm rot="10800000">
            <a:off x="6862000" y="535091"/>
            <a:ext cx="1566900" cy="4073309"/>
            <a:chOff x="715100" y="627450"/>
            <a:chExt cx="1566900" cy="3888600"/>
          </a:xfrm>
        </p:grpSpPr>
        <p:sp>
          <p:nvSpPr>
            <p:cNvPr id="63" name="Google Shape;63;p25"/>
            <p:cNvSpPr/>
            <p:nvPr/>
          </p:nvSpPr>
          <p:spPr>
            <a:xfrm>
              <a:off x="715100" y="627450"/>
              <a:ext cx="1566900" cy="3888600"/>
            </a:xfrm>
            <a:prstGeom prst="roundRect">
              <a:avLst>
                <a:gd name="adj" fmla="val 21582"/>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64" name="Google Shape;64;p25"/>
            <p:cNvSpPr/>
            <p:nvPr/>
          </p:nvSpPr>
          <p:spPr>
            <a:xfrm>
              <a:off x="881775" y="772400"/>
              <a:ext cx="1233600" cy="3598800"/>
            </a:xfrm>
            <a:prstGeom prst="roundRect">
              <a:avLst>
                <a:gd name="adj" fmla="val 21582"/>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grpSp>
      <p:sp>
        <p:nvSpPr>
          <p:cNvPr id="65" name="Google Shape;65;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accent2"/>
              </a:buClr>
              <a:buSzPts val="3000"/>
              <a:buFont typeface="Open Sans"/>
              <a:buNone/>
              <a:defRPr sz="3000" b="0" i="0" u="none" strike="noStrike" cap="none">
                <a:solidFill>
                  <a:schemeClr val="accent2"/>
                </a:solidFill>
                <a:latin typeface="Open Sans"/>
                <a:ea typeface="Open Sans"/>
                <a:cs typeface="Open Sans"/>
                <a:sym typeface="Open Sans"/>
              </a:defRPr>
            </a:lvl1pPr>
            <a:lvl2pPr marR="0" lvl="1" algn="l" rtl="0">
              <a:lnSpc>
                <a:spcPct val="100000"/>
              </a:lnSpc>
              <a:spcBef>
                <a:spcPts val="0"/>
              </a:spcBef>
              <a:spcAft>
                <a:spcPts val="0"/>
              </a:spcAft>
              <a:buClr>
                <a:schemeClr val="accent2"/>
              </a:buClr>
              <a:buSzPts val="3500"/>
              <a:buFont typeface="Open Sans"/>
              <a:buNone/>
              <a:defRPr sz="3500" b="0" i="0" u="none" strike="noStrike" cap="none">
                <a:solidFill>
                  <a:schemeClr val="accent2"/>
                </a:solidFill>
                <a:latin typeface="Open Sans"/>
                <a:ea typeface="Open Sans"/>
                <a:cs typeface="Open Sans"/>
                <a:sym typeface="Open Sans"/>
              </a:defRPr>
            </a:lvl2pPr>
            <a:lvl3pPr marR="0" lvl="2" algn="l" rtl="0">
              <a:lnSpc>
                <a:spcPct val="100000"/>
              </a:lnSpc>
              <a:spcBef>
                <a:spcPts val="0"/>
              </a:spcBef>
              <a:spcAft>
                <a:spcPts val="0"/>
              </a:spcAft>
              <a:buClr>
                <a:schemeClr val="accent2"/>
              </a:buClr>
              <a:buSzPts val="3500"/>
              <a:buFont typeface="Open Sans"/>
              <a:buNone/>
              <a:defRPr sz="3500" b="0" i="0" u="none" strike="noStrike" cap="none">
                <a:solidFill>
                  <a:schemeClr val="accent2"/>
                </a:solidFill>
                <a:latin typeface="Open Sans"/>
                <a:ea typeface="Open Sans"/>
                <a:cs typeface="Open Sans"/>
                <a:sym typeface="Open Sans"/>
              </a:defRPr>
            </a:lvl3pPr>
            <a:lvl4pPr marR="0" lvl="3" algn="l" rtl="0">
              <a:lnSpc>
                <a:spcPct val="100000"/>
              </a:lnSpc>
              <a:spcBef>
                <a:spcPts val="0"/>
              </a:spcBef>
              <a:spcAft>
                <a:spcPts val="0"/>
              </a:spcAft>
              <a:buClr>
                <a:schemeClr val="accent2"/>
              </a:buClr>
              <a:buSzPts val="3500"/>
              <a:buFont typeface="Open Sans"/>
              <a:buNone/>
              <a:defRPr sz="3500" b="0" i="0" u="none" strike="noStrike" cap="none">
                <a:solidFill>
                  <a:schemeClr val="accent2"/>
                </a:solidFill>
                <a:latin typeface="Open Sans"/>
                <a:ea typeface="Open Sans"/>
                <a:cs typeface="Open Sans"/>
                <a:sym typeface="Open Sans"/>
              </a:defRPr>
            </a:lvl4pPr>
            <a:lvl5pPr marR="0" lvl="4" algn="l" rtl="0">
              <a:lnSpc>
                <a:spcPct val="100000"/>
              </a:lnSpc>
              <a:spcBef>
                <a:spcPts val="0"/>
              </a:spcBef>
              <a:spcAft>
                <a:spcPts val="0"/>
              </a:spcAft>
              <a:buClr>
                <a:schemeClr val="accent2"/>
              </a:buClr>
              <a:buSzPts val="3500"/>
              <a:buFont typeface="Open Sans"/>
              <a:buNone/>
              <a:defRPr sz="3500" b="0" i="0" u="none" strike="noStrike" cap="none">
                <a:solidFill>
                  <a:schemeClr val="accent2"/>
                </a:solidFill>
                <a:latin typeface="Open Sans"/>
                <a:ea typeface="Open Sans"/>
                <a:cs typeface="Open Sans"/>
                <a:sym typeface="Open Sans"/>
              </a:defRPr>
            </a:lvl5pPr>
            <a:lvl6pPr marR="0" lvl="5" algn="l" rtl="0">
              <a:lnSpc>
                <a:spcPct val="100000"/>
              </a:lnSpc>
              <a:spcBef>
                <a:spcPts val="0"/>
              </a:spcBef>
              <a:spcAft>
                <a:spcPts val="0"/>
              </a:spcAft>
              <a:buClr>
                <a:schemeClr val="accent2"/>
              </a:buClr>
              <a:buSzPts val="3500"/>
              <a:buFont typeface="Open Sans"/>
              <a:buNone/>
              <a:defRPr sz="3500" b="0" i="0" u="none" strike="noStrike" cap="none">
                <a:solidFill>
                  <a:schemeClr val="accent2"/>
                </a:solidFill>
                <a:latin typeface="Open Sans"/>
                <a:ea typeface="Open Sans"/>
                <a:cs typeface="Open Sans"/>
                <a:sym typeface="Open Sans"/>
              </a:defRPr>
            </a:lvl6pPr>
            <a:lvl7pPr marR="0" lvl="6" algn="l" rtl="0">
              <a:lnSpc>
                <a:spcPct val="100000"/>
              </a:lnSpc>
              <a:spcBef>
                <a:spcPts val="0"/>
              </a:spcBef>
              <a:spcAft>
                <a:spcPts val="0"/>
              </a:spcAft>
              <a:buClr>
                <a:schemeClr val="accent2"/>
              </a:buClr>
              <a:buSzPts val="3500"/>
              <a:buFont typeface="Open Sans"/>
              <a:buNone/>
              <a:defRPr sz="3500" b="0" i="0" u="none" strike="noStrike" cap="none">
                <a:solidFill>
                  <a:schemeClr val="accent2"/>
                </a:solidFill>
                <a:latin typeface="Open Sans"/>
                <a:ea typeface="Open Sans"/>
                <a:cs typeface="Open Sans"/>
                <a:sym typeface="Open Sans"/>
              </a:defRPr>
            </a:lvl7pPr>
            <a:lvl8pPr marR="0" lvl="7" algn="l" rtl="0">
              <a:lnSpc>
                <a:spcPct val="100000"/>
              </a:lnSpc>
              <a:spcBef>
                <a:spcPts val="0"/>
              </a:spcBef>
              <a:spcAft>
                <a:spcPts val="0"/>
              </a:spcAft>
              <a:buClr>
                <a:schemeClr val="accent2"/>
              </a:buClr>
              <a:buSzPts val="3500"/>
              <a:buFont typeface="Open Sans"/>
              <a:buNone/>
              <a:defRPr sz="3500" b="0" i="0" u="none" strike="noStrike" cap="none">
                <a:solidFill>
                  <a:schemeClr val="accent2"/>
                </a:solidFill>
                <a:latin typeface="Open Sans"/>
                <a:ea typeface="Open Sans"/>
                <a:cs typeface="Open Sans"/>
                <a:sym typeface="Open Sans"/>
              </a:defRPr>
            </a:lvl8pPr>
            <a:lvl9pPr marR="0" lvl="8" algn="l" rtl="0">
              <a:lnSpc>
                <a:spcPct val="100000"/>
              </a:lnSpc>
              <a:spcBef>
                <a:spcPts val="0"/>
              </a:spcBef>
              <a:spcAft>
                <a:spcPts val="0"/>
              </a:spcAft>
              <a:buClr>
                <a:schemeClr val="accent2"/>
              </a:buClr>
              <a:buSzPts val="3500"/>
              <a:buFont typeface="Open Sans"/>
              <a:buNone/>
              <a:defRPr sz="3500" b="0" i="0" u="none" strike="noStrike" cap="none">
                <a:solidFill>
                  <a:schemeClr val="accent2"/>
                </a:solidFill>
                <a:latin typeface="Open Sans"/>
                <a:ea typeface="Open Sans"/>
                <a:cs typeface="Open Sans"/>
                <a:sym typeface="Open Sans"/>
              </a:defRPr>
            </a:lvl9pPr>
          </a:lstStyle>
          <a:p>
            <a:endParaRPr/>
          </a:p>
        </p:txBody>
      </p:sp>
      <p:sp>
        <p:nvSpPr>
          <p:cNvPr id="7" name="Google Shape;7;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accent2"/>
              </a:buClr>
              <a:buSzPts val="1200"/>
              <a:buFont typeface="Open Sans"/>
              <a:buChar char="●"/>
              <a:defRPr sz="1200" b="0" i="0" u="none" strike="noStrike" cap="none">
                <a:solidFill>
                  <a:schemeClr val="accent2"/>
                </a:solidFill>
                <a:latin typeface="Open Sans"/>
                <a:ea typeface="Open Sans"/>
                <a:cs typeface="Open Sans"/>
                <a:sym typeface="Open Sans"/>
              </a:defRPr>
            </a:lvl1pPr>
            <a:lvl2pPr marL="914400" marR="0" lvl="1" indent="-304800" algn="l" rtl="0">
              <a:lnSpc>
                <a:spcPct val="100000"/>
              </a:lnSpc>
              <a:spcBef>
                <a:spcPts val="1600"/>
              </a:spcBef>
              <a:spcAft>
                <a:spcPts val="0"/>
              </a:spcAft>
              <a:buClr>
                <a:schemeClr val="accent2"/>
              </a:buClr>
              <a:buSzPts val="1200"/>
              <a:buFont typeface="Open Sans"/>
              <a:buChar char="○"/>
              <a:defRPr sz="1200" b="0" i="0" u="none" strike="noStrike" cap="none">
                <a:solidFill>
                  <a:schemeClr val="accent2"/>
                </a:solidFill>
                <a:latin typeface="Open Sans"/>
                <a:ea typeface="Open Sans"/>
                <a:cs typeface="Open Sans"/>
                <a:sym typeface="Open Sans"/>
              </a:defRPr>
            </a:lvl2pPr>
            <a:lvl3pPr marL="1371600" marR="0" lvl="2" indent="-304800" algn="l" rtl="0">
              <a:lnSpc>
                <a:spcPct val="100000"/>
              </a:lnSpc>
              <a:spcBef>
                <a:spcPts val="1600"/>
              </a:spcBef>
              <a:spcAft>
                <a:spcPts val="0"/>
              </a:spcAft>
              <a:buClr>
                <a:schemeClr val="accent2"/>
              </a:buClr>
              <a:buSzPts val="1200"/>
              <a:buFont typeface="Open Sans"/>
              <a:buChar char="■"/>
              <a:defRPr sz="1200" b="0" i="0" u="none" strike="noStrike" cap="none">
                <a:solidFill>
                  <a:schemeClr val="accent2"/>
                </a:solidFill>
                <a:latin typeface="Open Sans"/>
                <a:ea typeface="Open Sans"/>
                <a:cs typeface="Open Sans"/>
                <a:sym typeface="Open Sans"/>
              </a:defRPr>
            </a:lvl3pPr>
            <a:lvl4pPr marL="1828800" marR="0" lvl="3" indent="-304800" algn="l" rtl="0">
              <a:lnSpc>
                <a:spcPct val="100000"/>
              </a:lnSpc>
              <a:spcBef>
                <a:spcPts val="1600"/>
              </a:spcBef>
              <a:spcAft>
                <a:spcPts val="0"/>
              </a:spcAft>
              <a:buClr>
                <a:schemeClr val="accent2"/>
              </a:buClr>
              <a:buSzPts val="1200"/>
              <a:buFont typeface="Open Sans"/>
              <a:buChar char="●"/>
              <a:defRPr sz="1200" b="0" i="0" u="none" strike="noStrike" cap="none">
                <a:solidFill>
                  <a:schemeClr val="accent2"/>
                </a:solidFill>
                <a:latin typeface="Open Sans"/>
                <a:ea typeface="Open Sans"/>
                <a:cs typeface="Open Sans"/>
                <a:sym typeface="Open Sans"/>
              </a:defRPr>
            </a:lvl4pPr>
            <a:lvl5pPr marL="2286000" marR="0" lvl="4" indent="-304800" algn="l" rtl="0">
              <a:lnSpc>
                <a:spcPct val="100000"/>
              </a:lnSpc>
              <a:spcBef>
                <a:spcPts val="1600"/>
              </a:spcBef>
              <a:spcAft>
                <a:spcPts val="0"/>
              </a:spcAft>
              <a:buClr>
                <a:schemeClr val="accent2"/>
              </a:buClr>
              <a:buSzPts val="1200"/>
              <a:buFont typeface="Open Sans"/>
              <a:buChar char="○"/>
              <a:defRPr sz="1200" b="0" i="0" u="none" strike="noStrike" cap="none">
                <a:solidFill>
                  <a:schemeClr val="accent2"/>
                </a:solidFill>
                <a:latin typeface="Open Sans"/>
                <a:ea typeface="Open Sans"/>
                <a:cs typeface="Open Sans"/>
                <a:sym typeface="Open Sans"/>
              </a:defRPr>
            </a:lvl5pPr>
            <a:lvl6pPr marL="2743200" marR="0" lvl="5" indent="-304800" algn="l" rtl="0">
              <a:lnSpc>
                <a:spcPct val="100000"/>
              </a:lnSpc>
              <a:spcBef>
                <a:spcPts val="1600"/>
              </a:spcBef>
              <a:spcAft>
                <a:spcPts val="0"/>
              </a:spcAft>
              <a:buClr>
                <a:schemeClr val="accent2"/>
              </a:buClr>
              <a:buSzPts val="1200"/>
              <a:buFont typeface="Open Sans"/>
              <a:buChar char="■"/>
              <a:defRPr sz="1200" b="0" i="0" u="none" strike="noStrike" cap="none">
                <a:solidFill>
                  <a:schemeClr val="accent2"/>
                </a:solidFill>
                <a:latin typeface="Open Sans"/>
                <a:ea typeface="Open Sans"/>
                <a:cs typeface="Open Sans"/>
                <a:sym typeface="Open Sans"/>
              </a:defRPr>
            </a:lvl6pPr>
            <a:lvl7pPr marL="3200400" marR="0" lvl="6" indent="-304800" algn="l" rtl="0">
              <a:lnSpc>
                <a:spcPct val="100000"/>
              </a:lnSpc>
              <a:spcBef>
                <a:spcPts val="1600"/>
              </a:spcBef>
              <a:spcAft>
                <a:spcPts val="0"/>
              </a:spcAft>
              <a:buClr>
                <a:schemeClr val="accent2"/>
              </a:buClr>
              <a:buSzPts val="1200"/>
              <a:buFont typeface="Open Sans"/>
              <a:buChar char="●"/>
              <a:defRPr sz="1200" b="0" i="0" u="none" strike="noStrike" cap="none">
                <a:solidFill>
                  <a:schemeClr val="accent2"/>
                </a:solidFill>
                <a:latin typeface="Open Sans"/>
                <a:ea typeface="Open Sans"/>
                <a:cs typeface="Open Sans"/>
                <a:sym typeface="Open Sans"/>
              </a:defRPr>
            </a:lvl7pPr>
            <a:lvl8pPr marL="3657600" marR="0" lvl="7" indent="-304800" algn="l" rtl="0">
              <a:lnSpc>
                <a:spcPct val="100000"/>
              </a:lnSpc>
              <a:spcBef>
                <a:spcPts val="1600"/>
              </a:spcBef>
              <a:spcAft>
                <a:spcPts val="0"/>
              </a:spcAft>
              <a:buClr>
                <a:schemeClr val="accent2"/>
              </a:buClr>
              <a:buSzPts val="1200"/>
              <a:buFont typeface="Open Sans"/>
              <a:buChar char="○"/>
              <a:defRPr sz="1200" b="0" i="0" u="none" strike="noStrike" cap="none">
                <a:solidFill>
                  <a:schemeClr val="accent2"/>
                </a:solidFill>
                <a:latin typeface="Open Sans"/>
                <a:ea typeface="Open Sans"/>
                <a:cs typeface="Open Sans"/>
                <a:sym typeface="Open Sans"/>
              </a:defRPr>
            </a:lvl8pPr>
            <a:lvl9pPr marL="4114800" marR="0" lvl="8" indent="-304800" algn="l" rtl="0">
              <a:lnSpc>
                <a:spcPct val="100000"/>
              </a:lnSpc>
              <a:spcBef>
                <a:spcPts val="1600"/>
              </a:spcBef>
              <a:spcAft>
                <a:spcPts val="1600"/>
              </a:spcAft>
              <a:buClr>
                <a:schemeClr val="accent2"/>
              </a:buClr>
              <a:buSzPts val="1200"/>
              <a:buFont typeface="Open Sans"/>
              <a:buChar char="■"/>
              <a:defRPr sz="1200" b="0" i="0" u="none" strike="noStrike" cap="none">
                <a:solidFill>
                  <a:schemeClr val="accent2"/>
                </a:solidFill>
                <a:latin typeface="Open Sans"/>
                <a:ea typeface="Open Sans"/>
                <a:cs typeface="Open Sans"/>
                <a:sym typeface="Open Sans"/>
              </a:defRPr>
            </a:lvl9pPr>
          </a:lstStyle>
          <a:p>
            <a:endParaRPr/>
          </a:p>
        </p:txBody>
      </p:sp>
      <p:sp>
        <p:nvSpPr>
          <p:cNvPr id="8" name="Google Shape;8;p14"/>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accent2"/>
                </a:solidFill>
                <a:latin typeface="Open Sans"/>
                <a:ea typeface="Open Sans"/>
                <a:cs typeface="Open Sans"/>
                <a:sym typeface="Open Sans"/>
              </a:defRPr>
            </a:lvl1pPr>
            <a:lvl2pPr lvl="1" algn="r">
              <a:buNone/>
              <a:defRPr sz="1300">
                <a:solidFill>
                  <a:schemeClr val="accent2"/>
                </a:solidFill>
                <a:latin typeface="Open Sans"/>
                <a:ea typeface="Open Sans"/>
                <a:cs typeface="Open Sans"/>
                <a:sym typeface="Open Sans"/>
              </a:defRPr>
            </a:lvl2pPr>
            <a:lvl3pPr lvl="2" algn="r">
              <a:buNone/>
              <a:defRPr sz="1300">
                <a:solidFill>
                  <a:schemeClr val="accent2"/>
                </a:solidFill>
                <a:latin typeface="Open Sans"/>
                <a:ea typeface="Open Sans"/>
                <a:cs typeface="Open Sans"/>
                <a:sym typeface="Open Sans"/>
              </a:defRPr>
            </a:lvl3pPr>
            <a:lvl4pPr lvl="3" algn="r">
              <a:buNone/>
              <a:defRPr sz="1300">
                <a:solidFill>
                  <a:schemeClr val="accent2"/>
                </a:solidFill>
                <a:latin typeface="Open Sans"/>
                <a:ea typeface="Open Sans"/>
                <a:cs typeface="Open Sans"/>
                <a:sym typeface="Open Sans"/>
              </a:defRPr>
            </a:lvl4pPr>
            <a:lvl5pPr lvl="4" algn="r">
              <a:buNone/>
              <a:defRPr sz="1300">
                <a:solidFill>
                  <a:schemeClr val="accent2"/>
                </a:solidFill>
                <a:latin typeface="Open Sans"/>
                <a:ea typeface="Open Sans"/>
                <a:cs typeface="Open Sans"/>
                <a:sym typeface="Open Sans"/>
              </a:defRPr>
            </a:lvl5pPr>
            <a:lvl6pPr lvl="5" algn="r">
              <a:buNone/>
              <a:defRPr sz="1300">
                <a:solidFill>
                  <a:schemeClr val="accent2"/>
                </a:solidFill>
                <a:latin typeface="Open Sans"/>
                <a:ea typeface="Open Sans"/>
                <a:cs typeface="Open Sans"/>
                <a:sym typeface="Open Sans"/>
              </a:defRPr>
            </a:lvl6pPr>
            <a:lvl7pPr lvl="6" algn="r">
              <a:buNone/>
              <a:defRPr sz="1300">
                <a:solidFill>
                  <a:schemeClr val="accent2"/>
                </a:solidFill>
                <a:latin typeface="Open Sans"/>
                <a:ea typeface="Open Sans"/>
                <a:cs typeface="Open Sans"/>
                <a:sym typeface="Open Sans"/>
              </a:defRPr>
            </a:lvl7pPr>
            <a:lvl8pPr lvl="7" algn="r">
              <a:buNone/>
              <a:defRPr sz="1300">
                <a:solidFill>
                  <a:schemeClr val="accent2"/>
                </a:solidFill>
                <a:latin typeface="Open Sans"/>
                <a:ea typeface="Open Sans"/>
                <a:cs typeface="Open Sans"/>
                <a:sym typeface="Open Sans"/>
              </a:defRPr>
            </a:lvl8pPr>
            <a:lvl9pPr lvl="8" algn="r">
              <a:buNone/>
              <a:defRPr sz="1300">
                <a:solidFill>
                  <a:schemeClr val="accent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hyperlink" Target="https://github.com/MIC-DKFZ/nnUNet?tab=readme-ov-fil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grpSp>
        <p:nvGrpSpPr>
          <p:cNvPr id="70" name="Google Shape;70;p1"/>
          <p:cNvGrpSpPr/>
          <p:nvPr/>
        </p:nvGrpSpPr>
        <p:grpSpPr>
          <a:xfrm>
            <a:off x="715100" y="534969"/>
            <a:ext cx="1566900" cy="4073309"/>
            <a:chOff x="715100" y="627450"/>
            <a:chExt cx="1566900" cy="3888600"/>
          </a:xfrm>
        </p:grpSpPr>
        <p:sp>
          <p:nvSpPr>
            <p:cNvPr id="71" name="Google Shape;71;p1"/>
            <p:cNvSpPr/>
            <p:nvPr/>
          </p:nvSpPr>
          <p:spPr>
            <a:xfrm>
              <a:off x="715100" y="627450"/>
              <a:ext cx="1566900" cy="3888600"/>
            </a:xfrm>
            <a:prstGeom prst="roundRect">
              <a:avLst>
                <a:gd name="adj" fmla="val 21582"/>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72" name="Google Shape;72;p1"/>
            <p:cNvSpPr/>
            <p:nvPr/>
          </p:nvSpPr>
          <p:spPr>
            <a:xfrm>
              <a:off x="881775" y="772400"/>
              <a:ext cx="1233600" cy="3598800"/>
            </a:xfrm>
            <a:prstGeom prst="roundRect">
              <a:avLst>
                <a:gd name="adj" fmla="val 21582"/>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grpSp>
      <p:pic>
        <p:nvPicPr>
          <p:cNvPr id="73" name="Google Shape;73;p1"/>
          <p:cNvPicPr preferRelativeResize="0"/>
          <p:nvPr/>
        </p:nvPicPr>
        <p:blipFill rotWithShape="1">
          <a:blip r:embed="rId3">
            <a:alphaModFix/>
          </a:blip>
          <a:srcRect t="8408"/>
          <a:stretch/>
        </p:blipFill>
        <p:spPr>
          <a:xfrm>
            <a:off x="1020700" y="939025"/>
            <a:ext cx="955750" cy="3265551"/>
          </a:xfrm>
          <a:prstGeom prst="rect">
            <a:avLst/>
          </a:prstGeom>
          <a:noFill/>
          <a:ln>
            <a:noFill/>
          </a:ln>
        </p:spPr>
      </p:pic>
      <p:sp>
        <p:nvSpPr>
          <p:cNvPr id="74" name="Google Shape;74;p1"/>
          <p:cNvSpPr/>
          <p:nvPr/>
        </p:nvSpPr>
        <p:spPr>
          <a:xfrm>
            <a:off x="2580100" y="535000"/>
            <a:ext cx="5848800" cy="4073400"/>
          </a:xfrm>
          <a:prstGeom prst="roundRect">
            <a:avLst>
              <a:gd name="adj" fmla="val 791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76" name="Google Shape;76;p1"/>
          <p:cNvSpPr txBox="1"/>
          <p:nvPr/>
        </p:nvSpPr>
        <p:spPr>
          <a:xfrm>
            <a:off x="2904066" y="875322"/>
            <a:ext cx="5200800" cy="18075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accent2"/>
              </a:buClr>
              <a:buSzPts val="3000"/>
              <a:buFont typeface="Open Sans"/>
              <a:buNone/>
            </a:pPr>
            <a:r>
              <a:rPr lang="en-US" sz="3600" b="0" i="0" u="none" strike="noStrike" cap="none" dirty="0">
                <a:solidFill>
                  <a:schemeClr val="accent2"/>
                </a:solidFill>
                <a:latin typeface="Open Sans"/>
                <a:ea typeface="Open Sans"/>
                <a:cs typeface="Open Sans"/>
                <a:sym typeface="Open Sans"/>
              </a:rPr>
              <a:t>Medical Image Segmentation on 12 Abdominal Organs</a:t>
            </a:r>
            <a:endParaRPr sz="3600" b="1" i="0" u="none" strike="noStrike" cap="none" dirty="0">
              <a:solidFill>
                <a:schemeClr val="dk1"/>
              </a:solidFill>
              <a:latin typeface="Open Sans"/>
              <a:ea typeface="Open Sans"/>
              <a:cs typeface="Open Sans"/>
              <a:sym typeface="Open Sans"/>
            </a:endParaRPr>
          </a:p>
        </p:txBody>
      </p:sp>
      <p:sp>
        <p:nvSpPr>
          <p:cNvPr id="77" name="Google Shape;77;p1"/>
          <p:cNvSpPr txBox="1"/>
          <p:nvPr/>
        </p:nvSpPr>
        <p:spPr>
          <a:xfrm>
            <a:off x="2904066" y="2911945"/>
            <a:ext cx="5048700" cy="1292631"/>
          </a:xfrm>
          <a:prstGeom prst="rect">
            <a:avLst/>
          </a:prstGeom>
          <a:noFill/>
          <a:ln>
            <a:noFill/>
          </a:ln>
        </p:spPr>
        <p:txBody>
          <a:bodyPr spcFirstLastPara="1" wrap="square" lIns="91425" tIns="91425" rIns="91425" bIns="91425" anchor="t" anchorCtr="0">
            <a:spAutoFit/>
          </a:bodyPr>
          <a:lstStyle/>
          <a:p>
            <a:pPr lvl="0"/>
            <a:r>
              <a:rPr lang="en-US" sz="1200" dirty="0">
                <a:solidFill>
                  <a:schemeClr val="accent2"/>
                </a:solidFill>
                <a:latin typeface="Open Sans"/>
                <a:ea typeface="Open Sans"/>
                <a:cs typeface="Open Sans"/>
                <a:sym typeface="Open Sans"/>
              </a:rPr>
              <a:t>Deep Learning for Visual Recognition</a:t>
            </a:r>
          </a:p>
          <a:p>
            <a:pPr marL="0" lvl="0" indent="0" algn="l" rtl="0">
              <a:spcBef>
                <a:spcPts val="0"/>
              </a:spcBef>
              <a:spcAft>
                <a:spcPts val="0"/>
              </a:spcAft>
              <a:buNone/>
            </a:pPr>
            <a:endParaRPr lang="en-US" sz="1200" dirty="0">
              <a:solidFill>
                <a:schemeClr val="accent2"/>
              </a:solidFill>
              <a:latin typeface="Open Sans"/>
              <a:ea typeface="Open Sans"/>
              <a:cs typeface="Open Sans"/>
              <a:sym typeface="Open Sans"/>
            </a:endParaRPr>
          </a:p>
          <a:p>
            <a:pPr marL="0" lvl="0" indent="0" algn="l" rtl="0">
              <a:spcBef>
                <a:spcPts val="0"/>
              </a:spcBef>
              <a:spcAft>
                <a:spcPts val="0"/>
              </a:spcAft>
              <a:buNone/>
            </a:pPr>
            <a:r>
              <a:rPr lang="en-US" sz="1200" dirty="0">
                <a:solidFill>
                  <a:schemeClr val="accent2"/>
                </a:solidFill>
                <a:latin typeface="Open Sans"/>
                <a:ea typeface="Open Sans"/>
                <a:cs typeface="Open Sans"/>
                <a:sym typeface="Open Sans"/>
              </a:rPr>
              <a:t>Goh Yun Si</a:t>
            </a:r>
            <a:endParaRPr sz="1200" dirty="0">
              <a:solidFill>
                <a:schemeClr val="accent2"/>
              </a:solidFill>
              <a:latin typeface="Open Sans"/>
              <a:ea typeface="Open Sans"/>
              <a:cs typeface="Open Sans"/>
              <a:sym typeface="Open Sans"/>
            </a:endParaRPr>
          </a:p>
          <a:p>
            <a:pPr marL="0" lvl="0" indent="0" algn="l" rtl="0">
              <a:spcBef>
                <a:spcPts val="0"/>
              </a:spcBef>
              <a:spcAft>
                <a:spcPts val="0"/>
              </a:spcAft>
              <a:buNone/>
            </a:pPr>
            <a:r>
              <a:rPr lang="en-US" sz="1200" dirty="0">
                <a:solidFill>
                  <a:schemeClr val="accent2"/>
                </a:solidFill>
                <a:latin typeface="Open Sans"/>
                <a:ea typeface="Open Sans"/>
                <a:cs typeface="Open Sans"/>
                <a:sym typeface="Open Sans"/>
              </a:rPr>
              <a:t>Qiu </a:t>
            </a:r>
            <a:r>
              <a:rPr lang="en-US" sz="1200" dirty="0" err="1">
                <a:solidFill>
                  <a:schemeClr val="accent2"/>
                </a:solidFill>
                <a:latin typeface="Open Sans"/>
                <a:ea typeface="Open Sans"/>
                <a:cs typeface="Open Sans"/>
                <a:sym typeface="Open Sans"/>
              </a:rPr>
              <a:t>Xianyan</a:t>
            </a:r>
            <a:endParaRPr sz="1200" dirty="0">
              <a:solidFill>
                <a:schemeClr val="accent2"/>
              </a:solidFill>
              <a:latin typeface="Open Sans"/>
              <a:ea typeface="Open Sans"/>
              <a:cs typeface="Open Sans"/>
              <a:sym typeface="Open Sans"/>
            </a:endParaRPr>
          </a:p>
          <a:p>
            <a:pPr marL="0" lvl="0" indent="0" algn="l" rtl="0">
              <a:spcBef>
                <a:spcPts val="0"/>
              </a:spcBef>
              <a:spcAft>
                <a:spcPts val="0"/>
              </a:spcAft>
              <a:buNone/>
            </a:pPr>
            <a:r>
              <a:rPr lang="en-US" sz="1200" dirty="0">
                <a:solidFill>
                  <a:schemeClr val="accent2"/>
                </a:solidFill>
                <a:latin typeface="Open Sans"/>
                <a:ea typeface="Open Sans"/>
                <a:cs typeface="Open Sans"/>
                <a:sym typeface="Open Sans"/>
              </a:rPr>
              <a:t>Xiong Yu</a:t>
            </a:r>
            <a:endParaRPr sz="1200" dirty="0">
              <a:solidFill>
                <a:schemeClr val="accent2"/>
              </a:solidFill>
              <a:latin typeface="Open Sans"/>
              <a:ea typeface="Open Sans"/>
              <a:cs typeface="Open Sans"/>
              <a:sym typeface="Open Sans"/>
            </a:endParaRPr>
          </a:p>
          <a:p>
            <a:pPr marL="0" lvl="0" indent="0" algn="l" rtl="0">
              <a:spcBef>
                <a:spcPts val="0"/>
              </a:spcBef>
              <a:spcAft>
                <a:spcPts val="0"/>
              </a:spcAft>
              <a:buNone/>
            </a:pPr>
            <a:r>
              <a:rPr lang="en-US" sz="1200" dirty="0">
                <a:solidFill>
                  <a:schemeClr val="accent2"/>
                </a:solidFill>
                <a:latin typeface="Open Sans"/>
                <a:ea typeface="Open Sans"/>
                <a:cs typeface="Open Sans"/>
                <a:sym typeface="Open Sans"/>
              </a:rPr>
              <a:t>Zin </a:t>
            </a:r>
            <a:r>
              <a:rPr lang="en-US" sz="1200" dirty="0" err="1">
                <a:solidFill>
                  <a:schemeClr val="accent2"/>
                </a:solidFill>
                <a:latin typeface="Open Sans"/>
                <a:ea typeface="Open Sans"/>
                <a:cs typeface="Open Sans"/>
                <a:sym typeface="Open Sans"/>
              </a:rPr>
              <a:t>Zin</a:t>
            </a:r>
            <a:r>
              <a:rPr lang="en-US" sz="1200" dirty="0">
                <a:solidFill>
                  <a:schemeClr val="accent2"/>
                </a:solidFill>
                <a:latin typeface="Open Sans"/>
                <a:ea typeface="Open Sans"/>
                <a:cs typeface="Open Sans"/>
                <a:sym typeface="Open Sans"/>
              </a:rPr>
              <a:t> Kyaw Sint</a:t>
            </a:r>
            <a:endParaRPr sz="1200" dirty="0">
              <a:solidFill>
                <a:schemeClr val="accent2"/>
              </a:solidFill>
              <a:latin typeface="Open Sans"/>
              <a:ea typeface="Open Sans"/>
              <a:cs typeface="Open Sans"/>
              <a:sym typeface="Open Sans"/>
            </a:endParaRPr>
          </a:p>
        </p:txBody>
      </p:sp>
      <p:sp>
        <p:nvSpPr>
          <p:cNvPr id="78" name="Google Shape;78;p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g39dcdded7dd_1_24"/>
          <p:cNvSpPr/>
          <p:nvPr/>
        </p:nvSpPr>
        <p:spPr>
          <a:xfrm>
            <a:off x="961175" y="3164525"/>
            <a:ext cx="615600" cy="8406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84" name="Google Shape;84;g39dcdded7dd_1_24"/>
          <p:cNvSpPr/>
          <p:nvPr/>
        </p:nvSpPr>
        <p:spPr>
          <a:xfrm>
            <a:off x="5202275" y="1860775"/>
            <a:ext cx="615600" cy="8406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85" name="Google Shape;85;g39dcdded7dd_1_24"/>
          <p:cNvSpPr/>
          <p:nvPr/>
        </p:nvSpPr>
        <p:spPr>
          <a:xfrm>
            <a:off x="5207525" y="3164525"/>
            <a:ext cx="615600" cy="8406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86" name="Google Shape;86;g39dcdded7dd_1_24"/>
          <p:cNvSpPr/>
          <p:nvPr/>
        </p:nvSpPr>
        <p:spPr>
          <a:xfrm>
            <a:off x="961175" y="1866100"/>
            <a:ext cx="615600" cy="8406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87" name="Google Shape;87;g39dcdded7dd_1_24"/>
          <p:cNvSpPr txBox="1">
            <a:spLocks noGrp="1"/>
          </p:cNvSpPr>
          <p:nvPr>
            <p:ph type="subTitle" idx="1"/>
          </p:nvPr>
        </p:nvSpPr>
        <p:spPr>
          <a:xfrm>
            <a:off x="1623535" y="2089600"/>
            <a:ext cx="2555700" cy="393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US"/>
              <a:t>Introduction</a:t>
            </a:r>
            <a:endParaRPr/>
          </a:p>
        </p:txBody>
      </p:sp>
      <p:sp>
        <p:nvSpPr>
          <p:cNvPr id="88" name="Google Shape;88;g39dcdded7dd_1_24"/>
          <p:cNvSpPr txBox="1">
            <a:spLocks noGrp="1"/>
          </p:cNvSpPr>
          <p:nvPr>
            <p:ph type="title"/>
          </p:nvPr>
        </p:nvSpPr>
        <p:spPr>
          <a:xfrm>
            <a:off x="926677" y="1989700"/>
            <a:ext cx="6915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01</a:t>
            </a:r>
            <a:endParaRPr/>
          </a:p>
        </p:txBody>
      </p:sp>
      <p:sp>
        <p:nvSpPr>
          <p:cNvPr id="89" name="Google Shape;89;g39dcdded7dd_1_24"/>
          <p:cNvSpPr txBox="1">
            <a:spLocks noGrp="1"/>
          </p:cNvSpPr>
          <p:nvPr>
            <p:ph type="title" idx="3"/>
          </p:nvPr>
        </p:nvSpPr>
        <p:spPr>
          <a:xfrm>
            <a:off x="5167775" y="3288125"/>
            <a:ext cx="6951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04</a:t>
            </a:r>
            <a:endParaRPr/>
          </a:p>
        </p:txBody>
      </p:sp>
      <p:sp>
        <p:nvSpPr>
          <p:cNvPr id="90" name="Google Shape;90;g39dcdded7dd_1_24"/>
          <p:cNvSpPr txBox="1">
            <a:spLocks noGrp="1"/>
          </p:cNvSpPr>
          <p:nvPr>
            <p:ph type="title" idx="4"/>
          </p:nvPr>
        </p:nvSpPr>
        <p:spPr>
          <a:xfrm>
            <a:off x="5167777" y="2021725"/>
            <a:ext cx="6915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03</a:t>
            </a:r>
            <a:endParaRPr/>
          </a:p>
        </p:txBody>
      </p:sp>
      <p:sp>
        <p:nvSpPr>
          <p:cNvPr id="91" name="Google Shape;91;g39dcdded7dd_1_24"/>
          <p:cNvSpPr txBox="1">
            <a:spLocks noGrp="1"/>
          </p:cNvSpPr>
          <p:nvPr>
            <p:ph type="title" idx="5"/>
          </p:nvPr>
        </p:nvSpPr>
        <p:spPr>
          <a:xfrm>
            <a:off x="923225" y="3288125"/>
            <a:ext cx="691500" cy="593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a:t>02</a:t>
            </a:r>
            <a:endParaRPr/>
          </a:p>
        </p:txBody>
      </p:sp>
      <p:sp>
        <p:nvSpPr>
          <p:cNvPr id="92" name="Google Shape;92;g39dcdded7dd_1_24"/>
          <p:cNvSpPr txBox="1">
            <a:spLocks noGrp="1"/>
          </p:cNvSpPr>
          <p:nvPr>
            <p:ph type="title" idx="7"/>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US">
                <a:solidFill>
                  <a:schemeClr val="accent2"/>
                </a:solidFill>
              </a:rPr>
              <a:t>Table of</a:t>
            </a:r>
            <a:r>
              <a:rPr lang="en-US" b="1"/>
              <a:t> </a:t>
            </a:r>
            <a:r>
              <a:rPr lang="en-US">
                <a:solidFill>
                  <a:schemeClr val="dk1"/>
                </a:solidFill>
              </a:rPr>
              <a:t>contents</a:t>
            </a:r>
            <a:endParaRPr>
              <a:solidFill>
                <a:schemeClr val="dk1"/>
              </a:solidFill>
            </a:endParaRPr>
          </a:p>
        </p:txBody>
      </p:sp>
      <p:sp>
        <p:nvSpPr>
          <p:cNvPr id="93" name="Google Shape;93;g39dcdded7dd_1_24"/>
          <p:cNvSpPr txBox="1">
            <a:spLocks noGrp="1"/>
          </p:cNvSpPr>
          <p:nvPr>
            <p:ph type="subTitle" idx="9"/>
          </p:nvPr>
        </p:nvSpPr>
        <p:spPr>
          <a:xfrm>
            <a:off x="5862899" y="3388025"/>
            <a:ext cx="2651100" cy="393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US"/>
              <a:t>Evaluation</a:t>
            </a:r>
            <a:endParaRPr/>
          </a:p>
        </p:txBody>
      </p:sp>
      <p:sp>
        <p:nvSpPr>
          <p:cNvPr id="94" name="Google Shape;94;g39dcdded7dd_1_24"/>
          <p:cNvSpPr txBox="1">
            <a:spLocks noGrp="1"/>
          </p:cNvSpPr>
          <p:nvPr>
            <p:ph type="subTitle" idx="13"/>
          </p:nvPr>
        </p:nvSpPr>
        <p:spPr>
          <a:xfrm>
            <a:off x="5864635" y="2318425"/>
            <a:ext cx="2555700" cy="393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US"/>
              <a:t>Model 2:</a:t>
            </a:r>
            <a:br>
              <a:rPr lang="en-US"/>
            </a:br>
            <a:r>
              <a:rPr lang="en-US"/>
              <a:t>Total Segmentator</a:t>
            </a:r>
            <a:endParaRPr/>
          </a:p>
        </p:txBody>
      </p:sp>
      <p:sp>
        <p:nvSpPr>
          <p:cNvPr id="95" name="Google Shape;95;g39dcdded7dd_1_24"/>
          <p:cNvSpPr txBox="1">
            <a:spLocks noGrp="1"/>
          </p:cNvSpPr>
          <p:nvPr>
            <p:ph type="subTitle" idx="14"/>
          </p:nvPr>
        </p:nvSpPr>
        <p:spPr>
          <a:xfrm>
            <a:off x="1618175" y="3581201"/>
            <a:ext cx="2555700" cy="393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000"/>
              <a:buNone/>
            </a:pPr>
            <a:r>
              <a:rPr lang="en-US"/>
              <a:t>Model 1:</a:t>
            </a:r>
            <a:br>
              <a:rPr lang="en-US"/>
            </a:br>
            <a:r>
              <a:rPr lang="en-US"/>
              <a:t>SAMed</a:t>
            </a:r>
            <a:endParaRPr/>
          </a:p>
        </p:txBody>
      </p:sp>
      <p:sp>
        <p:nvSpPr>
          <p:cNvPr id="96" name="Google Shape;96;g39dcdded7dd_1_24"/>
          <p:cNvSpPr/>
          <p:nvPr/>
        </p:nvSpPr>
        <p:spPr>
          <a:xfrm>
            <a:off x="4517700" y="1257300"/>
            <a:ext cx="108600" cy="335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97" name="Google Shape;97;g39dcdded7dd_1_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39dcdded7dd_1_41"/>
          <p:cNvSpPr/>
          <p:nvPr/>
        </p:nvSpPr>
        <p:spPr>
          <a:xfrm>
            <a:off x="4625650" y="535000"/>
            <a:ext cx="3803700" cy="4073400"/>
          </a:xfrm>
          <a:prstGeom prst="roundRect">
            <a:avLst>
              <a:gd name="adj" fmla="val 969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103" name="Google Shape;103;g39dcdded7dd_1_41"/>
          <p:cNvSpPr/>
          <p:nvPr/>
        </p:nvSpPr>
        <p:spPr>
          <a:xfrm>
            <a:off x="5254300" y="1528650"/>
            <a:ext cx="2546400" cy="8406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chemeClr val="dk1"/>
                </a:solidFill>
                <a:latin typeface="Open Sans"/>
                <a:ea typeface="Open Sans"/>
                <a:cs typeface="Open Sans"/>
                <a:sym typeface="Open Sans"/>
              </a:rPr>
              <a:t>01</a:t>
            </a:r>
            <a:endParaRPr sz="6000" b="0" i="0" u="none" strike="noStrike" cap="none">
              <a:solidFill>
                <a:schemeClr val="dk1"/>
              </a:solidFill>
              <a:latin typeface="Open Sans"/>
              <a:ea typeface="Open Sans"/>
              <a:cs typeface="Open Sans"/>
              <a:sym typeface="Open Sans"/>
            </a:endParaRPr>
          </a:p>
        </p:txBody>
      </p:sp>
      <p:sp>
        <p:nvSpPr>
          <p:cNvPr id="104" name="Google Shape;104;g39dcdded7dd_1_41"/>
          <p:cNvSpPr txBox="1">
            <a:spLocks noGrp="1"/>
          </p:cNvSpPr>
          <p:nvPr>
            <p:ph type="title"/>
          </p:nvPr>
        </p:nvSpPr>
        <p:spPr>
          <a:xfrm>
            <a:off x="5254300" y="2773625"/>
            <a:ext cx="2531100" cy="841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US"/>
              <a:t>Introduction</a:t>
            </a:r>
            <a:endParaRPr/>
          </a:p>
        </p:txBody>
      </p:sp>
      <p:grpSp>
        <p:nvGrpSpPr>
          <p:cNvPr id="105" name="Google Shape;105;g39dcdded7dd_1_41"/>
          <p:cNvGrpSpPr/>
          <p:nvPr/>
        </p:nvGrpSpPr>
        <p:grpSpPr>
          <a:xfrm>
            <a:off x="715097" y="535000"/>
            <a:ext cx="3383883" cy="4073400"/>
            <a:chOff x="715100" y="535000"/>
            <a:chExt cx="3893100" cy="4073400"/>
          </a:xfrm>
        </p:grpSpPr>
        <p:sp>
          <p:nvSpPr>
            <p:cNvPr id="106" name="Google Shape;106;g39dcdded7dd_1_41"/>
            <p:cNvSpPr/>
            <p:nvPr/>
          </p:nvSpPr>
          <p:spPr>
            <a:xfrm>
              <a:off x="715100" y="535000"/>
              <a:ext cx="3893100" cy="4073400"/>
            </a:xfrm>
            <a:prstGeom prst="roundRect">
              <a:avLst>
                <a:gd name="adj" fmla="val 1103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107" name="Google Shape;107;g39dcdded7dd_1_41"/>
            <p:cNvSpPr/>
            <p:nvPr/>
          </p:nvSpPr>
          <p:spPr>
            <a:xfrm>
              <a:off x="908299" y="710950"/>
              <a:ext cx="3506700" cy="3721500"/>
            </a:xfrm>
            <a:prstGeom prst="roundRect">
              <a:avLst>
                <a:gd name="adj" fmla="val 8465"/>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grpSp>
      <p:sp>
        <p:nvSpPr>
          <p:cNvPr id="108" name="Google Shape;108;g39dcdded7dd_1_41"/>
          <p:cNvSpPr/>
          <p:nvPr/>
        </p:nvSpPr>
        <p:spPr>
          <a:xfrm rot="-5400000">
            <a:off x="6465550" y="1434688"/>
            <a:ext cx="108600" cy="2531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09" name="Google Shape;109;g39dcdded7dd_1_41"/>
          <p:cNvGrpSpPr/>
          <p:nvPr/>
        </p:nvGrpSpPr>
        <p:grpSpPr>
          <a:xfrm>
            <a:off x="1303968" y="1425159"/>
            <a:ext cx="2206156" cy="2293169"/>
            <a:chOff x="-1435678" y="130628"/>
            <a:chExt cx="1695869" cy="1762756"/>
          </a:xfrm>
        </p:grpSpPr>
        <p:sp>
          <p:nvSpPr>
            <p:cNvPr id="110" name="Google Shape;110;g39dcdded7dd_1_41"/>
            <p:cNvSpPr/>
            <p:nvPr/>
          </p:nvSpPr>
          <p:spPr>
            <a:xfrm>
              <a:off x="-165874" y="1490711"/>
              <a:ext cx="104343" cy="102805"/>
            </a:xfrm>
            <a:custGeom>
              <a:avLst/>
              <a:gdLst/>
              <a:ahLst/>
              <a:cxnLst/>
              <a:rect l="l" t="t" r="r" b="b"/>
              <a:pathLst>
                <a:path w="7206" h="7101" extrusionOk="0">
                  <a:moveTo>
                    <a:pt x="6455" y="1"/>
                  </a:moveTo>
                  <a:cubicBezTo>
                    <a:pt x="5145" y="1"/>
                    <a:pt x="3929" y="815"/>
                    <a:pt x="2903" y="1630"/>
                  </a:cubicBezTo>
                  <a:cubicBezTo>
                    <a:pt x="2102" y="2297"/>
                    <a:pt x="1368" y="3064"/>
                    <a:pt x="835" y="3932"/>
                  </a:cubicBezTo>
                  <a:cubicBezTo>
                    <a:pt x="267" y="4799"/>
                    <a:pt x="1" y="5866"/>
                    <a:pt x="167" y="6901"/>
                  </a:cubicBezTo>
                  <a:lnTo>
                    <a:pt x="67" y="7034"/>
                  </a:lnTo>
                  <a:lnTo>
                    <a:pt x="167" y="7101"/>
                  </a:lnTo>
                  <a:cubicBezTo>
                    <a:pt x="1702" y="6267"/>
                    <a:pt x="3236" y="5399"/>
                    <a:pt x="4537" y="4199"/>
                  </a:cubicBezTo>
                  <a:cubicBezTo>
                    <a:pt x="5671" y="3131"/>
                    <a:pt x="6572" y="1864"/>
                    <a:pt x="7206" y="396"/>
                  </a:cubicBezTo>
                  <a:cubicBezTo>
                    <a:pt x="7072" y="262"/>
                    <a:pt x="7006" y="129"/>
                    <a:pt x="6872" y="29"/>
                  </a:cubicBezTo>
                  <a:cubicBezTo>
                    <a:pt x="6732" y="10"/>
                    <a:pt x="6593" y="1"/>
                    <a:pt x="645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g39dcdded7dd_1_41"/>
            <p:cNvSpPr/>
            <p:nvPr/>
          </p:nvSpPr>
          <p:spPr>
            <a:xfrm>
              <a:off x="-386124" y="1160778"/>
              <a:ext cx="320254" cy="432240"/>
            </a:xfrm>
            <a:custGeom>
              <a:avLst/>
              <a:gdLst/>
              <a:ahLst/>
              <a:cxnLst/>
              <a:rect l="l" t="t" r="r" b="b"/>
              <a:pathLst>
                <a:path w="22117" h="29856" extrusionOk="0">
                  <a:moveTo>
                    <a:pt x="7640" y="1"/>
                  </a:moveTo>
                  <a:cubicBezTo>
                    <a:pt x="4938" y="2135"/>
                    <a:pt x="2436" y="4470"/>
                    <a:pt x="1" y="6872"/>
                  </a:cubicBezTo>
                  <a:lnTo>
                    <a:pt x="67" y="6906"/>
                  </a:lnTo>
                  <a:cubicBezTo>
                    <a:pt x="101" y="6972"/>
                    <a:pt x="101" y="6972"/>
                    <a:pt x="101" y="7006"/>
                  </a:cubicBezTo>
                  <a:cubicBezTo>
                    <a:pt x="2336" y="11008"/>
                    <a:pt x="4270" y="15245"/>
                    <a:pt x="6572" y="19248"/>
                  </a:cubicBezTo>
                  <a:cubicBezTo>
                    <a:pt x="8874" y="23251"/>
                    <a:pt x="11609" y="27087"/>
                    <a:pt x="15278" y="29855"/>
                  </a:cubicBezTo>
                  <a:lnTo>
                    <a:pt x="15345" y="29722"/>
                  </a:lnTo>
                  <a:cubicBezTo>
                    <a:pt x="15212" y="28688"/>
                    <a:pt x="15478" y="27654"/>
                    <a:pt x="16046" y="26753"/>
                  </a:cubicBezTo>
                  <a:cubicBezTo>
                    <a:pt x="16579" y="25886"/>
                    <a:pt x="17313" y="25152"/>
                    <a:pt x="18147" y="24485"/>
                  </a:cubicBezTo>
                  <a:cubicBezTo>
                    <a:pt x="19200" y="23617"/>
                    <a:pt x="20455" y="22836"/>
                    <a:pt x="21804" y="22836"/>
                  </a:cubicBezTo>
                  <a:cubicBezTo>
                    <a:pt x="21908" y="22836"/>
                    <a:pt x="22012" y="22841"/>
                    <a:pt x="22117" y="22850"/>
                  </a:cubicBezTo>
                  <a:cubicBezTo>
                    <a:pt x="16279" y="15912"/>
                    <a:pt x="10308" y="8740"/>
                    <a:pt x="7740" y="67"/>
                  </a:cubicBezTo>
                  <a:lnTo>
                    <a:pt x="7640"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g39dcdded7dd_1_41"/>
            <p:cNvSpPr/>
            <p:nvPr/>
          </p:nvSpPr>
          <p:spPr>
            <a:xfrm>
              <a:off x="-683159" y="130628"/>
              <a:ext cx="155544" cy="354482"/>
            </a:xfrm>
            <a:custGeom>
              <a:avLst/>
              <a:gdLst/>
              <a:ahLst/>
              <a:cxnLst/>
              <a:rect l="l" t="t" r="r" b="b"/>
              <a:pathLst>
                <a:path w="10742" h="24485" extrusionOk="0">
                  <a:moveTo>
                    <a:pt x="2268" y="1"/>
                  </a:moveTo>
                  <a:cubicBezTo>
                    <a:pt x="0" y="8006"/>
                    <a:pt x="1101" y="16346"/>
                    <a:pt x="2235" y="24485"/>
                  </a:cubicBezTo>
                  <a:cubicBezTo>
                    <a:pt x="4136" y="24213"/>
                    <a:pt x="6119" y="23942"/>
                    <a:pt x="8060" y="23942"/>
                  </a:cubicBezTo>
                  <a:cubicBezTo>
                    <a:pt x="8265" y="23942"/>
                    <a:pt x="8469" y="23945"/>
                    <a:pt x="8673" y="23951"/>
                  </a:cubicBezTo>
                  <a:cubicBezTo>
                    <a:pt x="9373" y="23984"/>
                    <a:pt x="10007" y="23984"/>
                    <a:pt x="10708" y="24051"/>
                  </a:cubicBezTo>
                  <a:lnTo>
                    <a:pt x="10741" y="23818"/>
                  </a:lnTo>
                  <a:cubicBezTo>
                    <a:pt x="9407" y="16512"/>
                    <a:pt x="9240" y="8974"/>
                    <a:pt x="10307" y="1635"/>
                  </a:cubicBezTo>
                  <a:cubicBezTo>
                    <a:pt x="8740" y="1368"/>
                    <a:pt x="7305" y="1135"/>
                    <a:pt x="5838" y="868"/>
                  </a:cubicBezTo>
                  <a:cubicBezTo>
                    <a:pt x="4637" y="668"/>
                    <a:pt x="3436" y="468"/>
                    <a:pt x="226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g39dcdded7dd_1_41"/>
            <p:cNvSpPr/>
            <p:nvPr/>
          </p:nvSpPr>
          <p:spPr>
            <a:xfrm>
              <a:off x="-404962" y="1613386"/>
              <a:ext cx="141542" cy="80698"/>
            </a:xfrm>
            <a:custGeom>
              <a:avLst/>
              <a:gdLst/>
              <a:ahLst/>
              <a:cxnLst/>
              <a:rect l="l" t="t" r="r" b="b"/>
              <a:pathLst>
                <a:path w="9775" h="5574" extrusionOk="0">
                  <a:moveTo>
                    <a:pt x="6402" y="0"/>
                  </a:moveTo>
                  <a:cubicBezTo>
                    <a:pt x="5417" y="0"/>
                    <a:pt x="4426" y="226"/>
                    <a:pt x="3537" y="662"/>
                  </a:cubicBezTo>
                  <a:cubicBezTo>
                    <a:pt x="1735" y="1530"/>
                    <a:pt x="434" y="3331"/>
                    <a:pt x="1" y="5299"/>
                  </a:cubicBezTo>
                  <a:cubicBezTo>
                    <a:pt x="1" y="5399"/>
                    <a:pt x="34" y="5466"/>
                    <a:pt x="34" y="5566"/>
                  </a:cubicBezTo>
                  <a:cubicBezTo>
                    <a:pt x="156" y="5571"/>
                    <a:pt x="277" y="5573"/>
                    <a:pt x="398" y="5573"/>
                  </a:cubicBezTo>
                  <a:cubicBezTo>
                    <a:pt x="2732" y="5573"/>
                    <a:pt x="4939" y="4670"/>
                    <a:pt x="6906" y="3464"/>
                  </a:cubicBezTo>
                  <a:cubicBezTo>
                    <a:pt x="7940" y="2797"/>
                    <a:pt x="8941" y="2030"/>
                    <a:pt x="9774" y="1063"/>
                  </a:cubicBezTo>
                  <a:cubicBezTo>
                    <a:pt x="9741" y="963"/>
                    <a:pt x="9741" y="929"/>
                    <a:pt x="9741" y="829"/>
                  </a:cubicBezTo>
                  <a:lnTo>
                    <a:pt x="9574" y="896"/>
                  </a:lnTo>
                  <a:cubicBezTo>
                    <a:pt x="8633" y="292"/>
                    <a:pt x="7522" y="0"/>
                    <a:pt x="6402" y="0"/>
                  </a:cubicBezTo>
                  <a:close/>
                </a:path>
              </a:pathLst>
            </a:custGeom>
            <a:solidFill>
              <a:srgbClr val="396C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g39dcdded7dd_1_41"/>
            <p:cNvSpPr/>
            <p:nvPr/>
          </p:nvSpPr>
          <p:spPr>
            <a:xfrm>
              <a:off x="-489480" y="1259781"/>
              <a:ext cx="226062" cy="430315"/>
            </a:xfrm>
            <a:custGeom>
              <a:avLst/>
              <a:gdLst/>
              <a:ahLst/>
              <a:cxnLst/>
              <a:rect l="l" t="t" r="r" b="b"/>
              <a:pathLst>
                <a:path w="15612" h="29723" extrusionOk="0">
                  <a:moveTo>
                    <a:pt x="7172" y="1"/>
                  </a:moveTo>
                  <a:cubicBezTo>
                    <a:pt x="4704" y="2436"/>
                    <a:pt x="2335" y="5004"/>
                    <a:pt x="0" y="7573"/>
                  </a:cubicBezTo>
                  <a:lnTo>
                    <a:pt x="167" y="7706"/>
                  </a:lnTo>
                  <a:cubicBezTo>
                    <a:pt x="2736" y="14878"/>
                    <a:pt x="4570" y="22317"/>
                    <a:pt x="5871" y="29722"/>
                  </a:cubicBezTo>
                  <a:cubicBezTo>
                    <a:pt x="6271" y="27754"/>
                    <a:pt x="7606" y="26019"/>
                    <a:pt x="9407" y="25085"/>
                  </a:cubicBezTo>
                  <a:cubicBezTo>
                    <a:pt x="10303" y="24668"/>
                    <a:pt x="11277" y="24452"/>
                    <a:pt x="12244" y="24452"/>
                  </a:cubicBezTo>
                  <a:cubicBezTo>
                    <a:pt x="13366" y="24452"/>
                    <a:pt x="14477" y="24743"/>
                    <a:pt x="15445" y="25352"/>
                  </a:cubicBezTo>
                  <a:lnTo>
                    <a:pt x="15611" y="25319"/>
                  </a:lnTo>
                  <a:cubicBezTo>
                    <a:pt x="14244" y="16546"/>
                    <a:pt x="11375" y="8007"/>
                    <a:pt x="7105" y="201"/>
                  </a:cubicBezTo>
                  <a:lnTo>
                    <a:pt x="7239" y="134"/>
                  </a:lnTo>
                  <a:cubicBezTo>
                    <a:pt x="7239" y="68"/>
                    <a:pt x="7205" y="68"/>
                    <a:pt x="7205" y="34"/>
                  </a:cubicBezTo>
                  <a:lnTo>
                    <a:pt x="7172" y="1"/>
                  </a:lnTo>
                  <a:close/>
                </a:path>
              </a:pathLst>
            </a:custGeom>
            <a:solidFill>
              <a:srgbClr val="5F89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g39dcdded7dd_1_41"/>
            <p:cNvSpPr/>
            <p:nvPr/>
          </p:nvSpPr>
          <p:spPr>
            <a:xfrm>
              <a:off x="-885539" y="154532"/>
              <a:ext cx="206253" cy="341698"/>
            </a:xfrm>
            <a:custGeom>
              <a:avLst/>
              <a:gdLst/>
              <a:ahLst/>
              <a:cxnLst/>
              <a:rect l="l" t="t" r="r" b="b"/>
              <a:pathLst>
                <a:path w="14244" h="23602" extrusionOk="0">
                  <a:moveTo>
                    <a:pt x="6139" y="1"/>
                  </a:moveTo>
                  <a:cubicBezTo>
                    <a:pt x="5812" y="1"/>
                    <a:pt x="5490" y="8"/>
                    <a:pt x="5171" y="18"/>
                  </a:cubicBezTo>
                  <a:cubicBezTo>
                    <a:pt x="3736" y="84"/>
                    <a:pt x="2335" y="118"/>
                    <a:pt x="934" y="418"/>
                  </a:cubicBezTo>
                  <a:cubicBezTo>
                    <a:pt x="0" y="8190"/>
                    <a:pt x="2502" y="15962"/>
                    <a:pt x="5404" y="23234"/>
                  </a:cubicBezTo>
                  <a:lnTo>
                    <a:pt x="5404" y="23368"/>
                  </a:lnTo>
                  <a:cubicBezTo>
                    <a:pt x="6438" y="23501"/>
                    <a:pt x="7539" y="23601"/>
                    <a:pt x="8573" y="23601"/>
                  </a:cubicBezTo>
                  <a:cubicBezTo>
                    <a:pt x="10441" y="23601"/>
                    <a:pt x="12376" y="23368"/>
                    <a:pt x="14244" y="23101"/>
                  </a:cubicBezTo>
                  <a:cubicBezTo>
                    <a:pt x="10508" y="16129"/>
                    <a:pt x="9541" y="8023"/>
                    <a:pt x="8673" y="184"/>
                  </a:cubicBezTo>
                  <a:cubicBezTo>
                    <a:pt x="7773" y="42"/>
                    <a:pt x="6940" y="1"/>
                    <a:pt x="6139" y="1"/>
                  </a:cubicBezTo>
                  <a:close/>
                </a:path>
              </a:pathLst>
            </a:custGeom>
            <a:solidFill>
              <a:srgbClr val="5F89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g39dcdded7dd_1_41"/>
            <p:cNvSpPr/>
            <p:nvPr/>
          </p:nvSpPr>
          <p:spPr>
            <a:xfrm>
              <a:off x="-1061829" y="671988"/>
              <a:ext cx="1284825" cy="1034070"/>
            </a:xfrm>
            <a:custGeom>
              <a:avLst/>
              <a:gdLst/>
              <a:ahLst/>
              <a:cxnLst/>
              <a:rect l="l" t="t" r="r" b="b"/>
              <a:pathLst>
                <a:path w="88731" h="71426" extrusionOk="0">
                  <a:moveTo>
                    <a:pt x="87108" y="1"/>
                  </a:moveTo>
                  <a:cubicBezTo>
                    <a:pt x="86475" y="1"/>
                    <a:pt x="85781" y="274"/>
                    <a:pt x="85228" y="570"/>
                  </a:cubicBezTo>
                  <a:cubicBezTo>
                    <a:pt x="79290" y="3706"/>
                    <a:pt x="74820" y="9110"/>
                    <a:pt x="68783" y="11912"/>
                  </a:cubicBezTo>
                  <a:cubicBezTo>
                    <a:pt x="66114" y="13112"/>
                    <a:pt x="63145" y="13813"/>
                    <a:pt x="60610" y="15314"/>
                  </a:cubicBezTo>
                  <a:cubicBezTo>
                    <a:pt x="57308" y="17249"/>
                    <a:pt x="54773" y="20451"/>
                    <a:pt x="51203" y="21619"/>
                  </a:cubicBezTo>
                  <a:cubicBezTo>
                    <a:pt x="49986" y="22024"/>
                    <a:pt x="48755" y="22170"/>
                    <a:pt x="47510" y="22170"/>
                  </a:cubicBezTo>
                  <a:cubicBezTo>
                    <a:pt x="46811" y="22170"/>
                    <a:pt x="46107" y="22124"/>
                    <a:pt x="45399" y="22052"/>
                  </a:cubicBezTo>
                  <a:lnTo>
                    <a:pt x="45399" y="22219"/>
                  </a:lnTo>
                  <a:cubicBezTo>
                    <a:pt x="45232" y="23753"/>
                    <a:pt x="44398" y="25121"/>
                    <a:pt x="43298" y="26222"/>
                  </a:cubicBezTo>
                  <a:cubicBezTo>
                    <a:pt x="42230" y="27256"/>
                    <a:pt x="40896" y="28057"/>
                    <a:pt x="39528" y="28757"/>
                  </a:cubicBezTo>
                  <a:cubicBezTo>
                    <a:pt x="38061" y="29491"/>
                    <a:pt x="36493" y="30158"/>
                    <a:pt x="34892" y="30592"/>
                  </a:cubicBezTo>
                  <a:cubicBezTo>
                    <a:pt x="30288" y="31326"/>
                    <a:pt x="25118" y="32193"/>
                    <a:pt x="19948" y="33093"/>
                  </a:cubicBezTo>
                  <a:cubicBezTo>
                    <a:pt x="18447" y="33327"/>
                    <a:pt x="17012" y="33594"/>
                    <a:pt x="15578" y="34061"/>
                  </a:cubicBezTo>
                  <a:cubicBezTo>
                    <a:pt x="13710" y="34661"/>
                    <a:pt x="11942" y="35629"/>
                    <a:pt x="10341" y="36763"/>
                  </a:cubicBezTo>
                  <a:cubicBezTo>
                    <a:pt x="7772" y="38464"/>
                    <a:pt x="5437" y="40532"/>
                    <a:pt x="3736" y="43101"/>
                  </a:cubicBezTo>
                  <a:cubicBezTo>
                    <a:pt x="1768" y="46069"/>
                    <a:pt x="734" y="49572"/>
                    <a:pt x="367" y="53108"/>
                  </a:cubicBezTo>
                  <a:cubicBezTo>
                    <a:pt x="0" y="56644"/>
                    <a:pt x="267" y="60180"/>
                    <a:pt x="701" y="63749"/>
                  </a:cubicBezTo>
                  <a:cubicBezTo>
                    <a:pt x="867" y="65150"/>
                    <a:pt x="1068" y="66517"/>
                    <a:pt x="1601" y="67818"/>
                  </a:cubicBezTo>
                  <a:cubicBezTo>
                    <a:pt x="2168" y="69119"/>
                    <a:pt x="3069" y="70320"/>
                    <a:pt x="4337" y="70921"/>
                  </a:cubicBezTo>
                  <a:cubicBezTo>
                    <a:pt x="5089" y="71282"/>
                    <a:pt x="5897" y="71426"/>
                    <a:pt x="6734" y="71426"/>
                  </a:cubicBezTo>
                  <a:cubicBezTo>
                    <a:pt x="6824" y="71426"/>
                    <a:pt x="6914" y="71424"/>
                    <a:pt x="7005" y="71421"/>
                  </a:cubicBezTo>
                  <a:cubicBezTo>
                    <a:pt x="7105" y="71421"/>
                    <a:pt x="7272" y="71354"/>
                    <a:pt x="7405" y="71354"/>
                  </a:cubicBezTo>
                  <a:cubicBezTo>
                    <a:pt x="10341" y="71121"/>
                    <a:pt x="12909" y="69486"/>
                    <a:pt x="15344" y="67818"/>
                  </a:cubicBezTo>
                  <a:cubicBezTo>
                    <a:pt x="21015" y="63815"/>
                    <a:pt x="26219" y="59179"/>
                    <a:pt x="30789" y="53975"/>
                  </a:cubicBezTo>
                  <a:cubicBezTo>
                    <a:pt x="39728" y="42367"/>
                    <a:pt x="50970" y="32426"/>
                    <a:pt x="63612" y="24687"/>
                  </a:cubicBezTo>
                  <a:cubicBezTo>
                    <a:pt x="71284" y="20051"/>
                    <a:pt x="79724" y="16048"/>
                    <a:pt x="85328" y="9043"/>
                  </a:cubicBezTo>
                  <a:cubicBezTo>
                    <a:pt x="86295" y="7809"/>
                    <a:pt x="87162" y="6541"/>
                    <a:pt x="87796" y="5107"/>
                  </a:cubicBezTo>
                  <a:cubicBezTo>
                    <a:pt x="88230" y="4239"/>
                    <a:pt x="88497" y="3272"/>
                    <a:pt x="88630" y="2305"/>
                  </a:cubicBezTo>
                  <a:cubicBezTo>
                    <a:pt x="88730" y="1704"/>
                    <a:pt x="88730" y="937"/>
                    <a:pt x="88263" y="470"/>
                  </a:cubicBezTo>
                  <a:cubicBezTo>
                    <a:pt x="87950" y="130"/>
                    <a:pt x="87543" y="1"/>
                    <a:pt x="87108" y="1"/>
                  </a:cubicBezTo>
                  <a:close/>
                </a:path>
              </a:pathLst>
            </a:custGeom>
            <a:solidFill>
              <a:srgbClr val="824D0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g39dcdded7dd_1_41"/>
            <p:cNvSpPr/>
            <p:nvPr/>
          </p:nvSpPr>
          <p:spPr>
            <a:xfrm>
              <a:off x="-1435678" y="468466"/>
              <a:ext cx="1695869" cy="1258370"/>
            </a:xfrm>
            <a:custGeom>
              <a:avLst/>
              <a:gdLst/>
              <a:ahLst/>
              <a:cxnLst/>
              <a:rect l="l" t="t" r="r" b="b"/>
              <a:pathLst>
                <a:path w="117118" h="86919" extrusionOk="0">
                  <a:moveTo>
                    <a:pt x="112927" y="14058"/>
                  </a:moveTo>
                  <a:cubicBezTo>
                    <a:pt x="113362" y="14058"/>
                    <a:pt x="113769" y="14187"/>
                    <a:pt x="114082" y="14527"/>
                  </a:cubicBezTo>
                  <a:cubicBezTo>
                    <a:pt x="114482" y="15027"/>
                    <a:pt x="114482" y="15761"/>
                    <a:pt x="114416" y="16362"/>
                  </a:cubicBezTo>
                  <a:cubicBezTo>
                    <a:pt x="114316" y="17329"/>
                    <a:pt x="114049" y="18296"/>
                    <a:pt x="113615" y="19164"/>
                  </a:cubicBezTo>
                  <a:cubicBezTo>
                    <a:pt x="112981" y="20598"/>
                    <a:pt x="112114" y="21866"/>
                    <a:pt x="111147" y="23100"/>
                  </a:cubicBezTo>
                  <a:cubicBezTo>
                    <a:pt x="105543" y="30105"/>
                    <a:pt x="97103" y="34108"/>
                    <a:pt x="89431" y="38778"/>
                  </a:cubicBezTo>
                  <a:cubicBezTo>
                    <a:pt x="76789" y="46483"/>
                    <a:pt x="65547" y="56457"/>
                    <a:pt x="56608" y="68032"/>
                  </a:cubicBezTo>
                  <a:cubicBezTo>
                    <a:pt x="52038" y="73236"/>
                    <a:pt x="46834" y="77872"/>
                    <a:pt x="41163" y="81875"/>
                  </a:cubicBezTo>
                  <a:cubicBezTo>
                    <a:pt x="38728" y="83543"/>
                    <a:pt x="36160" y="85178"/>
                    <a:pt x="33224" y="85411"/>
                  </a:cubicBezTo>
                  <a:cubicBezTo>
                    <a:pt x="33091" y="85411"/>
                    <a:pt x="32924" y="85478"/>
                    <a:pt x="32824" y="85478"/>
                  </a:cubicBezTo>
                  <a:cubicBezTo>
                    <a:pt x="32733" y="85481"/>
                    <a:pt x="32643" y="85483"/>
                    <a:pt x="32553" y="85483"/>
                  </a:cubicBezTo>
                  <a:cubicBezTo>
                    <a:pt x="31716" y="85483"/>
                    <a:pt x="30908" y="85339"/>
                    <a:pt x="30156" y="84978"/>
                  </a:cubicBezTo>
                  <a:cubicBezTo>
                    <a:pt x="28888" y="84377"/>
                    <a:pt x="27987" y="83176"/>
                    <a:pt x="27420" y="81875"/>
                  </a:cubicBezTo>
                  <a:cubicBezTo>
                    <a:pt x="26887" y="80574"/>
                    <a:pt x="26686" y="79207"/>
                    <a:pt x="26520" y="77806"/>
                  </a:cubicBezTo>
                  <a:cubicBezTo>
                    <a:pt x="26086" y="74237"/>
                    <a:pt x="25819" y="70701"/>
                    <a:pt x="26186" y="67165"/>
                  </a:cubicBezTo>
                  <a:cubicBezTo>
                    <a:pt x="26553" y="63629"/>
                    <a:pt x="27587" y="60126"/>
                    <a:pt x="29555" y="57158"/>
                  </a:cubicBezTo>
                  <a:cubicBezTo>
                    <a:pt x="31256" y="54622"/>
                    <a:pt x="33591" y="52521"/>
                    <a:pt x="36160" y="50820"/>
                  </a:cubicBezTo>
                  <a:cubicBezTo>
                    <a:pt x="37761" y="49686"/>
                    <a:pt x="39529" y="48718"/>
                    <a:pt x="41397" y="48118"/>
                  </a:cubicBezTo>
                  <a:cubicBezTo>
                    <a:pt x="42831" y="47651"/>
                    <a:pt x="44266" y="47384"/>
                    <a:pt x="45767" y="47150"/>
                  </a:cubicBezTo>
                  <a:cubicBezTo>
                    <a:pt x="50937" y="46283"/>
                    <a:pt x="56107" y="45383"/>
                    <a:pt x="60711" y="44649"/>
                  </a:cubicBezTo>
                  <a:cubicBezTo>
                    <a:pt x="62312" y="44215"/>
                    <a:pt x="63880" y="43548"/>
                    <a:pt x="65347" y="42814"/>
                  </a:cubicBezTo>
                  <a:cubicBezTo>
                    <a:pt x="66715" y="42114"/>
                    <a:pt x="68049" y="41313"/>
                    <a:pt x="69117" y="40279"/>
                  </a:cubicBezTo>
                  <a:cubicBezTo>
                    <a:pt x="70217" y="39178"/>
                    <a:pt x="71051" y="37810"/>
                    <a:pt x="71218" y="36276"/>
                  </a:cubicBezTo>
                  <a:lnTo>
                    <a:pt x="71218" y="36109"/>
                  </a:lnTo>
                  <a:cubicBezTo>
                    <a:pt x="71926" y="36181"/>
                    <a:pt x="72630" y="36227"/>
                    <a:pt x="73329" y="36227"/>
                  </a:cubicBezTo>
                  <a:cubicBezTo>
                    <a:pt x="74574" y="36227"/>
                    <a:pt x="75805" y="36081"/>
                    <a:pt x="77022" y="35676"/>
                  </a:cubicBezTo>
                  <a:cubicBezTo>
                    <a:pt x="80592" y="34508"/>
                    <a:pt x="83127" y="31306"/>
                    <a:pt x="86429" y="29371"/>
                  </a:cubicBezTo>
                  <a:cubicBezTo>
                    <a:pt x="88964" y="27870"/>
                    <a:pt x="91933" y="27169"/>
                    <a:pt x="94602" y="25969"/>
                  </a:cubicBezTo>
                  <a:cubicBezTo>
                    <a:pt x="100639" y="23167"/>
                    <a:pt x="105109" y="17763"/>
                    <a:pt x="111047" y="14627"/>
                  </a:cubicBezTo>
                  <a:cubicBezTo>
                    <a:pt x="111600" y="14331"/>
                    <a:pt x="112294" y="14058"/>
                    <a:pt x="112927" y="14058"/>
                  </a:cubicBezTo>
                  <a:close/>
                  <a:moveTo>
                    <a:pt x="30557" y="0"/>
                  </a:moveTo>
                  <a:cubicBezTo>
                    <a:pt x="25730" y="0"/>
                    <a:pt x="20911" y="1088"/>
                    <a:pt x="16679" y="3352"/>
                  </a:cubicBezTo>
                  <a:cubicBezTo>
                    <a:pt x="11409" y="6154"/>
                    <a:pt x="7139" y="10824"/>
                    <a:pt x="5138" y="16428"/>
                  </a:cubicBezTo>
                  <a:cubicBezTo>
                    <a:pt x="3370" y="21332"/>
                    <a:pt x="3470" y="26702"/>
                    <a:pt x="2402" y="31839"/>
                  </a:cubicBezTo>
                  <a:cubicBezTo>
                    <a:pt x="1568" y="36042"/>
                    <a:pt x="1" y="40312"/>
                    <a:pt x="868" y="44482"/>
                  </a:cubicBezTo>
                  <a:cubicBezTo>
                    <a:pt x="1635" y="48018"/>
                    <a:pt x="4037" y="50920"/>
                    <a:pt x="5738" y="54122"/>
                  </a:cubicBezTo>
                  <a:cubicBezTo>
                    <a:pt x="8240" y="58859"/>
                    <a:pt x="9207" y="64229"/>
                    <a:pt x="11142" y="69266"/>
                  </a:cubicBezTo>
                  <a:cubicBezTo>
                    <a:pt x="12910" y="74003"/>
                    <a:pt x="15645" y="78506"/>
                    <a:pt x="19481" y="81809"/>
                  </a:cubicBezTo>
                  <a:cubicBezTo>
                    <a:pt x="23069" y="84912"/>
                    <a:pt x="27691" y="86918"/>
                    <a:pt x="32435" y="86918"/>
                  </a:cubicBezTo>
                  <a:cubicBezTo>
                    <a:pt x="32587" y="86918"/>
                    <a:pt x="32739" y="86916"/>
                    <a:pt x="32891" y="86912"/>
                  </a:cubicBezTo>
                  <a:lnTo>
                    <a:pt x="33391" y="86912"/>
                  </a:lnTo>
                  <a:cubicBezTo>
                    <a:pt x="40229" y="86545"/>
                    <a:pt x="46167" y="82142"/>
                    <a:pt x="51104" y="77372"/>
                  </a:cubicBezTo>
                  <a:cubicBezTo>
                    <a:pt x="62245" y="66731"/>
                    <a:pt x="71185" y="53655"/>
                    <a:pt x="83894" y="44949"/>
                  </a:cubicBezTo>
                  <a:cubicBezTo>
                    <a:pt x="90699" y="40279"/>
                    <a:pt x="98404" y="37010"/>
                    <a:pt x="105042" y="32073"/>
                  </a:cubicBezTo>
                  <a:cubicBezTo>
                    <a:pt x="109379" y="28871"/>
                    <a:pt x="113315" y="24668"/>
                    <a:pt x="115450" y="19831"/>
                  </a:cubicBezTo>
                  <a:cubicBezTo>
                    <a:pt x="116484" y="17362"/>
                    <a:pt x="117118" y="14661"/>
                    <a:pt x="117051" y="11825"/>
                  </a:cubicBezTo>
                  <a:cubicBezTo>
                    <a:pt x="116984" y="11025"/>
                    <a:pt x="116784" y="10157"/>
                    <a:pt x="116417" y="9423"/>
                  </a:cubicBezTo>
                  <a:cubicBezTo>
                    <a:pt x="115950" y="8523"/>
                    <a:pt x="115150" y="7922"/>
                    <a:pt x="114316" y="7422"/>
                  </a:cubicBezTo>
                  <a:cubicBezTo>
                    <a:pt x="111213" y="5454"/>
                    <a:pt x="107444" y="4854"/>
                    <a:pt x="103775" y="4553"/>
                  </a:cubicBezTo>
                  <a:cubicBezTo>
                    <a:pt x="103725" y="4553"/>
                    <a:pt x="103675" y="4553"/>
                    <a:pt x="103625" y="4553"/>
                  </a:cubicBezTo>
                  <a:cubicBezTo>
                    <a:pt x="98271" y="4553"/>
                    <a:pt x="93003" y="6208"/>
                    <a:pt x="87630" y="6208"/>
                  </a:cubicBezTo>
                  <a:cubicBezTo>
                    <a:pt x="87297" y="6208"/>
                    <a:pt x="86963" y="6201"/>
                    <a:pt x="86629" y="6188"/>
                  </a:cubicBezTo>
                  <a:cubicBezTo>
                    <a:pt x="77756" y="5921"/>
                    <a:pt x="69584" y="684"/>
                    <a:pt x="60711" y="550"/>
                  </a:cubicBezTo>
                  <a:cubicBezTo>
                    <a:pt x="60653" y="550"/>
                    <a:pt x="60596" y="550"/>
                    <a:pt x="60538" y="550"/>
                  </a:cubicBezTo>
                  <a:cubicBezTo>
                    <a:pt x="55887" y="550"/>
                    <a:pt x="51391" y="1852"/>
                    <a:pt x="46740" y="1852"/>
                  </a:cubicBezTo>
                  <a:cubicBezTo>
                    <a:pt x="46682" y="1852"/>
                    <a:pt x="46625" y="1852"/>
                    <a:pt x="46567" y="1851"/>
                  </a:cubicBezTo>
                  <a:cubicBezTo>
                    <a:pt x="42364" y="1818"/>
                    <a:pt x="38195" y="617"/>
                    <a:pt x="33992" y="183"/>
                  </a:cubicBezTo>
                  <a:cubicBezTo>
                    <a:pt x="32852" y="62"/>
                    <a:pt x="31704" y="0"/>
                    <a:pt x="30557" y="0"/>
                  </a:cubicBezTo>
                  <a:close/>
                </a:path>
              </a:pathLst>
            </a:custGeom>
            <a:solidFill>
              <a:srgbClr val="FFCC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g39dcdded7dd_1_41"/>
            <p:cNvSpPr/>
            <p:nvPr/>
          </p:nvSpPr>
          <p:spPr>
            <a:xfrm>
              <a:off x="-693786" y="989267"/>
              <a:ext cx="295131" cy="153172"/>
            </a:xfrm>
            <a:custGeom>
              <a:avLst/>
              <a:gdLst/>
              <a:ahLst/>
              <a:cxnLst/>
              <a:rect l="l" t="t" r="r" b="b"/>
              <a:pathLst>
                <a:path w="20382" h="10580" extrusionOk="0">
                  <a:moveTo>
                    <a:pt x="20004" y="0"/>
                  </a:moveTo>
                  <a:cubicBezTo>
                    <a:pt x="19853" y="0"/>
                    <a:pt x="19711" y="153"/>
                    <a:pt x="19681" y="305"/>
                  </a:cubicBezTo>
                  <a:cubicBezTo>
                    <a:pt x="19514" y="1639"/>
                    <a:pt x="18814" y="2974"/>
                    <a:pt x="17680" y="4074"/>
                  </a:cubicBezTo>
                  <a:cubicBezTo>
                    <a:pt x="16512" y="5209"/>
                    <a:pt x="15078" y="6009"/>
                    <a:pt x="13977" y="6576"/>
                  </a:cubicBezTo>
                  <a:cubicBezTo>
                    <a:pt x="12276" y="7410"/>
                    <a:pt x="10808" y="8011"/>
                    <a:pt x="9407" y="8377"/>
                  </a:cubicBezTo>
                  <a:cubicBezTo>
                    <a:pt x="6538" y="8844"/>
                    <a:pt x="3503" y="9345"/>
                    <a:pt x="334" y="9879"/>
                  </a:cubicBezTo>
                  <a:cubicBezTo>
                    <a:pt x="134" y="9879"/>
                    <a:pt x="0" y="10079"/>
                    <a:pt x="34" y="10245"/>
                  </a:cubicBezTo>
                  <a:cubicBezTo>
                    <a:pt x="100" y="10412"/>
                    <a:pt x="200" y="10512"/>
                    <a:pt x="334" y="10546"/>
                  </a:cubicBezTo>
                  <a:cubicBezTo>
                    <a:pt x="367" y="10546"/>
                    <a:pt x="434" y="10546"/>
                    <a:pt x="467" y="10579"/>
                  </a:cubicBezTo>
                  <a:cubicBezTo>
                    <a:pt x="3569" y="10045"/>
                    <a:pt x="6672" y="9545"/>
                    <a:pt x="9540" y="9078"/>
                  </a:cubicBezTo>
                  <a:cubicBezTo>
                    <a:pt x="11008" y="8711"/>
                    <a:pt x="12509" y="8077"/>
                    <a:pt x="14244" y="7210"/>
                  </a:cubicBezTo>
                  <a:cubicBezTo>
                    <a:pt x="15411" y="6643"/>
                    <a:pt x="16912" y="5809"/>
                    <a:pt x="18147" y="4575"/>
                  </a:cubicBezTo>
                  <a:cubicBezTo>
                    <a:pt x="19381" y="3341"/>
                    <a:pt x="20181" y="1873"/>
                    <a:pt x="20348" y="372"/>
                  </a:cubicBezTo>
                  <a:cubicBezTo>
                    <a:pt x="20381" y="205"/>
                    <a:pt x="20248" y="5"/>
                    <a:pt x="20048" y="5"/>
                  </a:cubicBezTo>
                  <a:cubicBezTo>
                    <a:pt x="20033" y="2"/>
                    <a:pt x="20019" y="0"/>
                    <a:pt x="20004" y="0"/>
                  </a:cubicBezTo>
                  <a:close/>
                </a:path>
              </a:pathLst>
            </a:custGeom>
            <a:solidFill>
              <a:srgbClr val="EA9C3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g39dcdded7dd_1_41"/>
            <p:cNvSpPr/>
            <p:nvPr/>
          </p:nvSpPr>
          <p:spPr>
            <a:xfrm>
              <a:off x="-457609" y="869184"/>
              <a:ext cx="318806" cy="127880"/>
            </a:xfrm>
            <a:custGeom>
              <a:avLst/>
              <a:gdLst/>
              <a:ahLst/>
              <a:cxnLst/>
              <a:rect l="l" t="t" r="r" b="b"/>
              <a:pathLst>
                <a:path w="22017" h="8833" extrusionOk="0">
                  <a:moveTo>
                    <a:pt x="21616" y="1"/>
                  </a:moveTo>
                  <a:cubicBezTo>
                    <a:pt x="21571" y="1"/>
                    <a:pt x="21526" y="9"/>
                    <a:pt x="21483" y="26"/>
                  </a:cubicBezTo>
                  <a:cubicBezTo>
                    <a:pt x="20382" y="493"/>
                    <a:pt x="19515" y="927"/>
                    <a:pt x="18714" y="1360"/>
                  </a:cubicBezTo>
                  <a:cubicBezTo>
                    <a:pt x="17413" y="2161"/>
                    <a:pt x="16212" y="3128"/>
                    <a:pt x="15045" y="4096"/>
                  </a:cubicBezTo>
                  <a:cubicBezTo>
                    <a:pt x="13210" y="5597"/>
                    <a:pt x="11509" y="6964"/>
                    <a:pt x="9374" y="7665"/>
                  </a:cubicBezTo>
                  <a:cubicBezTo>
                    <a:pt x="8337" y="7996"/>
                    <a:pt x="7197" y="8167"/>
                    <a:pt x="5877" y="8167"/>
                  </a:cubicBezTo>
                  <a:cubicBezTo>
                    <a:pt x="5203" y="8167"/>
                    <a:pt x="4482" y="8122"/>
                    <a:pt x="3704" y="8032"/>
                  </a:cubicBezTo>
                  <a:cubicBezTo>
                    <a:pt x="2569" y="7932"/>
                    <a:pt x="1502" y="7765"/>
                    <a:pt x="368" y="7532"/>
                  </a:cubicBezTo>
                  <a:cubicBezTo>
                    <a:pt x="201" y="7532"/>
                    <a:pt x="34" y="7665"/>
                    <a:pt x="1" y="7832"/>
                  </a:cubicBezTo>
                  <a:cubicBezTo>
                    <a:pt x="1" y="7999"/>
                    <a:pt x="134" y="8165"/>
                    <a:pt x="301" y="8199"/>
                  </a:cubicBezTo>
                  <a:cubicBezTo>
                    <a:pt x="902" y="8332"/>
                    <a:pt x="1535" y="8466"/>
                    <a:pt x="2136" y="8532"/>
                  </a:cubicBezTo>
                  <a:cubicBezTo>
                    <a:pt x="2636" y="8632"/>
                    <a:pt x="3170" y="8699"/>
                    <a:pt x="3670" y="8699"/>
                  </a:cubicBezTo>
                  <a:cubicBezTo>
                    <a:pt x="4471" y="8788"/>
                    <a:pt x="5216" y="8832"/>
                    <a:pt x="5915" y="8832"/>
                  </a:cubicBezTo>
                  <a:cubicBezTo>
                    <a:pt x="7314" y="8832"/>
                    <a:pt x="8529" y="8655"/>
                    <a:pt x="9641" y="8299"/>
                  </a:cubicBezTo>
                  <a:cubicBezTo>
                    <a:pt x="11843" y="7532"/>
                    <a:pt x="13711" y="6030"/>
                    <a:pt x="15512" y="4596"/>
                  </a:cubicBezTo>
                  <a:cubicBezTo>
                    <a:pt x="16646" y="3662"/>
                    <a:pt x="17847" y="2695"/>
                    <a:pt x="19081" y="1961"/>
                  </a:cubicBezTo>
                  <a:cubicBezTo>
                    <a:pt x="19848" y="1494"/>
                    <a:pt x="20716" y="1094"/>
                    <a:pt x="21750" y="660"/>
                  </a:cubicBezTo>
                  <a:cubicBezTo>
                    <a:pt x="21917" y="593"/>
                    <a:pt x="22017" y="360"/>
                    <a:pt x="21917" y="193"/>
                  </a:cubicBezTo>
                  <a:cubicBezTo>
                    <a:pt x="21867" y="69"/>
                    <a:pt x="21744" y="1"/>
                    <a:pt x="21616" y="1"/>
                  </a:cubicBezTo>
                  <a:close/>
                </a:path>
              </a:pathLst>
            </a:custGeom>
            <a:solidFill>
              <a:srgbClr val="EA9C3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g39dcdded7dd_1_41"/>
            <p:cNvSpPr/>
            <p:nvPr/>
          </p:nvSpPr>
          <p:spPr>
            <a:xfrm>
              <a:off x="-477403" y="483408"/>
              <a:ext cx="206745" cy="479538"/>
            </a:xfrm>
            <a:custGeom>
              <a:avLst/>
              <a:gdLst/>
              <a:ahLst/>
              <a:cxnLst/>
              <a:rect l="l" t="t" r="r" b="b"/>
              <a:pathLst>
                <a:path w="14278" h="33123" extrusionOk="0">
                  <a:moveTo>
                    <a:pt x="365" y="1"/>
                  </a:moveTo>
                  <a:cubicBezTo>
                    <a:pt x="271" y="1"/>
                    <a:pt x="175" y="44"/>
                    <a:pt x="100" y="119"/>
                  </a:cubicBezTo>
                  <a:cubicBezTo>
                    <a:pt x="0" y="252"/>
                    <a:pt x="34" y="452"/>
                    <a:pt x="167" y="586"/>
                  </a:cubicBezTo>
                  <a:cubicBezTo>
                    <a:pt x="2769" y="2988"/>
                    <a:pt x="4103" y="6457"/>
                    <a:pt x="5437" y="10393"/>
                  </a:cubicBezTo>
                  <a:cubicBezTo>
                    <a:pt x="6105" y="12428"/>
                    <a:pt x="6738" y="14262"/>
                    <a:pt x="7239" y="16164"/>
                  </a:cubicBezTo>
                  <a:cubicBezTo>
                    <a:pt x="7572" y="17331"/>
                    <a:pt x="7806" y="18499"/>
                    <a:pt x="8073" y="19666"/>
                  </a:cubicBezTo>
                  <a:cubicBezTo>
                    <a:pt x="8540" y="21734"/>
                    <a:pt x="9040" y="23836"/>
                    <a:pt x="9741" y="25904"/>
                  </a:cubicBezTo>
                  <a:cubicBezTo>
                    <a:pt x="10675" y="28439"/>
                    <a:pt x="11942" y="30807"/>
                    <a:pt x="13610" y="32976"/>
                  </a:cubicBezTo>
                  <a:cubicBezTo>
                    <a:pt x="13677" y="33076"/>
                    <a:pt x="13743" y="33109"/>
                    <a:pt x="13843" y="33109"/>
                  </a:cubicBezTo>
                  <a:cubicBezTo>
                    <a:pt x="13870" y="33118"/>
                    <a:pt x="13897" y="33122"/>
                    <a:pt x="13923" y="33122"/>
                  </a:cubicBezTo>
                  <a:cubicBezTo>
                    <a:pt x="13995" y="33122"/>
                    <a:pt x="14061" y="33091"/>
                    <a:pt x="14110" y="33042"/>
                  </a:cubicBezTo>
                  <a:cubicBezTo>
                    <a:pt x="14244" y="32976"/>
                    <a:pt x="14277" y="32776"/>
                    <a:pt x="14144" y="32609"/>
                  </a:cubicBezTo>
                  <a:cubicBezTo>
                    <a:pt x="12543" y="30474"/>
                    <a:pt x="11242" y="28172"/>
                    <a:pt x="10374" y="25670"/>
                  </a:cubicBezTo>
                  <a:cubicBezTo>
                    <a:pt x="9640" y="23736"/>
                    <a:pt x="9207" y="21601"/>
                    <a:pt x="8740" y="19566"/>
                  </a:cubicBezTo>
                  <a:cubicBezTo>
                    <a:pt x="8473" y="18365"/>
                    <a:pt x="8206" y="17164"/>
                    <a:pt x="7906" y="15997"/>
                  </a:cubicBezTo>
                  <a:cubicBezTo>
                    <a:pt x="7372" y="14062"/>
                    <a:pt x="6738" y="12127"/>
                    <a:pt x="6071" y="10159"/>
                  </a:cubicBezTo>
                  <a:cubicBezTo>
                    <a:pt x="4704" y="6123"/>
                    <a:pt x="3336" y="2621"/>
                    <a:pt x="567" y="85"/>
                  </a:cubicBezTo>
                  <a:cubicBezTo>
                    <a:pt x="509" y="27"/>
                    <a:pt x="438" y="1"/>
                    <a:pt x="365" y="1"/>
                  </a:cubicBezTo>
                  <a:close/>
                </a:path>
              </a:pathLst>
            </a:custGeom>
            <a:solidFill>
              <a:srgbClr val="EA9C3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g39dcdded7dd_1_41"/>
            <p:cNvSpPr/>
            <p:nvPr/>
          </p:nvSpPr>
          <p:spPr>
            <a:xfrm>
              <a:off x="-1330382" y="517533"/>
              <a:ext cx="678156" cy="549045"/>
            </a:xfrm>
            <a:custGeom>
              <a:avLst/>
              <a:gdLst/>
              <a:ahLst/>
              <a:cxnLst/>
              <a:rect l="l" t="t" r="r" b="b"/>
              <a:pathLst>
                <a:path w="46834" h="37924" extrusionOk="0">
                  <a:moveTo>
                    <a:pt x="39972" y="1"/>
                  </a:moveTo>
                  <a:cubicBezTo>
                    <a:pt x="38651" y="1"/>
                    <a:pt x="37344" y="189"/>
                    <a:pt x="36093" y="564"/>
                  </a:cubicBezTo>
                  <a:cubicBezTo>
                    <a:pt x="34373" y="1111"/>
                    <a:pt x="32510" y="2371"/>
                    <a:pt x="30967" y="2371"/>
                  </a:cubicBezTo>
                  <a:cubicBezTo>
                    <a:pt x="30534" y="2371"/>
                    <a:pt x="30127" y="2272"/>
                    <a:pt x="29755" y="2032"/>
                  </a:cubicBezTo>
                  <a:cubicBezTo>
                    <a:pt x="28471" y="1168"/>
                    <a:pt x="26967" y="892"/>
                    <a:pt x="25437" y="892"/>
                  </a:cubicBezTo>
                  <a:cubicBezTo>
                    <a:pt x="24662" y="892"/>
                    <a:pt x="23880" y="963"/>
                    <a:pt x="23117" y="1064"/>
                  </a:cubicBezTo>
                  <a:cubicBezTo>
                    <a:pt x="18614" y="1598"/>
                    <a:pt x="14111" y="2932"/>
                    <a:pt x="10275" y="5367"/>
                  </a:cubicBezTo>
                  <a:cubicBezTo>
                    <a:pt x="6438" y="7769"/>
                    <a:pt x="3236" y="11372"/>
                    <a:pt x="1735" y="15641"/>
                  </a:cubicBezTo>
                  <a:cubicBezTo>
                    <a:pt x="1" y="20545"/>
                    <a:pt x="501" y="25882"/>
                    <a:pt x="1135" y="30986"/>
                  </a:cubicBezTo>
                  <a:cubicBezTo>
                    <a:pt x="1435" y="33321"/>
                    <a:pt x="1835" y="35956"/>
                    <a:pt x="3737" y="37390"/>
                  </a:cubicBezTo>
                  <a:cubicBezTo>
                    <a:pt x="4137" y="37657"/>
                    <a:pt x="4604" y="37924"/>
                    <a:pt x="5104" y="37924"/>
                  </a:cubicBezTo>
                  <a:cubicBezTo>
                    <a:pt x="5638" y="37924"/>
                    <a:pt x="6105" y="37657"/>
                    <a:pt x="6572" y="37324"/>
                  </a:cubicBezTo>
                  <a:cubicBezTo>
                    <a:pt x="8673" y="35756"/>
                    <a:pt x="9574" y="33054"/>
                    <a:pt x="10408" y="30485"/>
                  </a:cubicBezTo>
                  <a:cubicBezTo>
                    <a:pt x="11242" y="27983"/>
                    <a:pt x="12343" y="25282"/>
                    <a:pt x="14678" y="24047"/>
                  </a:cubicBezTo>
                  <a:cubicBezTo>
                    <a:pt x="16446" y="23080"/>
                    <a:pt x="18580" y="23147"/>
                    <a:pt x="20515" y="22713"/>
                  </a:cubicBezTo>
                  <a:cubicBezTo>
                    <a:pt x="23784" y="21946"/>
                    <a:pt x="26519" y="19744"/>
                    <a:pt x="28854" y="17376"/>
                  </a:cubicBezTo>
                  <a:cubicBezTo>
                    <a:pt x="30289" y="15908"/>
                    <a:pt x="31623" y="14274"/>
                    <a:pt x="33358" y="13206"/>
                  </a:cubicBezTo>
                  <a:cubicBezTo>
                    <a:pt x="35159" y="12072"/>
                    <a:pt x="37294" y="11605"/>
                    <a:pt x="39295" y="10971"/>
                  </a:cubicBezTo>
                  <a:cubicBezTo>
                    <a:pt x="41330" y="10338"/>
                    <a:pt x="43365" y="9570"/>
                    <a:pt x="44799" y="8036"/>
                  </a:cubicBezTo>
                  <a:cubicBezTo>
                    <a:pt x="46200" y="6468"/>
                    <a:pt x="46834" y="3966"/>
                    <a:pt x="45666" y="2232"/>
                  </a:cubicBezTo>
                  <a:cubicBezTo>
                    <a:pt x="44766" y="797"/>
                    <a:pt x="42965" y="230"/>
                    <a:pt x="41297" y="64"/>
                  </a:cubicBezTo>
                  <a:cubicBezTo>
                    <a:pt x="40855" y="22"/>
                    <a:pt x="40413" y="1"/>
                    <a:pt x="39972" y="1"/>
                  </a:cubicBezTo>
                  <a:close/>
                </a:path>
              </a:pathLst>
            </a:custGeom>
            <a:solidFill>
              <a:srgbClr val="FFDF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g39dcdded7dd_1_41"/>
            <p:cNvSpPr/>
            <p:nvPr/>
          </p:nvSpPr>
          <p:spPr>
            <a:xfrm>
              <a:off x="-1234745" y="607371"/>
              <a:ext cx="813892" cy="820310"/>
            </a:xfrm>
            <a:custGeom>
              <a:avLst/>
              <a:gdLst/>
              <a:ahLst/>
              <a:cxnLst/>
              <a:rect l="l" t="t" r="r" b="b"/>
              <a:pathLst>
                <a:path w="56208" h="56661" extrusionOk="0">
                  <a:moveTo>
                    <a:pt x="48404" y="1"/>
                  </a:moveTo>
                  <a:cubicBezTo>
                    <a:pt x="47300" y="1"/>
                    <a:pt x="46120" y="471"/>
                    <a:pt x="45233" y="1197"/>
                  </a:cubicBezTo>
                  <a:cubicBezTo>
                    <a:pt x="43832" y="2365"/>
                    <a:pt x="42898" y="4066"/>
                    <a:pt x="41763" y="5567"/>
                  </a:cubicBezTo>
                  <a:cubicBezTo>
                    <a:pt x="41497" y="5934"/>
                    <a:pt x="41196" y="6267"/>
                    <a:pt x="40763" y="6501"/>
                  </a:cubicBezTo>
                  <a:cubicBezTo>
                    <a:pt x="40229" y="6768"/>
                    <a:pt x="39595" y="6734"/>
                    <a:pt x="39028" y="6768"/>
                  </a:cubicBezTo>
                  <a:cubicBezTo>
                    <a:pt x="35692" y="6901"/>
                    <a:pt x="32390" y="8302"/>
                    <a:pt x="30022" y="10671"/>
                  </a:cubicBezTo>
                  <a:cubicBezTo>
                    <a:pt x="27520" y="13172"/>
                    <a:pt x="25852" y="16742"/>
                    <a:pt x="22516" y="17909"/>
                  </a:cubicBezTo>
                  <a:cubicBezTo>
                    <a:pt x="21015" y="18443"/>
                    <a:pt x="19347" y="18409"/>
                    <a:pt x="17813" y="18776"/>
                  </a:cubicBezTo>
                  <a:cubicBezTo>
                    <a:pt x="15311" y="19377"/>
                    <a:pt x="13076" y="21111"/>
                    <a:pt x="11942" y="23380"/>
                  </a:cubicBezTo>
                  <a:cubicBezTo>
                    <a:pt x="11108" y="25047"/>
                    <a:pt x="10741" y="26915"/>
                    <a:pt x="9807" y="28517"/>
                  </a:cubicBezTo>
                  <a:cubicBezTo>
                    <a:pt x="9040" y="29751"/>
                    <a:pt x="8006" y="30785"/>
                    <a:pt x="7039" y="31886"/>
                  </a:cubicBezTo>
                  <a:cubicBezTo>
                    <a:pt x="2469" y="37056"/>
                    <a:pt x="0" y="44028"/>
                    <a:pt x="367" y="50933"/>
                  </a:cubicBezTo>
                  <a:cubicBezTo>
                    <a:pt x="467" y="52467"/>
                    <a:pt x="701" y="54068"/>
                    <a:pt x="1635" y="55269"/>
                  </a:cubicBezTo>
                  <a:cubicBezTo>
                    <a:pt x="2304" y="56100"/>
                    <a:pt x="3358" y="56660"/>
                    <a:pt x="4374" y="56660"/>
                  </a:cubicBezTo>
                  <a:cubicBezTo>
                    <a:pt x="4826" y="56660"/>
                    <a:pt x="5271" y="56550"/>
                    <a:pt x="5671" y="56303"/>
                  </a:cubicBezTo>
                  <a:cubicBezTo>
                    <a:pt x="6338" y="55903"/>
                    <a:pt x="6805" y="55136"/>
                    <a:pt x="7139" y="54435"/>
                  </a:cubicBezTo>
                  <a:cubicBezTo>
                    <a:pt x="9340" y="49899"/>
                    <a:pt x="9774" y="44561"/>
                    <a:pt x="12509" y="40358"/>
                  </a:cubicBezTo>
                  <a:cubicBezTo>
                    <a:pt x="14644" y="37056"/>
                    <a:pt x="18147" y="34654"/>
                    <a:pt x="21983" y="33820"/>
                  </a:cubicBezTo>
                  <a:cubicBezTo>
                    <a:pt x="23722" y="33461"/>
                    <a:pt x="25508" y="33417"/>
                    <a:pt x="27299" y="33417"/>
                  </a:cubicBezTo>
                  <a:cubicBezTo>
                    <a:pt x="27892" y="33417"/>
                    <a:pt x="28485" y="33422"/>
                    <a:pt x="29078" y="33422"/>
                  </a:cubicBezTo>
                  <a:cubicBezTo>
                    <a:pt x="31020" y="33422"/>
                    <a:pt x="32953" y="33369"/>
                    <a:pt x="34825" y="32920"/>
                  </a:cubicBezTo>
                  <a:cubicBezTo>
                    <a:pt x="37727" y="32219"/>
                    <a:pt x="40462" y="30551"/>
                    <a:pt x="42364" y="28250"/>
                  </a:cubicBezTo>
                  <a:cubicBezTo>
                    <a:pt x="44098" y="26182"/>
                    <a:pt x="45399" y="23446"/>
                    <a:pt x="47901" y="22412"/>
                  </a:cubicBezTo>
                  <a:cubicBezTo>
                    <a:pt x="49002" y="22012"/>
                    <a:pt x="50203" y="21912"/>
                    <a:pt x="51237" y="21512"/>
                  </a:cubicBezTo>
                  <a:cubicBezTo>
                    <a:pt x="53405" y="20611"/>
                    <a:pt x="54739" y="18409"/>
                    <a:pt x="55507" y="16208"/>
                  </a:cubicBezTo>
                  <a:cubicBezTo>
                    <a:pt x="55940" y="14840"/>
                    <a:pt x="56207" y="13106"/>
                    <a:pt x="55173" y="12105"/>
                  </a:cubicBezTo>
                  <a:cubicBezTo>
                    <a:pt x="54673" y="11571"/>
                    <a:pt x="53905" y="11371"/>
                    <a:pt x="53338" y="10904"/>
                  </a:cubicBezTo>
                  <a:cubicBezTo>
                    <a:pt x="51771" y="9737"/>
                    <a:pt x="51670" y="7568"/>
                    <a:pt x="51670" y="5667"/>
                  </a:cubicBezTo>
                  <a:cubicBezTo>
                    <a:pt x="51737" y="3732"/>
                    <a:pt x="51470" y="1531"/>
                    <a:pt x="50370" y="663"/>
                  </a:cubicBezTo>
                  <a:cubicBezTo>
                    <a:pt x="49816" y="202"/>
                    <a:pt x="49126" y="1"/>
                    <a:pt x="48404" y="1"/>
                  </a:cubicBezTo>
                  <a:close/>
                </a:path>
              </a:pathLst>
            </a:custGeom>
            <a:solidFill>
              <a:srgbClr val="EFB25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g39dcdded7dd_1_41"/>
            <p:cNvSpPr/>
            <p:nvPr/>
          </p:nvSpPr>
          <p:spPr>
            <a:xfrm>
              <a:off x="-261990" y="591879"/>
              <a:ext cx="390772" cy="246523"/>
            </a:xfrm>
            <a:custGeom>
              <a:avLst/>
              <a:gdLst/>
              <a:ahLst/>
              <a:cxnLst/>
              <a:rect l="l" t="t" r="r" b="b"/>
              <a:pathLst>
                <a:path w="26987" h="17028" extrusionOk="0">
                  <a:moveTo>
                    <a:pt x="24697" y="1"/>
                  </a:moveTo>
                  <a:cubicBezTo>
                    <a:pt x="23874" y="1"/>
                    <a:pt x="22983" y="379"/>
                    <a:pt x="22350" y="933"/>
                  </a:cubicBezTo>
                  <a:cubicBezTo>
                    <a:pt x="21249" y="1833"/>
                    <a:pt x="20582" y="3168"/>
                    <a:pt x="19514" y="4102"/>
                  </a:cubicBezTo>
                  <a:cubicBezTo>
                    <a:pt x="17213" y="6003"/>
                    <a:pt x="13877" y="5736"/>
                    <a:pt x="10875" y="5936"/>
                  </a:cubicBezTo>
                  <a:cubicBezTo>
                    <a:pt x="9207" y="6070"/>
                    <a:pt x="7539" y="6437"/>
                    <a:pt x="5905" y="6970"/>
                  </a:cubicBezTo>
                  <a:cubicBezTo>
                    <a:pt x="4304" y="7571"/>
                    <a:pt x="2702" y="8338"/>
                    <a:pt x="1635" y="9639"/>
                  </a:cubicBezTo>
                  <a:cubicBezTo>
                    <a:pt x="501" y="10940"/>
                    <a:pt x="1" y="12841"/>
                    <a:pt x="634" y="14442"/>
                  </a:cubicBezTo>
                  <a:cubicBezTo>
                    <a:pt x="1201" y="15910"/>
                    <a:pt x="2803" y="16911"/>
                    <a:pt x="4370" y="17011"/>
                  </a:cubicBezTo>
                  <a:cubicBezTo>
                    <a:pt x="4507" y="17022"/>
                    <a:pt x="4644" y="17028"/>
                    <a:pt x="4780" y="17028"/>
                  </a:cubicBezTo>
                  <a:cubicBezTo>
                    <a:pt x="6237" y="17028"/>
                    <a:pt x="7642" y="16392"/>
                    <a:pt x="8740" y="15477"/>
                  </a:cubicBezTo>
                  <a:cubicBezTo>
                    <a:pt x="10074" y="14342"/>
                    <a:pt x="11008" y="12808"/>
                    <a:pt x="12209" y="11607"/>
                  </a:cubicBezTo>
                  <a:cubicBezTo>
                    <a:pt x="13477" y="10340"/>
                    <a:pt x="15078" y="9439"/>
                    <a:pt x="16813" y="8939"/>
                  </a:cubicBezTo>
                  <a:cubicBezTo>
                    <a:pt x="18047" y="8605"/>
                    <a:pt x="19381" y="8505"/>
                    <a:pt x="20649" y="8105"/>
                  </a:cubicBezTo>
                  <a:cubicBezTo>
                    <a:pt x="22650" y="7471"/>
                    <a:pt x="24385" y="6103"/>
                    <a:pt x="25419" y="4302"/>
                  </a:cubicBezTo>
                  <a:cubicBezTo>
                    <a:pt x="26186" y="3134"/>
                    <a:pt x="26986" y="1433"/>
                    <a:pt x="26186" y="599"/>
                  </a:cubicBezTo>
                  <a:cubicBezTo>
                    <a:pt x="25792" y="179"/>
                    <a:pt x="25261" y="1"/>
                    <a:pt x="24697" y="1"/>
                  </a:cubicBezTo>
                  <a:close/>
                </a:path>
              </a:pathLst>
            </a:custGeom>
            <a:solidFill>
              <a:srgbClr val="EA9C3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g39dcdded7dd_1_41"/>
            <p:cNvSpPr/>
            <p:nvPr/>
          </p:nvSpPr>
          <p:spPr>
            <a:xfrm>
              <a:off x="-512184" y="926055"/>
              <a:ext cx="405266" cy="967329"/>
            </a:xfrm>
            <a:custGeom>
              <a:avLst/>
              <a:gdLst/>
              <a:ahLst/>
              <a:cxnLst/>
              <a:rect l="l" t="t" r="r" b="b"/>
              <a:pathLst>
                <a:path w="27988" h="66816" extrusionOk="0">
                  <a:moveTo>
                    <a:pt x="25519" y="1"/>
                  </a:moveTo>
                  <a:cubicBezTo>
                    <a:pt x="23717" y="2069"/>
                    <a:pt x="21549" y="3704"/>
                    <a:pt x="19314" y="5271"/>
                  </a:cubicBezTo>
                  <a:cubicBezTo>
                    <a:pt x="19514" y="4538"/>
                    <a:pt x="19748" y="3870"/>
                    <a:pt x="20015" y="3203"/>
                  </a:cubicBezTo>
                  <a:cubicBezTo>
                    <a:pt x="20315" y="2436"/>
                    <a:pt x="20682" y="1769"/>
                    <a:pt x="21116" y="968"/>
                  </a:cubicBezTo>
                  <a:lnTo>
                    <a:pt x="21116" y="968"/>
                  </a:lnTo>
                  <a:cubicBezTo>
                    <a:pt x="20315" y="1369"/>
                    <a:pt x="19748" y="2102"/>
                    <a:pt x="19381" y="2936"/>
                  </a:cubicBezTo>
                  <a:cubicBezTo>
                    <a:pt x="19114" y="3704"/>
                    <a:pt x="18981" y="4571"/>
                    <a:pt x="19248" y="5371"/>
                  </a:cubicBezTo>
                  <a:cubicBezTo>
                    <a:pt x="16412" y="7406"/>
                    <a:pt x="13477" y="9408"/>
                    <a:pt x="11309" y="12110"/>
                  </a:cubicBezTo>
                  <a:cubicBezTo>
                    <a:pt x="7106" y="17413"/>
                    <a:pt x="6305" y="24552"/>
                    <a:pt x="5638" y="31257"/>
                  </a:cubicBezTo>
                  <a:cubicBezTo>
                    <a:pt x="4971" y="38162"/>
                    <a:pt x="4304" y="45100"/>
                    <a:pt x="3603" y="52272"/>
                  </a:cubicBezTo>
                  <a:cubicBezTo>
                    <a:pt x="3470" y="47902"/>
                    <a:pt x="3069" y="43465"/>
                    <a:pt x="2402" y="39129"/>
                  </a:cubicBezTo>
                  <a:cubicBezTo>
                    <a:pt x="2273" y="38251"/>
                    <a:pt x="2064" y="37292"/>
                    <a:pt x="1077" y="37292"/>
                  </a:cubicBezTo>
                  <a:cubicBezTo>
                    <a:pt x="790" y="37292"/>
                    <a:pt x="437" y="37373"/>
                    <a:pt x="1" y="37561"/>
                  </a:cubicBezTo>
                  <a:cubicBezTo>
                    <a:pt x="1235" y="40964"/>
                    <a:pt x="1468" y="44600"/>
                    <a:pt x="1602" y="48236"/>
                  </a:cubicBezTo>
                  <a:cubicBezTo>
                    <a:pt x="1835" y="54407"/>
                    <a:pt x="1902" y="60578"/>
                    <a:pt x="1835" y="66782"/>
                  </a:cubicBezTo>
                  <a:cubicBezTo>
                    <a:pt x="2903" y="66782"/>
                    <a:pt x="3903" y="66815"/>
                    <a:pt x="5071" y="66815"/>
                  </a:cubicBezTo>
                  <a:cubicBezTo>
                    <a:pt x="5238" y="52972"/>
                    <a:pt x="6472" y="39162"/>
                    <a:pt x="8740" y="25553"/>
                  </a:cubicBezTo>
                  <a:cubicBezTo>
                    <a:pt x="9174" y="22884"/>
                    <a:pt x="9641" y="20215"/>
                    <a:pt x="10608" y="17647"/>
                  </a:cubicBezTo>
                  <a:cubicBezTo>
                    <a:pt x="12443" y="12710"/>
                    <a:pt x="15945" y="8474"/>
                    <a:pt x="20182" y="5371"/>
                  </a:cubicBezTo>
                  <a:cubicBezTo>
                    <a:pt x="20515" y="5105"/>
                    <a:pt x="20849" y="4871"/>
                    <a:pt x="21182" y="4638"/>
                  </a:cubicBezTo>
                  <a:cubicBezTo>
                    <a:pt x="22483" y="4571"/>
                    <a:pt x="23751" y="4171"/>
                    <a:pt x="24918" y="3604"/>
                  </a:cubicBezTo>
                  <a:cubicBezTo>
                    <a:pt x="26086" y="3036"/>
                    <a:pt x="27153" y="2236"/>
                    <a:pt x="27987" y="1202"/>
                  </a:cubicBezTo>
                  <a:lnTo>
                    <a:pt x="27987" y="1202"/>
                  </a:lnTo>
                  <a:cubicBezTo>
                    <a:pt x="26753" y="1769"/>
                    <a:pt x="25652" y="2403"/>
                    <a:pt x="24518" y="3003"/>
                  </a:cubicBezTo>
                  <a:cubicBezTo>
                    <a:pt x="23484" y="3537"/>
                    <a:pt x="22383" y="4037"/>
                    <a:pt x="21282" y="4538"/>
                  </a:cubicBezTo>
                  <a:cubicBezTo>
                    <a:pt x="23084" y="3270"/>
                    <a:pt x="24852" y="1902"/>
                    <a:pt x="25519" y="1"/>
                  </a:cubicBezTo>
                  <a:close/>
                </a:path>
              </a:pathLst>
            </a:custGeom>
            <a:solidFill>
              <a:srgbClr val="E76E2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g39dcdded7dd_1_41"/>
            <p:cNvSpPr/>
            <p:nvPr/>
          </p:nvSpPr>
          <p:spPr>
            <a:xfrm>
              <a:off x="-926589" y="1264154"/>
              <a:ext cx="456931" cy="235723"/>
            </a:xfrm>
            <a:custGeom>
              <a:avLst/>
              <a:gdLst/>
              <a:ahLst/>
              <a:cxnLst/>
              <a:rect l="l" t="t" r="r" b="b"/>
              <a:pathLst>
                <a:path w="31556" h="16282" extrusionOk="0">
                  <a:moveTo>
                    <a:pt x="7691" y="1"/>
                  </a:moveTo>
                  <a:cubicBezTo>
                    <a:pt x="7386" y="1"/>
                    <a:pt x="7079" y="11"/>
                    <a:pt x="6772" y="32"/>
                  </a:cubicBezTo>
                  <a:cubicBezTo>
                    <a:pt x="4403" y="199"/>
                    <a:pt x="1868" y="1200"/>
                    <a:pt x="901" y="3368"/>
                  </a:cubicBezTo>
                  <a:cubicBezTo>
                    <a:pt x="0" y="5503"/>
                    <a:pt x="934" y="8071"/>
                    <a:pt x="2602" y="9706"/>
                  </a:cubicBezTo>
                  <a:cubicBezTo>
                    <a:pt x="4274" y="11298"/>
                    <a:pt x="6543" y="12086"/>
                    <a:pt x="8834" y="12086"/>
                  </a:cubicBezTo>
                  <a:cubicBezTo>
                    <a:pt x="10337" y="12086"/>
                    <a:pt x="11849" y="11747"/>
                    <a:pt x="13210" y="11074"/>
                  </a:cubicBezTo>
                  <a:cubicBezTo>
                    <a:pt x="13382" y="10975"/>
                    <a:pt x="13592" y="10858"/>
                    <a:pt x="13811" y="10858"/>
                  </a:cubicBezTo>
                  <a:cubicBezTo>
                    <a:pt x="13888" y="10858"/>
                    <a:pt x="13966" y="10872"/>
                    <a:pt x="14043" y="10907"/>
                  </a:cubicBezTo>
                  <a:cubicBezTo>
                    <a:pt x="14244" y="11007"/>
                    <a:pt x="14377" y="11174"/>
                    <a:pt x="14477" y="11274"/>
                  </a:cubicBezTo>
                  <a:cubicBezTo>
                    <a:pt x="15778" y="12842"/>
                    <a:pt x="17579" y="13876"/>
                    <a:pt x="19414" y="14743"/>
                  </a:cubicBezTo>
                  <a:cubicBezTo>
                    <a:pt x="21171" y="15573"/>
                    <a:pt x="23050" y="16282"/>
                    <a:pt x="24993" y="16282"/>
                  </a:cubicBezTo>
                  <a:cubicBezTo>
                    <a:pt x="25079" y="16282"/>
                    <a:pt x="25165" y="16280"/>
                    <a:pt x="25251" y="16277"/>
                  </a:cubicBezTo>
                  <a:cubicBezTo>
                    <a:pt x="27353" y="16277"/>
                    <a:pt x="29588" y="15477"/>
                    <a:pt x="30555" y="13942"/>
                  </a:cubicBezTo>
                  <a:cubicBezTo>
                    <a:pt x="31556" y="12375"/>
                    <a:pt x="30789" y="10140"/>
                    <a:pt x="29421" y="8872"/>
                  </a:cubicBezTo>
                  <a:cubicBezTo>
                    <a:pt x="28053" y="7571"/>
                    <a:pt x="26219" y="7004"/>
                    <a:pt x="24451" y="6270"/>
                  </a:cubicBezTo>
                  <a:cubicBezTo>
                    <a:pt x="24217" y="6203"/>
                    <a:pt x="23917" y="6070"/>
                    <a:pt x="23717" y="5870"/>
                  </a:cubicBezTo>
                  <a:cubicBezTo>
                    <a:pt x="23450" y="5603"/>
                    <a:pt x="23350" y="5236"/>
                    <a:pt x="23183" y="4903"/>
                  </a:cubicBezTo>
                  <a:cubicBezTo>
                    <a:pt x="22583" y="3702"/>
                    <a:pt x="21415" y="2834"/>
                    <a:pt x="20114" y="2401"/>
                  </a:cubicBezTo>
                  <a:cubicBezTo>
                    <a:pt x="19094" y="2087"/>
                    <a:pt x="18032" y="1978"/>
                    <a:pt x="16977" y="1978"/>
                  </a:cubicBezTo>
                  <a:cubicBezTo>
                    <a:pt x="16688" y="1978"/>
                    <a:pt x="16399" y="1986"/>
                    <a:pt x="16112" y="2000"/>
                  </a:cubicBezTo>
                  <a:cubicBezTo>
                    <a:pt x="15951" y="2000"/>
                    <a:pt x="15791" y="2006"/>
                    <a:pt x="15631" y="2006"/>
                  </a:cubicBezTo>
                  <a:cubicBezTo>
                    <a:pt x="15391" y="2006"/>
                    <a:pt x="15151" y="1994"/>
                    <a:pt x="14911" y="1934"/>
                  </a:cubicBezTo>
                  <a:cubicBezTo>
                    <a:pt x="14477" y="1867"/>
                    <a:pt x="14110" y="1667"/>
                    <a:pt x="13743" y="1433"/>
                  </a:cubicBezTo>
                  <a:cubicBezTo>
                    <a:pt x="11878" y="501"/>
                    <a:pt x="9809" y="1"/>
                    <a:pt x="7691" y="1"/>
                  </a:cubicBezTo>
                  <a:close/>
                </a:path>
              </a:pathLst>
            </a:custGeom>
            <a:solidFill>
              <a:srgbClr val="FFA37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6" name="Google Shape;126;g39dcdded7dd_1_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39dcdded7dd_1_6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US"/>
              <a:t>Introduction</a:t>
            </a:r>
            <a:endParaRPr/>
          </a:p>
        </p:txBody>
      </p:sp>
      <p:sp>
        <p:nvSpPr>
          <p:cNvPr id="132" name="Google Shape;132;g39dcdded7dd_1_68"/>
          <p:cNvSpPr txBox="1">
            <a:spLocks noGrp="1"/>
          </p:cNvSpPr>
          <p:nvPr>
            <p:ph type="body" idx="1"/>
          </p:nvPr>
        </p:nvSpPr>
        <p:spPr>
          <a:xfrm>
            <a:off x="720000" y="1399600"/>
            <a:ext cx="3816600" cy="1228500"/>
          </a:xfrm>
          <a:prstGeom prst="rect">
            <a:avLst/>
          </a:prstGeom>
          <a:noFill/>
          <a:ln>
            <a:noFill/>
          </a:ln>
        </p:spPr>
        <p:txBody>
          <a:bodyPr spcFirstLastPara="1" wrap="square" lIns="91425" tIns="91425" rIns="91425" bIns="91425" anchor="ctr" anchorCtr="0">
            <a:noAutofit/>
          </a:bodyPr>
          <a:lstStyle/>
          <a:p>
            <a:pPr marL="457200" lvl="0" indent="-323850" algn="l" rtl="0">
              <a:spcBef>
                <a:spcPts val="0"/>
              </a:spcBef>
              <a:spcAft>
                <a:spcPts val="0"/>
              </a:spcAft>
              <a:buSzPts val="1500"/>
              <a:buChar char="●"/>
            </a:pPr>
            <a:r>
              <a:rPr lang="en-US" sz="1500"/>
              <a:t>Task</a:t>
            </a:r>
            <a:endParaRPr sz="1500"/>
          </a:p>
          <a:p>
            <a:pPr marL="914400" lvl="1" indent="-323850" algn="l" rtl="0">
              <a:spcBef>
                <a:spcPts val="0"/>
              </a:spcBef>
              <a:spcAft>
                <a:spcPts val="0"/>
              </a:spcAft>
              <a:buSzPts val="1500"/>
              <a:buChar char="○"/>
            </a:pPr>
            <a:r>
              <a:rPr lang="en-US" sz="1300"/>
              <a:t>Semantic segmentation  </a:t>
            </a:r>
            <a:endParaRPr sz="1300"/>
          </a:p>
          <a:p>
            <a:pPr marL="914400" lvl="1" indent="-323850" algn="l" rtl="0">
              <a:spcBef>
                <a:spcPts val="0"/>
              </a:spcBef>
              <a:spcAft>
                <a:spcPts val="0"/>
              </a:spcAft>
              <a:buSzPts val="1500"/>
              <a:buChar char="○"/>
            </a:pPr>
            <a:r>
              <a:rPr lang="en-US" sz="1300"/>
              <a:t>12 organs</a:t>
            </a:r>
            <a:endParaRPr sz="1300"/>
          </a:p>
        </p:txBody>
      </p:sp>
      <p:pic>
        <p:nvPicPr>
          <p:cNvPr id="133" name="Google Shape;133;g39dcdded7dd_1_68"/>
          <p:cNvPicPr preferRelativeResize="0"/>
          <p:nvPr/>
        </p:nvPicPr>
        <p:blipFill rotWithShape="1">
          <a:blip r:embed="rId3">
            <a:alphaModFix/>
          </a:blip>
          <a:srcRect/>
          <a:stretch/>
        </p:blipFill>
        <p:spPr>
          <a:xfrm>
            <a:off x="4536604" y="1902275"/>
            <a:ext cx="4253100" cy="2551800"/>
          </a:xfrm>
          <a:prstGeom prst="rect">
            <a:avLst/>
          </a:prstGeom>
          <a:noFill/>
          <a:ln>
            <a:noFill/>
          </a:ln>
        </p:spPr>
      </p:pic>
      <p:sp>
        <p:nvSpPr>
          <p:cNvPr id="134" name="Google Shape;134;g39dcdded7dd_1_6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4</a:t>
            </a:fld>
            <a:endParaRPr/>
          </a:p>
        </p:txBody>
      </p:sp>
      <p:sp>
        <p:nvSpPr>
          <p:cNvPr id="135" name="Google Shape;135;g39dcdded7dd_1_68"/>
          <p:cNvSpPr txBox="1"/>
          <p:nvPr/>
        </p:nvSpPr>
        <p:spPr>
          <a:xfrm>
            <a:off x="4604100" y="1532975"/>
            <a:ext cx="41181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1200">
                <a:solidFill>
                  <a:schemeClr val="dk1"/>
                </a:solidFill>
                <a:latin typeface="Open Sans"/>
                <a:ea typeface="Open Sans"/>
                <a:cs typeface="Open Sans"/>
                <a:sym typeface="Open Sans"/>
              </a:rPr>
              <a:t>Training set: Imbalance classes</a:t>
            </a:r>
            <a:endParaRPr/>
          </a:p>
        </p:txBody>
      </p:sp>
      <p:sp>
        <p:nvSpPr>
          <p:cNvPr id="136" name="Google Shape;136;g39dcdded7dd_1_68"/>
          <p:cNvSpPr txBox="1">
            <a:spLocks noGrp="1"/>
          </p:cNvSpPr>
          <p:nvPr>
            <p:ph type="body" idx="1"/>
          </p:nvPr>
        </p:nvSpPr>
        <p:spPr>
          <a:xfrm>
            <a:off x="720000" y="2453475"/>
            <a:ext cx="3816600" cy="2100600"/>
          </a:xfrm>
          <a:prstGeom prst="rect">
            <a:avLst/>
          </a:prstGeom>
          <a:noFill/>
          <a:ln>
            <a:noFill/>
          </a:ln>
        </p:spPr>
        <p:txBody>
          <a:bodyPr spcFirstLastPara="1" wrap="square" lIns="91425" tIns="91425" rIns="91425" bIns="91425" anchor="ctr" anchorCtr="0">
            <a:noAutofit/>
          </a:bodyPr>
          <a:lstStyle/>
          <a:p>
            <a:pPr marL="457200" lvl="0" indent="-323850" algn="l" rtl="0">
              <a:lnSpc>
                <a:spcPct val="115000"/>
              </a:lnSpc>
              <a:spcBef>
                <a:spcPts val="0"/>
              </a:spcBef>
              <a:spcAft>
                <a:spcPts val="0"/>
              </a:spcAft>
              <a:buSzPts val="1500"/>
              <a:buChar char="●"/>
            </a:pPr>
            <a:r>
              <a:rPr lang="en-US" sz="1500"/>
              <a:t>Dataset description</a:t>
            </a:r>
            <a:endParaRPr sz="1300"/>
          </a:p>
          <a:p>
            <a:pPr marL="914400" lvl="1" indent="-311150" algn="l" rtl="0">
              <a:lnSpc>
                <a:spcPct val="115000"/>
              </a:lnSpc>
              <a:spcBef>
                <a:spcPts val="0"/>
              </a:spcBef>
              <a:spcAft>
                <a:spcPts val="0"/>
              </a:spcAft>
              <a:buSzPts val="1300"/>
              <a:buChar char="○"/>
            </a:pPr>
            <a:r>
              <a:rPr lang="en-US" sz="1300"/>
              <a:t>2D CT images (512x512)</a:t>
            </a:r>
            <a:endParaRPr sz="1300"/>
          </a:p>
          <a:p>
            <a:pPr marL="914400" lvl="1" indent="-311150" algn="l" rtl="0">
              <a:spcBef>
                <a:spcPts val="0"/>
              </a:spcBef>
              <a:spcAft>
                <a:spcPts val="0"/>
              </a:spcAft>
              <a:buSzPts val="1300"/>
              <a:buChar char="○"/>
            </a:pPr>
            <a:r>
              <a:rPr lang="en-US" sz="1300"/>
              <a:t>Grayscale range = [0,255]</a:t>
            </a:r>
            <a:endParaRPr sz="1300"/>
          </a:p>
          <a:p>
            <a:pPr marL="914400" lvl="1" indent="-311150" algn="l" rtl="0">
              <a:spcBef>
                <a:spcPts val="0"/>
              </a:spcBef>
              <a:spcAft>
                <a:spcPts val="0"/>
              </a:spcAft>
              <a:buSzPts val="1300"/>
              <a:buChar char="○"/>
            </a:pPr>
            <a:r>
              <a:rPr lang="en-US" sz="1300"/>
              <a:t>Voxel value range = [−3024, 3095] </a:t>
            </a:r>
            <a:endParaRPr sz="1300"/>
          </a:p>
          <a:p>
            <a:pPr marL="914400" lvl="1" indent="-311150" algn="l" rtl="0">
              <a:spcBef>
                <a:spcPts val="0"/>
              </a:spcBef>
              <a:spcAft>
                <a:spcPts val="0"/>
              </a:spcAft>
              <a:buSzPts val="1300"/>
              <a:buChar char="○"/>
            </a:pPr>
            <a:r>
              <a:rPr lang="en-US" sz="1300"/>
              <a:t>Spacing</a:t>
            </a:r>
            <a:endParaRPr sz="1300"/>
          </a:p>
          <a:p>
            <a:pPr marL="914400" lvl="1" indent="-311150" algn="l" rtl="0">
              <a:spcBef>
                <a:spcPts val="0"/>
              </a:spcBef>
              <a:spcAft>
                <a:spcPts val="0"/>
              </a:spcAft>
              <a:buSzPts val="1300"/>
              <a:buChar char="○"/>
            </a:pPr>
            <a:r>
              <a:rPr lang="en-US" sz="1300"/>
              <a:t>Bounding box</a:t>
            </a:r>
            <a:endParaRPr sz="1500"/>
          </a:p>
          <a:p>
            <a:pPr marL="0" lvl="0" indent="0" algn="l" rtl="0">
              <a:spcBef>
                <a:spcPts val="0"/>
              </a:spcBef>
              <a:spcAft>
                <a:spcPts val="0"/>
              </a:spcAft>
              <a:buNone/>
            </a:pPr>
            <a:endParaRPr sz="1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39dcdded7dd_1_74"/>
          <p:cNvSpPr/>
          <p:nvPr/>
        </p:nvSpPr>
        <p:spPr>
          <a:xfrm>
            <a:off x="1334100" y="4098850"/>
            <a:ext cx="7089900" cy="6510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457200" marR="0" lvl="0" indent="-311150" algn="l" rtl="0">
              <a:lnSpc>
                <a:spcPct val="115000"/>
              </a:lnSpc>
              <a:spcBef>
                <a:spcPts val="0"/>
              </a:spcBef>
              <a:spcAft>
                <a:spcPts val="0"/>
              </a:spcAft>
              <a:buClr>
                <a:schemeClr val="accent1"/>
              </a:buClr>
              <a:buSzPts val="1300"/>
              <a:buFont typeface="Open Sans"/>
              <a:buChar char="●"/>
            </a:pPr>
            <a:r>
              <a:rPr lang="en-US" sz="1300">
                <a:solidFill>
                  <a:schemeClr val="dk1"/>
                </a:solidFill>
                <a:latin typeface="Open Sans"/>
                <a:ea typeface="Open Sans"/>
                <a:cs typeface="Open Sans"/>
                <a:sym typeface="Open Sans"/>
              </a:rPr>
              <a:t>Use bbox to set background</a:t>
            </a:r>
            <a:endParaRPr sz="1300">
              <a:solidFill>
                <a:schemeClr val="dk1"/>
              </a:solidFill>
              <a:latin typeface="Open Sans"/>
              <a:ea typeface="Open Sans"/>
              <a:cs typeface="Open Sans"/>
              <a:sym typeface="Open Sans"/>
            </a:endParaRPr>
          </a:p>
          <a:p>
            <a:pPr marL="457200" marR="0" lvl="0" indent="-311150" algn="l" rtl="0">
              <a:lnSpc>
                <a:spcPct val="115000"/>
              </a:lnSpc>
              <a:spcBef>
                <a:spcPts val="0"/>
              </a:spcBef>
              <a:spcAft>
                <a:spcPts val="0"/>
              </a:spcAft>
              <a:buClr>
                <a:srgbClr val="666666"/>
              </a:buClr>
              <a:buSzPts val="1300"/>
              <a:buFont typeface="Open Sans"/>
              <a:buChar char="●"/>
            </a:pPr>
            <a:r>
              <a:rPr lang="en-US" sz="1300">
                <a:solidFill>
                  <a:srgbClr val="666666"/>
                </a:solidFill>
                <a:latin typeface="Open Sans"/>
                <a:ea typeface="Open Sans"/>
                <a:cs typeface="Open Sans"/>
                <a:sym typeface="Open Sans"/>
              </a:rPr>
              <a:t>Future work: crop organs before prediction</a:t>
            </a:r>
            <a:endParaRPr sz="1300">
              <a:solidFill>
                <a:srgbClr val="666666"/>
              </a:solidFill>
              <a:latin typeface="Open Sans"/>
              <a:ea typeface="Open Sans"/>
              <a:cs typeface="Open Sans"/>
              <a:sym typeface="Open Sans"/>
            </a:endParaRPr>
          </a:p>
        </p:txBody>
      </p:sp>
      <p:sp>
        <p:nvSpPr>
          <p:cNvPr id="142" name="Google Shape;142;g39dcdded7dd_1_74"/>
          <p:cNvSpPr/>
          <p:nvPr/>
        </p:nvSpPr>
        <p:spPr>
          <a:xfrm>
            <a:off x="5006025" y="1680200"/>
            <a:ext cx="3417900" cy="14322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457200" lvl="0" indent="-311150" algn="l" rtl="0">
              <a:lnSpc>
                <a:spcPct val="115000"/>
              </a:lnSpc>
              <a:spcBef>
                <a:spcPts val="0"/>
              </a:spcBef>
              <a:spcAft>
                <a:spcPts val="0"/>
              </a:spcAft>
              <a:buClr>
                <a:schemeClr val="accent1"/>
              </a:buClr>
              <a:buSzPts val="1300"/>
              <a:buFont typeface="Open Sans"/>
              <a:buAutoNum type="arabicPeriod"/>
            </a:pPr>
            <a:r>
              <a:rPr lang="en-US" sz="1300">
                <a:solidFill>
                  <a:schemeClr val="dk1"/>
                </a:solidFill>
                <a:latin typeface="Open Sans"/>
                <a:ea typeface="Open Sans"/>
                <a:cs typeface="Open Sans"/>
                <a:sym typeface="Open Sans"/>
              </a:rPr>
              <a:t>Convert to CT range (HU)</a:t>
            </a:r>
            <a:endParaRPr sz="1300">
              <a:solidFill>
                <a:schemeClr val="dk1"/>
              </a:solidFill>
              <a:latin typeface="Open Sans"/>
              <a:ea typeface="Open Sans"/>
              <a:cs typeface="Open Sans"/>
              <a:sym typeface="Open Sans"/>
            </a:endParaRPr>
          </a:p>
          <a:p>
            <a:pPr marL="457200" lvl="0" indent="-311150" algn="l" rtl="0">
              <a:lnSpc>
                <a:spcPct val="115000"/>
              </a:lnSpc>
              <a:spcBef>
                <a:spcPts val="0"/>
              </a:spcBef>
              <a:spcAft>
                <a:spcPts val="0"/>
              </a:spcAft>
              <a:buClr>
                <a:schemeClr val="accent1"/>
              </a:buClr>
              <a:buSzPts val="1300"/>
              <a:buFont typeface="Open Sans"/>
              <a:buAutoNum type="arabicPeriod"/>
            </a:pPr>
            <a:r>
              <a:rPr lang="en-US" sz="1300">
                <a:solidFill>
                  <a:schemeClr val="dk1"/>
                </a:solidFill>
                <a:latin typeface="Open Sans"/>
                <a:ea typeface="Open Sans"/>
                <a:cs typeface="Open Sans"/>
                <a:sym typeface="Open Sans"/>
              </a:rPr>
              <a:t>Stack 3D images and labels</a:t>
            </a:r>
            <a:endParaRPr sz="1300">
              <a:solidFill>
                <a:schemeClr val="dk1"/>
              </a:solidFill>
              <a:latin typeface="Open Sans"/>
              <a:ea typeface="Open Sans"/>
              <a:cs typeface="Open Sans"/>
              <a:sym typeface="Open Sans"/>
            </a:endParaRPr>
          </a:p>
          <a:p>
            <a:pPr marL="457200" lvl="0" indent="-311150" algn="l" rtl="0">
              <a:lnSpc>
                <a:spcPct val="115000"/>
              </a:lnSpc>
              <a:spcBef>
                <a:spcPts val="0"/>
              </a:spcBef>
              <a:spcAft>
                <a:spcPts val="0"/>
              </a:spcAft>
              <a:buClr>
                <a:schemeClr val="accent1"/>
              </a:buClr>
              <a:buSzPts val="1300"/>
              <a:buFont typeface="Open Sans"/>
              <a:buAutoNum type="arabicPeriod"/>
            </a:pPr>
            <a:r>
              <a:rPr lang="en-US" sz="1300">
                <a:solidFill>
                  <a:schemeClr val="dk1"/>
                </a:solidFill>
                <a:latin typeface="Open Sans"/>
                <a:ea typeface="Open Sans"/>
                <a:cs typeface="Open Sans"/>
                <a:sym typeface="Open Sans"/>
              </a:rPr>
              <a:t>Automated processing</a:t>
            </a:r>
            <a:endParaRPr sz="1300">
              <a:solidFill>
                <a:schemeClr val="dk1"/>
              </a:solidFill>
              <a:latin typeface="Open Sans"/>
              <a:ea typeface="Open Sans"/>
              <a:cs typeface="Open Sans"/>
              <a:sym typeface="Open Sans"/>
            </a:endParaRPr>
          </a:p>
          <a:p>
            <a:pPr marL="914400" lvl="1" indent="-273050" algn="l" rtl="0">
              <a:lnSpc>
                <a:spcPct val="115000"/>
              </a:lnSpc>
              <a:spcBef>
                <a:spcPts val="0"/>
              </a:spcBef>
              <a:spcAft>
                <a:spcPts val="0"/>
              </a:spcAft>
              <a:buClr>
                <a:schemeClr val="dk1"/>
              </a:buClr>
              <a:buSzPts val="700"/>
              <a:buFont typeface="Open Sans"/>
              <a:buChar char="○"/>
            </a:pPr>
            <a:r>
              <a:rPr lang="en-US" sz="900">
                <a:solidFill>
                  <a:schemeClr val="dk1"/>
                </a:solidFill>
                <a:latin typeface="Open Sans"/>
                <a:ea typeface="Open Sans"/>
                <a:cs typeface="Open Sans"/>
                <a:sym typeface="Open Sans"/>
              </a:rPr>
              <a:t>Resample, normalize, crop</a:t>
            </a:r>
            <a:endParaRPr sz="900">
              <a:solidFill>
                <a:schemeClr val="dk1"/>
              </a:solidFill>
              <a:latin typeface="Open Sans"/>
              <a:ea typeface="Open Sans"/>
              <a:cs typeface="Open Sans"/>
              <a:sym typeface="Open Sans"/>
            </a:endParaRPr>
          </a:p>
          <a:p>
            <a:pPr marL="914400" lvl="1" indent="-273050" algn="l" rtl="0">
              <a:lnSpc>
                <a:spcPct val="115000"/>
              </a:lnSpc>
              <a:spcBef>
                <a:spcPts val="0"/>
              </a:spcBef>
              <a:spcAft>
                <a:spcPts val="0"/>
              </a:spcAft>
              <a:buClr>
                <a:schemeClr val="dk1"/>
              </a:buClr>
              <a:buSzPts val="700"/>
              <a:buFont typeface="Open Sans"/>
              <a:buChar char="○"/>
            </a:pPr>
            <a:r>
              <a:rPr lang="en-US" sz="900">
                <a:solidFill>
                  <a:schemeClr val="dk1"/>
                </a:solidFill>
                <a:latin typeface="Open Sans"/>
                <a:ea typeface="Open Sans"/>
                <a:cs typeface="Open Sans"/>
                <a:sym typeface="Open Sans"/>
              </a:rPr>
              <a:t>Based on image spacing, intensity, class distributions</a:t>
            </a:r>
            <a:endParaRPr sz="900">
              <a:solidFill>
                <a:schemeClr val="dk1"/>
              </a:solidFill>
              <a:latin typeface="Open Sans"/>
              <a:ea typeface="Open Sans"/>
              <a:cs typeface="Open Sans"/>
              <a:sym typeface="Open Sans"/>
            </a:endParaRPr>
          </a:p>
        </p:txBody>
      </p:sp>
      <p:sp>
        <p:nvSpPr>
          <p:cNvPr id="143" name="Google Shape;143;g39dcdded7dd_1_74"/>
          <p:cNvSpPr/>
          <p:nvPr/>
        </p:nvSpPr>
        <p:spPr>
          <a:xfrm>
            <a:off x="1334100" y="1679950"/>
            <a:ext cx="3577800" cy="14322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457200" marR="0" lvl="0" indent="-311150" algn="l" rtl="0">
              <a:lnSpc>
                <a:spcPct val="115000"/>
              </a:lnSpc>
              <a:spcBef>
                <a:spcPts val="0"/>
              </a:spcBef>
              <a:spcAft>
                <a:spcPts val="0"/>
              </a:spcAft>
              <a:buClr>
                <a:schemeClr val="accent1"/>
              </a:buClr>
              <a:buSzPts val="1300"/>
              <a:buFont typeface="Open Sans"/>
              <a:buAutoNum type="arabicPeriod"/>
            </a:pPr>
            <a:r>
              <a:rPr lang="en-US" sz="1300">
                <a:solidFill>
                  <a:schemeClr val="dk1"/>
                </a:solidFill>
                <a:latin typeface="Open Sans"/>
                <a:ea typeface="Open Sans"/>
                <a:cs typeface="Open Sans"/>
                <a:sym typeface="Open Sans"/>
              </a:rPr>
              <a:t>Rescale to [0,1] </a:t>
            </a:r>
            <a:endParaRPr sz="1300">
              <a:solidFill>
                <a:schemeClr val="dk1"/>
              </a:solidFill>
              <a:latin typeface="Open Sans"/>
              <a:ea typeface="Open Sans"/>
              <a:cs typeface="Open Sans"/>
              <a:sym typeface="Open Sans"/>
            </a:endParaRPr>
          </a:p>
          <a:p>
            <a:pPr marL="457200" marR="0" lvl="0" indent="-311150" algn="l" rtl="0">
              <a:lnSpc>
                <a:spcPct val="115000"/>
              </a:lnSpc>
              <a:spcBef>
                <a:spcPts val="0"/>
              </a:spcBef>
              <a:spcAft>
                <a:spcPts val="0"/>
              </a:spcAft>
              <a:buClr>
                <a:schemeClr val="accent1"/>
              </a:buClr>
              <a:buSzPts val="1300"/>
              <a:buFont typeface="Open Sans"/>
              <a:buAutoNum type="arabicPeriod"/>
            </a:pPr>
            <a:r>
              <a:rPr lang="en-US" sz="1300">
                <a:solidFill>
                  <a:schemeClr val="dk1"/>
                </a:solidFill>
                <a:latin typeface="Open Sans"/>
                <a:ea typeface="Open Sans"/>
                <a:cs typeface="Open Sans"/>
                <a:sym typeface="Open Sans"/>
              </a:rPr>
              <a:t>Light augmentation </a:t>
            </a:r>
            <a:endParaRPr sz="1300">
              <a:solidFill>
                <a:schemeClr val="dk1"/>
              </a:solidFill>
              <a:latin typeface="Open Sans"/>
              <a:ea typeface="Open Sans"/>
              <a:cs typeface="Open Sans"/>
              <a:sym typeface="Open Sans"/>
            </a:endParaRPr>
          </a:p>
          <a:p>
            <a:pPr marL="914400" marR="0" lvl="1" indent="-273050" algn="l" rtl="0">
              <a:lnSpc>
                <a:spcPct val="115000"/>
              </a:lnSpc>
              <a:spcBef>
                <a:spcPts val="0"/>
              </a:spcBef>
              <a:spcAft>
                <a:spcPts val="0"/>
              </a:spcAft>
              <a:buClr>
                <a:schemeClr val="dk1"/>
              </a:buClr>
              <a:buSzPts val="700"/>
              <a:buFont typeface="Open Sans"/>
              <a:buChar char="○"/>
            </a:pPr>
            <a:r>
              <a:rPr lang="en-US" sz="900">
                <a:solidFill>
                  <a:schemeClr val="dk1"/>
                </a:solidFill>
                <a:latin typeface="Open Sans"/>
                <a:ea typeface="Open Sans"/>
                <a:cs typeface="Open Sans"/>
                <a:sym typeface="Open Sans"/>
              </a:rPr>
              <a:t>Rotate, rescale, noise, blur, jitter, gamma</a:t>
            </a:r>
            <a:endParaRPr sz="900">
              <a:solidFill>
                <a:schemeClr val="dk1"/>
              </a:solidFill>
              <a:latin typeface="Open Sans"/>
              <a:ea typeface="Open Sans"/>
              <a:cs typeface="Open Sans"/>
              <a:sym typeface="Open Sans"/>
            </a:endParaRPr>
          </a:p>
          <a:p>
            <a:pPr marL="457200" marR="0" lvl="0" indent="-311150" algn="l" rtl="0">
              <a:lnSpc>
                <a:spcPct val="115000"/>
              </a:lnSpc>
              <a:spcBef>
                <a:spcPts val="0"/>
              </a:spcBef>
              <a:spcAft>
                <a:spcPts val="0"/>
              </a:spcAft>
              <a:buClr>
                <a:schemeClr val="accent1"/>
              </a:buClr>
              <a:buSzPts val="1300"/>
              <a:buFont typeface="Open Sans"/>
              <a:buAutoNum type="arabicPeriod"/>
            </a:pPr>
            <a:r>
              <a:rPr lang="en-US" sz="1300">
                <a:solidFill>
                  <a:schemeClr val="dk1"/>
                </a:solidFill>
                <a:latin typeface="Open Sans"/>
                <a:ea typeface="Open Sans"/>
                <a:cs typeface="Open Sans"/>
                <a:sym typeface="Open Sans"/>
              </a:rPr>
              <a:t>Compute weights (class </a:t>
            </a:r>
            <a:r>
              <a:rPr lang="en-US" sz="1300">
                <a:solidFill>
                  <a:srgbClr val="666666"/>
                </a:solidFill>
                <a:latin typeface="Open Sans"/>
                <a:ea typeface="Open Sans"/>
                <a:cs typeface="Open Sans"/>
                <a:sym typeface="Open Sans"/>
              </a:rPr>
              <a:t>&amp; sample</a:t>
            </a:r>
            <a:r>
              <a:rPr lang="en-US" sz="1300">
                <a:solidFill>
                  <a:schemeClr val="dk1"/>
                </a:solidFill>
                <a:latin typeface="Open Sans"/>
                <a:ea typeface="Open Sans"/>
                <a:cs typeface="Open Sans"/>
                <a:sym typeface="Open Sans"/>
              </a:rPr>
              <a:t>)</a:t>
            </a:r>
            <a:endParaRPr sz="1300">
              <a:solidFill>
                <a:schemeClr val="dk1"/>
              </a:solidFill>
              <a:latin typeface="Open Sans"/>
              <a:ea typeface="Open Sans"/>
              <a:cs typeface="Open Sans"/>
              <a:sym typeface="Open Sans"/>
            </a:endParaRPr>
          </a:p>
          <a:p>
            <a:pPr marL="914400" marR="0" lvl="1" indent="-273050" algn="l" rtl="0">
              <a:lnSpc>
                <a:spcPct val="115000"/>
              </a:lnSpc>
              <a:spcBef>
                <a:spcPts val="0"/>
              </a:spcBef>
              <a:spcAft>
                <a:spcPts val="0"/>
              </a:spcAft>
              <a:buClr>
                <a:schemeClr val="dk1"/>
              </a:buClr>
              <a:buSzPts val="700"/>
              <a:buFont typeface="Open Sans"/>
              <a:buChar char="○"/>
            </a:pPr>
            <a:r>
              <a:rPr lang="en-US" sz="900">
                <a:solidFill>
                  <a:schemeClr val="dk1"/>
                </a:solidFill>
                <a:latin typeface="Open Sans"/>
                <a:ea typeface="Open Sans"/>
                <a:cs typeface="Open Sans"/>
                <a:sym typeface="Open Sans"/>
              </a:rPr>
              <a:t>For weighted loss </a:t>
            </a:r>
            <a:r>
              <a:rPr lang="en-US" sz="900">
                <a:solidFill>
                  <a:srgbClr val="666666"/>
                </a:solidFill>
                <a:latin typeface="Open Sans"/>
                <a:ea typeface="Open Sans"/>
                <a:cs typeface="Open Sans"/>
                <a:sym typeface="Open Sans"/>
              </a:rPr>
              <a:t>or sampling</a:t>
            </a:r>
            <a:endParaRPr sz="900">
              <a:solidFill>
                <a:srgbClr val="666666"/>
              </a:solidFill>
              <a:latin typeface="Anaheim"/>
              <a:ea typeface="Anaheim"/>
              <a:cs typeface="Anaheim"/>
              <a:sym typeface="Anaheim"/>
            </a:endParaRPr>
          </a:p>
        </p:txBody>
      </p:sp>
      <p:sp>
        <p:nvSpPr>
          <p:cNvPr id="144" name="Google Shape;144;g39dcdded7dd_1_7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000"/>
              <a:buNone/>
            </a:pPr>
            <a:r>
              <a:rPr lang="en-US"/>
              <a:t>General Pipeline</a:t>
            </a:r>
            <a:endParaRPr/>
          </a:p>
        </p:txBody>
      </p:sp>
      <p:sp>
        <p:nvSpPr>
          <p:cNvPr id="145" name="Google Shape;145;g39dcdded7dd_1_7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146" name="Google Shape;146;g39dcdded7dd_1_74"/>
          <p:cNvSpPr/>
          <p:nvPr/>
        </p:nvSpPr>
        <p:spPr>
          <a:xfrm>
            <a:off x="1334100" y="3202522"/>
            <a:ext cx="3577800" cy="8277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457200" lvl="0" indent="-311150" algn="l" rtl="0">
              <a:lnSpc>
                <a:spcPct val="115000"/>
              </a:lnSpc>
              <a:spcBef>
                <a:spcPts val="0"/>
              </a:spcBef>
              <a:spcAft>
                <a:spcPts val="0"/>
              </a:spcAft>
              <a:buClr>
                <a:schemeClr val="accent1"/>
              </a:buClr>
              <a:buSzPts val="1300"/>
              <a:buFont typeface="Open Sans"/>
              <a:buChar char="●"/>
            </a:pPr>
            <a:r>
              <a:rPr lang="en-US" sz="1300">
                <a:solidFill>
                  <a:schemeClr val="dk1"/>
                </a:solidFill>
                <a:latin typeface="Open Sans"/>
                <a:ea typeface="Open Sans"/>
                <a:cs typeface="Open Sans"/>
                <a:sym typeface="Open Sans"/>
              </a:rPr>
              <a:t>Transfer pretrained weights</a:t>
            </a:r>
            <a:endParaRPr sz="1300">
              <a:solidFill>
                <a:schemeClr val="dk1"/>
              </a:solidFill>
              <a:latin typeface="Open Sans"/>
              <a:ea typeface="Open Sans"/>
              <a:cs typeface="Open Sans"/>
              <a:sym typeface="Open Sans"/>
            </a:endParaRPr>
          </a:p>
          <a:p>
            <a:pPr marL="457200" lvl="0" indent="-311150" algn="l" rtl="0">
              <a:lnSpc>
                <a:spcPct val="115000"/>
              </a:lnSpc>
              <a:spcBef>
                <a:spcPts val="0"/>
              </a:spcBef>
              <a:spcAft>
                <a:spcPts val="0"/>
              </a:spcAft>
              <a:buClr>
                <a:srgbClr val="666666"/>
              </a:buClr>
              <a:buSzPts val="1300"/>
              <a:buFont typeface="Open Sans"/>
              <a:buChar char="●"/>
            </a:pPr>
            <a:r>
              <a:rPr lang="en-US" sz="1300">
                <a:solidFill>
                  <a:srgbClr val="666666"/>
                </a:solidFill>
                <a:latin typeface="Open Sans"/>
                <a:ea typeface="Open Sans"/>
                <a:cs typeface="Open Sans"/>
                <a:sym typeface="Open Sans"/>
              </a:rPr>
              <a:t>Staged training: start with decoder and later, unfreeze all layers</a:t>
            </a:r>
            <a:endParaRPr sz="1300">
              <a:solidFill>
                <a:srgbClr val="666666"/>
              </a:solidFill>
              <a:latin typeface="Anaheim"/>
              <a:ea typeface="Anaheim"/>
              <a:cs typeface="Anaheim"/>
              <a:sym typeface="Anaheim"/>
            </a:endParaRPr>
          </a:p>
        </p:txBody>
      </p:sp>
      <p:sp>
        <p:nvSpPr>
          <p:cNvPr id="147" name="Google Shape;147;g39dcdded7dd_1_74"/>
          <p:cNvSpPr/>
          <p:nvPr/>
        </p:nvSpPr>
        <p:spPr>
          <a:xfrm>
            <a:off x="1334100" y="1228025"/>
            <a:ext cx="3577800" cy="374700"/>
          </a:xfrm>
          <a:prstGeom prst="roundRect">
            <a:avLst>
              <a:gd name="adj" fmla="val 9596"/>
            </a:avLst>
          </a:prstGeom>
          <a:solidFill>
            <a:srgbClr val="26282C"/>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a:solidFill>
                  <a:schemeClr val="dk1"/>
                </a:solidFill>
                <a:latin typeface="Open Sans"/>
                <a:ea typeface="Open Sans"/>
                <a:cs typeface="Open Sans"/>
                <a:sym typeface="Open Sans"/>
              </a:rPr>
              <a:t>SAMed</a:t>
            </a:r>
            <a:endParaRPr>
              <a:solidFill>
                <a:srgbClr val="666666"/>
              </a:solidFill>
              <a:latin typeface="Anaheim"/>
              <a:ea typeface="Anaheim"/>
              <a:cs typeface="Anaheim"/>
              <a:sym typeface="Anaheim"/>
            </a:endParaRPr>
          </a:p>
        </p:txBody>
      </p:sp>
      <p:sp>
        <p:nvSpPr>
          <p:cNvPr id="148" name="Google Shape;148;g39dcdded7dd_1_74"/>
          <p:cNvSpPr/>
          <p:nvPr/>
        </p:nvSpPr>
        <p:spPr>
          <a:xfrm>
            <a:off x="5006025" y="1222300"/>
            <a:ext cx="3417900" cy="374700"/>
          </a:xfrm>
          <a:prstGeom prst="roundRect">
            <a:avLst>
              <a:gd name="adj" fmla="val 9596"/>
            </a:avLst>
          </a:prstGeom>
          <a:solidFill>
            <a:srgbClr val="26282C"/>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a:solidFill>
                  <a:schemeClr val="dk1"/>
                </a:solidFill>
                <a:latin typeface="Open Sans"/>
                <a:ea typeface="Open Sans"/>
                <a:cs typeface="Open Sans"/>
                <a:sym typeface="Open Sans"/>
              </a:rPr>
              <a:t>TotalSegmentator (TS)</a:t>
            </a:r>
            <a:endParaRPr>
              <a:solidFill>
                <a:srgbClr val="666666"/>
              </a:solidFill>
              <a:latin typeface="Anaheim"/>
              <a:ea typeface="Anaheim"/>
              <a:cs typeface="Anaheim"/>
              <a:sym typeface="Anaheim"/>
            </a:endParaRPr>
          </a:p>
        </p:txBody>
      </p:sp>
      <p:sp>
        <p:nvSpPr>
          <p:cNvPr id="149" name="Google Shape;149;g39dcdded7dd_1_74"/>
          <p:cNvSpPr/>
          <p:nvPr/>
        </p:nvSpPr>
        <p:spPr>
          <a:xfrm rot="-5400000">
            <a:off x="317425" y="2172750"/>
            <a:ext cx="1419300" cy="4605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a:solidFill>
                  <a:schemeClr val="dk1"/>
                </a:solidFill>
                <a:latin typeface="Open Sans"/>
                <a:ea typeface="Open Sans"/>
                <a:cs typeface="Open Sans"/>
                <a:sym typeface="Open Sans"/>
              </a:rPr>
              <a:t>Pre</a:t>
            </a:r>
            <a:endParaRPr>
              <a:latin typeface="Anaheim"/>
              <a:ea typeface="Anaheim"/>
              <a:cs typeface="Anaheim"/>
              <a:sym typeface="Anaheim"/>
            </a:endParaRPr>
          </a:p>
        </p:txBody>
      </p:sp>
      <p:sp>
        <p:nvSpPr>
          <p:cNvPr id="150" name="Google Shape;150;g39dcdded7dd_1_74"/>
          <p:cNvSpPr/>
          <p:nvPr/>
        </p:nvSpPr>
        <p:spPr>
          <a:xfrm rot="-5400000">
            <a:off x="613225" y="3372981"/>
            <a:ext cx="827700" cy="4605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a:solidFill>
                  <a:schemeClr val="dk1"/>
                </a:solidFill>
                <a:latin typeface="Open Sans"/>
                <a:ea typeface="Open Sans"/>
                <a:cs typeface="Open Sans"/>
                <a:sym typeface="Open Sans"/>
              </a:rPr>
              <a:t>Train</a:t>
            </a:r>
            <a:endParaRPr>
              <a:latin typeface="Anaheim"/>
              <a:ea typeface="Anaheim"/>
              <a:cs typeface="Anaheim"/>
              <a:sym typeface="Anaheim"/>
            </a:endParaRPr>
          </a:p>
        </p:txBody>
      </p:sp>
      <p:sp>
        <p:nvSpPr>
          <p:cNvPr id="151" name="Google Shape;151;g39dcdded7dd_1_74"/>
          <p:cNvSpPr/>
          <p:nvPr/>
        </p:nvSpPr>
        <p:spPr>
          <a:xfrm>
            <a:off x="5006100" y="3197278"/>
            <a:ext cx="3417900" cy="8277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457200" marR="0" lvl="0" indent="-311150" algn="l" rtl="0">
              <a:lnSpc>
                <a:spcPct val="115000"/>
              </a:lnSpc>
              <a:spcBef>
                <a:spcPts val="0"/>
              </a:spcBef>
              <a:spcAft>
                <a:spcPts val="0"/>
              </a:spcAft>
              <a:buClr>
                <a:schemeClr val="accent1"/>
              </a:buClr>
              <a:buSzPts val="1300"/>
              <a:buFont typeface="Open Sans"/>
              <a:buChar char="●"/>
            </a:pPr>
            <a:r>
              <a:rPr lang="en-US" sz="1300">
                <a:solidFill>
                  <a:schemeClr val="dk1"/>
                </a:solidFill>
                <a:latin typeface="Open Sans"/>
                <a:ea typeface="Open Sans"/>
                <a:cs typeface="Open Sans"/>
                <a:sym typeface="Open Sans"/>
              </a:rPr>
              <a:t>Transfer pretrained weights</a:t>
            </a:r>
            <a:endParaRPr sz="1300">
              <a:solidFill>
                <a:schemeClr val="dk1"/>
              </a:solidFill>
              <a:latin typeface="Open Sans"/>
              <a:ea typeface="Open Sans"/>
              <a:cs typeface="Open Sans"/>
              <a:sym typeface="Open Sans"/>
            </a:endParaRPr>
          </a:p>
          <a:p>
            <a:pPr marL="457200" marR="0" lvl="0" indent="-311150" algn="l" rtl="0">
              <a:lnSpc>
                <a:spcPct val="115000"/>
              </a:lnSpc>
              <a:spcBef>
                <a:spcPts val="0"/>
              </a:spcBef>
              <a:spcAft>
                <a:spcPts val="0"/>
              </a:spcAft>
              <a:buClr>
                <a:schemeClr val="accent1"/>
              </a:buClr>
              <a:buSzPts val="1300"/>
              <a:buFont typeface="Open Sans"/>
              <a:buChar char="●"/>
            </a:pPr>
            <a:r>
              <a:rPr lang="en-US" sz="1300">
                <a:solidFill>
                  <a:schemeClr val="dk1"/>
                </a:solidFill>
                <a:latin typeface="Open Sans"/>
                <a:ea typeface="Open Sans"/>
                <a:cs typeface="Open Sans"/>
                <a:sym typeface="Open Sans"/>
              </a:rPr>
              <a:t>Automated processing</a:t>
            </a:r>
            <a:endParaRPr sz="1300">
              <a:solidFill>
                <a:schemeClr val="dk1"/>
              </a:solidFill>
              <a:latin typeface="Open Sans"/>
              <a:ea typeface="Open Sans"/>
              <a:cs typeface="Open Sans"/>
              <a:sym typeface="Open Sans"/>
            </a:endParaRPr>
          </a:p>
          <a:p>
            <a:pPr marL="914400" marR="0" lvl="1" indent="-285750" algn="l" rtl="0">
              <a:lnSpc>
                <a:spcPct val="115000"/>
              </a:lnSpc>
              <a:spcBef>
                <a:spcPts val="0"/>
              </a:spcBef>
              <a:spcAft>
                <a:spcPts val="0"/>
              </a:spcAft>
              <a:buClr>
                <a:schemeClr val="dk1"/>
              </a:buClr>
              <a:buSzPts val="900"/>
              <a:buFont typeface="Open Sans"/>
              <a:buChar char="○"/>
            </a:pPr>
            <a:r>
              <a:rPr lang="en-US" sz="900">
                <a:solidFill>
                  <a:schemeClr val="dk1"/>
                </a:solidFill>
                <a:latin typeface="Open Sans"/>
                <a:ea typeface="Open Sans"/>
                <a:cs typeface="Open Sans"/>
                <a:sym typeface="Open Sans"/>
              </a:rPr>
              <a:t>Cross-validation &amp; ensemble</a:t>
            </a:r>
            <a:endParaRPr sz="900">
              <a:solidFill>
                <a:schemeClr val="dk1"/>
              </a:solidFill>
              <a:latin typeface="Open Sans"/>
              <a:ea typeface="Open Sans"/>
              <a:cs typeface="Open Sans"/>
              <a:sym typeface="Open Sans"/>
            </a:endParaRPr>
          </a:p>
        </p:txBody>
      </p:sp>
      <p:sp>
        <p:nvSpPr>
          <p:cNvPr id="152" name="Google Shape;152;g39dcdded7dd_1_74"/>
          <p:cNvSpPr/>
          <p:nvPr/>
        </p:nvSpPr>
        <p:spPr>
          <a:xfrm rot="-5400000">
            <a:off x="701575" y="4194094"/>
            <a:ext cx="651000" cy="4605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a:solidFill>
                  <a:schemeClr val="dk1"/>
                </a:solidFill>
                <a:latin typeface="Open Sans"/>
                <a:ea typeface="Open Sans"/>
                <a:cs typeface="Open Sans"/>
                <a:sym typeface="Open Sans"/>
              </a:rPr>
              <a:t>Post</a:t>
            </a:r>
            <a:endParaRPr>
              <a:latin typeface="Anaheim"/>
              <a:ea typeface="Anaheim"/>
              <a:cs typeface="Anaheim"/>
              <a:sym typeface="Anahei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g39fc7e9f363_1_34"/>
          <p:cNvPicPr preferRelativeResize="0"/>
          <p:nvPr/>
        </p:nvPicPr>
        <p:blipFill rotWithShape="1">
          <a:blip r:embed="rId3">
            <a:alphaModFix/>
          </a:blip>
          <a:srcRect b="41255"/>
          <a:stretch/>
        </p:blipFill>
        <p:spPr>
          <a:xfrm>
            <a:off x="560613" y="1102875"/>
            <a:ext cx="7996173" cy="3593850"/>
          </a:xfrm>
          <a:prstGeom prst="rect">
            <a:avLst/>
          </a:prstGeom>
          <a:noFill/>
          <a:ln>
            <a:noFill/>
          </a:ln>
        </p:spPr>
      </p:pic>
      <p:sp>
        <p:nvSpPr>
          <p:cNvPr id="158" name="Google Shape;158;g39fc7e9f363_1_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6</a:t>
            </a:fld>
            <a:endParaRPr/>
          </a:p>
        </p:txBody>
      </p:sp>
      <p:sp>
        <p:nvSpPr>
          <p:cNvPr id="159" name="Google Shape;159;g39fc7e9f363_1_34"/>
          <p:cNvSpPr txBox="1">
            <a:spLocks noGrp="1"/>
          </p:cNvSpPr>
          <p:nvPr>
            <p:ph type="title" idx="4294967295"/>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000"/>
              <a:buNone/>
            </a:pPr>
            <a:r>
              <a:rPr lang="en-US"/>
              <a:t>Automated Processing</a:t>
            </a:r>
            <a:endParaRPr/>
          </a:p>
        </p:txBody>
      </p:sp>
      <p:sp>
        <p:nvSpPr>
          <p:cNvPr id="160" name="Google Shape;160;g39fc7e9f363_1_34"/>
          <p:cNvSpPr txBox="1"/>
          <p:nvPr/>
        </p:nvSpPr>
        <p:spPr>
          <a:xfrm>
            <a:off x="560625" y="4696725"/>
            <a:ext cx="57975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u="sng">
                <a:solidFill>
                  <a:srgbClr val="5F89D3"/>
                </a:solidFill>
                <a:hlinkClick r:id="rId4">
                  <a:extLst>
                    <a:ext uri="{A12FA001-AC4F-418D-AE19-62706E023703}">
                      <ahyp:hlinkClr xmlns:ahyp="http://schemas.microsoft.com/office/drawing/2018/hyperlinkcolor" val="tx"/>
                    </a:ext>
                  </a:extLst>
                </a:hlinkClick>
              </a:rPr>
              <a:t>https://github.com/MIC-DKFZ/nnUNet?tab=readme-ov-file</a:t>
            </a:r>
            <a:r>
              <a:rPr lang="en-US" sz="1100">
                <a:solidFill>
                  <a:srgbClr val="5F89D3"/>
                </a:solidFill>
              </a:rPr>
              <a:t> </a:t>
            </a:r>
            <a:endParaRPr sz="1100">
              <a:solidFill>
                <a:srgbClr val="5F89D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9dcdded7dd_1_79"/>
          <p:cNvSpPr txBox="1">
            <a:spLocks noGrp="1"/>
          </p:cNvSpPr>
          <p:nvPr>
            <p:ph type="title"/>
          </p:nvPr>
        </p:nvSpPr>
        <p:spPr>
          <a:xfrm>
            <a:off x="720000" y="445025"/>
            <a:ext cx="43005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000"/>
              <a:buNone/>
            </a:pPr>
            <a:r>
              <a:rPr lang="en-US"/>
              <a:t>Evaluation Metrics</a:t>
            </a:r>
            <a:endParaRPr/>
          </a:p>
        </p:txBody>
      </p:sp>
      <p:sp>
        <p:nvSpPr>
          <p:cNvPr id="166" name="Google Shape;166;g39dcdded7dd_1_7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7</a:t>
            </a:fld>
            <a:endParaRPr/>
          </a:p>
        </p:txBody>
      </p:sp>
      <p:sp>
        <p:nvSpPr>
          <p:cNvPr id="167" name="Google Shape;167;g39dcdded7dd_1_79"/>
          <p:cNvSpPr/>
          <p:nvPr/>
        </p:nvSpPr>
        <p:spPr>
          <a:xfrm>
            <a:off x="386575" y="1276175"/>
            <a:ext cx="4778100" cy="32904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graphicFrame>
        <p:nvGraphicFramePr>
          <p:cNvPr id="168" name="Google Shape;168;g39dcdded7dd_1_79"/>
          <p:cNvGraphicFramePr/>
          <p:nvPr/>
        </p:nvGraphicFramePr>
        <p:xfrm>
          <a:off x="530775" y="1523200"/>
          <a:ext cx="4540500" cy="2769045"/>
        </p:xfrm>
        <a:graphic>
          <a:graphicData uri="http://schemas.openxmlformats.org/drawingml/2006/table">
            <a:tbl>
              <a:tblPr>
                <a:noFill/>
                <a:tableStyleId>{2A7876C2-90C0-4B93-85D5-C01E0D184563}</a:tableStyleId>
              </a:tblPr>
              <a:tblGrid>
                <a:gridCol w="1031500">
                  <a:extLst>
                    <a:ext uri="{9D8B030D-6E8A-4147-A177-3AD203B41FA5}">
                      <a16:colId xmlns:a16="http://schemas.microsoft.com/office/drawing/2014/main" val="20000"/>
                    </a:ext>
                  </a:extLst>
                </a:gridCol>
                <a:gridCol w="843800">
                  <a:extLst>
                    <a:ext uri="{9D8B030D-6E8A-4147-A177-3AD203B41FA5}">
                      <a16:colId xmlns:a16="http://schemas.microsoft.com/office/drawing/2014/main" val="20001"/>
                    </a:ext>
                  </a:extLst>
                </a:gridCol>
                <a:gridCol w="883400">
                  <a:extLst>
                    <a:ext uri="{9D8B030D-6E8A-4147-A177-3AD203B41FA5}">
                      <a16:colId xmlns:a16="http://schemas.microsoft.com/office/drawing/2014/main" val="20002"/>
                    </a:ext>
                  </a:extLst>
                </a:gridCol>
                <a:gridCol w="963850">
                  <a:extLst>
                    <a:ext uri="{9D8B030D-6E8A-4147-A177-3AD203B41FA5}">
                      <a16:colId xmlns:a16="http://schemas.microsoft.com/office/drawing/2014/main" val="20003"/>
                    </a:ext>
                  </a:extLst>
                </a:gridCol>
                <a:gridCol w="817950">
                  <a:extLst>
                    <a:ext uri="{9D8B030D-6E8A-4147-A177-3AD203B41FA5}">
                      <a16:colId xmlns:a16="http://schemas.microsoft.com/office/drawing/2014/main" val="20004"/>
                    </a:ext>
                  </a:extLst>
                </a:gridCol>
              </a:tblGrid>
              <a:tr h="306325">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Metrics</a:t>
                      </a:r>
                      <a:endParaRPr sz="1000"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Use Case</a:t>
                      </a:r>
                      <a:endParaRPr sz="1000"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Imbalance</a:t>
                      </a:r>
                      <a:endParaRPr sz="1000"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Background</a:t>
                      </a:r>
                      <a:endParaRPr sz="1000"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Boundary</a:t>
                      </a:r>
                      <a:endParaRPr sz="1000"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06325">
                <a:tc>
                  <a:txBody>
                    <a:bodyPr/>
                    <a:lstStyle/>
                    <a:p>
                      <a:pPr marL="0" lvl="0" indent="0" algn="ctr" rtl="0">
                        <a:lnSpc>
                          <a:spcPct val="80000"/>
                        </a:lnSpc>
                        <a:spcBef>
                          <a:spcPts val="0"/>
                        </a:spcBef>
                        <a:spcAft>
                          <a:spcPts val="0"/>
                        </a:spcAft>
                        <a:buNone/>
                      </a:pPr>
                      <a:r>
                        <a:rPr lang="en-US" sz="1000" b="1">
                          <a:solidFill>
                            <a:srgbClr val="666666"/>
                          </a:solidFill>
                          <a:latin typeface="Open Sans"/>
                          <a:ea typeface="Open Sans"/>
                          <a:cs typeface="Open Sans"/>
                          <a:sym typeface="Open Sans"/>
                        </a:rPr>
                        <a:t>Pixel accuracy</a:t>
                      </a:r>
                      <a:endParaRPr sz="1000" b="1">
                        <a:solidFill>
                          <a:srgbClr val="66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100">
                          <a:solidFill>
                            <a:srgbClr val="666666"/>
                          </a:solidFill>
                          <a:latin typeface="Open Sans"/>
                          <a:ea typeface="Open Sans"/>
                          <a:cs typeface="Open Sans"/>
                          <a:sym typeface="Open Sans"/>
                        </a:rPr>
                        <a:t>Standard</a:t>
                      </a:r>
                      <a:endParaRPr sz="1100">
                        <a:solidFill>
                          <a:srgbClr val="66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100">
                          <a:solidFill>
                            <a:srgbClr val="E06666"/>
                          </a:solidFill>
                          <a:latin typeface="Open Sans"/>
                          <a:ea typeface="Open Sans"/>
                          <a:cs typeface="Open Sans"/>
                          <a:sym typeface="Open Sans"/>
                        </a:rPr>
                        <a:t>No</a:t>
                      </a:r>
                      <a:endParaRPr sz="1100">
                        <a:solidFill>
                          <a:srgbClr val="E0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100">
                          <a:solidFill>
                            <a:srgbClr val="E06666"/>
                          </a:solidFill>
                          <a:latin typeface="Open Sans"/>
                          <a:ea typeface="Open Sans"/>
                          <a:cs typeface="Open Sans"/>
                          <a:sym typeface="Open Sans"/>
                        </a:rPr>
                        <a:t>No</a:t>
                      </a:r>
                      <a:endParaRPr sz="1100">
                        <a:solidFill>
                          <a:srgbClr val="E0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US" sz="1100">
                          <a:solidFill>
                            <a:srgbClr val="E06666"/>
                          </a:solidFill>
                          <a:latin typeface="Open Sans"/>
                          <a:ea typeface="Open Sans"/>
                          <a:cs typeface="Open Sans"/>
                          <a:sym typeface="Open Sans"/>
                        </a:rPr>
                        <a:t>No</a:t>
                      </a:r>
                      <a:endParaRPr sz="1100">
                        <a:solidFill>
                          <a:srgbClr val="E0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06325">
                <a:tc>
                  <a:txBody>
                    <a:bodyPr/>
                    <a:lstStyle/>
                    <a:p>
                      <a:pPr marL="0" lvl="0" indent="0" algn="ctr" rtl="0">
                        <a:lnSpc>
                          <a:spcPct val="80000"/>
                        </a:lnSpc>
                        <a:spcBef>
                          <a:spcPts val="0"/>
                        </a:spcBef>
                        <a:spcAft>
                          <a:spcPts val="0"/>
                        </a:spcAft>
                        <a:buNone/>
                      </a:pPr>
                      <a:r>
                        <a:rPr lang="en-US" sz="1000" b="1">
                          <a:solidFill>
                            <a:srgbClr val="666666"/>
                          </a:solidFill>
                          <a:latin typeface="Open Sans"/>
                          <a:ea typeface="Open Sans"/>
                          <a:cs typeface="Open Sans"/>
                          <a:sym typeface="Open Sans"/>
                        </a:rPr>
                        <a:t>Mean accuracy</a:t>
                      </a:r>
                      <a:endParaRPr sz="1000" b="1">
                        <a:solidFill>
                          <a:srgbClr val="66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Clr>
                          <a:schemeClr val="lt1"/>
                        </a:buClr>
                        <a:buSzPts val="1100"/>
                        <a:buFont typeface="Arial"/>
                        <a:buNone/>
                      </a:pPr>
                      <a:r>
                        <a:rPr lang="en-US" sz="1100">
                          <a:solidFill>
                            <a:srgbClr val="666666"/>
                          </a:solidFill>
                          <a:latin typeface="Open Sans"/>
                          <a:ea typeface="Open Sans"/>
                          <a:cs typeface="Open Sans"/>
                          <a:sym typeface="Open Sans"/>
                        </a:rPr>
                        <a:t>Standard</a:t>
                      </a:r>
                      <a:endParaRPr sz="1100">
                        <a:solidFill>
                          <a:srgbClr val="66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100">
                          <a:solidFill>
                            <a:srgbClr val="6AA84F"/>
                          </a:solidFill>
                          <a:latin typeface="Open Sans"/>
                          <a:ea typeface="Open Sans"/>
                          <a:cs typeface="Open Sans"/>
                          <a:sym typeface="Open Sans"/>
                        </a:rPr>
                        <a:t>Yes</a:t>
                      </a:r>
                      <a:endParaRPr sz="1100">
                        <a:solidFill>
                          <a:srgbClr val="6AA84F"/>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100">
                          <a:solidFill>
                            <a:srgbClr val="E06666"/>
                          </a:solidFill>
                          <a:latin typeface="Open Sans"/>
                          <a:ea typeface="Open Sans"/>
                          <a:cs typeface="Open Sans"/>
                          <a:sym typeface="Open Sans"/>
                        </a:rPr>
                        <a:t>No</a:t>
                      </a:r>
                      <a:endParaRPr sz="1100">
                        <a:solidFill>
                          <a:srgbClr val="E0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100">
                          <a:solidFill>
                            <a:srgbClr val="E06666"/>
                          </a:solidFill>
                          <a:latin typeface="Open Sans"/>
                          <a:ea typeface="Open Sans"/>
                          <a:cs typeface="Open Sans"/>
                          <a:sym typeface="Open Sans"/>
                        </a:rPr>
                        <a:t>No</a:t>
                      </a:r>
                      <a:endParaRPr sz="1100">
                        <a:solidFill>
                          <a:srgbClr val="E0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80325">
                <a:tc>
                  <a:txBody>
                    <a:bodyPr/>
                    <a:lstStyle/>
                    <a:p>
                      <a:pPr marL="0" lvl="0" indent="0" algn="ctr" rtl="0">
                        <a:lnSpc>
                          <a:spcPct val="80000"/>
                        </a:lnSpc>
                        <a:spcBef>
                          <a:spcPts val="0"/>
                        </a:spcBef>
                        <a:spcAft>
                          <a:spcPts val="0"/>
                        </a:spcAft>
                        <a:buNone/>
                      </a:pPr>
                      <a:r>
                        <a:rPr lang="en-US" sz="1000" b="1">
                          <a:solidFill>
                            <a:srgbClr val="666666"/>
                          </a:solidFill>
                          <a:latin typeface="Open Sans"/>
                          <a:ea typeface="Open Sans"/>
                          <a:cs typeface="Open Sans"/>
                          <a:sym typeface="Open Sans"/>
                        </a:rPr>
                        <a:t>Mean IoU</a:t>
                      </a:r>
                      <a:endParaRPr sz="1000" b="1">
                        <a:solidFill>
                          <a:srgbClr val="66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Clr>
                          <a:schemeClr val="lt1"/>
                        </a:buClr>
                        <a:buSzPts val="1100"/>
                        <a:buFont typeface="Arial"/>
                        <a:buNone/>
                      </a:pPr>
                      <a:r>
                        <a:rPr lang="en-US" sz="1100">
                          <a:solidFill>
                            <a:srgbClr val="666666"/>
                          </a:solidFill>
                          <a:latin typeface="Open Sans"/>
                          <a:ea typeface="Open Sans"/>
                          <a:cs typeface="Open Sans"/>
                          <a:sym typeface="Open Sans"/>
                        </a:rPr>
                        <a:t>Standard</a:t>
                      </a:r>
                      <a:endParaRPr sz="1100">
                        <a:solidFill>
                          <a:srgbClr val="66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Clr>
                          <a:schemeClr val="lt1"/>
                        </a:buClr>
                        <a:buSzPts val="1100"/>
                        <a:buFont typeface="Arial"/>
                        <a:buNone/>
                      </a:pPr>
                      <a:r>
                        <a:rPr lang="en-US" sz="1100">
                          <a:solidFill>
                            <a:srgbClr val="6AA84F"/>
                          </a:solidFill>
                          <a:latin typeface="Open Sans"/>
                          <a:ea typeface="Open Sans"/>
                          <a:cs typeface="Open Sans"/>
                          <a:sym typeface="Open Sans"/>
                        </a:rPr>
                        <a:t>Yes</a:t>
                      </a:r>
                      <a:endParaRPr sz="1100">
                        <a:solidFill>
                          <a:srgbClr val="6AA84F"/>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100">
                          <a:solidFill>
                            <a:srgbClr val="E06666"/>
                          </a:solidFill>
                          <a:latin typeface="Open Sans"/>
                          <a:ea typeface="Open Sans"/>
                          <a:cs typeface="Open Sans"/>
                          <a:sym typeface="Open Sans"/>
                        </a:rPr>
                        <a:t>No</a:t>
                      </a:r>
                      <a:endParaRPr sz="1100">
                        <a:solidFill>
                          <a:srgbClr val="E0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Clr>
                          <a:schemeClr val="lt1"/>
                        </a:buClr>
                        <a:buSzPts val="1100"/>
                        <a:buFont typeface="Arial"/>
                        <a:buNone/>
                      </a:pPr>
                      <a:r>
                        <a:rPr lang="en-US" sz="1100">
                          <a:solidFill>
                            <a:srgbClr val="E06666"/>
                          </a:solidFill>
                          <a:latin typeface="Open Sans"/>
                          <a:ea typeface="Open Sans"/>
                          <a:cs typeface="Open Sans"/>
                          <a:sym typeface="Open Sans"/>
                        </a:rPr>
                        <a:t>No</a:t>
                      </a:r>
                      <a:endParaRPr sz="1100">
                        <a:solidFill>
                          <a:srgbClr val="E0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06325">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Dice Similarity Coefficient (DSC)</a:t>
                      </a:r>
                      <a:endParaRPr sz="1000"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100">
                          <a:solidFill>
                            <a:schemeClr val="dk1"/>
                          </a:solidFill>
                          <a:latin typeface="Open Sans"/>
                          <a:ea typeface="Open Sans"/>
                          <a:cs typeface="Open Sans"/>
                          <a:sym typeface="Open Sans"/>
                        </a:rPr>
                        <a:t>Medical</a:t>
                      </a:r>
                      <a:endParaRPr sz="11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Clr>
                          <a:schemeClr val="lt1"/>
                        </a:buClr>
                        <a:buSzPts val="1100"/>
                        <a:buFont typeface="Arial"/>
                        <a:buNone/>
                      </a:pPr>
                      <a:r>
                        <a:rPr lang="en-US" sz="1100">
                          <a:solidFill>
                            <a:srgbClr val="6AA84F"/>
                          </a:solidFill>
                          <a:latin typeface="Open Sans"/>
                          <a:ea typeface="Open Sans"/>
                          <a:cs typeface="Open Sans"/>
                          <a:sym typeface="Open Sans"/>
                        </a:rPr>
                        <a:t>Yes</a:t>
                      </a:r>
                      <a:endParaRPr sz="1100">
                        <a:solidFill>
                          <a:srgbClr val="6AA84F"/>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Clr>
                          <a:schemeClr val="lt1"/>
                        </a:buClr>
                        <a:buSzPts val="1100"/>
                        <a:buFont typeface="Arial"/>
                        <a:buNone/>
                      </a:pPr>
                      <a:r>
                        <a:rPr lang="en-US" sz="1100">
                          <a:solidFill>
                            <a:srgbClr val="6AA84F"/>
                          </a:solidFill>
                          <a:latin typeface="Open Sans"/>
                          <a:ea typeface="Open Sans"/>
                          <a:cs typeface="Open Sans"/>
                          <a:sym typeface="Open Sans"/>
                        </a:rPr>
                        <a:t>Yes</a:t>
                      </a:r>
                      <a:endParaRPr sz="1100">
                        <a:solidFill>
                          <a:srgbClr val="6AA84F"/>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Clr>
                          <a:schemeClr val="lt1"/>
                        </a:buClr>
                        <a:buSzPts val="1100"/>
                        <a:buFont typeface="Arial"/>
                        <a:buNone/>
                      </a:pPr>
                      <a:r>
                        <a:rPr lang="en-US" sz="1100">
                          <a:solidFill>
                            <a:srgbClr val="E06666"/>
                          </a:solidFill>
                          <a:latin typeface="Open Sans"/>
                          <a:ea typeface="Open Sans"/>
                          <a:cs typeface="Open Sans"/>
                          <a:sym typeface="Open Sans"/>
                        </a:rPr>
                        <a:t>No</a:t>
                      </a:r>
                      <a:endParaRPr sz="1100">
                        <a:solidFill>
                          <a:srgbClr val="E06666"/>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30025">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Normalized Surface Dice (NSD)</a:t>
                      </a:r>
                      <a:endParaRPr sz="1000"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Clr>
                          <a:schemeClr val="lt1"/>
                        </a:buClr>
                        <a:buSzPts val="1100"/>
                        <a:buFont typeface="Arial"/>
                        <a:buNone/>
                      </a:pPr>
                      <a:r>
                        <a:rPr lang="en-US" sz="1100">
                          <a:solidFill>
                            <a:schemeClr val="dk1"/>
                          </a:solidFill>
                          <a:latin typeface="Open Sans"/>
                          <a:ea typeface="Open Sans"/>
                          <a:cs typeface="Open Sans"/>
                          <a:sym typeface="Open Sans"/>
                        </a:rPr>
                        <a:t>Medical</a:t>
                      </a:r>
                      <a:endParaRPr sz="11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Clr>
                          <a:schemeClr val="lt1"/>
                        </a:buClr>
                        <a:buSzPts val="1100"/>
                        <a:buFont typeface="Arial"/>
                        <a:buNone/>
                      </a:pPr>
                      <a:r>
                        <a:rPr lang="en-US" sz="1100">
                          <a:solidFill>
                            <a:srgbClr val="6AA84F"/>
                          </a:solidFill>
                          <a:latin typeface="Open Sans"/>
                          <a:ea typeface="Open Sans"/>
                          <a:cs typeface="Open Sans"/>
                          <a:sym typeface="Open Sans"/>
                        </a:rPr>
                        <a:t>Yes</a:t>
                      </a:r>
                      <a:endParaRPr sz="1100">
                        <a:solidFill>
                          <a:srgbClr val="6AA84F"/>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100">
                          <a:solidFill>
                            <a:srgbClr val="6AA84F"/>
                          </a:solidFill>
                          <a:latin typeface="Open Sans"/>
                          <a:ea typeface="Open Sans"/>
                          <a:cs typeface="Open Sans"/>
                          <a:sym typeface="Open Sans"/>
                        </a:rPr>
                        <a:t>Yes</a:t>
                      </a:r>
                      <a:endParaRPr sz="1100">
                        <a:solidFill>
                          <a:srgbClr val="6AA84F"/>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100">
                          <a:solidFill>
                            <a:srgbClr val="6AA84F"/>
                          </a:solidFill>
                          <a:latin typeface="Open Sans"/>
                          <a:ea typeface="Open Sans"/>
                          <a:cs typeface="Open Sans"/>
                          <a:sym typeface="Open Sans"/>
                        </a:rPr>
                        <a:t>Yes</a:t>
                      </a:r>
                      <a:endParaRPr sz="1100">
                        <a:solidFill>
                          <a:srgbClr val="6AA84F"/>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69" name="Google Shape;169;g39dcdded7dd_1_79"/>
          <p:cNvSpPr txBox="1"/>
          <p:nvPr/>
        </p:nvSpPr>
        <p:spPr>
          <a:xfrm>
            <a:off x="5978575" y="331775"/>
            <a:ext cx="1026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solidFill>
                  <a:schemeClr val="accent2"/>
                </a:solidFill>
                <a:latin typeface="Open Sans"/>
                <a:ea typeface="Open Sans"/>
                <a:cs typeface="Open Sans"/>
                <a:sym typeface="Open Sans"/>
              </a:rPr>
              <a:t>2|</a:t>
            </a:r>
            <a:r>
              <a:rPr lang="en-US">
                <a:solidFill>
                  <a:srgbClr val="5F89D3"/>
                </a:solidFill>
                <a:latin typeface="Open Sans"/>
                <a:ea typeface="Open Sans"/>
                <a:cs typeface="Open Sans"/>
                <a:sym typeface="Open Sans"/>
              </a:rPr>
              <a:t>A</a:t>
            </a:r>
            <a:r>
              <a:rPr lang="en-US">
                <a:solidFill>
                  <a:srgbClr val="00FF00"/>
                </a:solidFill>
                <a:latin typeface="Open Sans"/>
                <a:ea typeface="Open Sans"/>
                <a:cs typeface="Open Sans"/>
                <a:sym typeface="Open Sans"/>
              </a:rPr>
              <a:t> </a:t>
            </a:r>
            <a:r>
              <a:rPr lang="en-US">
                <a:solidFill>
                  <a:srgbClr val="E6E8F0"/>
                </a:solidFill>
                <a:highlight>
                  <a:srgbClr val="1F1F1F"/>
                </a:highlight>
                <a:latin typeface="Roboto"/>
                <a:ea typeface="Roboto"/>
                <a:cs typeface="Roboto"/>
                <a:sym typeface="Roboto"/>
              </a:rPr>
              <a:t>∩ </a:t>
            </a:r>
            <a:r>
              <a:rPr lang="en-US">
                <a:solidFill>
                  <a:srgbClr val="FF9900"/>
                </a:solidFill>
                <a:highlight>
                  <a:srgbClr val="1F1F1F"/>
                </a:highlight>
                <a:latin typeface="Roboto"/>
                <a:ea typeface="Roboto"/>
                <a:cs typeface="Roboto"/>
                <a:sym typeface="Roboto"/>
              </a:rPr>
              <a:t>B</a:t>
            </a:r>
            <a:r>
              <a:rPr lang="en-US">
                <a:solidFill>
                  <a:srgbClr val="E6E8F0"/>
                </a:solidFill>
                <a:highlight>
                  <a:srgbClr val="1F1F1F"/>
                </a:highlight>
                <a:latin typeface="Roboto"/>
                <a:ea typeface="Roboto"/>
                <a:cs typeface="Roboto"/>
                <a:sym typeface="Roboto"/>
              </a:rPr>
              <a:t>|</a:t>
            </a:r>
            <a:endParaRPr>
              <a:solidFill>
                <a:schemeClr val="accent2"/>
              </a:solidFill>
              <a:latin typeface="Open Sans"/>
              <a:ea typeface="Open Sans"/>
              <a:cs typeface="Open Sans"/>
              <a:sym typeface="Open Sans"/>
            </a:endParaRPr>
          </a:p>
        </p:txBody>
      </p:sp>
      <p:sp>
        <p:nvSpPr>
          <p:cNvPr id="170" name="Google Shape;170;g39dcdded7dd_1_79"/>
          <p:cNvSpPr txBox="1"/>
          <p:nvPr/>
        </p:nvSpPr>
        <p:spPr>
          <a:xfrm>
            <a:off x="5986675" y="730775"/>
            <a:ext cx="1026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solidFill>
                  <a:schemeClr val="accent2"/>
                </a:solidFill>
                <a:latin typeface="Open Sans"/>
                <a:ea typeface="Open Sans"/>
                <a:cs typeface="Open Sans"/>
                <a:sym typeface="Open Sans"/>
              </a:rPr>
              <a:t>|</a:t>
            </a:r>
            <a:r>
              <a:rPr lang="en-US">
                <a:solidFill>
                  <a:srgbClr val="5F89D3"/>
                </a:solidFill>
                <a:latin typeface="Open Sans"/>
                <a:ea typeface="Open Sans"/>
                <a:cs typeface="Open Sans"/>
                <a:sym typeface="Open Sans"/>
              </a:rPr>
              <a:t>A</a:t>
            </a:r>
            <a:r>
              <a:rPr lang="en-US">
                <a:solidFill>
                  <a:schemeClr val="accent2"/>
                </a:solidFill>
                <a:latin typeface="Open Sans"/>
                <a:ea typeface="Open Sans"/>
                <a:cs typeface="Open Sans"/>
                <a:sym typeface="Open Sans"/>
              </a:rPr>
              <a:t>| + |</a:t>
            </a:r>
            <a:r>
              <a:rPr lang="en-US">
                <a:solidFill>
                  <a:srgbClr val="FF9900"/>
                </a:solidFill>
                <a:latin typeface="Open Sans"/>
                <a:ea typeface="Open Sans"/>
                <a:cs typeface="Open Sans"/>
                <a:sym typeface="Open Sans"/>
              </a:rPr>
              <a:t>B</a:t>
            </a:r>
            <a:r>
              <a:rPr lang="en-US">
                <a:solidFill>
                  <a:schemeClr val="accent2"/>
                </a:solidFill>
                <a:latin typeface="Open Sans"/>
                <a:ea typeface="Open Sans"/>
                <a:cs typeface="Open Sans"/>
                <a:sym typeface="Open Sans"/>
              </a:rPr>
              <a:t>|</a:t>
            </a:r>
            <a:endParaRPr>
              <a:solidFill>
                <a:schemeClr val="accent2"/>
              </a:solidFill>
              <a:latin typeface="Open Sans"/>
              <a:ea typeface="Open Sans"/>
              <a:cs typeface="Open Sans"/>
              <a:sym typeface="Open Sans"/>
            </a:endParaRPr>
          </a:p>
        </p:txBody>
      </p:sp>
      <p:cxnSp>
        <p:nvCxnSpPr>
          <p:cNvPr id="171" name="Google Shape;171;g39dcdded7dd_1_79"/>
          <p:cNvCxnSpPr/>
          <p:nvPr/>
        </p:nvCxnSpPr>
        <p:spPr>
          <a:xfrm>
            <a:off x="6032875" y="730775"/>
            <a:ext cx="933900" cy="1200"/>
          </a:xfrm>
          <a:prstGeom prst="straightConnector1">
            <a:avLst/>
          </a:prstGeom>
          <a:noFill/>
          <a:ln w="9525" cap="flat" cmpd="sng">
            <a:solidFill>
              <a:schemeClr val="dk1"/>
            </a:solidFill>
            <a:prstDash val="solid"/>
            <a:round/>
            <a:headEnd type="none" w="med" len="med"/>
            <a:tailEnd type="none" w="med" len="med"/>
          </a:ln>
        </p:spPr>
      </p:cxnSp>
      <p:sp>
        <p:nvSpPr>
          <p:cNvPr id="172" name="Google Shape;172;g39dcdded7dd_1_79"/>
          <p:cNvSpPr txBox="1"/>
          <p:nvPr/>
        </p:nvSpPr>
        <p:spPr>
          <a:xfrm>
            <a:off x="5336413" y="531275"/>
            <a:ext cx="82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accent2"/>
                </a:solidFill>
                <a:latin typeface="Open Sans"/>
                <a:ea typeface="Open Sans"/>
                <a:cs typeface="Open Sans"/>
                <a:sym typeface="Open Sans"/>
              </a:rPr>
              <a:t>DSC =</a:t>
            </a:r>
            <a:endParaRPr>
              <a:solidFill>
                <a:schemeClr val="accent2"/>
              </a:solidFill>
              <a:latin typeface="Open Sans"/>
              <a:ea typeface="Open Sans"/>
              <a:cs typeface="Open Sans"/>
              <a:sym typeface="Open Sans"/>
            </a:endParaRPr>
          </a:p>
        </p:txBody>
      </p:sp>
      <p:sp>
        <p:nvSpPr>
          <p:cNvPr id="173" name="Google Shape;173;g39dcdded7dd_1_79"/>
          <p:cNvSpPr txBox="1"/>
          <p:nvPr/>
        </p:nvSpPr>
        <p:spPr>
          <a:xfrm>
            <a:off x="7012967" y="531275"/>
            <a:ext cx="318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accent2"/>
                </a:solidFill>
                <a:latin typeface="Open Sans"/>
                <a:ea typeface="Open Sans"/>
                <a:cs typeface="Open Sans"/>
                <a:sym typeface="Open Sans"/>
              </a:rPr>
              <a:t>=</a:t>
            </a:r>
            <a:endParaRPr>
              <a:solidFill>
                <a:schemeClr val="accent2"/>
              </a:solidFill>
              <a:latin typeface="Open Sans"/>
              <a:ea typeface="Open Sans"/>
              <a:cs typeface="Open Sans"/>
              <a:sym typeface="Open Sans"/>
            </a:endParaRPr>
          </a:p>
        </p:txBody>
      </p:sp>
      <p:sp>
        <p:nvSpPr>
          <p:cNvPr id="174" name="Google Shape;174;g39dcdded7dd_1_79"/>
          <p:cNvSpPr txBox="1"/>
          <p:nvPr/>
        </p:nvSpPr>
        <p:spPr>
          <a:xfrm>
            <a:off x="7416175" y="331775"/>
            <a:ext cx="1197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solidFill>
                  <a:schemeClr val="accent2"/>
                </a:solidFill>
                <a:latin typeface="Open Sans"/>
                <a:ea typeface="Open Sans"/>
                <a:cs typeface="Open Sans"/>
                <a:sym typeface="Open Sans"/>
              </a:rPr>
              <a:t>2TP</a:t>
            </a:r>
            <a:endParaRPr>
              <a:solidFill>
                <a:schemeClr val="accent2"/>
              </a:solidFill>
              <a:latin typeface="Open Sans"/>
              <a:ea typeface="Open Sans"/>
              <a:cs typeface="Open Sans"/>
              <a:sym typeface="Open Sans"/>
            </a:endParaRPr>
          </a:p>
        </p:txBody>
      </p:sp>
      <p:sp>
        <p:nvSpPr>
          <p:cNvPr id="175" name="Google Shape;175;g39dcdded7dd_1_79"/>
          <p:cNvSpPr txBox="1"/>
          <p:nvPr/>
        </p:nvSpPr>
        <p:spPr>
          <a:xfrm>
            <a:off x="7331875" y="730775"/>
            <a:ext cx="1349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solidFill>
                  <a:schemeClr val="accent2"/>
                </a:solidFill>
                <a:latin typeface="Open Sans"/>
                <a:ea typeface="Open Sans"/>
                <a:cs typeface="Open Sans"/>
                <a:sym typeface="Open Sans"/>
              </a:rPr>
              <a:t>2TP + FP + FN</a:t>
            </a:r>
            <a:endParaRPr>
              <a:solidFill>
                <a:schemeClr val="accent2"/>
              </a:solidFill>
              <a:latin typeface="Open Sans"/>
              <a:ea typeface="Open Sans"/>
              <a:cs typeface="Open Sans"/>
              <a:sym typeface="Open Sans"/>
            </a:endParaRPr>
          </a:p>
        </p:txBody>
      </p:sp>
      <p:cxnSp>
        <p:nvCxnSpPr>
          <p:cNvPr id="176" name="Google Shape;176;g39dcdded7dd_1_79"/>
          <p:cNvCxnSpPr/>
          <p:nvPr/>
        </p:nvCxnSpPr>
        <p:spPr>
          <a:xfrm>
            <a:off x="7407475" y="731375"/>
            <a:ext cx="1197900" cy="0"/>
          </a:xfrm>
          <a:prstGeom prst="straightConnector1">
            <a:avLst/>
          </a:prstGeom>
          <a:noFill/>
          <a:ln w="9525" cap="flat" cmpd="sng">
            <a:solidFill>
              <a:schemeClr val="dk1"/>
            </a:solidFill>
            <a:prstDash val="solid"/>
            <a:round/>
            <a:headEnd type="none" w="med" len="med"/>
            <a:tailEnd type="none" w="med" len="med"/>
          </a:ln>
        </p:spPr>
      </p:cxnSp>
      <p:sp>
        <p:nvSpPr>
          <p:cNvPr id="177" name="Google Shape;177;g39dcdded7dd_1_79"/>
          <p:cNvSpPr/>
          <p:nvPr/>
        </p:nvSpPr>
        <p:spPr>
          <a:xfrm>
            <a:off x="5521500" y="1197350"/>
            <a:ext cx="3092700" cy="1245300"/>
          </a:xfrm>
          <a:prstGeom prst="rect">
            <a:avLst/>
          </a:prstGeom>
          <a:solidFill>
            <a:schemeClr val="lt1"/>
          </a:solidFill>
          <a:ln w="8675" cap="flat" cmpd="sng">
            <a:solidFill>
              <a:schemeClr val="dk1"/>
            </a:solidFill>
            <a:prstDash val="solid"/>
            <a:round/>
            <a:headEnd type="none" w="sm" len="sm"/>
            <a:tailEnd type="none" w="sm" len="sm"/>
          </a:ln>
        </p:spPr>
        <p:txBody>
          <a:bodyPr spcFirstLastPara="1" wrap="square" lIns="83375" tIns="83375" rIns="83375" bIns="83375" anchor="ctr" anchorCtr="0">
            <a:noAutofit/>
          </a:bodyPr>
          <a:lstStyle/>
          <a:p>
            <a:pPr marL="0" lvl="0" indent="0" algn="ctr" rtl="0">
              <a:spcBef>
                <a:spcPts val="0"/>
              </a:spcBef>
              <a:spcAft>
                <a:spcPts val="0"/>
              </a:spcAft>
              <a:buNone/>
            </a:pPr>
            <a:endParaRPr sz="1276">
              <a:solidFill>
                <a:schemeClr val="dk1"/>
              </a:solidFill>
              <a:latin typeface="Open Sans"/>
              <a:ea typeface="Open Sans"/>
              <a:cs typeface="Open Sans"/>
              <a:sym typeface="Open Sans"/>
            </a:endParaRPr>
          </a:p>
        </p:txBody>
      </p:sp>
      <p:sp>
        <p:nvSpPr>
          <p:cNvPr id="178" name="Google Shape;178;g39dcdded7dd_1_79"/>
          <p:cNvSpPr/>
          <p:nvPr/>
        </p:nvSpPr>
        <p:spPr>
          <a:xfrm>
            <a:off x="6216174" y="1365079"/>
            <a:ext cx="936000" cy="909900"/>
          </a:xfrm>
          <a:prstGeom prst="ellipse">
            <a:avLst/>
          </a:prstGeom>
          <a:noFill/>
          <a:ln w="8675" cap="flat" cmpd="sng">
            <a:solidFill>
              <a:srgbClr val="5F89D3"/>
            </a:solidFill>
            <a:prstDash val="solid"/>
            <a:round/>
            <a:headEnd type="none" w="sm" len="sm"/>
            <a:tailEnd type="none" w="sm" len="sm"/>
          </a:ln>
        </p:spPr>
        <p:txBody>
          <a:bodyPr spcFirstLastPara="1" wrap="square" lIns="83375" tIns="83375" rIns="83375" bIns="83375" anchor="ctr" anchorCtr="0">
            <a:noAutofit/>
          </a:bodyPr>
          <a:lstStyle/>
          <a:p>
            <a:pPr marL="0" lvl="0" indent="0" algn="ctr" rtl="0">
              <a:spcBef>
                <a:spcPts val="0"/>
              </a:spcBef>
              <a:spcAft>
                <a:spcPts val="0"/>
              </a:spcAft>
              <a:buNone/>
            </a:pPr>
            <a:endParaRPr sz="1276">
              <a:solidFill>
                <a:schemeClr val="dk1"/>
              </a:solidFill>
              <a:latin typeface="Open Sans"/>
              <a:ea typeface="Open Sans"/>
              <a:cs typeface="Open Sans"/>
              <a:sym typeface="Open Sans"/>
            </a:endParaRPr>
          </a:p>
        </p:txBody>
      </p:sp>
      <p:sp>
        <p:nvSpPr>
          <p:cNvPr id="179" name="Google Shape;179;g39dcdded7dd_1_79"/>
          <p:cNvSpPr/>
          <p:nvPr/>
        </p:nvSpPr>
        <p:spPr>
          <a:xfrm>
            <a:off x="6837019" y="1365079"/>
            <a:ext cx="936000" cy="909900"/>
          </a:xfrm>
          <a:prstGeom prst="ellipse">
            <a:avLst/>
          </a:prstGeom>
          <a:noFill/>
          <a:ln w="8675" cap="flat" cmpd="sng">
            <a:solidFill>
              <a:srgbClr val="FF9900"/>
            </a:solidFill>
            <a:prstDash val="solid"/>
            <a:round/>
            <a:headEnd type="none" w="sm" len="sm"/>
            <a:tailEnd type="none" w="sm" len="sm"/>
          </a:ln>
        </p:spPr>
        <p:txBody>
          <a:bodyPr spcFirstLastPara="1" wrap="square" lIns="83375" tIns="83375" rIns="83375" bIns="83375" anchor="ctr" anchorCtr="0">
            <a:noAutofit/>
          </a:bodyPr>
          <a:lstStyle/>
          <a:p>
            <a:pPr marL="0" lvl="0" indent="0" algn="ctr" rtl="0">
              <a:spcBef>
                <a:spcPts val="0"/>
              </a:spcBef>
              <a:spcAft>
                <a:spcPts val="0"/>
              </a:spcAft>
              <a:buNone/>
            </a:pPr>
            <a:endParaRPr sz="1276">
              <a:solidFill>
                <a:srgbClr val="FF00FF"/>
              </a:solidFill>
              <a:latin typeface="Open Sans"/>
              <a:ea typeface="Open Sans"/>
              <a:cs typeface="Open Sans"/>
              <a:sym typeface="Open Sans"/>
            </a:endParaRPr>
          </a:p>
        </p:txBody>
      </p:sp>
      <p:sp>
        <p:nvSpPr>
          <p:cNvPr id="180" name="Google Shape;180;g39dcdded7dd_1_79"/>
          <p:cNvSpPr txBox="1"/>
          <p:nvPr/>
        </p:nvSpPr>
        <p:spPr>
          <a:xfrm>
            <a:off x="6813400" y="1635338"/>
            <a:ext cx="3624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200">
                <a:solidFill>
                  <a:schemeClr val="accent2"/>
                </a:solidFill>
                <a:latin typeface="Open Sans"/>
                <a:ea typeface="Open Sans"/>
                <a:cs typeface="Open Sans"/>
                <a:sym typeface="Open Sans"/>
              </a:rPr>
              <a:t>TP</a:t>
            </a:r>
            <a:endParaRPr sz="1200">
              <a:solidFill>
                <a:schemeClr val="accent2"/>
              </a:solidFill>
              <a:latin typeface="Open Sans"/>
              <a:ea typeface="Open Sans"/>
              <a:cs typeface="Open Sans"/>
              <a:sym typeface="Open Sans"/>
            </a:endParaRPr>
          </a:p>
        </p:txBody>
      </p:sp>
      <p:sp>
        <p:nvSpPr>
          <p:cNvPr id="181" name="Google Shape;181;g39dcdded7dd_1_79"/>
          <p:cNvSpPr txBox="1"/>
          <p:nvPr/>
        </p:nvSpPr>
        <p:spPr>
          <a:xfrm>
            <a:off x="6345400" y="1635338"/>
            <a:ext cx="4680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200">
                <a:solidFill>
                  <a:schemeClr val="accent2"/>
                </a:solidFill>
                <a:latin typeface="Open Sans"/>
                <a:ea typeface="Open Sans"/>
                <a:cs typeface="Open Sans"/>
                <a:sym typeface="Open Sans"/>
              </a:rPr>
              <a:t>FN</a:t>
            </a:r>
            <a:endParaRPr sz="1200">
              <a:solidFill>
                <a:schemeClr val="accent2"/>
              </a:solidFill>
              <a:latin typeface="Open Sans"/>
              <a:ea typeface="Open Sans"/>
              <a:cs typeface="Open Sans"/>
              <a:sym typeface="Open Sans"/>
            </a:endParaRPr>
          </a:p>
        </p:txBody>
      </p:sp>
      <p:sp>
        <p:nvSpPr>
          <p:cNvPr id="182" name="Google Shape;182;g39dcdded7dd_1_79"/>
          <p:cNvSpPr txBox="1"/>
          <p:nvPr/>
        </p:nvSpPr>
        <p:spPr>
          <a:xfrm>
            <a:off x="7175800" y="1635338"/>
            <a:ext cx="4680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200">
                <a:solidFill>
                  <a:schemeClr val="accent2"/>
                </a:solidFill>
                <a:latin typeface="Open Sans"/>
                <a:ea typeface="Open Sans"/>
                <a:cs typeface="Open Sans"/>
                <a:sym typeface="Open Sans"/>
              </a:rPr>
              <a:t>FP</a:t>
            </a:r>
            <a:endParaRPr sz="1200">
              <a:solidFill>
                <a:schemeClr val="accent2"/>
              </a:solidFill>
              <a:latin typeface="Open Sans"/>
              <a:ea typeface="Open Sans"/>
              <a:cs typeface="Open Sans"/>
              <a:sym typeface="Open Sans"/>
            </a:endParaRPr>
          </a:p>
        </p:txBody>
      </p:sp>
      <p:sp>
        <p:nvSpPr>
          <p:cNvPr id="183" name="Google Shape;183;g39dcdded7dd_1_79"/>
          <p:cNvSpPr txBox="1"/>
          <p:nvPr/>
        </p:nvSpPr>
        <p:spPr>
          <a:xfrm>
            <a:off x="8141800" y="1137338"/>
            <a:ext cx="4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a:solidFill>
                  <a:schemeClr val="accent2"/>
                </a:solidFill>
                <a:latin typeface="Open Sans"/>
                <a:ea typeface="Open Sans"/>
                <a:cs typeface="Open Sans"/>
                <a:sym typeface="Open Sans"/>
              </a:rPr>
              <a:t>TN</a:t>
            </a:r>
            <a:endParaRPr sz="1200">
              <a:solidFill>
                <a:schemeClr val="accent2"/>
              </a:solidFill>
              <a:latin typeface="Open Sans"/>
              <a:ea typeface="Open Sans"/>
              <a:cs typeface="Open Sans"/>
              <a:sym typeface="Open Sans"/>
            </a:endParaRPr>
          </a:p>
        </p:txBody>
      </p:sp>
      <p:pic>
        <p:nvPicPr>
          <p:cNvPr id="184" name="Google Shape;184;g39dcdded7dd_1_79"/>
          <p:cNvPicPr preferRelativeResize="0"/>
          <p:nvPr/>
        </p:nvPicPr>
        <p:blipFill>
          <a:blip r:embed="rId3">
            <a:alphaModFix/>
          </a:blip>
          <a:stretch>
            <a:fillRect/>
          </a:stretch>
        </p:blipFill>
        <p:spPr>
          <a:xfrm>
            <a:off x="5521425" y="2509025"/>
            <a:ext cx="3092651" cy="2185065"/>
          </a:xfrm>
          <a:prstGeom prst="rect">
            <a:avLst/>
          </a:prstGeom>
          <a:noFill/>
          <a:ln>
            <a:noFill/>
          </a:ln>
        </p:spPr>
      </p:pic>
      <p:sp>
        <p:nvSpPr>
          <p:cNvPr id="185" name="Google Shape;185;g39dcdded7dd_1_79"/>
          <p:cNvSpPr txBox="1"/>
          <p:nvPr/>
        </p:nvSpPr>
        <p:spPr>
          <a:xfrm>
            <a:off x="7643800" y="4164625"/>
            <a:ext cx="10263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chemeClr val="lt1"/>
                </a:solidFill>
                <a:latin typeface="Open Sans"/>
                <a:ea typeface="Open Sans"/>
                <a:cs typeface="Open Sans"/>
                <a:sym typeface="Open Sans"/>
              </a:rPr>
              <a:t>tolerance = 1mm</a:t>
            </a:r>
            <a:endParaRPr sz="800">
              <a:solidFill>
                <a:schemeClr val="lt1"/>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9dcdded7dd_1_84"/>
          <p:cNvSpPr/>
          <p:nvPr/>
        </p:nvSpPr>
        <p:spPr>
          <a:xfrm>
            <a:off x="715097" y="535000"/>
            <a:ext cx="3803700" cy="4073400"/>
          </a:xfrm>
          <a:prstGeom prst="roundRect">
            <a:avLst>
              <a:gd name="adj" fmla="val 969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191" name="Google Shape;191;g39dcdded7dd_1_84"/>
          <p:cNvSpPr/>
          <p:nvPr/>
        </p:nvSpPr>
        <p:spPr>
          <a:xfrm>
            <a:off x="1343747" y="1528650"/>
            <a:ext cx="2546400" cy="8406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chemeClr val="dk1"/>
                </a:solidFill>
                <a:latin typeface="Open Sans"/>
                <a:ea typeface="Open Sans"/>
                <a:cs typeface="Open Sans"/>
                <a:sym typeface="Open Sans"/>
              </a:rPr>
              <a:t>02</a:t>
            </a:r>
            <a:endParaRPr sz="6000" b="0" i="0" u="none" strike="noStrike" cap="none">
              <a:solidFill>
                <a:schemeClr val="dk1"/>
              </a:solidFill>
              <a:latin typeface="Open Sans"/>
              <a:ea typeface="Open Sans"/>
              <a:cs typeface="Open Sans"/>
              <a:sym typeface="Open Sans"/>
            </a:endParaRPr>
          </a:p>
        </p:txBody>
      </p:sp>
      <p:sp>
        <p:nvSpPr>
          <p:cNvPr id="192" name="Google Shape;192;g39dcdded7dd_1_84"/>
          <p:cNvSpPr txBox="1">
            <a:spLocks noGrp="1"/>
          </p:cNvSpPr>
          <p:nvPr>
            <p:ph type="title"/>
          </p:nvPr>
        </p:nvSpPr>
        <p:spPr>
          <a:xfrm>
            <a:off x="1343747" y="2773625"/>
            <a:ext cx="2531100" cy="841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US"/>
              <a:t>Model 1: SAMed</a:t>
            </a:r>
            <a:endParaRPr/>
          </a:p>
        </p:txBody>
      </p:sp>
      <p:grpSp>
        <p:nvGrpSpPr>
          <p:cNvPr id="193" name="Google Shape;193;g39dcdded7dd_1_84"/>
          <p:cNvGrpSpPr/>
          <p:nvPr/>
        </p:nvGrpSpPr>
        <p:grpSpPr>
          <a:xfrm>
            <a:off x="5045020" y="535000"/>
            <a:ext cx="3383883" cy="4073400"/>
            <a:chOff x="715100" y="535000"/>
            <a:chExt cx="3893100" cy="4073400"/>
          </a:xfrm>
        </p:grpSpPr>
        <p:sp>
          <p:nvSpPr>
            <p:cNvPr id="194" name="Google Shape;194;g39dcdded7dd_1_84"/>
            <p:cNvSpPr/>
            <p:nvPr/>
          </p:nvSpPr>
          <p:spPr>
            <a:xfrm>
              <a:off x="715100" y="535000"/>
              <a:ext cx="3893100" cy="4073400"/>
            </a:xfrm>
            <a:prstGeom prst="roundRect">
              <a:avLst>
                <a:gd name="adj" fmla="val 1103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195" name="Google Shape;195;g39dcdded7dd_1_84"/>
            <p:cNvSpPr/>
            <p:nvPr/>
          </p:nvSpPr>
          <p:spPr>
            <a:xfrm>
              <a:off x="908299" y="710950"/>
              <a:ext cx="3506700" cy="3721500"/>
            </a:xfrm>
            <a:prstGeom prst="roundRect">
              <a:avLst>
                <a:gd name="adj" fmla="val 8465"/>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grpSp>
      <p:sp>
        <p:nvSpPr>
          <p:cNvPr id="196" name="Google Shape;196;g39dcdded7dd_1_84"/>
          <p:cNvSpPr/>
          <p:nvPr/>
        </p:nvSpPr>
        <p:spPr>
          <a:xfrm rot="-5400000">
            <a:off x="2554997" y="1434688"/>
            <a:ext cx="108600" cy="2531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97" name="Google Shape;197;g39dcdded7dd_1_84"/>
          <p:cNvGrpSpPr/>
          <p:nvPr/>
        </p:nvGrpSpPr>
        <p:grpSpPr>
          <a:xfrm>
            <a:off x="5786046" y="1497790"/>
            <a:ext cx="1901840" cy="2404918"/>
            <a:chOff x="5858401" y="3111993"/>
            <a:chExt cx="247764" cy="313304"/>
          </a:xfrm>
        </p:grpSpPr>
        <p:sp>
          <p:nvSpPr>
            <p:cNvPr id="198" name="Google Shape;198;g39dcdded7dd_1_84"/>
            <p:cNvSpPr/>
            <p:nvPr/>
          </p:nvSpPr>
          <p:spPr>
            <a:xfrm>
              <a:off x="5972472" y="3145304"/>
              <a:ext cx="133693" cy="162135"/>
            </a:xfrm>
            <a:custGeom>
              <a:avLst/>
              <a:gdLst/>
              <a:ahLst/>
              <a:cxnLst/>
              <a:rect l="l" t="t" r="r" b="b"/>
              <a:pathLst>
                <a:path w="7413" h="8990" extrusionOk="0">
                  <a:moveTo>
                    <a:pt x="2242" y="0"/>
                  </a:moveTo>
                  <a:cubicBezTo>
                    <a:pt x="1863" y="0"/>
                    <a:pt x="1519" y="94"/>
                    <a:pt x="1203" y="242"/>
                  </a:cubicBezTo>
                  <a:cubicBezTo>
                    <a:pt x="258" y="672"/>
                    <a:pt x="1" y="2188"/>
                    <a:pt x="802" y="3247"/>
                  </a:cubicBezTo>
                  <a:cubicBezTo>
                    <a:pt x="1517" y="4163"/>
                    <a:pt x="1403" y="4306"/>
                    <a:pt x="1489" y="4707"/>
                  </a:cubicBezTo>
                  <a:cubicBezTo>
                    <a:pt x="1661" y="5623"/>
                    <a:pt x="1403" y="5852"/>
                    <a:pt x="1346" y="7054"/>
                  </a:cubicBezTo>
                  <a:cubicBezTo>
                    <a:pt x="1281" y="7916"/>
                    <a:pt x="2126" y="8990"/>
                    <a:pt x="3428" y="8990"/>
                  </a:cubicBezTo>
                  <a:cubicBezTo>
                    <a:pt x="3854" y="8990"/>
                    <a:pt x="4329" y="8874"/>
                    <a:pt x="4837" y="8599"/>
                  </a:cubicBezTo>
                  <a:cubicBezTo>
                    <a:pt x="7413" y="7254"/>
                    <a:pt x="6211" y="2532"/>
                    <a:pt x="4837" y="1273"/>
                  </a:cubicBezTo>
                  <a:cubicBezTo>
                    <a:pt x="3807" y="336"/>
                    <a:pt x="2961" y="0"/>
                    <a:pt x="2242" y="0"/>
                  </a:cubicBezTo>
                  <a:close/>
                </a:path>
              </a:pathLst>
            </a:custGeom>
            <a:solidFill>
              <a:srgbClr val="98544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g39dcdded7dd_1_84"/>
            <p:cNvSpPr/>
            <p:nvPr/>
          </p:nvSpPr>
          <p:spPr>
            <a:xfrm>
              <a:off x="5982806" y="3199733"/>
              <a:ext cx="103232" cy="108300"/>
            </a:xfrm>
            <a:custGeom>
              <a:avLst/>
              <a:gdLst/>
              <a:ahLst/>
              <a:cxnLst/>
              <a:rect l="l" t="t" r="r" b="b"/>
              <a:pathLst>
                <a:path w="5724" h="6005" extrusionOk="0">
                  <a:moveTo>
                    <a:pt x="0" y="0"/>
                  </a:moveTo>
                  <a:lnTo>
                    <a:pt x="0" y="0"/>
                  </a:lnTo>
                  <a:cubicBezTo>
                    <a:pt x="29" y="58"/>
                    <a:pt x="115" y="172"/>
                    <a:pt x="172" y="258"/>
                  </a:cubicBezTo>
                  <a:cubicBezTo>
                    <a:pt x="887" y="1174"/>
                    <a:pt x="801" y="1317"/>
                    <a:pt x="859" y="1718"/>
                  </a:cubicBezTo>
                  <a:cubicBezTo>
                    <a:pt x="1030" y="2662"/>
                    <a:pt x="801" y="2862"/>
                    <a:pt x="716" y="4093"/>
                  </a:cubicBezTo>
                  <a:cubicBezTo>
                    <a:pt x="694" y="4952"/>
                    <a:pt x="1511" y="6005"/>
                    <a:pt x="2803" y="6005"/>
                  </a:cubicBezTo>
                  <a:cubicBezTo>
                    <a:pt x="3232" y="6005"/>
                    <a:pt x="3714" y="5888"/>
                    <a:pt x="4236" y="5610"/>
                  </a:cubicBezTo>
                  <a:cubicBezTo>
                    <a:pt x="5266" y="5066"/>
                    <a:pt x="5695" y="4007"/>
                    <a:pt x="5724" y="2834"/>
                  </a:cubicBezTo>
                  <a:lnTo>
                    <a:pt x="5724" y="2834"/>
                  </a:lnTo>
                  <a:cubicBezTo>
                    <a:pt x="5581" y="3835"/>
                    <a:pt x="5237" y="4751"/>
                    <a:pt x="4436" y="5266"/>
                  </a:cubicBezTo>
                  <a:cubicBezTo>
                    <a:pt x="4006" y="5532"/>
                    <a:pt x="3610" y="5644"/>
                    <a:pt x="3257" y="5644"/>
                  </a:cubicBezTo>
                  <a:cubicBezTo>
                    <a:pt x="1822" y="5644"/>
                    <a:pt x="1097" y="3803"/>
                    <a:pt x="1717" y="2977"/>
                  </a:cubicBezTo>
                  <a:cubicBezTo>
                    <a:pt x="2519" y="1975"/>
                    <a:pt x="2290" y="888"/>
                    <a:pt x="1173" y="458"/>
                  </a:cubicBezTo>
                  <a:cubicBezTo>
                    <a:pt x="687" y="258"/>
                    <a:pt x="258" y="172"/>
                    <a:pt x="0" y="0"/>
                  </a:cubicBezTo>
                  <a:close/>
                </a:path>
              </a:pathLst>
            </a:custGeom>
            <a:solidFill>
              <a:srgbClr val="8C403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g39dcdded7dd_1_84"/>
            <p:cNvSpPr/>
            <p:nvPr/>
          </p:nvSpPr>
          <p:spPr>
            <a:xfrm>
              <a:off x="5978676" y="3145304"/>
              <a:ext cx="121826" cy="151350"/>
            </a:xfrm>
            <a:custGeom>
              <a:avLst/>
              <a:gdLst/>
              <a:ahLst/>
              <a:cxnLst/>
              <a:rect l="l" t="t" r="r" b="b"/>
              <a:pathLst>
                <a:path w="6755" h="8392" extrusionOk="0">
                  <a:moveTo>
                    <a:pt x="1898" y="0"/>
                  </a:moveTo>
                  <a:cubicBezTo>
                    <a:pt x="1519" y="0"/>
                    <a:pt x="1175" y="94"/>
                    <a:pt x="859" y="242"/>
                  </a:cubicBezTo>
                  <a:cubicBezTo>
                    <a:pt x="315" y="471"/>
                    <a:pt x="0" y="1101"/>
                    <a:pt x="0" y="1759"/>
                  </a:cubicBezTo>
                  <a:cubicBezTo>
                    <a:pt x="29" y="1816"/>
                    <a:pt x="86" y="1845"/>
                    <a:pt x="143" y="1902"/>
                  </a:cubicBezTo>
                  <a:cubicBezTo>
                    <a:pt x="283" y="2034"/>
                    <a:pt x="445" y="2073"/>
                    <a:pt x="624" y="2073"/>
                  </a:cubicBezTo>
                  <a:cubicBezTo>
                    <a:pt x="893" y="2073"/>
                    <a:pt x="1199" y="1985"/>
                    <a:pt x="1522" y="1985"/>
                  </a:cubicBezTo>
                  <a:cubicBezTo>
                    <a:pt x="1780" y="1985"/>
                    <a:pt x="2049" y="2041"/>
                    <a:pt x="2318" y="2246"/>
                  </a:cubicBezTo>
                  <a:cubicBezTo>
                    <a:pt x="3148" y="2847"/>
                    <a:pt x="3577" y="4736"/>
                    <a:pt x="2862" y="5966"/>
                  </a:cubicBezTo>
                  <a:cubicBezTo>
                    <a:pt x="2218" y="7074"/>
                    <a:pt x="2571" y="8392"/>
                    <a:pt x="3861" y="8392"/>
                  </a:cubicBezTo>
                  <a:cubicBezTo>
                    <a:pt x="4003" y="8392"/>
                    <a:pt x="4157" y="8376"/>
                    <a:pt x="4322" y="8342"/>
                  </a:cubicBezTo>
                  <a:cubicBezTo>
                    <a:pt x="4751" y="8284"/>
                    <a:pt x="5066" y="8141"/>
                    <a:pt x="5323" y="7912"/>
                  </a:cubicBezTo>
                  <a:cubicBezTo>
                    <a:pt x="6754" y="6138"/>
                    <a:pt x="5667" y="2389"/>
                    <a:pt x="4493" y="1273"/>
                  </a:cubicBezTo>
                  <a:cubicBezTo>
                    <a:pt x="3463" y="336"/>
                    <a:pt x="2617" y="0"/>
                    <a:pt x="1898" y="0"/>
                  </a:cubicBezTo>
                  <a:close/>
                </a:path>
              </a:pathLst>
            </a:custGeom>
            <a:solidFill>
              <a:srgbClr val="A467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g39dcdded7dd_1_84"/>
            <p:cNvSpPr/>
            <p:nvPr/>
          </p:nvSpPr>
          <p:spPr>
            <a:xfrm>
              <a:off x="5990543" y="3217281"/>
              <a:ext cx="18071" cy="199774"/>
            </a:xfrm>
            <a:custGeom>
              <a:avLst/>
              <a:gdLst/>
              <a:ahLst/>
              <a:cxnLst/>
              <a:rect l="l" t="t" r="r" b="b"/>
              <a:pathLst>
                <a:path w="1002" h="11077" extrusionOk="0">
                  <a:moveTo>
                    <a:pt x="859" y="0"/>
                  </a:moveTo>
                  <a:cubicBezTo>
                    <a:pt x="859" y="487"/>
                    <a:pt x="687" y="888"/>
                    <a:pt x="515" y="1288"/>
                  </a:cubicBezTo>
                  <a:cubicBezTo>
                    <a:pt x="430" y="1489"/>
                    <a:pt x="315" y="1718"/>
                    <a:pt x="258" y="1947"/>
                  </a:cubicBezTo>
                  <a:cubicBezTo>
                    <a:pt x="172" y="2175"/>
                    <a:pt x="143" y="2433"/>
                    <a:pt x="115" y="2662"/>
                  </a:cubicBezTo>
                  <a:cubicBezTo>
                    <a:pt x="0" y="3635"/>
                    <a:pt x="229" y="4579"/>
                    <a:pt x="315" y="5495"/>
                  </a:cubicBezTo>
                  <a:cubicBezTo>
                    <a:pt x="458" y="6440"/>
                    <a:pt x="401" y="7356"/>
                    <a:pt x="515" y="8300"/>
                  </a:cubicBezTo>
                  <a:cubicBezTo>
                    <a:pt x="573" y="9216"/>
                    <a:pt x="630" y="10160"/>
                    <a:pt x="630" y="11076"/>
                  </a:cubicBezTo>
                  <a:cubicBezTo>
                    <a:pt x="945" y="10189"/>
                    <a:pt x="1002" y="9216"/>
                    <a:pt x="1002" y="8300"/>
                  </a:cubicBezTo>
                  <a:cubicBezTo>
                    <a:pt x="1002" y="7356"/>
                    <a:pt x="773" y="6440"/>
                    <a:pt x="687" y="5495"/>
                  </a:cubicBezTo>
                  <a:cubicBezTo>
                    <a:pt x="659" y="5037"/>
                    <a:pt x="659" y="4579"/>
                    <a:pt x="630" y="4093"/>
                  </a:cubicBezTo>
                  <a:cubicBezTo>
                    <a:pt x="573" y="3635"/>
                    <a:pt x="544" y="3177"/>
                    <a:pt x="573" y="2748"/>
                  </a:cubicBezTo>
                  <a:cubicBezTo>
                    <a:pt x="573" y="2319"/>
                    <a:pt x="687" y="1861"/>
                    <a:pt x="802" y="1431"/>
                  </a:cubicBezTo>
                  <a:cubicBezTo>
                    <a:pt x="859" y="1174"/>
                    <a:pt x="945" y="945"/>
                    <a:pt x="973" y="716"/>
                  </a:cubicBezTo>
                  <a:cubicBezTo>
                    <a:pt x="1002" y="458"/>
                    <a:pt x="973" y="201"/>
                    <a:pt x="859" y="0"/>
                  </a:cubicBezTo>
                  <a:close/>
                </a:path>
              </a:pathLst>
            </a:custGeom>
            <a:solidFill>
              <a:srgbClr val="F8B9A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39dcdded7dd_1_84"/>
            <p:cNvSpPr/>
            <p:nvPr/>
          </p:nvSpPr>
          <p:spPr>
            <a:xfrm>
              <a:off x="6000354" y="3147540"/>
              <a:ext cx="32535" cy="17674"/>
            </a:xfrm>
            <a:custGeom>
              <a:avLst/>
              <a:gdLst/>
              <a:ahLst/>
              <a:cxnLst/>
              <a:rect l="l" t="t" r="r" b="b"/>
              <a:pathLst>
                <a:path w="1804" h="980" extrusionOk="0">
                  <a:moveTo>
                    <a:pt x="834" y="1"/>
                  </a:moveTo>
                  <a:cubicBezTo>
                    <a:pt x="373" y="1"/>
                    <a:pt x="27" y="166"/>
                    <a:pt x="0" y="404"/>
                  </a:cubicBezTo>
                  <a:cubicBezTo>
                    <a:pt x="0" y="633"/>
                    <a:pt x="372" y="891"/>
                    <a:pt x="830" y="977"/>
                  </a:cubicBezTo>
                  <a:cubicBezTo>
                    <a:pt x="861" y="979"/>
                    <a:pt x="892" y="980"/>
                    <a:pt x="923" y="980"/>
                  </a:cubicBezTo>
                  <a:cubicBezTo>
                    <a:pt x="1367" y="980"/>
                    <a:pt x="1719" y="790"/>
                    <a:pt x="1746" y="576"/>
                  </a:cubicBezTo>
                  <a:cubicBezTo>
                    <a:pt x="1803" y="290"/>
                    <a:pt x="1431" y="32"/>
                    <a:pt x="945" y="4"/>
                  </a:cubicBezTo>
                  <a:cubicBezTo>
                    <a:pt x="907" y="2"/>
                    <a:pt x="870" y="1"/>
                    <a:pt x="834" y="1"/>
                  </a:cubicBezTo>
                  <a:close/>
                </a:path>
              </a:pathLst>
            </a:custGeom>
            <a:solidFill>
              <a:srgbClr val="AF79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g39dcdded7dd_1_84"/>
            <p:cNvSpPr/>
            <p:nvPr/>
          </p:nvSpPr>
          <p:spPr>
            <a:xfrm>
              <a:off x="5943562" y="3254433"/>
              <a:ext cx="42869" cy="170864"/>
            </a:xfrm>
            <a:custGeom>
              <a:avLst/>
              <a:gdLst/>
              <a:ahLst/>
              <a:cxnLst/>
              <a:rect l="l" t="t" r="r" b="b"/>
              <a:pathLst>
                <a:path w="2377" h="9474" extrusionOk="0">
                  <a:moveTo>
                    <a:pt x="87" y="1"/>
                  </a:moveTo>
                  <a:lnTo>
                    <a:pt x="1" y="402"/>
                  </a:lnTo>
                  <a:cubicBezTo>
                    <a:pt x="173" y="402"/>
                    <a:pt x="373" y="430"/>
                    <a:pt x="459" y="545"/>
                  </a:cubicBezTo>
                  <a:cubicBezTo>
                    <a:pt x="573" y="659"/>
                    <a:pt x="688" y="802"/>
                    <a:pt x="745" y="974"/>
                  </a:cubicBezTo>
                  <a:cubicBezTo>
                    <a:pt x="802" y="1089"/>
                    <a:pt x="831" y="1203"/>
                    <a:pt x="860" y="1260"/>
                  </a:cubicBezTo>
                  <a:cubicBezTo>
                    <a:pt x="888" y="1375"/>
                    <a:pt x="945" y="1432"/>
                    <a:pt x="945" y="1546"/>
                  </a:cubicBezTo>
                  <a:cubicBezTo>
                    <a:pt x="974" y="1747"/>
                    <a:pt x="974" y="1947"/>
                    <a:pt x="1003" y="2147"/>
                  </a:cubicBezTo>
                  <a:cubicBezTo>
                    <a:pt x="1088" y="2977"/>
                    <a:pt x="1117" y="3807"/>
                    <a:pt x="1232" y="4609"/>
                  </a:cubicBezTo>
                  <a:cubicBezTo>
                    <a:pt x="1375" y="5439"/>
                    <a:pt x="1461" y="6269"/>
                    <a:pt x="1661" y="7099"/>
                  </a:cubicBezTo>
                  <a:cubicBezTo>
                    <a:pt x="1833" y="7900"/>
                    <a:pt x="2033" y="8701"/>
                    <a:pt x="2376" y="9474"/>
                  </a:cubicBezTo>
                  <a:cubicBezTo>
                    <a:pt x="2233" y="8701"/>
                    <a:pt x="2090" y="7871"/>
                    <a:pt x="1976" y="7041"/>
                  </a:cubicBezTo>
                  <a:cubicBezTo>
                    <a:pt x="1890" y="6240"/>
                    <a:pt x="1804" y="5410"/>
                    <a:pt x="1747" y="4580"/>
                  </a:cubicBezTo>
                  <a:cubicBezTo>
                    <a:pt x="1718" y="3779"/>
                    <a:pt x="1604" y="2949"/>
                    <a:pt x="1518" y="2119"/>
                  </a:cubicBezTo>
                  <a:lnTo>
                    <a:pt x="1403" y="1461"/>
                  </a:lnTo>
                  <a:cubicBezTo>
                    <a:pt x="1403" y="1375"/>
                    <a:pt x="1375" y="1260"/>
                    <a:pt x="1317" y="1146"/>
                  </a:cubicBezTo>
                  <a:lnTo>
                    <a:pt x="1232" y="831"/>
                  </a:lnTo>
                  <a:cubicBezTo>
                    <a:pt x="1117" y="659"/>
                    <a:pt x="1003" y="430"/>
                    <a:pt x="802" y="259"/>
                  </a:cubicBezTo>
                  <a:cubicBezTo>
                    <a:pt x="573" y="87"/>
                    <a:pt x="316" y="1"/>
                    <a:pt x="87" y="1"/>
                  </a:cubicBezTo>
                  <a:close/>
                </a:path>
              </a:pathLst>
            </a:custGeom>
            <a:solidFill>
              <a:srgbClr val="F8B9A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g39dcdded7dd_1_84"/>
            <p:cNvSpPr/>
            <p:nvPr/>
          </p:nvSpPr>
          <p:spPr>
            <a:xfrm>
              <a:off x="5860475" y="3183736"/>
              <a:ext cx="104278" cy="169114"/>
            </a:xfrm>
            <a:custGeom>
              <a:avLst/>
              <a:gdLst/>
              <a:ahLst/>
              <a:cxnLst/>
              <a:rect l="l" t="t" r="r" b="b"/>
              <a:pathLst>
                <a:path w="5782" h="9377" extrusionOk="0">
                  <a:moveTo>
                    <a:pt x="3721" y="0"/>
                  </a:moveTo>
                  <a:cubicBezTo>
                    <a:pt x="3606" y="0"/>
                    <a:pt x="3492" y="0"/>
                    <a:pt x="3349" y="29"/>
                  </a:cubicBezTo>
                  <a:lnTo>
                    <a:pt x="3320" y="29"/>
                  </a:lnTo>
                  <a:cubicBezTo>
                    <a:pt x="3263" y="57"/>
                    <a:pt x="3206" y="57"/>
                    <a:pt x="3148" y="86"/>
                  </a:cubicBezTo>
                  <a:cubicBezTo>
                    <a:pt x="2776" y="200"/>
                    <a:pt x="2433" y="458"/>
                    <a:pt x="2032" y="773"/>
                  </a:cubicBezTo>
                  <a:cubicBezTo>
                    <a:pt x="1345" y="1345"/>
                    <a:pt x="744" y="2290"/>
                    <a:pt x="487" y="3578"/>
                  </a:cubicBezTo>
                  <a:cubicBezTo>
                    <a:pt x="0" y="6125"/>
                    <a:pt x="201" y="8929"/>
                    <a:pt x="2605" y="9330"/>
                  </a:cubicBezTo>
                  <a:cubicBezTo>
                    <a:pt x="2794" y="9362"/>
                    <a:pt x="2974" y="9376"/>
                    <a:pt x="3145" y="9376"/>
                  </a:cubicBezTo>
                  <a:cubicBezTo>
                    <a:pt x="4368" y="9376"/>
                    <a:pt x="5119" y="8620"/>
                    <a:pt x="5495" y="7842"/>
                  </a:cubicBezTo>
                  <a:cubicBezTo>
                    <a:pt x="5724" y="7413"/>
                    <a:pt x="5781" y="6983"/>
                    <a:pt x="5781" y="6640"/>
                  </a:cubicBezTo>
                  <a:cubicBezTo>
                    <a:pt x="5753" y="5581"/>
                    <a:pt x="5152" y="5009"/>
                    <a:pt x="5152" y="4007"/>
                  </a:cubicBezTo>
                  <a:cubicBezTo>
                    <a:pt x="5066" y="2977"/>
                    <a:pt x="5552" y="2519"/>
                    <a:pt x="5467" y="1660"/>
                  </a:cubicBezTo>
                  <a:cubicBezTo>
                    <a:pt x="5409" y="630"/>
                    <a:pt x="4866" y="0"/>
                    <a:pt x="3721" y="0"/>
                  </a:cubicBezTo>
                  <a:close/>
                </a:path>
              </a:pathLst>
            </a:custGeom>
            <a:solidFill>
              <a:srgbClr val="98544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39dcdded7dd_1_84"/>
            <p:cNvSpPr/>
            <p:nvPr/>
          </p:nvSpPr>
          <p:spPr>
            <a:xfrm>
              <a:off x="5868212" y="3183736"/>
              <a:ext cx="95513" cy="151368"/>
            </a:xfrm>
            <a:custGeom>
              <a:avLst/>
              <a:gdLst/>
              <a:ahLst/>
              <a:cxnLst/>
              <a:rect l="l" t="t" r="r" b="b"/>
              <a:pathLst>
                <a:path w="5296" h="8393" extrusionOk="0">
                  <a:moveTo>
                    <a:pt x="3263" y="0"/>
                  </a:moveTo>
                  <a:cubicBezTo>
                    <a:pt x="3149" y="0"/>
                    <a:pt x="3006" y="29"/>
                    <a:pt x="2862" y="57"/>
                  </a:cubicBezTo>
                  <a:cubicBezTo>
                    <a:pt x="344" y="1488"/>
                    <a:pt x="1" y="6211"/>
                    <a:pt x="1288" y="7613"/>
                  </a:cubicBezTo>
                  <a:cubicBezTo>
                    <a:pt x="1761" y="8146"/>
                    <a:pt x="2365" y="8393"/>
                    <a:pt x="2961" y="8393"/>
                  </a:cubicBezTo>
                  <a:cubicBezTo>
                    <a:pt x="4059" y="8393"/>
                    <a:pt x="5128" y="7554"/>
                    <a:pt x="5295" y="6125"/>
                  </a:cubicBezTo>
                  <a:cubicBezTo>
                    <a:pt x="5123" y="5352"/>
                    <a:pt x="4723" y="4837"/>
                    <a:pt x="4694" y="4007"/>
                  </a:cubicBezTo>
                  <a:cubicBezTo>
                    <a:pt x="4637" y="3005"/>
                    <a:pt x="5066" y="2576"/>
                    <a:pt x="5009" y="1660"/>
                  </a:cubicBezTo>
                  <a:cubicBezTo>
                    <a:pt x="4923" y="630"/>
                    <a:pt x="4408" y="0"/>
                    <a:pt x="3263" y="0"/>
                  </a:cubicBezTo>
                  <a:close/>
                </a:path>
              </a:pathLst>
            </a:custGeom>
            <a:solidFill>
              <a:srgbClr val="A467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g39dcdded7dd_1_84"/>
            <p:cNvSpPr/>
            <p:nvPr/>
          </p:nvSpPr>
          <p:spPr>
            <a:xfrm>
              <a:off x="5902280" y="3189471"/>
              <a:ext cx="40272" cy="32932"/>
            </a:xfrm>
            <a:custGeom>
              <a:avLst/>
              <a:gdLst/>
              <a:ahLst/>
              <a:cxnLst/>
              <a:rect l="l" t="t" r="r" b="b"/>
              <a:pathLst>
                <a:path w="2233" h="1826" extrusionOk="0">
                  <a:moveTo>
                    <a:pt x="1494" y="0"/>
                  </a:moveTo>
                  <a:cubicBezTo>
                    <a:pt x="1220" y="0"/>
                    <a:pt x="895" y="127"/>
                    <a:pt x="601" y="369"/>
                  </a:cubicBezTo>
                  <a:cubicBezTo>
                    <a:pt x="144" y="741"/>
                    <a:pt x="0" y="1313"/>
                    <a:pt x="287" y="1657"/>
                  </a:cubicBezTo>
                  <a:cubicBezTo>
                    <a:pt x="400" y="1770"/>
                    <a:pt x="559" y="1825"/>
                    <a:pt x="737" y="1825"/>
                  </a:cubicBezTo>
                  <a:cubicBezTo>
                    <a:pt x="1009" y="1825"/>
                    <a:pt x="1327" y="1698"/>
                    <a:pt x="1603" y="1457"/>
                  </a:cubicBezTo>
                  <a:cubicBezTo>
                    <a:pt x="2090" y="1084"/>
                    <a:pt x="2233" y="512"/>
                    <a:pt x="1947" y="169"/>
                  </a:cubicBezTo>
                  <a:cubicBezTo>
                    <a:pt x="1833" y="55"/>
                    <a:pt x="1674" y="0"/>
                    <a:pt x="1494" y="0"/>
                  </a:cubicBezTo>
                  <a:close/>
                </a:path>
              </a:pathLst>
            </a:custGeom>
            <a:solidFill>
              <a:srgbClr val="AF79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g39dcdded7dd_1_84"/>
            <p:cNvSpPr/>
            <p:nvPr/>
          </p:nvSpPr>
          <p:spPr>
            <a:xfrm>
              <a:off x="5858401" y="3197659"/>
              <a:ext cx="101194" cy="155191"/>
            </a:xfrm>
            <a:custGeom>
              <a:avLst/>
              <a:gdLst/>
              <a:ahLst/>
              <a:cxnLst/>
              <a:rect l="l" t="t" r="r" b="b"/>
              <a:pathLst>
                <a:path w="5611" h="8605" extrusionOk="0">
                  <a:moveTo>
                    <a:pt x="2147" y="1"/>
                  </a:moveTo>
                  <a:cubicBezTo>
                    <a:pt x="1460" y="573"/>
                    <a:pt x="859" y="1518"/>
                    <a:pt x="602" y="2806"/>
                  </a:cubicBezTo>
                  <a:cubicBezTo>
                    <a:pt x="115" y="5353"/>
                    <a:pt x="316" y="8157"/>
                    <a:pt x="2720" y="8558"/>
                  </a:cubicBezTo>
                  <a:cubicBezTo>
                    <a:pt x="2909" y="8590"/>
                    <a:pt x="3089" y="8604"/>
                    <a:pt x="3260" y="8604"/>
                  </a:cubicBezTo>
                  <a:cubicBezTo>
                    <a:pt x="4483" y="8604"/>
                    <a:pt x="5234" y="7848"/>
                    <a:pt x="5610" y="7070"/>
                  </a:cubicBezTo>
                  <a:lnTo>
                    <a:pt x="5610" y="7070"/>
                  </a:lnTo>
                  <a:cubicBezTo>
                    <a:pt x="5283" y="7724"/>
                    <a:pt x="4387" y="8482"/>
                    <a:pt x="3286" y="8482"/>
                  </a:cubicBezTo>
                  <a:cubicBezTo>
                    <a:pt x="2750" y="8482"/>
                    <a:pt x="2166" y="8302"/>
                    <a:pt x="1575" y="7843"/>
                  </a:cubicBezTo>
                  <a:cubicBezTo>
                    <a:pt x="1" y="6612"/>
                    <a:pt x="87" y="1976"/>
                    <a:pt x="2147" y="1"/>
                  </a:cubicBezTo>
                  <a:close/>
                </a:path>
              </a:pathLst>
            </a:custGeom>
            <a:solidFill>
              <a:srgbClr val="8C403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g39dcdded7dd_1_84"/>
            <p:cNvSpPr/>
            <p:nvPr/>
          </p:nvSpPr>
          <p:spPr>
            <a:xfrm>
              <a:off x="5950794" y="3121786"/>
              <a:ext cx="36142" cy="303006"/>
            </a:xfrm>
            <a:custGeom>
              <a:avLst/>
              <a:gdLst/>
              <a:ahLst/>
              <a:cxnLst/>
              <a:rect l="l" t="t" r="r" b="b"/>
              <a:pathLst>
                <a:path w="2004" h="16801" extrusionOk="0">
                  <a:moveTo>
                    <a:pt x="1" y="1"/>
                  </a:moveTo>
                  <a:cubicBezTo>
                    <a:pt x="58" y="716"/>
                    <a:pt x="201" y="1403"/>
                    <a:pt x="344" y="2119"/>
                  </a:cubicBezTo>
                  <a:lnTo>
                    <a:pt x="888" y="4151"/>
                  </a:lnTo>
                  <a:cubicBezTo>
                    <a:pt x="1060" y="4780"/>
                    <a:pt x="1145" y="5496"/>
                    <a:pt x="1117" y="6183"/>
                  </a:cubicBezTo>
                  <a:cubicBezTo>
                    <a:pt x="1117" y="6898"/>
                    <a:pt x="1060" y="7614"/>
                    <a:pt x="1117" y="8329"/>
                  </a:cubicBezTo>
                  <a:cubicBezTo>
                    <a:pt x="1145" y="9045"/>
                    <a:pt x="1260" y="9789"/>
                    <a:pt x="1403" y="10475"/>
                  </a:cubicBezTo>
                  <a:cubicBezTo>
                    <a:pt x="1460" y="10848"/>
                    <a:pt x="1546" y="11191"/>
                    <a:pt x="1575" y="11506"/>
                  </a:cubicBezTo>
                  <a:cubicBezTo>
                    <a:pt x="1603" y="11878"/>
                    <a:pt x="1603" y="12193"/>
                    <a:pt x="1575" y="12565"/>
                  </a:cubicBezTo>
                  <a:cubicBezTo>
                    <a:pt x="1346" y="13938"/>
                    <a:pt x="1203" y="15455"/>
                    <a:pt x="1689" y="16800"/>
                  </a:cubicBezTo>
                  <a:lnTo>
                    <a:pt x="1718" y="14711"/>
                  </a:lnTo>
                  <a:cubicBezTo>
                    <a:pt x="1718" y="14339"/>
                    <a:pt x="1746" y="14024"/>
                    <a:pt x="1775" y="13652"/>
                  </a:cubicBezTo>
                  <a:cubicBezTo>
                    <a:pt x="1832" y="13337"/>
                    <a:pt x="1890" y="12994"/>
                    <a:pt x="1918" y="12622"/>
                  </a:cubicBezTo>
                  <a:cubicBezTo>
                    <a:pt x="1975" y="12278"/>
                    <a:pt x="2004" y="11878"/>
                    <a:pt x="1975" y="11506"/>
                  </a:cubicBezTo>
                  <a:cubicBezTo>
                    <a:pt x="1918" y="11162"/>
                    <a:pt x="1861" y="10790"/>
                    <a:pt x="1775" y="10447"/>
                  </a:cubicBezTo>
                  <a:cubicBezTo>
                    <a:pt x="1632" y="9760"/>
                    <a:pt x="1575" y="9073"/>
                    <a:pt x="1546" y="8358"/>
                  </a:cubicBezTo>
                  <a:cubicBezTo>
                    <a:pt x="1489" y="7642"/>
                    <a:pt x="1489" y="6984"/>
                    <a:pt x="1546" y="6268"/>
                  </a:cubicBezTo>
                  <a:cubicBezTo>
                    <a:pt x="1575" y="5553"/>
                    <a:pt x="1489" y="4837"/>
                    <a:pt x="1317" y="4122"/>
                  </a:cubicBezTo>
                  <a:cubicBezTo>
                    <a:pt x="1174" y="3435"/>
                    <a:pt x="916" y="2748"/>
                    <a:pt x="773" y="2061"/>
                  </a:cubicBezTo>
                  <a:cubicBezTo>
                    <a:pt x="602" y="1403"/>
                    <a:pt x="487" y="688"/>
                    <a:pt x="401" y="1"/>
                  </a:cubicBezTo>
                  <a:close/>
                </a:path>
              </a:pathLst>
            </a:custGeom>
            <a:solidFill>
              <a:srgbClr val="9EDB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g39dcdded7dd_1_84"/>
            <p:cNvSpPr/>
            <p:nvPr/>
          </p:nvSpPr>
          <p:spPr>
            <a:xfrm>
              <a:off x="5978153" y="3324121"/>
              <a:ext cx="62473" cy="74340"/>
            </a:xfrm>
            <a:custGeom>
              <a:avLst/>
              <a:gdLst/>
              <a:ahLst/>
              <a:cxnLst/>
              <a:rect l="l" t="t" r="r" b="b"/>
              <a:pathLst>
                <a:path w="3464" h="4122" extrusionOk="0">
                  <a:moveTo>
                    <a:pt x="344" y="1"/>
                  </a:moveTo>
                  <a:lnTo>
                    <a:pt x="0" y="144"/>
                  </a:lnTo>
                  <a:cubicBezTo>
                    <a:pt x="258" y="544"/>
                    <a:pt x="544" y="916"/>
                    <a:pt x="916" y="1231"/>
                  </a:cubicBezTo>
                  <a:cubicBezTo>
                    <a:pt x="1088" y="1403"/>
                    <a:pt x="1260" y="1546"/>
                    <a:pt x="1489" y="1660"/>
                  </a:cubicBezTo>
                  <a:cubicBezTo>
                    <a:pt x="1689" y="1775"/>
                    <a:pt x="1918" y="1861"/>
                    <a:pt x="2090" y="1975"/>
                  </a:cubicBezTo>
                  <a:cubicBezTo>
                    <a:pt x="2433" y="2204"/>
                    <a:pt x="2748" y="2519"/>
                    <a:pt x="2977" y="2863"/>
                  </a:cubicBezTo>
                  <a:cubicBezTo>
                    <a:pt x="3206" y="3263"/>
                    <a:pt x="3378" y="3692"/>
                    <a:pt x="3463" y="4122"/>
                  </a:cubicBezTo>
                  <a:cubicBezTo>
                    <a:pt x="3463" y="3692"/>
                    <a:pt x="3349" y="3235"/>
                    <a:pt x="3149" y="2805"/>
                  </a:cubicBezTo>
                  <a:cubicBezTo>
                    <a:pt x="2977" y="2376"/>
                    <a:pt x="2662" y="1975"/>
                    <a:pt x="2261" y="1689"/>
                  </a:cubicBezTo>
                  <a:cubicBezTo>
                    <a:pt x="2061" y="1546"/>
                    <a:pt x="1861" y="1432"/>
                    <a:pt x="1689" y="1346"/>
                  </a:cubicBezTo>
                  <a:cubicBezTo>
                    <a:pt x="1517" y="1231"/>
                    <a:pt x="1346" y="1088"/>
                    <a:pt x="1202" y="945"/>
                  </a:cubicBezTo>
                  <a:cubicBezTo>
                    <a:pt x="888" y="687"/>
                    <a:pt x="601" y="315"/>
                    <a:pt x="344" y="1"/>
                  </a:cubicBezTo>
                  <a:close/>
                </a:path>
              </a:pathLst>
            </a:custGeom>
            <a:solidFill>
              <a:srgbClr val="9EDB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g39dcdded7dd_1_84"/>
            <p:cNvSpPr/>
            <p:nvPr/>
          </p:nvSpPr>
          <p:spPr>
            <a:xfrm>
              <a:off x="6010147" y="3353536"/>
              <a:ext cx="13436" cy="49055"/>
            </a:xfrm>
            <a:custGeom>
              <a:avLst/>
              <a:gdLst/>
              <a:ahLst/>
              <a:cxnLst/>
              <a:rect l="l" t="t" r="r" b="b"/>
              <a:pathLst>
                <a:path w="745" h="2720" extrusionOk="0">
                  <a:moveTo>
                    <a:pt x="287" y="1"/>
                  </a:moveTo>
                  <a:lnTo>
                    <a:pt x="1" y="230"/>
                  </a:lnTo>
                  <a:cubicBezTo>
                    <a:pt x="287" y="516"/>
                    <a:pt x="602" y="917"/>
                    <a:pt x="459" y="1317"/>
                  </a:cubicBezTo>
                  <a:cubicBezTo>
                    <a:pt x="344" y="1775"/>
                    <a:pt x="344" y="2233"/>
                    <a:pt x="402" y="2720"/>
                  </a:cubicBezTo>
                  <a:cubicBezTo>
                    <a:pt x="402" y="2233"/>
                    <a:pt x="459" y="1775"/>
                    <a:pt x="630" y="1375"/>
                  </a:cubicBezTo>
                  <a:cubicBezTo>
                    <a:pt x="745" y="1174"/>
                    <a:pt x="716" y="888"/>
                    <a:pt x="630" y="631"/>
                  </a:cubicBezTo>
                  <a:cubicBezTo>
                    <a:pt x="573" y="430"/>
                    <a:pt x="459" y="201"/>
                    <a:pt x="287" y="1"/>
                  </a:cubicBezTo>
                  <a:close/>
                </a:path>
              </a:pathLst>
            </a:custGeom>
            <a:solidFill>
              <a:srgbClr val="9EDB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g39dcdded7dd_1_84"/>
            <p:cNvSpPr/>
            <p:nvPr/>
          </p:nvSpPr>
          <p:spPr>
            <a:xfrm>
              <a:off x="5962156" y="3111993"/>
              <a:ext cx="29433" cy="309174"/>
            </a:xfrm>
            <a:custGeom>
              <a:avLst/>
              <a:gdLst/>
              <a:ahLst/>
              <a:cxnLst/>
              <a:rect l="l" t="t" r="r" b="b"/>
              <a:pathLst>
                <a:path w="1632" h="17143" extrusionOk="0">
                  <a:moveTo>
                    <a:pt x="515" y="0"/>
                  </a:moveTo>
                  <a:cubicBezTo>
                    <a:pt x="544" y="687"/>
                    <a:pt x="515" y="1431"/>
                    <a:pt x="544" y="2147"/>
                  </a:cubicBezTo>
                  <a:cubicBezTo>
                    <a:pt x="544" y="2490"/>
                    <a:pt x="573" y="2891"/>
                    <a:pt x="659" y="3263"/>
                  </a:cubicBezTo>
                  <a:cubicBezTo>
                    <a:pt x="716" y="3606"/>
                    <a:pt x="773" y="3978"/>
                    <a:pt x="802" y="4322"/>
                  </a:cubicBezTo>
                  <a:cubicBezTo>
                    <a:pt x="945" y="5753"/>
                    <a:pt x="859" y="7184"/>
                    <a:pt x="945" y="8643"/>
                  </a:cubicBezTo>
                  <a:cubicBezTo>
                    <a:pt x="973" y="9044"/>
                    <a:pt x="973" y="9416"/>
                    <a:pt x="1002" y="9759"/>
                  </a:cubicBezTo>
                  <a:cubicBezTo>
                    <a:pt x="1059" y="10131"/>
                    <a:pt x="1088" y="10503"/>
                    <a:pt x="1116" y="10847"/>
                  </a:cubicBezTo>
                  <a:cubicBezTo>
                    <a:pt x="1174" y="11505"/>
                    <a:pt x="1059" y="12192"/>
                    <a:pt x="773" y="12850"/>
                  </a:cubicBezTo>
                  <a:cubicBezTo>
                    <a:pt x="630" y="13165"/>
                    <a:pt x="458" y="13480"/>
                    <a:pt x="344" y="13852"/>
                  </a:cubicBezTo>
                  <a:cubicBezTo>
                    <a:pt x="229" y="14195"/>
                    <a:pt x="115" y="14596"/>
                    <a:pt x="86" y="14939"/>
                  </a:cubicBezTo>
                  <a:cubicBezTo>
                    <a:pt x="0" y="15655"/>
                    <a:pt x="0" y="16428"/>
                    <a:pt x="115" y="17143"/>
                  </a:cubicBezTo>
                  <a:cubicBezTo>
                    <a:pt x="201" y="16428"/>
                    <a:pt x="286" y="15655"/>
                    <a:pt x="401" y="14997"/>
                  </a:cubicBezTo>
                  <a:cubicBezTo>
                    <a:pt x="544" y="14310"/>
                    <a:pt x="859" y="13709"/>
                    <a:pt x="1202" y="13022"/>
                  </a:cubicBezTo>
                  <a:cubicBezTo>
                    <a:pt x="1345" y="12707"/>
                    <a:pt x="1488" y="12335"/>
                    <a:pt x="1546" y="11963"/>
                  </a:cubicBezTo>
                  <a:cubicBezTo>
                    <a:pt x="1632" y="11562"/>
                    <a:pt x="1632" y="11190"/>
                    <a:pt x="1632" y="10818"/>
                  </a:cubicBezTo>
                  <a:cubicBezTo>
                    <a:pt x="1632" y="10446"/>
                    <a:pt x="1546" y="10103"/>
                    <a:pt x="1546" y="9731"/>
                  </a:cubicBezTo>
                  <a:cubicBezTo>
                    <a:pt x="1546" y="9387"/>
                    <a:pt x="1517" y="9015"/>
                    <a:pt x="1517" y="8672"/>
                  </a:cubicBezTo>
                  <a:cubicBezTo>
                    <a:pt x="1488" y="7184"/>
                    <a:pt x="1488" y="5753"/>
                    <a:pt x="1345" y="4293"/>
                  </a:cubicBezTo>
                  <a:cubicBezTo>
                    <a:pt x="1288" y="3950"/>
                    <a:pt x="1260" y="3577"/>
                    <a:pt x="1202" y="3234"/>
                  </a:cubicBezTo>
                  <a:cubicBezTo>
                    <a:pt x="1116" y="2891"/>
                    <a:pt x="1088" y="2547"/>
                    <a:pt x="1059" y="2175"/>
                  </a:cubicBezTo>
                  <a:cubicBezTo>
                    <a:pt x="1002" y="1460"/>
                    <a:pt x="1002" y="744"/>
                    <a:pt x="945" y="0"/>
                  </a:cubicBezTo>
                  <a:close/>
                </a:path>
              </a:pathLst>
            </a:custGeom>
            <a:solidFill>
              <a:srgbClr val="FF5E6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g39dcdded7dd_1_84"/>
            <p:cNvSpPr/>
            <p:nvPr/>
          </p:nvSpPr>
          <p:spPr>
            <a:xfrm>
              <a:off x="5984339" y="3315861"/>
              <a:ext cx="49055" cy="80021"/>
            </a:xfrm>
            <a:custGeom>
              <a:avLst/>
              <a:gdLst/>
              <a:ahLst/>
              <a:cxnLst/>
              <a:rect l="l" t="t" r="r" b="b"/>
              <a:pathLst>
                <a:path w="2720" h="4437" extrusionOk="0">
                  <a:moveTo>
                    <a:pt x="344" y="1"/>
                  </a:moveTo>
                  <a:lnTo>
                    <a:pt x="1" y="58"/>
                  </a:lnTo>
                  <a:cubicBezTo>
                    <a:pt x="115" y="573"/>
                    <a:pt x="344" y="974"/>
                    <a:pt x="688" y="1317"/>
                  </a:cubicBezTo>
                  <a:cubicBezTo>
                    <a:pt x="831" y="1460"/>
                    <a:pt x="1003" y="1632"/>
                    <a:pt x="1203" y="1746"/>
                  </a:cubicBezTo>
                  <a:cubicBezTo>
                    <a:pt x="1403" y="1861"/>
                    <a:pt x="1575" y="1975"/>
                    <a:pt x="1718" y="2118"/>
                  </a:cubicBezTo>
                  <a:cubicBezTo>
                    <a:pt x="2033" y="2347"/>
                    <a:pt x="2262" y="2748"/>
                    <a:pt x="2405" y="3149"/>
                  </a:cubicBezTo>
                  <a:cubicBezTo>
                    <a:pt x="2548" y="3578"/>
                    <a:pt x="2634" y="4007"/>
                    <a:pt x="2691" y="4437"/>
                  </a:cubicBezTo>
                  <a:cubicBezTo>
                    <a:pt x="2720" y="4007"/>
                    <a:pt x="2691" y="3549"/>
                    <a:pt x="2577" y="3120"/>
                  </a:cubicBezTo>
                  <a:cubicBezTo>
                    <a:pt x="2462" y="2691"/>
                    <a:pt x="2290" y="2262"/>
                    <a:pt x="1976" y="1890"/>
                  </a:cubicBezTo>
                  <a:cubicBezTo>
                    <a:pt x="1833" y="1718"/>
                    <a:pt x="1604" y="1546"/>
                    <a:pt x="1432" y="1432"/>
                  </a:cubicBezTo>
                  <a:cubicBezTo>
                    <a:pt x="1260" y="1317"/>
                    <a:pt x="1088" y="1174"/>
                    <a:pt x="974" y="1031"/>
                  </a:cubicBezTo>
                  <a:cubicBezTo>
                    <a:pt x="659" y="716"/>
                    <a:pt x="459" y="373"/>
                    <a:pt x="344" y="1"/>
                  </a:cubicBezTo>
                  <a:close/>
                </a:path>
              </a:pathLst>
            </a:custGeom>
            <a:solidFill>
              <a:srgbClr val="FF5E6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g39dcdded7dd_1_84"/>
            <p:cNvSpPr/>
            <p:nvPr/>
          </p:nvSpPr>
          <p:spPr>
            <a:xfrm>
              <a:off x="5935825" y="3352003"/>
              <a:ext cx="43374" cy="36142"/>
            </a:xfrm>
            <a:custGeom>
              <a:avLst/>
              <a:gdLst/>
              <a:ahLst/>
              <a:cxnLst/>
              <a:rect l="l" t="t" r="r" b="b"/>
              <a:pathLst>
                <a:path w="2405" h="2004" extrusionOk="0">
                  <a:moveTo>
                    <a:pt x="2033" y="0"/>
                  </a:moveTo>
                  <a:cubicBezTo>
                    <a:pt x="1947" y="172"/>
                    <a:pt x="1832" y="258"/>
                    <a:pt x="1546" y="315"/>
                  </a:cubicBezTo>
                  <a:cubicBezTo>
                    <a:pt x="1403" y="343"/>
                    <a:pt x="1260" y="429"/>
                    <a:pt x="1145" y="544"/>
                  </a:cubicBezTo>
                  <a:cubicBezTo>
                    <a:pt x="1031" y="601"/>
                    <a:pt x="974" y="744"/>
                    <a:pt x="888" y="859"/>
                  </a:cubicBezTo>
                  <a:cubicBezTo>
                    <a:pt x="802" y="1116"/>
                    <a:pt x="688" y="1288"/>
                    <a:pt x="544" y="1488"/>
                  </a:cubicBezTo>
                  <a:cubicBezTo>
                    <a:pt x="401" y="1717"/>
                    <a:pt x="230" y="1889"/>
                    <a:pt x="1" y="2003"/>
                  </a:cubicBezTo>
                  <a:cubicBezTo>
                    <a:pt x="258" y="2003"/>
                    <a:pt x="516" y="1832"/>
                    <a:pt x="688" y="1631"/>
                  </a:cubicBezTo>
                  <a:cubicBezTo>
                    <a:pt x="859" y="1460"/>
                    <a:pt x="1002" y="1202"/>
                    <a:pt x="1145" y="1030"/>
                  </a:cubicBezTo>
                  <a:cubicBezTo>
                    <a:pt x="1289" y="859"/>
                    <a:pt x="1460" y="744"/>
                    <a:pt x="1689" y="687"/>
                  </a:cubicBezTo>
                  <a:cubicBezTo>
                    <a:pt x="1804" y="630"/>
                    <a:pt x="1947" y="601"/>
                    <a:pt x="2090" y="544"/>
                  </a:cubicBezTo>
                  <a:cubicBezTo>
                    <a:pt x="2233" y="458"/>
                    <a:pt x="2319" y="343"/>
                    <a:pt x="2405" y="200"/>
                  </a:cubicBezTo>
                  <a:lnTo>
                    <a:pt x="2033" y="0"/>
                  </a:lnTo>
                  <a:close/>
                </a:path>
              </a:pathLst>
            </a:custGeom>
            <a:solidFill>
              <a:srgbClr val="FF5E6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g39dcdded7dd_1_84"/>
            <p:cNvSpPr/>
            <p:nvPr/>
          </p:nvSpPr>
          <p:spPr>
            <a:xfrm>
              <a:off x="6015829" y="3342967"/>
              <a:ext cx="36665" cy="24528"/>
            </a:xfrm>
            <a:custGeom>
              <a:avLst/>
              <a:gdLst/>
              <a:ahLst/>
              <a:cxnLst/>
              <a:rect l="l" t="t" r="r" b="b"/>
              <a:pathLst>
                <a:path w="2033" h="1360" extrusionOk="0">
                  <a:moveTo>
                    <a:pt x="802" y="0"/>
                  </a:moveTo>
                  <a:cubicBezTo>
                    <a:pt x="738" y="0"/>
                    <a:pt x="673" y="14"/>
                    <a:pt x="602" y="43"/>
                  </a:cubicBezTo>
                  <a:cubicBezTo>
                    <a:pt x="373" y="100"/>
                    <a:pt x="172" y="243"/>
                    <a:pt x="1" y="472"/>
                  </a:cubicBezTo>
                  <a:lnTo>
                    <a:pt x="287" y="759"/>
                  </a:lnTo>
                  <a:cubicBezTo>
                    <a:pt x="373" y="615"/>
                    <a:pt x="516" y="415"/>
                    <a:pt x="688" y="358"/>
                  </a:cubicBezTo>
                  <a:cubicBezTo>
                    <a:pt x="756" y="312"/>
                    <a:pt x="825" y="294"/>
                    <a:pt x="895" y="294"/>
                  </a:cubicBezTo>
                  <a:cubicBezTo>
                    <a:pt x="1001" y="294"/>
                    <a:pt x="1111" y="335"/>
                    <a:pt x="1231" y="387"/>
                  </a:cubicBezTo>
                  <a:cubicBezTo>
                    <a:pt x="1403" y="501"/>
                    <a:pt x="1517" y="644"/>
                    <a:pt x="1603" y="873"/>
                  </a:cubicBezTo>
                  <a:cubicBezTo>
                    <a:pt x="1718" y="1045"/>
                    <a:pt x="1832" y="1302"/>
                    <a:pt x="2033" y="1360"/>
                  </a:cubicBezTo>
                  <a:cubicBezTo>
                    <a:pt x="1832" y="1245"/>
                    <a:pt x="1746" y="1045"/>
                    <a:pt x="1689" y="816"/>
                  </a:cubicBezTo>
                  <a:cubicBezTo>
                    <a:pt x="1661" y="615"/>
                    <a:pt x="1517" y="358"/>
                    <a:pt x="1317" y="215"/>
                  </a:cubicBezTo>
                  <a:cubicBezTo>
                    <a:pt x="1260" y="158"/>
                    <a:pt x="1145" y="72"/>
                    <a:pt x="1002" y="43"/>
                  </a:cubicBezTo>
                  <a:cubicBezTo>
                    <a:pt x="931" y="14"/>
                    <a:pt x="866" y="0"/>
                    <a:pt x="802" y="0"/>
                  </a:cubicBezTo>
                  <a:close/>
                </a:path>
              </a:pathLst>
            </a:custGeom>
            <a:solidFill>
              <a:srgbClr val="FF5E6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5" name="Google Shape;215;g39dcdded7dd_1_8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g398c6dbd69e_1_0"/>
          <p:cNvSpPr/>
          <p:nvPr/>
        </p:nvSpPr>
        <p:spPr>
          <a:xfrm>
            <a:off x="4750528" y="1172400"/>
            <a:ext cx="3893400" cy="3577500"/>
          </a:xfrm>
          <a:prstGeom prst="rect">
            <a:avLst/>
          </a:prstGeom>
          <a:solidFill>
            <a:srgbClr val="1A1A1A"/>
          </a:solidFill>
          <a:ln w="1827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 name="Google Shape;221;g398c6dbd69e_1_0"/>
          <p:cNvSpPr/>
          <p:nvPr/>
        </p:nvSpPr>
        <p:spPr>
          <a:xfrm>
            <a:off x="4929121" y="1629650"/>
            <a:ext cx="3536100" cy="2206200"/>
          </a:xfrm>
          <a:prstGeom prst="rect">
            <a:avLst/>
          </a:prstGeom>
          <a:solidFill>
            <a:srgbClr val="FFFFFF">
              <a:alpha val="9765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 name="Google Shape;222;g398c6dbd69e_1_0"/>
          <p:cNvSpPr/>
          <p:nvPr/>
        </p:nvSpPr>
        <p:spPr>
          <a:xfrm>
            <a:off x="500000" y="1172400"/>
            <a:ext cx="3893400" cy="3577500"/>
          </a:xfrm>
          <a:prstGeom prst="rect">
            <a:avLst/>
          </a:prstGeom>
          <a:solidFill>
            <a:srgbClr val="1A1A1A"/>
          </a:solidFill>
          <a:ln w="1827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 name="Google Shape;223;g398c6dbd69e_1_0"/>
          <p:cNvSpPr/>
          <p:nvPr/>
        </p:nvSpPr>
        <p:spPr>
          <a:xfrm>
            <a:off x="678650" y="1629650"/>
            <a:ext cx="3536100" cy="2206200"/>
          </a:xfrm>
          <a:prstGeom prst="rect">
            <a:avLst/>
          </a:prstGeom>
          <a:solidFill>
            <a:srgbClr val="FFFFFF">
              <a:alpha val="9765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 name="Google Shape;224;g398c6dbd69e_1_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9</a:t>
            </a:fld>
            <a:endParaRPr/>
          </a:p>
        </p:txBody>
      </p:sp>
      <p:sp>
        <p:nvSpPr>
          <p:cNvPr id="225" name="Google Shape;225;g398c6dbd69e_1_0"/>
          <p:cNvSpPr/>
          <p:nvPr/>
        </p:nvSpPr>
        <p:spPr>
          <a:xfrm>
            <a:off x="500063" y="200941"/>
            <a:ext cx="8143800" cy="600000"/>
          </a:xfrm>
          <a:prstGeom prst="rect">
            <a:avLst/>
          </a:prstGeom>
          <a:noFill/>
          <a:ln>
            <a:noFill/>
          </a:ln>
        </p:spPr>
        <p:txBody>
          <a:bodyPr spcFirstLastPara="1" wrap="square" lIns="0" tIns="0" rIns="0" bIns="0" anchor="t" anchorCtr="0">
            <a:noAutofit/>
          </a:bodyPr>
          <a:lstStyle/>
          <a:p>
            <a:pPr marL="0" marR="0" lvl="0" indent="0" algn="ctr" rtl="0">
              <a:lnSpc>
                <a:spcPct val="164220"/>
              </a:lnSpc>
              <a:spcBef>
                <a:spcPts val="0"/>
              </a:spcBef>
              <a:spcAft>
                <a:spcPts val="0"/>
              </a:spcAft>
              <a:buClr>
                <a:srgbClr val="000000"/>
              </a:buClr>
              <a:buSzPts val="2862"/>
              <a:buFont typeface="Arial"/>
              <a:buNone/>
            </a:pPr>
            <a:r>
              <a:rPr lang="en-US" sz="3000" b="1" i="0" u="none" strike="noStrike" cap="none" dirty="0" err="1">
                <a:solidFill>
                  <a:srgbClr val="E2E8F0"/>
                </a:solidFill>
                <a:latin typeface="Open Sans"/>
                <a:ea typeface="Open Sans"/>
                <a:cs typeface="Open Sans"/>
                <a:sym typeface="Open Sans"/>
              </a:rPr>
              <a:t>SAMed</a:t>
            </a:r>
            <a:r>
              <a:rPr lang="en-US" sz="3000" b="1" i="0" u="none" strike="noStrike" cap="none" dirty="0">
                <a:solidFill>
                  <a:srgbClr val="E2E8F0"/>
                </a:solidFill>
                <a:latin typeface="Open Sans"/>
                <a:ea typeface="Open Sans"/>
                <a:cs typeface="Open Sans"/>
                <a:sym typeface="Open Sans"/>
              </a:rPr>
              <a:t>: SAM + </a:t>
            </a:r>
            <a:r>
              <a:rPr lang="en-US" sz="3000" b="1" i="0" u="none" strike="noStrike" cap="none" dirty="0" err="1">
                <a:solidFill>
                  <a:srgbClr val="E2E8F0"/>
                </a:solidFill>
                <a:latin typeface="Open Sans"/>
                <a:ea typeface="Open Sans"/>
                <a:cs typeface="Open Sans"/>
                <a:sym typeface="Open Sans"/>
              </a:rPr>
              <a:t>LoRA</a:t>
            </a:r>
            <a:endParaRPr sz="3000" i="0" u="none" strike="noStrike" cap="none" dirty="0">
              <a:solidFill>
                <a:srgbClr val="000000"/>
              </a:solidFill>
              <a:latin typeface="Open Sans"/>
              <a:ea typeface="Open Sans"/>
              <a:cs typeface="Open Sans"/>
              <a:sym typeface="Open Sans"/>
            </a:endParaRPr>
          </a:p>
        </p:txBody>
      </p:sp>
      <p:sp>
        <p:nvSpPr>
          <p:cNvPr id="226" name="Google Shape;226;g398c6dbd69e_1_0"/>
          <p:cNvSpPr/>
          <p:nvPr/>
        </p:nvSpPr>
        <p:spPr>
          <a:xfrm>
            <a:off x="500000" y="776053"/>
            <a:ext cx="8143800" cy="300000"/>
          </a:xfrm>
          <a:prstGeom prst="rect">
            <a:avLst/>
          </a:prstGeom>
          <a:noFill/>
          <a:ln>
            <a:noFill/>
          </a:ln>
        </p:spPr>
        <p:txBody>
          <a:bodyPr spcFirstLastPara="1" wrap="square" lIns="0" tIns="0" rIns="0" bIns="0" anchor="t" anchorCtr="0">
            <a:noAutofit/>
          </a:bodyPr>
          <a:lstStyle/>
          <a:p>
            <a:pPr marL="0" marR="0" lvl="0" indent="0" algn="ctr" rtl="0">
              <a:lnSpc>
                <a:spcPct val="161507"/>
              </a:lnSpc>
              <a:spcBef>
                <a:spcPts val="0"/>
              </a:spcBef>
              <a:spcAft>
                <a:spcPts val="0"/>
              </a:spcAft>
              <a:buClr>
                <a:srgbClr val="000000"/>
              </a:buClr>
              <a:buSzPts val="1486"/>
              <a:buFont typeface="Arial"/>
              <a:buNone/>
            </a:pPr>
            <a:r>
              <a:rPr lang="en-US" sz="1486" i="0" u="none" strike="noStrike" cap="none" dirty="0">
                <a:solidFill>
                  <a:srgbClr val="60A5FA"/>
                </a:solidFill>
                <a:latin typeface="Open Sans"/>
                <a:ea typeface="Open Sans"/>
                <a:cs typeface="Open Sans"/>
                <a:sym typeface="Open Sans"/>
              </a:rPr>
              <a:t>Medical Image Segmentation with Foundation Models</a:t>
            </a:r>
            <a:endParaRPr sz="1486" i="0" u="none" strike="noStrike" cap="none" dirty="0">
              <a:solidFill>
                <a:srgbClr val="000000"/>
              </a:solidFill>
              <a:latin typeface="Open Sans"/>
              <a:ea typeface="Open Sans"/>
              <a:cs typeface="Open Sans"/>
              <a:sym typeface="Open Sans"/>
            </a:endParaRPr>
          </a:p>
        </p:txBody>
      </p:sp>
      <p:sp>
        <p:nvSpPr>
          <p:cNvPr id="227" name="Google Shape;227;g398c6dbd69e_1_0"/>
          <p:cNvSpPr/>
          <p:nvPr/>
        </p:nvSpPr>
        <p:spPr>
          <a:xfrm>
            <a:off x="678594" y="1251050"/>
            <a:ext cx="3536100" cy="342900"/>
          </a:xfrm>
          <a:prstGeom prst="rect">
            <a:avLst/>
          </a:prstGeom>
          <a:noFill/>
          <a:ln>
            <a:noFill/>
          </a:ln>
        </p:spPr>
        <p:txBody>
          <a:bodyPr spcFirstLastPara="1" wrap="square" lIns="0" tIns="0" rIns="0" bIns="0" anchor="t" anchorCtr="0">
            <a:noAutofit/>
          </a:bodyPr>
          <a:lstStyle/>
          <a:p>
            <a:pPr marL="0" marR="0" lvl="0" indent="0" algn="ctr" rtl="0">
              <a:lnSpc>
                <a:spcPct val="168539"/>
              </a:lnSpc>
              <a:spcBef>
                <a:spcPts val="0"/>
              </a:spcBef>
              <a:spcAft>
                <a:spcPts val="0"/>
              </a:spcAft>
              <a:buClr>
                <a:srgbClr val="000000"/>
              </a:buClr>
              <a:buSzPts val="1602"/>
              <a:buFont typeface="Arial"/>
              <a:buNone/>
            </a:pPr>
            <a:r>
              <a:rPr lang="en-US" sz="1602" b="1" i="0" u="none" strike="noStrike" cap="none" dirty="0">
                <a:solidFill>
                  <a:srgbClr val="60A5FA"/>
                </a:solidFill>
                <a:latin typeface="Open Sans"/>
                <a:ea typeface="Open Sans"/>
                <a:cs typeface="Open Sans"/>
                <a:sym typeface="Open Sans"/>
              </a:rPr>
              <a:t>SAM Architecture</a:t>
            </a:r>
            <a:endParaRPr sz="1602" i="0" u="none" strike="noStrike" cap="none" dirty="0">
              <a:solidFill>
                <a:srgbClr val="000000"/>
              </a:solidFill>
              <a:latin typeface="Open Sans"/>
              <a:ea typeface="Open Sans"/>
              <a:cs typeface="Open Sans"/>
              <a:sym typeface="Open Sans"/>
            </a:endParaRPr>
          </a:p>
        </p:txBody>
      </p:sp>
      <p:pic>
        <p:nvPicPr>
          <p:cNvPr id="228" name="Google Shape;228;g398c6dbd69e_1_0" descr="preencoded.png"/>
          <p:cNvPicPr preferRelativeResize="0"/>
          <p:nvPr/>
        </p:nvPicPr>
        <p:blipFill rotWithShape="1">
          <a:blip r:embed="rId3">
            <a:alphaModFix/>
          </a:blip>
          <a:srcRect/>
          <a:stretch/>
        </p:blipFill>
        <p:spPr>
          <a:xfrm>
            <a:off x="821456" y="1679644"/>
            <a:ext cx="3250406" cy="2000250"/>
          </a:xfrm>
          <a:prstGeom prst="rect">
            <a:avLst/>
          </a:prstGeom>
          <a:noFill/>
          <a:ln>
            <a:noFill/>
          </a:ln>
        </p:spPr>
      </p:pic>
      <p:sp>
        <p:nvSpPr>
          <p:cNvPr id="229" name="Google Shape;229;g398c6dbd69e_1_0"/>
          <p:cNvSpPr/>
          <p:nvPr/>
        </p:nvSpPr>
        <p:spPr>
          <a:xfrm>
            <a:off x="678581" y="3951356"/>
            <a:ext cx="3536100" cy="192900"/>
          </a:xfrm>
          <a:prstGeom prst="rect">
            <a:avLst/>
          </a:prstGeom>
          <a:noFill/>
          <a:ln>
            <a:noFill/>
          </a:ln>
        </p:spPr>
        <p:txBody>
          <a:bodyPr spcFirstLastPara="1" wrap="square" lIns="0" tIns="0" rIns="0" bIns="0" anchor="t" anchorCtr="0">
            <a:noAutofit/>
          </a:bodyPr>
          <a:lstStyle/>
          <a:p>
            <a:pPr marL="0" marR="0" lvl="0" indent="0" algn="l" rtl="0">
              <a:lnSpc>
                <a:spcPct val="169491"/>
              </a:lnSpc>
              <a:spcBef>
                <a:spcPts val="0"/>
              </a:spcBef>
              <a:spcAft>
                <a:spcPts val="0"/>
              </a:spcAft>
              <a:buClr>
                <a:srgbClr val="000000"/>
              </a:buClr>
              <a:buSzPts val="885"/>
              <a:buFont typeface="Arial"/>
              <a:buNone/>
            </a:pPr>
            <a:r>
              <a:rPr lang="en-US" sz="1185" b="1" i="0" u="none" strike="noStrike" cap="none">
                <a:solidFill>
                  <a:srgbClr val="60A5FA"/>
                </a:solidFill>
                <a:latin typeface="Open Sans"/>
                <a:ea typeface="Open Sans"/>
                <a:cs typeface="Open Sans"/>
                <a:sym typeface="Open Sans"/>
              </a:rPr>
              <a:t>Segment Anything Model:</a:t>
            </a:r>
            <a:endParaRPr sz="1185" i="0" u="none" strike="noStrike" cap="none">
              <a:solidFill>
                <a:srgbClr val="000000"/>
              </a:solidFill>
              <a:latin typeface="Open Sans"/>
              <a:ea typeface="Open Sans"/>
              <a:cs typeface="Open Sans"/>
              <a:sym typeface="Open Sans"/>
            </a:endParaRPr>
          </a:p>
        </p:txBody>
      </p:sp>
      <p:sp>
        <p:nvSpPr>
          <p:cNvPr id="230" name="Google Shape;230;g398c6dbd69e_1_0"/>
          <p:cNvSpPr/>
          <p:nvPr/>
        </p:nvSpPr>
        <p:spPr>
          <a:xfrm>
            <a:off x="678581" y="4179956"/>
            <a:ext cx="3536100" cy="385800"/>
          </a:xfrm>
          <a:prstGeom prst="rect">
            <a:avLst/>
          </a:prstGeom>
          <a:noFill/>
          <a:ln>
            <a:noFill/>
          </a:ln>
        </p:spPr>
        <p:txBody>
          <a:bodyPr spcFirstLastPara="1" wrap="square" lIns="0" tIns="0" rIns="0" bIns="0" anchor="t" anchorCtr="0">
            <a:noAutofit/>
          </a:bodyPr>
          <a:lstStyle/>
          <a:p>
            <a:pPr marL="0" marR="0" lvl="0" indent="0" algn="l" rtl="0">
              <a:lnSpc>
                <a:spcPct val="159235"/>
              </a:lnSpc>
              <a:spcBef>
                <a:spcPts val="0"/>
              </a:spcBef>
              <a:spcAft>
                <a:spcPts val="0"/>
              </a:spcAft>
              <a:buClr>
                <a:srgbClr val="000000"/>
              </a:buClr>
              <a:buSzPts val="942"/>
              <a:buFont typeface="Arial"/>
              <a:buNone/>
            </a:pPr>
            <a:r>
              <a:rPr lang="en-US" sz="1142">
                <a:solidFill>
                  <a:srgbClr val="D1D5DB"/>
                </a:solidFill>
                <a:latin typeface="Open Sans"/>
                <a:ea typeface="Open Sans"/>
                <a:cs typeface="Open Sans"/>
                <a:sym typeface="Open Sans"/>
              </a:rPr>
              <a:t>F</a:t>
            </a:r>
            <a:r>
              <a:rPr lang="en-US" sz="1142" i="0" u="none" strike="noStrike" cap="none">
                <a:solidFill>
                  <a:srgbClr val="D1D5DB"/>
                </a:solidFill>
                <a:latin typeface="Open Sans"/>
                <a:ea typeface="Open Sans"/>
                <a:cs typeface="Open Sans"/>
                <a:sym typeface="Open Sans"/>
              </a:rPr>
              <a:t>oundation model with image encoder, prompt encoder, and lightweight mask decoder</a:t>
            </a:r>
            <a:endParaRPr sz="1142" i="0" u="none" strike="noStrike" cap="none">
              <a:solidFill>
                <a:srgbClr val="000000"/>
              </a:solidFill>
              <a:latin typeface="Open Sans"/>
              <a:ea typeface="Open Sans"/>
              <a:cs typeface="Open Sans"/>
              <a:sym typeface="Open Sans"/>
            </a:endParaRPr>
          </a:p>
        </p:txBody>
      </p:sp>
      <p:sp>
        <p:nvSpPr>
          <p:cNvPr id="231" name="Google Shape;231;g398c6dbd69e_1_0"/>
          <p:cNvSpPr/>
          <p:nvPr/>
        </p:nvSpPr>
        <p:spPr>
          <a:xfrm>
            <a:off x="4929126" y="1251050"/>
            <a:ext cx="3536100" cy="342900"/>
          </a:xfrm>
          <a:prstGeom prst="rect">
            <a:avLst/>
          </a:prstGeom>
          <a:noFill/>
          <a:ln>
            <a:noFill/>
          </a:ln>
        </p:spPr>
        <p:txBody>
          <a:bodyPr spcFirstLastPara="1" wrap="square" lIns="0" tIns="0" rIns="0" bIns="0" anchor="t" anchorCtr="0">
            <a:noAutofit/>
          </a:bodyPr>
          <a:lstStyle/>
          <a:p>
            <a:pPr marL="0" marR="0" lvl="0" indent="0" algn="ctr" rtl="0">
              <a:lnSpc>
                <a:spcPct val="168539"/>
              </a:lnSpc>
              <a:spcBef>
                <a:spcPts val="0"/>
              </a:spcBef>
              <a:spcAft>
                <a:spcPts val="0"/>
              </a:spcAft>
              <a:buClr>
                <a:srgbClr val="000000"/>
              </a:buClr>
              <a:buSzPts val="1602"/>
              <a:buFont typeface="Arial"/>
              <a:buNone/>
            </a:pPr>
            <a:r>
              <a:rPr lang="en-US" sz="1602" b="1" i="0" u="none" strike="noStrike" cap="none">
                <a:solidFill>
                  <a:srgbClr val="F87171"/>
                </a:solidFill>
                <a:latin typeface="Open Sans"/>
                <a:ea typeface="Open Sans"/>
                <a:cs typeface="Open Sans"/>
                <a:sym typeface="Open Sans"/>
              </a:rPr>
              <a:t>LoRA Fine-tuning</a:t>
            </a:r>
            <a:endParaRPr sz="1602" i="0" u="none" strike="noStrike" cap="none">
              <a:solidFill>
                <a:srgbClr val="000000"/>
              </a:solidFill>
              <a:latin typeface="Open Sans"/>
              <a:ea typeface="Open Sans"/>
              <a:cs typeface="Open Sans"/>
              <a:sym typeface="Open Sans"/>
            </a:endParaRPr>
          </a:p>
        </p:txBody>
      </p:sp>
      <p:pic>
        <p:nvPicPr>
          <p:cNvPr id="232" name="Google Shape;232;g398c6dbd69e_1_0" descr="preencoded.png"/>
          <p:cNvPicPr preferRelativeResize="0"/>
          <p:nvPr/>
        </p:nvPicPr>
        <p:blipFill rotWithShape="1">
          <a:blip r:embed="rId4">
            <a:alphaModFix/>
          </a:blip>
          <a:srcRect/>
          <a:stretch/>
        </p:blipFill>
        <p:spPr>
          <a:xfrm>
            <a:off x="5071988" y="1679644"/>
            <a:ext cx="3250406" cy="2000250"/>
          </a:xfrm>
          <a:prstGeom prst="rect">
            <a:avLst/>
          </a:prstGeom>
          <a:noFill/>
          <a:ln>
            <a:noFill/>
          </a:ln>
        </p:spPr>
      </p:pic>
      <p:sp>
        <p:nvSpPr>
          <p:cNvPr id="233" name="Google Shape;233;g398c6dbd69e_1_0"/>
          <p:cNvSpPr/>
          <p:nvPr/>
        </p:nvSpPr>
        <p:spPr>
          <a:xfrm>
            <a:off x="4929113" y="3951356"/>
            <a:ext cx="3536100" cy="192900"/>
          </a:xfrm>
          <a:prstGeom prst="rect">
            <a:avLst/>
          </a:prstGeom>
          <a:noFill/>
          <a:ln>
            <a:noFill/>
          </a:ln>
        </p:spPr>
        <p:txBody>
          <a:bodyPr spcFirstLastPara="1" wrap="square" lIns="0" tIns="0" rIns="0" bIns="0" anchor="t" anchorCtr="0">
            <a:noAutofit/>
          </a:bodyPr>
          <a:lstStyle/>
          <a:p>
            <a:pPr marL="0" marR="0" lvl="0" indent="0" algn="l" rtl="0">
              <a:lnSpc>
                <a:spcPct val="169491"/>
              </a:lnSpc>
              <a:spcBef>
                <a:spcPts val="0"/>
              </a:spcBef>
              <a:spcAft>
                <a:spcPts val="0"/>
              </a:spcAft>
              <a:buClr>
                <a:srgbClr val="000000"/>
              </a:buClr>
              <a:buSzPts val="885"/>
              <a:buFont typeface="Arial"/>
              <a:buNone/>
            </a:pPr>
            <a:r>
              <a:rPr lang="en-US" sz="1085" b="1" i="0" u="none" strike="noStrike" cap="none">
                <a:solidFill>
                  <a:srgbClr val="F87171"/>
                </a:solidFill>
                <a:latin typeface="Open Sans"/>
                <a:ea typeface="Open Sans"/>
                <a:cs typeface="Open Sans"/>
                <a:sym typeface="Open Sans"/>
              </a:rPr>
              <a:t>Low-Rank Adaptation:</a:t>
            </a:r>
            <a:endParaRPr sz="1085" i="0" u="none" strike="noStrike" cap="none">
              <a:solidFill>
                <a:srgbClr val="000000"/>
              </a:solidFill>
              <a:latin typeface="Open Sans"/>
              <a:ea typeface="Open Sans"/>
              <a:cs typeface="Open Sans"/>
              <a:sym typeface="Open Sans"/>
            </a:endParaRPr>
          </a:p>
        </p:txBody>
      </p:sp>
      <p:sp>
        <p:nvSpPr>
          <p:cNvPr id="234" name="Google Shape;234;g398c6dbd69e_1_0"/>
          <p:cNvSpPr/>
          <p:nvPr/>
        </p:nvSpPr>
        <p:spPr>
          <a:xfrm>
            <a:off x="4929113" y="4179956"/>
            <a:ext cx="3536100" cy="385800"/>
          </a:xfrm>
          <a:prstGeom prst="rect">
            <a:avLst/>
          </a:prstGeom>
          <a:noFill/>
          <a:ln>
            <a:noFill/>
          </a:ln>
        </p:spPr>
        <p:txBody>
          <a:bodyPr spcFirstLastPara="1" wrap="square" lIns="0" tIns="0" rIns="0" bIns="0" anchor="t" anchorCtr="0">
            <a:noAutofit/>
          </a:bodyPr>
          <a:lstStyle/>
          <a:p>
            <a:pPr marL="0" marR="0" lvl="0" indent="0" algn="l" rtl="0">
              <a:lnSpc>
                <a:spcPct val="159235"/>
              </a:lnSpc>
              <a:spcBef>
                <a:spcPts val="0"/>
              </a:spcBef>
              <a:spcAft>
                <a:spcPts val="0"/>
              </a:spcAft>
              <a:buClr>
                <a:srgbClr val="000000"/>
              </a:buClr>
              <a:buSzPts val="942"/>
              <a:buFont typeface="Arial"/>
              <a:buNone/>
            </a:pPr>
            <a:r>
              <a:rPr lang="en-US" sz="1142" i="0" u="none" strike="noStrike" cap="none">
                <a:solidFill>
                  <a:srgbClr val="D1D5DB"/>
                </a:solidFill>
                <a:latin typeface="Open Sans"/>
                <a:ea typeface="Open Sans"/>
                <a:cs typeface="Open Sans"/>
                <a:sym typeface="Open Sans"/>
              </a:rPr>
              <a:t>Efficient fine-tuning by training lightweight layers while freezing pretrained weights</a:t>
            </a:r>
            <a:endParaRPr sz="1142"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3a126cea2f9_2_0"/>
          <p:cNvSpPr/>
          <p:nvPr/>
        </p:nvSpPr>
        <p:spPr>
          <a:xfrm>
            <a:off x="3073275" y="2902463"/>
            <a:ext cx="2976890" cy="369300"/>
          </a:xfrm>
          <a:prstGeom prst="rect">
            <a:avLst/>
          </a:prstGeom>
          <a:solidFill>
            <a:srgbClr val="404040">
              <a:alpha val="49800"/>
            </a:srgbClr>
          </a:solidFill>
          <a:ln w="952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i="0" u="none" strike="noStrike" cap="none">
              <a:solidFill>
                <a:srgbClr val="000000"/>
              </a:solidFill>
              <a:latin typeface="Open Sans"/>
              <a:ea typeface="Open Sans"/>
              <a:cs typeface="Open Sans"/>
              <a:sym typeface="Open Sans"/>
            </a:endParaRPr>
          </a:p>
        </p:txBody>
      </p:sp>
      <p:sp>
        <p:nvSpPr>
          <p:cNvPr id="240" name="Google Shape;240;g3a126cea2f9_2_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10</a:t>
            </a:fld>
            <a:endParaRPr/>
          </a:p>
        </p:txBody>
      </p:sp>
      <p:sp>
        <p:nvSpPr>
          <p:cNvPr id="241" name="Google Shape;241;g3a126cea2f9_2_0"/>
          <p:cNvSpPr/>
          <p:nvPr/>
        </p:nvSpPr>
        <p:spPr>
          <a:xfrm>
            <a:off x="428625" y="418131"/>
            <a:ext cx="8286900" cy="385800"/>
          </a:xfrm>
          <a:prstGeom prst="rect">
            <a:avLst/>
          </a:prstGeom>
          <a:noFill/>
          <a:ln>
            <a:noFill/>
          </a:ln>
        </p:spPr>
        <p:txBody>
          <a:bodyPr spcFirstLastPara="1" wrap="square" lIns="0" tIns="0" rIns="0" bIns="0" anchor="t" anchorCtr="0">
            <a:noAutofit/>
          </a:bodyPr>
          <a:lstStyle/>
          <a:p>
            <a:pPr marL="0" marR="0" lvl="0" indent="0" algn="l" rtl="0">
              <a:lnSpc>
                <a:spcPct val="165929"/>
              </a:lnSpc>
              <a:spcBef>
                <a:spcPts val="0"/>
              </a:spcBef>
              <a:spcAft>
                <a:spcPts val="0"/>
              </a:spcAft>
              <a:buClr>
                <a:srgbClr val="000000"/>
              </a:buClr>
              <a:buSzPts val="1808"/>
              <a:buFont typeface="Arial"/>
              <a:buNone/>
            </a:pPr>
            <a:r>
              <a:rPr lang="en-US" sz="2008" b="1" i="0" u="none" strike="noStrike" cap="none">
                <a:solidFill>
                  <a:srgbClr val="E2E8F0"/>
                </a:solidFill>
                <a:latin typeface="Open Sans"/>
                <a:ea typeface="Open Sans"/>
                <a:cs typeface="Open Sans"/>
                <a:sym typeface="Open Sans"/>
              </a:rPr>
              <a:t>2D Pipeline and Training Strategy</a:t>
            </a:r>
            <a:endParaRPr sz="2008" i="0" u="none" strike="noStrike" cap="none">
              <a:solidFill>
                <a:srgbClr val="000000"/>
              </a:solidFill>
              <a:latin typeface="Open Sans"/>
              <a:ea typeface="Open Sans"/>
              <a:cs typeface="Open Sans"/>
              <a:sym typeface="Open Sans"/>
            </a:endParaRPr>
          </a:p>
        </p:txBody>
      </p:sp>
      <p:sp>
        <p:nvSpPr>
          <p:cNvPr id="242" name="Google Shape;242;g3a126cea2f9_2_0"/>
          <p:cNvSpPr/>
          <p:nvPr/>
        </p:nvSpPr>
        <p:spPr>
          <a:xfrm>
            <a:off x="428625" y="1006925"/>
            <a:ext cx="8154000" cy="960600"/>
          </a:xfrm>
          <a:prstGeom prst="rect">
            <a:avLst/>
          </a:prstGeom>
          <a:noFill/>
          <a:ln>
            <a:noFill/>
          </a:ln>
        </p:spPr>
        <p:txBody>
          <a:bodyPr spcFirstLastPara="1" wrap="square" lIns="0" tIns="0" rIns="0" bIns="0" anchor="t" anchorCtr="0">
            <a:noAutofit/>
          </a:bodyPr>
          <a:lstStyle/>
          <a:p>
            <a:pPr marL="0" marR="0" lvl="0" indent="0" algn="l" rtl="0">
              <a:lnSpc>
                <a:spcPct val="172239"/>
              </a:lnSpc>
              <a:spcBef>
                <a:spcPts val="0"/>
              </a:spcBef>
              <a:spcAft>
                <a:spcPts val="0"/>
              </a:spcAft>
              <a:buClr>
                <a:srgbClr val="000000"/>
              </a:buClr>
              <a:buSzPts val="987"/>
              <a:buFont typeface="Arial"/>
              <a:buNone/>
            </a:pPr>
            <a:r>
              <a:rPr lang="en-US" b="1" i="0" u="none" strike="noStrike" cap="none">
                <a:solidFill>
                  <a:srgbClr val="60A5FA"/>
                </a:solidFill>
                <a:latin typeface="Open Sans"/>
                <a:ea typeface="Open Sans"/>
                <a:cs typeface="Open Sans"/>
                <a:sym typeface="Open Sans"/>
              </a:rPr>
              <a:t>Pre-processing Pipeline: 2D Approach </a:t>
            </a:r>
            <a:br>
              <a:rPr lang="en-US" sz="1187" b="1" i="0" u="none" strike="noStrike" cap="none">
                <a:solidFill>
                  <a:srgbClr val="60A5FA"/>
                </a:solidFill>
                <a:latin typeface="Open Sans"/>
                <a:ea typeface="Open Sans"/>
                <a:cs typeface="Open Sans"/>
                <a:sym typeface="Open Sans"/>
              </a:rPr>
            </a:br>
            <a:r>
              <a:rPr lang="en-US" sz="1000">
                <a:solidFill>
                  <a:srgbClr val="D1D5DB"/>
                </a:solidFill>
                <a:latin typeface="Open Sans"/>
                <a:ea typeface="Open Sans"/>
                <a:cs typeface="Open Sans"/>
                <a:sym typeface="Open Sans"/>
              </a:rPr>
              <a:t>Handles </a:t>
            </a:r>
            <a:r>
              <a:rPr lang="en-US" sz="1000" b="1">
                <a:solidFill>
                  <a:srgbClr val="60A5FA"/>
                </a:solidFill>
                <a:latin typeface="Open Sans"/>
                <a:ea typeface="Open Sans"/>
                <a:cs typeface="Open Sans"/>
                <a:sym typeface="Open Sans"/>
              </a:rPr>
              <a:t>2D CT slices</a:t>
            </a:r>
            <a:r>
              <a:rPr lang="en-US" sz="1000">
                <a:solidFill>
                  <a:srgbClr val="D1D5DB"/>
                </a:solidFill>
                <a:latin typeface="Open Sans"/>
                <a:ea typeface="Open Sans"/>
                <a:cs typeface="Open Sans"/>
                <a:sym typeface="Open Sans"/>
              </a:rPr>
              <a:t> at 512×512 resolution with rescaling to </a:t>
            </a:r>
            <a:r>
              <a:rPr lang="en-US" sz="1000" b="1">
                <a:solidFill>
                  <a:srgbClr val="60A5FA"/>
                </a:solidFill>
                <a:latin typeface="Open Sans"/>
                <a:ea typeface="Open Sans"/>
                <a:cs typeface="Open Sans"/>
                <a:sym typeface="Open Sans"/>
              </a:rPr>
              <a:t>[0, 1] range</a:t>
            </a:r>
            <a:r>
              <a:rPr lang="en-US" sz="1000">
                <a:solidFill>
                  <a:srgbClr val="D1D5DB"/>
                </a:solidFill>
                <a:latin typeface="Open Sans"/>
                <a:ea typeface="Open Sans"/>
                <a:cs typeface="Open Sans"/>
                <a:sym typeface="Open Sans"/>
              </a:rPr>
              <a:t>. Data augmentation applies medical-appropriate transformations </a:t>
            </a:r>
            <a:endParaRPr sz="1000" b="1">
              <a:solidFill>
                <a:srgbClr val="60A5FA"/>
              </a:solidFill>
              <a:latin typeface="Open Sans"/>
              <a:ea typeface="Open Sans"/>
              <a:cs typeface="Open Sans"/>
              <a:sym typeface="Open Sans"/>
            </a:endParaRPr>
          </a:p>
        </p:txBody>
      </p:sp>
      <p:sp>
        <p:nvSpPr>
          <p:cNvPr id="243" name="Google Shape;243;g3a126cea2f9_2_0"/>
          <p:cNvSpPr/>
          <p:nvPr/>
        </p:nvSpPr>
        <p:spPr>
          <a:xfrm>
            <a:off x="428625" y="2141675"/>
            <a:ext cx="7957200" cy="622200"/>
          </a:xfrm>
          <a:prstGeom prst="rect">
            <a:avLst/>
          </a:prstGeom>
          <a:noFill/>
          <a:ln>
            <a:noFill/>
          </a:ln>
        </p:spPr>
        <p:txBody>
          <a:bodyPr spcFirstLastPara="1" wrap="square" lIns="0" tIns="0" rIns="0" bIns="0" anchor="t" anchorCtr="0">
            <a:noAutofit/>
          </a:bodyPr>
          <a:lstStyle/>
          <a:p>
            <a:pPr marL="0" marR="0" lvl="0" indent="0" algn="l" rtl="0">
              <a:lnSpc>
                <a:spcPct val="172239"/>
              </a:lnSpc>
              <a:spcBef>
                <a:spcPts val="0"/>
              </a:spcBef>
              <a:spcAft>
                <a:spcPts val="0"/>
              </a:spcAft>
              <a:buClr>
                <a:srgbClr val="000000"/>
              </a:buClr>
              <a:buSzPts val="987"/>
              <a:buFont typeface="Arial"/>
              <a:buNone/>
            </a:pPr>
            <a:r>
              <a:rPr lang="en-US" b="1" i="0" u="none" strike="noStrike" cap="none" dirty="0">
                <a:solidFill>
                  <a:srgbClr val="60A5FA"/>
                </a:solidFill>
                <a:latin typeface="Open Sans"/>
                <a:ea typeface="Open Sans"/>
                <a:cs typeface="Open Sans"/>
                <a:sym typeface="Open Sans"/>
              </a:rPr>
              <a:t>Loss Function Strategy</a:t>
            </a:r>
            <a:br>
              <a:rPr lang="en-US" sz="1187" b="1" i="0" u="none" strike="noStrike" cap="none" dirty="0">
                <a:solidFill>
                  <a:srgbClr val="60A5FA"/>
                </a:solidFill>
                <a:latin typeface="Open Sans"/>
                <a:ea typeface="Open Sans"/>
                <a:cs typeface="Open Sans"/>
                <a:sym typeface="Open Sans"/>
              </a:rPr>
            </a:br>
            <a:r>
              <a:rPr lang="en-US" sz="1000" u="sng" dirty="0">
                <a:solidFill>
                  <a:srgbClr val="D1D5DB"/>
                </a:solidFill>
                <a:latin typeface="Open Sans"/>
                <a:ea typeface="Open Sans"/>
                <a:cs typeface="Open Sans"/>
                <a:sym typeface="Open Sans"/>
              </a:rPr>
              <a:t>Addresses </a:t>
            </a:r>
            <a:r>
              <a:rPr lang="en-US" sz="1000" b="1" u="sng" dirty="0">
                <a:solidFill>
                  <a:srgbClr val="F87171"/>
                </a:solidFill>
                <a:latin typeface="Open Sans"/>
                <a:ea typeface="Open Sans"/>
                <a:cs typeface="Open Sans"/>
                <a:sym typeface="Open Sans"/>
              </a:rPr>
              <a:t>class imbalance</a:t>
            </a:r>
            <a:r>
              <a:rPr lang="en-US" sz="1000" dirty="0">
                <a:solidFill>
                  <a:srgbClr val="D1D5DB"/>
                </a:solidFill>
                <a:latin typeface="Open Sans"/>
                <a:ea typeface="Open Sans"/>
                <a:cs typeface="Open Sans"/>
                <a:sym typeface="Open Sans"/>
              </a:rPr>
              <a:t> with </a:t>
            </a:r>
            <a:r>
              <a:rPr lang="en-US" sz="1000" b="1" dirty="0">
                <a:solidFill>
                  <a:srgbClr val="60A5FA"/>
                </a:solidFill>
                <a:latin typeface="Open Sans"/>
                <a:ea typeface="Open Sans"/>
                <a:cs typeface="Open Sans"/>
                <a:sym typeface="Open Sans"/>
              </a:rPr>
              <a:t>hybrid loss function</a:t>
            </a:r>
            <a:r>
              <a:rPr lang="en-US" sz="1000" dirty="0">
                <a:solidFill>
                  <a:srgbClr val="D1D5DB"/>
                </a:solidFill>
                <a:latin typeface="Open Sans"/>
                <a:ea typeface="Open Sans"/>
                <a:cs typeface="Open Sans"/>
                <a:sym typeface="Open Sans"/>
              </a:rPr>
              <a:t> combining Weighted Cross Entropy (inverse frequency weights) and Dice Loss.</a:t>
            </a:r>
            <a:endParaRPr sz="1000" dirty="0">
              <a:solidFill>
                <a:schemeClr val="lt1"/>
              </a:solidFill>
              <a:latin typeface="Open Sans"/>
              <a:ea typeface="Open Sans"/>
              <a:cs typeface="Open Sans"/>
              <a:sym typeface="Open Sans"/>
            </a:endParaRPr>
          </a:p>
          <a:p>
            <a:pPr marL="0" marR="0" lvl="0" indent="0" algn="l" rtl="0">
              <a:lnSpc>
                <a:spcPct val="172239"/>
              </a:lnSpc>
              <a:spcBef>
                <a:spcPts val="0"/>
              </a:spcBef>
              <a:spcAft>
                <a:spcPts val="0"/>
              </a:spcAft>
              <a:buClr>
                <a:srgbClr val="000000"/>
              </a:buClr>
              <a:buSzPts val="987"/>
              <a:buFont typeface="Arial"/>
              <a:buNone/>
            </a:pPr>
            <a:endParaRPr sz="1187" b="1" dirty="0">
              <a:solidFill>
                <a:srgbClr val="60A5FA"/>
              </a:solidFill>
              <a:latin typeface="Open Sans"/>
              <a:ea typeface="Open Sans"/>
              <a:cs typeface="Open Sans"/>
              <a:sym typeface="Open Sans"/>
            </a:endParaRPr>
          </a:p>
        </p:txBody>
      </p:sp>
      <p:sp>
        <p:nvSpPr>
          <p:cNvPr id="244" name="Google Shape;244;g3a126cea2f9_2_0"/>
          <p:cNvSpPr/>
          <p:nvPr/>
        </p:nvSpPr>
        <p:spPr>
          <a:xfrm>
            <a:off x="3167925" y="2873225"/>
            <a:ext cx="3316800" cy="318600"/>
          </a:xfrm>
          <a:prstGeom prst="rect">
            <a:avLst/>
          </a:prstGeom>
          <a:noFill/>
          <a:ln>
            <a:noFill/>
          </a:ln>
        </p:spPr>
        <p:txBody>
          <a:bodyPr spcFirstLastPara="1" wrap="square" lIns="102100" tIns="68050" rIns="102100" bIns="68050" anchor="t" anchorCtr="0">
            <a:noAutofit/>
          </a:bodyPr>
          <a:lstStyle/>
          <a:p>
            <a:pPr marL="0" marR="0" lvl="0" indent="0" algn="l" rtl="0">
              <a:lnSpc>
                <a:spcPct val="166666"/>
              </a:lnSpc>
              <a:spcBef>
                <a:spcPts val="0"/>
              </a:spcBef>
              <a:spcAft>
                <a:spcPts val="0"/>
              </a:spcAft>
              <a:buClr>
                <a:srgbClr val="000000"/>
              </a:buClr>
              <a:buSzPts val="780"/>
              <a:buFont typeface="Arial"/>
              <a:buNone/>
            </a:pPr>
            <a:r>
              <a:rPr lang="en-US" sz="1000" i="0" u="none" strike="noStrike" cap="none" dirty="0">
                <a:solidFill>
                  <a:srgbClr val="60A5FA"/>
                </a:solidFill>
                <a:latin typeface="Open Sans"/>
                <a:ea typeface="Open Sans"/>
                <a:cs typeface="Open Sans"/>
                <a:sym typeface="Open Sans"/>
              </a:rPr>
              <a:t>Loss = (1 - α) × Weighted CE + α × Dice Loss</a:t>
            </a:r>
            <a:endParaRPr sz="1000" i="0" u="none" strike="noStrike" cap="none" dirty="0">
              <a:solidFill>
                <a:srgbClr val="000000"/>
              </a:solidFill>
              <a:latin typeface="Open Sans"/>
              <a:ea typeface="Open Sans"/>
              <a:cs typeface="Open Sans"/>
              <a:sym typeface="Open Sans"/>
            </a:endParaRPr>
          </a:p>
        </p:txBody>
      </p:sp>
      <p:sp>
        <p:nvSpPr>
          <p:cNvPr id="245" name="Google Shape;245;g3a126cea2f9_2_0"/>
          <p:cNvSpPr/>
          <p:nvPr/>
        </p:nvSpPr>
        <p:spPr>
          <a:xfrm>
            <a:off x="455250" y="3779700"/>
            <a:ext cx="5110800" cy="1205400"/>
          </a:xfrm>
          <a:prstGeom prst="rect">
            <a:avLst/>
          </a:prstGeom>
          <a:noFill/>
          <a:ln>
            <a:noFill/>
          </a:ln>
        </p:spPr>
        <p:txBody>
          <a:bodyPr spcFirstLastPara="1" wrap="square" lIns="0" tIns="0" rIns="0" bIns="0" anchor="t" anchorCtr="0">
            <a:noAutofit/>
          </a:bodyPr>
          <a:lstStyle/>
          <a:p>
            <a:pPr marL="0" marR="0" lvl="0" indent="0" algn="l" rtl="0">
              <a:lnSpc>
                <a:spcPct val="172239"/>
              </a:lnSpc>
              <a:spcBef>
                <a:spcPts val="0"/>
              </a:spcBef>
              <a:spcAft>
                <a:spcPts val="0"/>
              </a:spcAft>
              <a:buClr>
                <a:srgbClr val="000000"/>
              </a:buClr>
              <a:buSzPts val="987"/>
              <a:buFont typeface="Arial"/>
              <a:buNone/>
            </a:pPr>
            <a:r>
              <a:rPr lang="en-US" sz="1200" b="1" i="0" u="none" strike="noStrike" cap="none">
                <a:solidFill>
                  <a:srgbClr val="60A5FA"/>
                </a:solidFill>
                <a:latin typeface="Open Sans"/>
                <a:ea typeface="Open Sans"/>
                <a:cs typeface="Open Sans"/>
                <a:sym typeface="Open Sans"/>
              </a:rPr>
              <a:t>Transfer Learning Approach </a:t>
            </a:r>
            <a:endParaRPr sz="1200" b="1" i="0" u="none" strike="noStrike" cap="none">
              <a:solidFill>
                <a:srgbClr val="60A5FA"/>
              </a:solidFill>
              <a:latin typeface="Open Sans"/>
              <a:ea typeface="Open Sans"/>
              <a:cs typeface="Open Sans"/>
              <a:sym typeface="Open Sans"/>
            </a:endParaRPr>
          </a:p>
          <a:p>
            <a:pPr marL="0" marR="0" lvl="0" indent="0" algn="l" rtl="0">
              <a:lnSpc>
                <a:spcPct val="172239"/>
              </a:lnSpc>
              <a:spcBef>
                <a:spcPts val="0"/>
              </a:spcBef>
              <a:spcAft>
                <a:spcPts val="0"/>
              </a:spcAft>
              <a:buClr>
                <a:srgbClr val="000000"/>
              </a:buClr>
              <a:buSzPts val="987"/>
              <a:buFont typeface="Arial"/>
              <a:buNone/>
            </a:pPr>
            <a:r>
              <a:rPr lang="en-US" sz="1000">
                <a:solidFill>
                  <a:srgbClr val="D1D5DB"/>
                </a:solidFill>
                <a:latin typeface="Open Sans"/>
                <a:ea typeface="Open Sans"/>
                <a:cs typeface="Open Sans"/>
                <a:sym typeface="Open Sans"/>
              </a:rPr>
              <a:t>Transferred </a:t>
            </a:r>
            <a:r>
              <a:rPr lang="en-US" sz="1000" b="1">
                <a:solidFill>
                  <a:srgbClr val="60A5FA"/>
                </a:solidFill>
                <a:latin typeface="Open Sans"/>
                <a:ea typeface="Open Sans"/>
                <a:cs typeface="Open Sans"/>
                <a:sym typeface="Open Sans"/>
              </a:rPr>
              <a:t>pre-trained weights</a:t>
            </a:r>
            <a:r>
              <a:rPr lang="en-US" sz="1000">
                <a:solidFill>
                  <a:srgbClr val="D1D5DB"/>
                </a:solidFill>
                <a:latin typeface="Open Sans"/>
                <a:ea typeface="Open Sans"/>
                <a:cs typeface="Open Sans"/>
                <a:sym typeface="Open Sans"/>
              </a:rPr>
              <a:t> for 8 existing organ classes, initialized 4 new classes as 0, fine-tuned using </a:t>
            </a:r>
            <a:r>
              <a:rPr lang="en-US" sz="1000" b="1">
                <a:solidFill>
                  <a:srgbClr val="60A5FA"/>
                </a:solidFill>
                <a:latin typeface="Open Sans"/>
                <a:ea typeface="Open Sans"/>
                <a:cs typeface="Open Sans"/>
                <a:sym typeface="Open Sans"/>
              </a:rPr>
              <a:t>LoRA layers</a:t>
            </a:r>
            <a:r>
              <a:rPr lang="en-US" sz="1000">
                <a:solidFill>
                  <a:srgbClr val="D1D5DB"/>
                </a:solidFill>
                <a:latin typeface="Open Sans"/>
                <a:ea typeface="Open Sans"/>
                <a:cs typeface="Open Sans"/>
                <a:sym typeface="Open Sans"/>
              </a:rPr>
              <a:t> while keeping encoder frozen.</a:t>
            </a:r>
            <a:endParaRPr sz="1000">
              <a:solidFill>
                <a:schemeClr val="lt1"/>
              </a:solidFill>
              <a:latin typeface="Open Sans"/>
              <a:ea typeface="Open Sans"/>
              <a:cs typeface="Open Sans"/>
              <a:sym typeface="Open Sans"/>
            </a:endParaRPr>
          </a:p>
          <a:p>
            <a:pPr marL="0" marR="0" lvl="0" indent="0" algn="l" rtl="0">
              <a:lnSpc>
                <a:spcPct val="172239"/>
              </a:lnSpc>
              <a:spcBef>
                <a:spcPts val="0"/>
              </a:spcBef>
              <a:spcAft>
                <a:spcPts val="0"/>
              </a:spcAft>
              <a:buClr>
                <a:srgbClr val="000000"/>
              </a:buClr>
              <a:buSzPts val="987"/>
              <a:buFont typeface="Arial"/>
              <a:buNone/>
            </a:pPr>
            <a:endParaRPr sz="1187" b="1">
              <a:solidFill>
                <a:srgbClr val="60A5FA"/>
              </a:solidFill>
              <a:latin typeface="Open Sans"/>
              <a:ea typeface="Open Sans"/>
              <a:cs typeface="Open Sans"/>
              <a:sym typeface="Open Sans"/>
            </a:endParaRPr>
          </a:p>
        </p:txBody>
      </p:sp>
      <p:pic>
        <p:nvPicPr>
          <p:cNvPr id="246" name="Google Shape;246;g3a126cea2f9_2_0"/>
          <p:cNvPicPr preferRelativeResize="0"/>
          <p:nvPr/>
        </p:nvPicPr>
        <p:blipFill>
          <a:blip r:embed="rId3">
            <a:alphaModFix/>
          </a:blip>
          <a:stretch>
            <a:fillRect/>
          </a:stretch>
        </p:blipFill>
        <p:spPr>
          <a:xfrm>
            <a:off x="5918893" y="3502444"/>
            <a:ext cx="2637891" cy="1298006"/>
          </a:xfrm>
          <a:prstGeom prst="rect">
            <a:avLst/>
          </a:prstGeom>
          <a:noFill/>
          <a:ln>
            <a:noFill/>
          </a:ln>
        </p:spPr>
      </p:pic>
      <p:sp>
        <p:nvSpPr>
          <p:cNvPr id="247" name="Google Shape;247;g3a126cea2f9_2_0"/>
          <p:cNvSpPr txBox="1"/>
          <p:nvPr/>
        </p:nvSpPr>
        <p:spPr>
          <a:xfrm>
            <a:off x="3421950" y="4615800"/>
            <a:ext cx="6083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200">
              <a:solidFill>
                <a:schemeClr val="accent2"/>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a126cea2f9_0_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11</a:t>
            </a:fld>
            <a:endParaRPr/>
          </a:p>
        </p:txBody>
      </p:sp>
      <p:sp>
        <p:nvSpPr>
          <p:cNvPr id="253" name="Google Shape;253;g3a126cea2f9_0_7"/>
          <p:cNvSpPr/>
          <p:nvPr/>
        </p:nvSpPr>
        <p:spPr>
          <a:xfrm>
            <a:off x="500063" y="170400"/>
            <a:ext cx="8143800" cy="428700"/>
          </a:xfrm>
          <a:prstGeom prst="rect">
            <a:avLst/>
          </a:prstGeom>
          <a:noFill/>
          <a:ln>
            <a:noFill/>
          </a:ln>
        </p:spPr>
        <p:txBody>
          <a:bodyPr spcFirstLastPara="1" wrap="square" lIns="0" tIns="0" rIns="0" bIns="0" anchor="t" anchorCtr="0">
            <a:noAutofit/>
          </a:bodyPr>
          <a:lstStyle/>
          <a:p>
            <a:pPr marL="0" marR="0" lvl="0" indent="0" algn="l" rtl="0">
              <a:lnSpc>
                <a:spcPct val="168650"/>
              </a:lnSpc>
              <a:spcBef>
                <a:spcPts val="0"/>
              </a:spcBef>
              <a:spcAft>
                <a:spcPts val="0"/>
              </a:spcAft>
              <a:buClr>
                <a:srgbClr val="000000"/>
              </a:buClr>
              <a:buSzPts val="2016"/>
              <a:buFont typeface="Arial"/>
              <a:buNone/>
            </a:pPr>
            <a:r>
              <a:rPr lang="en-US" sz="2016" b="1" i="0" u="none" strike="noStrike" cap="none" dirty="0">
                <a:solidFill>
                  <a:srgbClr val="E2E8F0"/>
                </a:solidFill>
                <a:latin typeface="Open Sans"/>
                <a:ea typeface="Open Sans"/>
                <a:cs typeface="Open Sans"/>
                <a:sym typeface="Open Sans"/>
              </a:rPr>
              <a:t>Experimental Results and </a:t>
            </a:r>
            <a:r>
              <a:rPr lang="en-US" sz="2016" b="1" dirty="0">
                <a:solidFill>
                  <a:srgbClr val="E2E8F0"/>
                </a:solidFill>
                <a:latin typeface="Open Sans"/>
                <a:ea typeface="Open Sans"/>
                <a:cs typeface="Open Sans"/>
                <a:sym typeface="Open Sans"/>
              </a:rPr>
              <a:t>Training Configurations </a:t>
            </a:r>
            <a:endParaRPr sz="2016" i="0" u="none" strike="noStrike" cap="none" dirty="0">
              <a:solidFill>
                <a:srgbClr val="000000"/>
              </a:solidFill>
              <a:latin typeface="Open Sans"/>
              <a:ea typeface="Open Sans"/>
              <a:cs typeface="Open Sans"/>
              <a:sym typeface="Open Sans"/>
            </a:endParaRPr>
          </a:p>
        </p:txBody>
      </p:sp>
      <p:sp>
        <p:nvSpPr>
          <p:cNvPr id="254" name="Google Shape;254;g3a126cea2f9_0_7"/>
          <p:cNvSpPr/>
          <p:nvPr/>
        </p:nvSpPr>
        <p:spPr>
          <a:xfrm>
            <a:off x="500075" y="678675"/>
            <a:ext cx="8143800" cy="1514400"/>
          </a:xfrm>
          <a:prstGeom prst="rect">
            <a:avLst/>
          </a:prstGeom>
          <a:solidFill>
            <a:srgbClr val="1A1A1A"/>
          </a:solidFill>
          <a:ln w="1827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 name="Google Shape;255;g3a126cea2f9_0_7"/>
          <p:cNvSpPr/>
          <p:nvPr/>
        </p:nvSpPr>
        <p:spPr>
          <a:xfrm>
            <a:off x="503646" y="681703"/>
            <a:ext cx="1449000" cy="333300"/>
          </a:xfrm>
          <a:prstGeom prst="rect">
            <a:avLst/>
          </a:prstGeom>
          <a:solidFill>
            <a:srgbClr val="2A2A2A"/>
          </a:solidFill>
          <a:ln w="952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6" name="Google Shape;256;g3a126cea2f9_0_7"/>
          <p:cNvSpPr/>
          <p:nvPr/>
        </p:nvSpPr>
        <p:spPr>
          <a:xfrm>
            <a:off x="503646" y="681703"/>
            <a:ext cx="1449000" cy="333300"/>
          </a:xfrm>
          <a:prstGeom prst="rect">
            <a:avLst/>
          </a:prstGeom>
          <a:noFill/>
          <a:ln>
            <a:noFill/>
          </a:ln>
        </p:spPr>
        <p:txBody>
          <a:bodyPr spcFirstLastPara="1" wrap="square" lIns="102100" tIns="102100" rIns="102100" bIns="102100" anchor="ctr" anchorCtr="0">
            <a:noAutofit/>
          </a:bodyPr>
          <a:lstStyle/>
          <a:p>
            <a:pPr marL="0" marR="0" lvl="0" indent="0" algn="ctr" rtl="0">
              <a:lnSpc>
                <a:spcPct val="172239"/>
              </a:lnSpc>
              <a:spcBef>
                <a:spcPts val="0"/>
              </a:spcBef>
              <a:spcAft>
                <a:spcPts val="0"/>
              </a:spcAft>
              <a:buClr>
                <a:srgbClr val="000000"/>
              </a:buClr>
              <a:buSzPts val="987"/>
              <a:buFont typeface="Arial"/>
              <a:buNone/>
            </a:pPr>
            <a:r>
              <a:rPr lang="en-US" sz="987" b="1" i="0" u="none" strike="noStrike" cap="none">
                <a:solidFill>
                  <a:srgbClr val="E2E8F0"/>
                </a:solidFill>
                <a:latin typeface="Arial"/>
                <a:ea typeface="Arial"/>
                <a:cs typeface="Arial"/>
                <a:sym typeface="Arial"/>
              </a:rPr>
              <a:t>Parameter</a:t>
            </a:r>
            <a:endParaRPr sz="987" b="0" i="0" u="none" strike="noStrike" cap="none">
              <a:solidFill>
                <a:srgbClr val="000000"/>
              </a:solidFill>
              <a:latin typeface="Arial"/>
              <a:ea typeface="Arial"/>
              <a:cs typeface="Arial"/>
              <a:sym typeface="Arial"/>
            </a:endParaRPr>
          </a:p>
        </p:txBody>
      </p:sp>
      <p:sp>
        <p:nvSpPr>
          <p:cNvPr id="257" name="Google Shape;257;g3a126cea2f9_0_7"/>
          <p:cNvSpPr/>
          <p:nvPr/>
        </p:nvSpPr>
        <p:spPr>
          <a:xfrm>
            <a:off x="1948051" y="681703"/>
            <a:ext cx="2174100" cy="333300"/>
          </a:xfrm>
          <a:prstGeom prst="rect">
            <a:avLst/>
          </a:prstGeom>
          <a:solidFill>
            <a:srgbClr val="2A2A2A"/>
          </a:solidFill>
          <a:ln w="952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8" name="Google Shape;258;g3a126cea2f9_0_7"/>
          <p:cNvSpPr/>
          <p:nvPr/>
        </p:nvSpPr>
        <p:spPr>
          <a:xfrm>
            <a:off x="1948051" y="681703"/>
            <a:ext cx="2174100" cy="333300"/>
          </a:xfrm>
          <a:prstGeom prst="rect">
            <a:avLst/>
          </a:prstGeom>
          <a:noFill/>
          <a:ln>
            <a:noFill/>
          </a:ln>
        </p:spPr>
        <p:txBody>
          <a:bodyPr spcFirstLastPara="1" wrap="square" lIns="102100" tIns="102100" rIns="102100" bIns="102100" anchor="ctr" anchorCtr="0">
            <a:noAutofit/>
          </a:bodyPr>
          <a:lstStyle/>
          <a:p>
            <a:pPr marL="0" marR="0" lvl="0" indent="0" algn="ctr" rtl="0">
              <a:lnSpc>
                <a:spcPct val="172239"/>
              </a:lnSpc>
              <a:spcBef>
                <a:spcPts val="0"/>
              </a:spcBef>
              <a:spcAft>
                <a:spcPts val="0"/>
              </a:spcAft>
              <a:buClr>
                <a:srgbClr val="000000"/>
              </a:buClr>
              <a:buSzPts val="987"/>
              <a:buFont typeface="Arial"/>
              <a:buNone/>
            </a:pPr>
            <a:r>
              <a:rPr lang="en-US" sz="987" b="1" i="0" u="none" strike="noStrike" cap="none">
                <a:solidFill>
                  <a:srgbClr val="E2E8F0"/>
                </a:solidFill>
                <a:latin typeface="Arial"/>
                <a:ea typeface="Arial"/>
                <a:cs typeface="Arial"/>
                <a:sym typeface="Arial"/>
              </a:rPr>
              <a:t>Run1 ★</a:t>
            </a:r>
            <a:endParaRPr sz="987" b="0" i="0" u="none" strike="noStrike" cap="none">
              <a:solidFill>
                <a:srgbClr val="000000"/>
              </a:solidFill>
              <a:latin typeface="Arial"/>
              <a:ea typeface="Arial"/>
              <a:cs typeface="Arial"/>
              <a:sym typeface="Arial"/>
            </a:endParaRPr>
          </a:p>
        </p:txBody>
      </p:sp>
      <p:sp>
        <p:nvSpPr>
          <p:cNvPr id="259" name="Google Shape;259;g3a126cea2f9_0_7"/>
          <p:cNvSpPr/>
          <p:nvPr/>
        </p:nvSpPr>
        <p:spPr>
          <a:xfrm>
            <a:off x="4119054" y="681703"/>
            <a:ext cx="1172700" cy="333300"/>
          </a:xfrm>
          <a:prstGeom prst="rect">
            <a:avLst/>
          </a:prstGeom>
          <a:solidFill>
            <a:srgbClr val="2A2A2A"/>
          </a:solidFill>
          <a:ln w="952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0" name="Google Shape;260;g3a126cea2f9_0_7"/>
          <p:cNvSpPr/>
          <p:nvPr/>
        </p:nvSpPr>
        <p:spPr>
          <a:xfrm>
            <a:off x="4119054" y="681703"/>
            <a:ext cx="1172700" cy="333300"/>
          </a:xfrm>
          <a:prstGeom prst="rect">
            <a:avLst/>
          </a:prstGeom>
          <a:noFill/>
          <a:ln>
            <a:noFill/>
          </a:ln>
        </p:spPr>
        <p:txBody>
          <a:bodyPr spcFirstLastPara="1" wrap="square" lIns="102100" tIns="102100" rIns="102100" bIns="102100" anchor="ctr" anchorCtr="0">
            <a:noAutofit/>
          </a:bodyPr>
          <a:lstStyle/>
          <a:p>
            <a:pPr marL="0" marR="0" lvl="0" indent="0" algn="ctr" rtl="0">
              <a:lnSpc>
                <a:spcPct val="172239"/>
              </a:lnSpc>
              <a:spcBef>
                <a:spcPts val="0"/>
              </a:spcBef>
              <a:spcAft>
                <a:spcPts val="0"/>
              </a:spcAft>
              <a:buClr>
                <a:srgbClr val="000000"/>
              </a:buClr>
              <a:buSzPts val="987"/>
              <a:buFont typeface="Arial"/>
              <a:buNone/>
            </a:pPr>
            <a:r>
              <a:rPr lang="en-US" sz="987" b="1" i="0" u="none" strike="noStrike" cap="none">
                <a:solidFill>
                  <a:srgbClr val="E2E8F0"/>
                </a:solidFill>
                <a:latin typeface="Arial"/>
                <a:ea typeface="Arial"/>
                <a:cs typeface="Arial"/>
                <a:sym typeface="Arial"/>
              </a:rPr>
              <a:t>Run2</a:t>
            </a:r>
            <a:endParaRPr sz="987" b="0" i="0" u="none" strike="noStrike" cap="none">
              <a:solidFill>
                <a:srgbClr val="000000"/>
              </a:solidFill>
              <a:latin typeface="Arial"/>
              <a:ea typeface="Arial"/>
              <a:cs typeface="Arial"/>
              <a:sym typeface="Arial"/>
            </a:endParaRPr>
          </a:p>
        </p:txBody>
      </p:sp>
      <p:sp>
        <p:nvSpPr>
          <p:cNvPr id="261" name="Google Shape;261;g3a126cea2f9_0_7"/>
          <p:cNvSpPr/>
          <p:nvPr/>
        </p:nvSpPr>
        <p:spPr>
          <a:xfrm>
            <a:off x="5291829" y="681703"/>
            <a:ext cx="2175600" cy="333300"/>
          </a:xfrm>
          <a:prstGeom prst="rect">
            <a:avLst/>
          </a:prstGeom>
          <a:solidFill>
            <a:srgbClr val="2A2A2A"/>
          </a:solidFill>
          <a:ln w="952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2" name="Google Shape;262;g3a126cea2f9_0_7"/>
          <p:cNvSpPr/>
          <p:nvPr/>
        </p:nvSpPr>
        <p:spPr>
          <a:xfrm>
            <a:off x="5291829" y="681703"/>
            <a:ext cx="2175600" cy="333300"/>
          </a:xfrm>
          <a:prstGeom prst="rect">
            <a:avLst/>
          </a:prstGeom>
          <a:noFill/>
          <a:ln>
            <a:noFill/>
          </a:ln>
        </p:spPr>
        <p:txBody>
          <a:bodyPr spcFirstLastPara="1" wrap="square" lIns="102100" tIns="102100" rIns="102100" bIns="102100" anchor="ctr" anchorCtr="0">
            <a:noAutofit/>
          </a:bodyPr>
          <a:lstStyle/>
          <a:p>
            <a:pPr marL="0" marR="0" lvl="0" indent="0" algn="ctr" rtl="0">
              <a:lnSpc>
                <a:spcPct val="172239"/>
              </a:lnSpc>
              <a:spcBef>
                <a:spcPts val="0"/>
              </a:spcBef>
              <a:spcAft>
                <a:spcPts val="0"/>
              </a:spcAft>
              <a:buClr>
                <a:srgbClr val="000000"/>
              </a:buClr>
              <a:buSzPts val="987"/>
              <a:buFont typeface="Arial"/>
              <a:buNone/>
            </a:pPr>
            <a:r>
              <a:rPr lang="en-US" sz="987" b="1" i="0" u="none" strike="noStrike" cap="none">
                <a:solidFill>
                  <a:srgbClr val="E2E8F0"/>
                </a:solidFill>
                <a:latin typeface="Arial"/>
                <a:ea typeface="Arial"/>
                <a:cs typeface="Arial"/>
                <a:sym typeface="Arial"/>
              </a:rPr>
              <a:t>Run3</a:t>
            </a:r>
            <a:endParaRPr sz="987" b="0" i="0" u="none" strike="noStrike" cap="none">
              <a:solidFill>
                <a:srgbClr val="000000"/>
              </a:solidFill>
              <a:latin typeface="Arial"/>
              <a:ea typeface="Arial"/>
              <a:cs typeface="Arial"/>
              <a:sym typeface="Arial"/>
            </a:endParaRPr>
          </a:p>
        </p:txBody>
      </p:sp>
      <p:sp>
        <p:nvSpPr>
          <p:cNvPr id="263" name="Google Shape;263;g3a126cea2f9_0_7"/>
          <p:cNvSpPr/>
          <p:nvPr/>
        </p:nvSpPr>
        <p:spPr>
          <a:xfrm>
            <a:off x="7467491" y="681703"/>
            <a:ext cx="1173000" cy="333300"/>
          </a:xfrm>
          <a:prstGeom prst="rect">
            <a:avLst/>
          </a:prstGeom>
          <a:solidFill>
            <a:srgbClr val="2A2A2A"/>
          </a:solidFill>
          <a:ln w="952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4" name="Google Shape;264;g3a126cea2f9_0_7"/>
          <p:cNvSpPr/>
          <p:nvPr/>
        </p:nvSpPr>
        <p:spPr>
          <a:xfrm>
            <a:off x="7467491" y="681703"/>
            <a:ext cx="1173000" cy="333300"/>
          </a:xfrm>
          <a:prstGeom prst="rect">
            <a:avLst/>
          </a:prstGeom>
          <a:noFill/>
          <a:ln>
            <a:noFill/>
          </a:ln>
        </p:spPr>
        <p:txBody>
          <a:bodyPr spcFirstLastPara="1" wrap="square" lIns="102100" tIns="102100" rIns="102100" bIns="102100" anchor="ctr" anchorCtr="0">
            <a:noAutofit/>
          </a:bodyPr>
          <a:lstStyle/>
          <a:p>
            <a:pPr marL="0" marR="0" lvl="0" indent="0" algn="ctr" rtl="0">
              <a:lnSpc>
                <a:spcPct val="172239"/>
              </a:lnSpc>
              <a:spcBef>
                <a:spcPts val="0"/>
              </a:spcBef>
              <a:spcAft>
                <a:spcPts val="0"/>
              </a:spcAft>
              <a:buClr>
                <a:srgbClr val="000000"/>
              </a:buClr>
              <a:buSzPts val="987"/>
              <a:buFont typeface="Arial"/>
              <a:buNone/>
            </a:pPr>
            <a:r>
              <a:rPr lang="en-US" sz="987" b="1" i="0" u="none" strike="noStrike" cap="none">
                <a:solidFill>
                  <a:srgbClr val="E2E8F0"/>
                </a:solidFill>
                <a:latin typeface="Arial"/>
                <a:ea typeface="Arial"/>
                <a:cs typeface="Arial"/>
                <a:sym typeface="Arial"/>
              </a:rPr>
              <a:t>Run4</a:t>
            </a:r>
            <a:endParaRPr sz="987" b="0" i="0" u="none" strike="noStrike" cap="none">
              <a:solidFill>
                <a:srgbClr val="000000"/>
              </a:solidFill>
              <a:latin typeface="Arial"/>
              <a:ea typeface="Arial"/>
              <a:cs typeface="Arial"/>
              <a:sym typeface="Arial"/>
            </a:endParaRPr>
          </a:p>
        </p:txBody>
      </p:sp>
      <p:sp>
        <p:nvSpPr>
          <p:cNvPr id="265" name="Google Shape;265;g3a126cea2f9_0_7"/>
          <p:cNvSpPr/>
          <p:nvPr/>
        </p:nvSpPr>
        <p:spPr>
          <a:xfrm>
            <a:off x="503646" y="1008801"/>
            <a:ext cx="14397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69491"/>
              </a:lnSpc>
              <a:spcBef>
                <a:spcPts val="0"/>
              </a:spcBef>
              <a:spcAft>
                <a:spcPts val="0"/>
              </a:spcAft>
              <a:buClr>
                <a:srgbClr val="000000"/>
              </a:buClr>
              <a:buSzPts val="885"/>
              <a:buFont typeface="Arial"/>
              <a:buNone/>
            </a:pPr>
            <a:r>
              <a:rPr lang="en-US" sz="885" b="1" i="0" u="none" strike="noStrike" cap="none">
                <a:solidFill>
                  <a:srgbClr val="E2E8F0"/>
                </a:solidFill>
                <a:latin typeface="Arial"/>
                <a:ea typeface="Arial"/>
                <a:cs typeface="Arial"/>
                <a:sym typeface="Arial"/>
              </a:rPr>
              <a:t>Loss Type</a:t>
            </a:r>
            <a:endParaRPr sz="885" b="0" i="0" u="none" strike="noStrike" cap="none">
              <a:solidFill>
                <a:srgbClr val="000000"/>
              </a:solidFill>
              <a:latin typeface="Arial"/>
              <a:ea typeface="Arial"/>
              <a:cs typeface="Arial"/>
              <a:sym typeface="Arial"/>
            </a:endParaRPr>
          </a:p>
        </p:txBody>
      </p:sp>
      <p:sp>
        <p:nvSpPr>
          <p:cNvPr id="266" name="Google Shape;266;g3a126cea2f9_0_7"/>
          <p:cNvSpPr/>
          <p:nvPr/>
        </p:nvSpPr>
        <p:spPr>
          <a:xfrm>
            <a:off x="1943391" y="1008801"/>
            <a:ext cx="2175600" cy="291000"/>
          </a:xfrm>
          <a:prstGeom prst="rect">
            <a:avLst/>
          </a:prstGeom>
          <a:solidFill>
            <a:srgbClr val="404040">
              <a:alpha val="49800"/>
            </a:srgbClr>
          </a:solidFill>
          <a:ln w="952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7" name="Google Shape;267;g3a126cea2f9_0_7"/>
          <p:cNvSpPr/>
          <p:nvPr/>
        </p:nvSpPr>
        <p:spPr>
          <a:xfrm>
            <a:off x="1943391" y="1008801"/>
            <a:ext cx="21756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69491"/>
              </a:lnSpc>
              <a:spcBef>
                <a:spcPts val="0"/>
              </a:spcBef>
              <a:spcAft>
                <a:spcPts val="0"/>
              </a:spcAft>
              <a:buClr>
                <a:srgbClr val="000000"/>
              </a:buClr>
              <a:buSzPts val="885"/>
              <a:buFont typeface="Arial"/>
              <a:buNone/>
            </a:pPr>
            <a:r>
              <a:rPr lang="en-US" sz="885" b="1" i="0" u="none" strike="noStrike" cap="none">
                <a:solidFill>
                  <a:srgbClr val="E2E8F0"/>
                </a:solidFill>
                <a:latin typeface="Arial"/>
                <a:ea typeface="Arial"/>
                <a:cs typeface="Arial"/>
                <a:sym typeface="Arial"/>
              </a:rPr>
              <a:t>Weighted CE + Dice</a:t>
            </a:r>
            <a:endParaRPr sz="885" b="0" i="0" u="none" strike="noStrike" cap="none">
              <a:solidFill>
                <a:srgbClr val="000000"/>
              </a:solidFill>
              <a:latin typeface="Arial"/>
              <a:ea typeface="Arial"/>
              <a:cs typeface="Arial"/>
              <a:sym typeface="Arial"/>
            </a:endParaRPr>
          </a:p>
        </p:txBody>
      </p:sp>
      <p:sp>
        <p:nvSpPr>
          <p:cNvPr id="268" name="Google Shape;268;g3a126cea2f9_0_7"/>
          <p:cNvSpPr/>
          <p:nvPr/>
        </p:nvSpPr>
        <p:spPr>
          <a:xfrm>
            <a:off x="4119054" y="1008801"/>
            <a:ext cx="11727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69491"/>
              </a:lnSpc>
              <a:spcBef>
                <a:spcPts val="0"/>
              </a:spcBef>
              <a:spcAft>
                <a:spcPts val="0"/>
              </a:spcAft>
              <a:buClr>
                <a:srgbClr val="000000"/>
              </a:buClr>
              <a:buSzPts val="885"/>
              <a:buFont typeface="Arial"/>
              <a:buNone/>
            </a:pPr>
            <a:r>
              <a:rPr lang="en-US" sz="885" b="1" i="0" u="none" strike="noStrike" cap="none">
                <a:solidFill>
                  <a:srgbClr val="E2E8F0"/>
                </a:solidFill>
                <a:latin typeface="Arial"/>
                <a:ea typeface="Arial"/>
                <a:cs typeface="Arial"/>
                <a:sym typeface="Arial"/>
              </a:rPr>
              <a:t>CE + Dice</a:t>
            </a:r>
            <a:endParaRPr sz="885" b="0" i="0" u="none" strike="noStrike" cap="none">
              <a:solidFill>
                <a:srgbClr val="000000"/>
              </a:solidFill>
              <a:latin typeface="Arial"/>
              <a:ea typeface="Arial"/>
              <a:cs typeface="Arial"/>
              <a:sym typeface="Arial"/>
            </a:endParaRPr>
          </a:p>
        </p:txBody>
      </p:sp>
      <p:sp>
        <p:nvSpPr>
          <p:cNvPr id="269" name="Google Shape;269;g3a126cea2f9_0_7"/>
          <p:cNvSpPr/>
          <p:nvPr/>
        </p:nvSpPr>
        <p:spPr>
          <a:xfrm>
            <a:off x="5291829" y="1008801"/>
            <a:ext cx="21756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69491"/>
              </a:lnSpc>
              <a:spcBef>
                <a:spcPts val="0"/>
              </a:spcBef>
              <a:spcAft>
                <a:spcPts val="0"/>
              </a:spcAft>
              <a:buClr>
                <a:srgbClr val="000000"/>
              </a:buClr>
              <a:buSzPts val="885"/>
              <a:buFont typeface="Arial"/>
              <a:buNone/>
            </a:pPr>
            <a:r>
              <a:rPr lang="en-US" sz="885" b="1" i="0" u="none" strike="noStrike" cap="none">
                <a:solidFill>
                  <a:srgbClr val="E2E8F0"/>
                </a:solidFill>
                <a:latin typeface="Arial"/>
                <a:ea typeface="Arial"/>
                <a:cs typeface="Arial"/>
                <a:sym typeface="Arial"/>
              </a:rPr>
              <a:t>Weighted CE + Dice</a:t>
            </a:r>
            <a:endParaRPr sz="885" b="0" i="0" u="none" strike="noStrike" cap="none">
              <a:solidFill>
                <a:srgbClr val="000000"/>
              </a:solidFill>
              <a:latin typeface="Arial"/>
              <a:ea typeface="Arial"/>
              <a:cs typeface="Arial"/>
              <a:sym typeface="Arial"/>
            </a:endParaRPr>
          </a:p>
        </p:txBody>
      </p:sp>
      <p:sp>
        <p:nvSpPr>
          <p:cNvPr id="270" name="Google Shape;270;g3a126cea2f9_0_7"/>
          <p:cNvSpPr/>
          <p:nvPr/>
        </p:nvSpPr>
        <p:spPr>
          <a:xfrm>
            <a:off x="7467491" y="1008801"/>
            <a:ext cx="11730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69491"/>
              </a:lnSpc>
              <a:spcBef>
                <a:spcPts val="0"/>
              </a:spcBef>
              <a:spcAft>
                <a:spcPts val="0"/>
              </a:spcAft>
              <a:buClr>
                <a:srgbClr val="000000"/>
              </a:buClr>
              <a:buSzPts val="885"/>
              <a:buFont typeface="Arial"/>
              <a:buNone/>
            </a:pPr>
            <a:r>
              <a:rPr lang="en-US" sz="885" b="1" i="0" u="none" strike="noStrike" cap="none">
                <a:solidFill>
                  <a:srgbClr val="E2E8F0"/>
                </a:solidFill>
                <a:latin typeface="Arial"/>
                <a:ea typeface="Arial"/>
                <a:cs typeface="Arial"/>
                <a:sym typeface="Arial"/>
              </a:rPr>
              <a:t>CE + Dice</a:t>
            </a:r>
            <a:endParaRPr sz="885" b="0" i="0" u="none" strike="noStrike" cap="none">
              <a:solidFill>
                <a:srgbClr val="000000"/>
              </a:solidFill>
              <a:latin typeface="Arial"/>
              <a:ea typeface="Arial"/>
              <a:cs typeface="Arial"/>
              <a:sym typeface="Arial"/>
            </a:endParaRPr>
          </a:p>
        </p:txBody>
      </p:sp>
      <p:sp>
        <p:nvSpPr>
          <p:cNvPr id="271" name="Google Shape;271;g3a126cea2f9_0_7"/>
          <p:cNvSpPr/>
          <p:nvPr/>
        </p:nvSpPr>
        <p:spPr>
          <a:xfrm>
            <a:off x="503646" y="1299554"/>
            <a:ext cx="14397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sng" strike="noStrike" cap="none">
                <a:solidFill>
                  <a:srgbClr val="D1D5DB"/>
                </a:solidFill>
                <a:latin typeface="Arial"/>
                <a:ea typeface="Arial"/>
                <a:cs typeface="Arial"/>
                <a:sym typeface="Arial"/>
              </a:rPr>
              <a:t>Dice Weight</a:t>
            </a:r>
            <a:endParaRPr sz="942" b="0" i="0" u="sng" strike="noStrike" cap="none">
              <a:solidFill>
                <a:srgbClr val="000000"/>
              </a:solidFill>
              <a:latin typeface="Arial"/>
              <a:ea typeface="Arial"/>
              <a:cs typeface="Arial"/>
              <a:sym typeface="Arial"/>
            </a:endParaRPr>
          </a:p>
        </p:txBody>
      </p:sp>
      <p:sp>
        <p:nvSpPr>
          <p:cNvPr id="272" name="Google Shape;272;g3a126cea2f9_0_7"/>
          <p:cNvSpPr/>
          <p:nvPr/>
        </p:nvSpPr>
        <p:spPr>
          <a:xfrm>
            <a:off x="1943391" y="1299554"/>
            <a:ext cx="2175600" cy="291000"/>
          </a:xfrm>
          <a:prstGeom prst="rect">
            <a:avLst/>
          </a:prstGeom>
          <a:solidFill>
            <a:srgbClr val="404040">
              <a:alpha val="49800"/>
            </a:srgbClr>
          </a:solidFill>
          <a:ln w="952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3" name="Google Shape;273;g3a126cea2f9_0_7"/>
          <p:cNvSpPr/>
          <p:nvPr/>
        </p:nvSpPr>
        <p:spPr>
          <a:xfrm>
            <a:off x="1943391" y="1299554"/>
            <a:ext cx="21756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1342" b="1" i="0" u="sng" strike="noStrike" cap="none">
                <a:solidFill>
                  <a:srgbClr val="D1D5DB"/>
                </a:solidFill>
              </a:rPr>
              <a:t>0.4</a:t>
            </a:r>
            <a:endParaRPr sz="1342" b="1" i="0" u="sng" strike="noStrike" cap="none">
              <a:solidFill>
                <a:srgbClr val="000000"/>
              </a:solidFill>
            </a:endParaRPr>
          </a:p>
        </p:txBody>
      </p:sp>
      <p:sp>
        <p:nvSpPr>
          <p:cNvPr id="274" name="Google Shape;274;g3a126cea2f9_0_7"/>
          <p:cNvSpPr/>
          <p:nvPr/>
        </p:nvSpPr>
        <p:spPr>
          <a:xfrm>
            <a:off x="4119054" y="1299554"/>
            <a:ext cx="11727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0.8</a:t>
            </a:r>
            <a:endParaRPr sz="942" b="0" i="0" u="none" strike="noStrike" cap="none">
              <a:solidFill>
                <a:srgbClr val="000000"/>
              </a:solidFill>
              <a:latin typeface="Arial"/>
              <a:ea typeface="Arial"/>
              <a:cs typeface="Arial"/>
              <a:sym typeface="Arial"/>
            </a:endParaRPr>
          </a:p>
        </p:txBody>
      </p:sp>
      <p:sp>
        <p:nvSpPr>
          <p:cNvPr id="275" name="Google Shape;275;g3a126cea2f9_0_7"/>
          <p:cNvSpPr/>
          <p:nvPr/>
        </p:nvSpPr>
        <p:spPr>
          <a:xfrm>
            <a:off x="5291829" y="1299554"/>
            <a:ext cx="21756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0.8</a:t>
            </a:r>
            <a:endParaRPr sz="942" b="0" i="0" u="none" strike="noStrike" cap="none">
              <a:solidFill>
                <a:srgbClr val="000000"/>
              </a:solidFill>
              <a:latin typeface="Arial"/>
              <a:ea typeface="Arial"/>
              <a:cs typeface="Arial"/>
              <a:sym typeface="Arial"/>
            </a:endParaRPr>
          </a:p>
        </p:txBody>
      </p:sp>
      <p:sp>
        <p:nvSpPr>
          <p:cNvPr id="276" name="Google Shape;276;g3a126cea2f9_0_7"/>
          <p:cNvSpPr/>
          <p:nvPr/>
        </p:nvSpPr>
        <p:spPr>
          <a:xfrm>
            <a:off x="7467491" y="1299554"/>
            <a:ext cx="11730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0.8</a:t>
            </a:r>
            <a:endParaRPr sz="942" b="0" i="0" u="none" strike="noStrike" cap="none">
              <a:solidFill>
                <a:srgbClr val="000000"/>
              </a:solidFill>
              <a:latin typeface="Arial"/>
              <a:ea typeface="Arial"/>
              <a:cs typeface="Arial"/>
              <a:sym typeface="Arial"/>
            </a:endParaRPr>
          </a:p>
        </p:txBody>
      </p:sp>
      <p:sp>
        <p:nvSpPr>
          <p:cNvPr id="277" name="Google Shape;277;g3a126cea2f9_0_7"/>
          <p:cNvSpPr/>
          <p:nvPr/>
        </p:nvSpPr>
        <p:spPr>
          <a:xfrm>
            <a:off x="503646" y="1590307"/>
            <a:ext cx="14397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Max </a:t>
            </a:r>
            <a:r>
              <a:rPr lang="en-US" sz="942" b="0" i="0" u="sng" strike="noStrike" cap="none">
                <a:solidFill>
                  <a:srgbClr val="D1D5DB"/>
                </a:solidFill>
                <a:latin typeface="Arial"/>
                <a:ea typeface="Arial"/>
                <a:cs typeface="Arial"/>
                <a:sym typeface="Arial"/>
              </a:rPr>
              <a:t>Epochs</a:t>
            </a:r>
            <a:endParaRPr sz="942" b="0" i="0" u="sng" strike="noStrike" cap="none">
              <a:solidFill>
                <a:srgbClr val="000000"/>
              </a:solidFill>
              <a:latin typeface="Arial"/>
              <a:ea typeface="Arial"/>
              <a:cs typeface="Arial"/>
              <a:sym typeface="Arial"/>
            </a:endParaRPr>
          </a:p>
        </p:txBody>
      </p:sp>
      <p:sp>
        <p:nvSpPr>
          <p:cNvPr id="278" name="Google Shape;278;g3a126cea2f9_0_7"/>
          <p:cNvSpPr/>
          <p:nvPr/>
        </p:nvSpPr>
        <p:spPr>
          <a:xfrm>
            <a:off x="1943391" y="1590307"/>
            <a:ext cx="2175600" cy="291000"/>
          </a:xfrm>
          <a:prstGeom prst="rect">
            <a:avLst/>
          </a:prstGeom>
          <a:solidFill>
            <a:srgbClr val="404040">
              <a:alpha val="49800"/>
            </a:srgbClr>
          </a:solidFill>
          <a:ln w="952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 name="Google Shape;279;g3a126cea2f9_0_7"/>
          <p:cNvSpPr/>
          <p:nvPr/>
        </p:nvSpPr>
        <p:spPr>
          <a:xfrm>
            <a:off x="1943391" y="1590307"/>
            <a:ext cx="21756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1542" b="1" i="0" u="sng" strike="noStrike" cap="none">
                <a:solidFill>
                  <a:srgbClr val="D1D5DB"/>
                </a:solidFill>
              </a:rPr>
              <a:t>20</a:t>
            </a:r>
            <a:endParaRPr sz="1542" b="1" i="0" u="sng" strike="noStrike" cap="none">
              <a:solidFill>
                <a:srgbClr val="000000"/>
              </a:solidFill>
            </a:endParaRPr>
          </a:p>
        </p:txBody>
      </p:sp>
      <p:sp>
        <p:nvSpPr>
          <p:cNvPr id="280" name="Google Shape;280;g3a126cea2f9_0_7"/>
          <p:cNvSpPr/>
          <p:nvPr/>
        </p:nvSpPr>
        <p:spPr>
          <a:xfrm>
            <a:off x="4119054" y="1590307"/>
            <a:ext cx="11727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80</a:t>
            </a:r>
            <a:endParaRPr sz="942" b="0" i="0" u="none" strike="noStrike" cap="none">
              <a:solidFill>
                <a:srgbClr val="000000"/>
              </a:solidFill>
              <a:latin typeface="Arial"/>
              <a:ea typeface="Arial"/>
              <a:cs typeface="Arial"/>
              <a:sym typeface="Arial"/>
            </a:endParaRPr>
          </a:p>
        </p:txBody>
      </p:sp>
      <p:sp>
        <p:nvSpPr>
          <p:cNvPr id="281" name="Google Shape;281;g3a126cea2f9_0_7"/>
          <p:cNvSpPr/>
          <p:nvPr/>
        </p:nvSpPr>
        <p:spPr>
          <a:xfrm>
            <a:off x="5291829" y="1590307"/>
            <a:ext cx="21756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80</a:t>
            </a:r>
            <a:endParaRPr sz="942" b="0" i="0" u="none" strike="noStrike" cap="none">
              <a:solidFill>
                <a:srgbClr val="000000"/>
              </a:solidFill>
              <a:latin typeface="Arial"/>
              <a:ea typeface="Arial"/>
              <a:cs typeface="Arial"/>
              <a:sym typeface="Arial"/>
            </a:endParaRPr>
          </a:p>
        </p:txBody>
      </p:sp>
      <p:sp>
        <p:nvSpPr>
          <p:cNvPr id="282" name="Google Shape;282;g3a126cea2f9_0_7"/>
          <p:cNvSpPr/>
          <p:nvPr/>
        </p:nvSpPr>
        <p:spPr>
          <a:xfrm>
            <a:off x="7467491" y="1590307"/>
            <a:ext cx="11730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80</a:t>
            </a:r>
            <a:endParaRPr sz="942" b="0" i="0" u="none" strike="noStrike" cap="none">
              <a:solidFill>
                <a:srgbClr val="000000"/>
              </a:solidFill>
              <a:latin typeface="Arial"/>
              <a:ea typeface="Arial"/>
              <a:cs typeface="Arial"/>
              <a:sym typeface="Arial"/>
            </a:endParaRPr>
          </a:p>
        </p:txBody>
      </p:sp>
      <p:sp>
        <p:nvSpPr>
          <p:cNvPr id="283" name="Google Shape;283;g3a126cea2f9_0_7"/>
          <p:cNvSpPr/>
          <p:nvPr/>
        </p:nvSpPr>
        <p:spPr>
          <a:xfrm>
            <a:off x="503646" y="1881061"/>
            <a:ext cx="14397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Best Epoch</a:t>
            </a:r>
            <a:endParaRPr sz="942" b="0" i="0" u="none" strike="noStrike" cap="none">
              <a:solidFill>
                <a:srgbClr val="000000"/>
              </a:solidFill>
              <a:latin typeface="Arial"/>
              <a:ea typeface="Arial"/>
              <a:cs typeface="Arial"/>
              <a:sym typeface="Arial"/>
            </a:endParaRPr>
          </a:p>
        </p:txBody>
      </p:sp>
      <p:sp>
        <p:nvSpPr>
          <p:cNvPr id="284" name="Google Shape;284;g3a126cea2f9_0_7"/>
          <p:cNvSpPr/>
          <p:nvPr/>
        </p:nvSpPr>
        <p:spPr>
          <a:xfrm>
            <a:off x="1943391" y="1881061"/>
            <a:ext cx="2175600" cy="291000"/>
          </a:xfrm>
          <a:prstGeom prst="rect">
            <a:avLst/>
          </a:prstGeom>
          <a:solidFill>
            <a:srgbClr val="404040">
              <a:alpha val="49800"/>
            </a:srgbClr>
          </a:solidFill>
          <a:ln w="952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5" name="Google Shape;285;g3a126cea2f9_0_7"/>
          <p:cNvSpPr/>
          <p:nvPr/>
        </p:nvSpPr>
        <p:spPr>
          <a:xfrm>
            <a:off x="1943391" y="1881061"/>
            <a:ext cx="21756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6</a:t>
            </a:r>
            <a:endParaRPr sz="942" b="0" i="0" u="none" strike="noStrike" cap="none">
              <a:solidFill>
                <a:srgbClr val="000000"/>
              </a:solidFill>
              <a:latin typeface="Arial"/>
              <a:ea typeface="Arial"/>
              <a:cs typeface="Arial"/>
              <a:sym typeface="Arial"/>
            </a:endParaRPr>
          </a:p>
        </p:txBody>
      </p:sp>
      <p:sp>
        <p:nvSpPr>
          <p:cNvPr id="286" name="Google Shape;286;g3a126cea2f9_0_7"/>
          <p:cNvSpPr/>
          <p:nvPr/>
        </p:nvSpPr>
        <p:spPr>
          <a:xfrm>
            <a:off x="4119054" y="1881061"/>
            <a:ext cx="11727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1</a:t>
            </a:r>
            <a:endParaRPr sz="942" b="0" i="0" u="none" strike="noStrike" cap="none">
              <a:solidFill>
                <a:srgbClr val="000000"/>
              </a:solidFill>
              <a:latin typeface="Arial"/>
              <a:ea typeface="Arial"/>
              <a:cs typeface="Arial"/>
              <a:sym typeface="Arial"/>
            </a:endParaRPr>
          </a:p>
        </p:txBody>
      </p:sp>
      <p:sp>
        <p:nvSpPr>
          <p:cNvPr id="287" name="Google Shape;287;g3a126cea2f9_0_7"/>
          <p:cNvSpPr/>
          <p:nvPr/>
        </p:nvSpPr>
        <p:spPr>
          <a:xfrm>
            <a:off x="5291829" y="1881061"/>
            <a:ext cx="21756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21</a:t>
            </a:r>
            <a:endParaRPr sz="942" b="0" i="0" u="none" strike="noStrike" cap="none">
              <a:solidFill>
                <a:srgbClr val="000000"/>
              </a:solidFill>
              <a:latin typeface="Arial"/>
              <a:ea typeface="Arial"/>
              <a:cs typeface="Arial"/>
              <a:sym typeface="Arial"/>
            </a:endParaRPr>
          </a:p>
        </p:txBody>
      </p:sp>
      <p:sp>
        <p:nvSpPr>
          <p:cNvPr id="288" name="Google Shape;288;g3a126cea2f9_0_7"/>
          <p:cNvSpPr/>
          <p:nvPr/>
        </p:nvSpPr>
        <p:spPr>
          <a:xfrm>
            <a:off x="7467491" y="1881061"/>
            <a:ext cx="1173000" cy="291000"/>
          </a:xfrm>
          <a:prstGeom prst="rect">
            <a:avLst/>
          </a:prstGeom>
          <a:noFill/>
          <a:ln>
            <a:noFill/>
          </a:ln>
        </p:spPr>
        <p:txBody>
          <a:bodyPr spcFirstLastPara="1" wrap="square" lIns="102100" tIns="85075" rIns="102100" bIns="85075" anchor="ctr" anchorCtr="0">
            <a:noAutofit/>
          </a:bodyPr>
          <a:lstStyle/>
          <a:p>
            <a:pPr marL="0" marR="0" lvl="0" indent="0" algn="ctr" rtl="0">
              <a:lnSpc>
                <a:spcPct val="159235"/>
              </a:lnSpc>
              <a:spcBef>
                <a:spcPts val="0"/>
              </a:spcBef>
              <a:spcAft>
                <a:spcPts val="0"/>
              </a:spcAft>
              <a:buClr>
                <a:srgbClr val="000000"/>
              </a:buClr>
              <a:buSzPts val="942"/>
              <a:buFont typeface="Arial"/>
              <a:buNone/>
            </a:pPr>
            <a:r>
              <a:rPr lang="en-US" sz="942" b="0" i="0" u="none" strike="noStrike" cap="none">
                <a:solidFill>
                  <a:srgbClr val="D1D5DB"/>
                </a:solidFill>
                <a:latin typeface="Arial"/>
                <a:ea typeface="Arial"/>
                <a:cs typeface="Arial"/>
                <a:sym typeface="Arial"/>
              </a:rPr>
              <a:t>60</a:t>
            </a:r>
            <a:endParaRPr sz="942" b="0" i="0" u="none" strike="noStrike" cap="none">
              <a:solidFill>
                <a:srgbClr val="000000"/>
              </a:solidFill>
              <a:latin typeface="Arial"/>
              <a:ea typeface="Arial"/>
              <a:cs typeface="Arial"/>
              <a:sym typeface="Arial"/>
            </a:endParaRPr>
          </a:p>
        </p:txBody>
      </p:sp>
      <p:sp>
        <p:nvSpPr>
          <p:cNvPr id="289" name="Google Shape;289;g3a126cea2f9_0_7"/>
          <p:cNvSpPr/>
          <p:nvPr/>
        </p:nvSpPr>
        <p:spPr>
          <a:xfrm>
            <a:off x="499975" y="2252700"/>
            <a:ext cx="4635600" cy="1254300"/>
          </a:xfrm>
          <a:prstGeom prst="rect">
            <a:avLst/>
          </a:prstGeom>
          <a:solidFill>
            <a:srgbClr val="1A1A1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 name="Google Shape;290;g3a126cea2f9_0_7"/>
          <p:cNvSpPr/>
          <p:nvPr/>
        </p:nvSpPr>
        <p:spPr>
          <a:xfrm>
            <a:off x="499975" y="2252699"/>
            <a:ext cx="28500" cy="1254300"/>
          </a:xfrm>
          <a:prstGeom prst="rect">
            <a:avLst/>
          </a:prstGeom>
          <a:solidFill>
            <a:srgbClr val="60A5F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 name="Google Shape;291;g3a126cea2f9_0_7"/>
          <p:cNvSpPr/>
          <p:nvPr/>
        </p:nvSpPr>
        <p:spPr>
          <a:xfrm>
            <a:off x="628563" y="2255375"/>
            <a:ext cx="4184400" cy="235800"/>
          </a:xfrm>
          <a:prstGeom prst="rect">
            <a:avLst/>
          </a:prstGeom>
          <a:noFill/>
          <a:ln>
            <a:noFill/>
          </a:ln>
        </p:spPr>
        <p:txBody>
          <a:bodyPr spcFirstLastPara="1" wrap="square" lIns="0" tIns="0" rIns="0" bIns="0" anchor="t" anchorCtr="0">
            <a:noAutofit/>
          </a:bodyPr>
          <a:lstStyle/>
          <a:p>
            <a:pPr marL="0" marR="0" lvl="0" indent="0" algn="l" rtl="0">
              <a:lnSpc>
                <a:spcPct val="174311"/>
              </a:lnSpc>
              <a:spcBef>
                <a:spcPts val="0"/>
              </a:spcBef>
              <a:spcAft>
                <a:spcPts val="0"/>
              </a:spcAft>
              <a:buClr>
                <a:srgbClr val="000000"/>
              </a:buClr>
              <a:buSzPts val="1090"/>
              <a:buFont typeface="Arial"/>
              <a:buNone/>
            </a:pPr>
            <a:r>
              <a:rPr lang="en-US" sz="1090" b="1" i="0" u="none" strike="noStrike" cap="none" dirty="0">
                <a:solidFill>
                  <a:srgbClr val="60A5FA"/>
                </a:solidFill>
                <a:latin typeface="Open Sans"/>
                <a:ea typeface="Open Sans"/>
                <a:cs typeface="Open Sans"/>
                <a:sym typeface="Open Sans"/>
              </a:rPr>
              <a:t>Best Configuration: Run1</a:t>
            </a:r>
            <a:endParaRPr sz="1090" i="0" u="none" strike="noStrike" cap="none" dirty="0">
              <a:solidFill>
                <a:srgbClr val="000000"/>
              </a:solidFill>
              <a:latin typeface="Open Sans"/>
              <a:ea typeface="Open Sans"/>
              <a:cs typeface="Open Sans"/>
              <a:sym typeface="Open Sans"/>
            </a:endParaRPr>
          </a:p>
        </p:txBody>
      </p:sp>
      <p:sp>
        <p:nvSpPr>
          <p:cNvPr id="292" name="Google Shape;292;g3a126cea2f9_0_7"/>
          <p:cNvSpPr/>
          <p:nvPr/>
        </p:nvSpPr>
        <p:spPr>
          <a:xfrm>
            <a:off x="628576" y="2548275"/>
            <a:ext cx="4473000" cy="771600"/>
          </a:xfrm>
          <a:prstGeom prst="rect">
            <a:avLst/>
          </a:prstGeom>
          <a:noFill/>
          <a:ln>
            <a:noFill/>
          </a:ln>
        </p:spPr>
        <p:txBody>
          <a:bodyPr spcFirstLastPara="1" wrap="square" lIns="0" tIns="0" rIns="0" bIns="0" anchor="t" anchorCtr="0">
            <a:noAutofit/>
          </a:bodyPr>
          <a:lstStyle/>
          <a:p>
            <a:pPr marL="0" marR="0" lvl="0" indent="0" algn="l" rtl="0">
              <a:lnSpc>
                <a:spcPct val="159235"/>
              </a:lnSpc>
              <a:spcBef>
                <a:spcPts val="0"/>
              </a:spcBef>
              <a:spcAft>
                <a:spcPts val="0"/>
              </a:spcAft>
              <a:buClr>
                <a:srgbClr val="000000"/>
              </a:buClr>
              <a:buSzPts val="885"/>
              <a:buFont typeface="Arial"/>
              <a:buNone/>
            </a:pPr>
            <a:r>
              <a:rPr lang="en-US" sz="885" b="1" i="0" u="none" strike="noStrike" cap="none" dirty="0">
                <a:solidFill>
                  <a:srgbClr val="F87171"/>
                </a:solidFill>
                <a:latin typeface="Open Sans"/>
                <a:ea typeface="Open Sans"/>
                <a:cs typeface="Open Sans"/>
                <a:sym typeface="Open Sans"/>
              </a:rPr>
              <a:t>Run1</a:t>
            </a:r>
            <a:r>
              <a:rPr lang="en-US" sz="942" i="0" u="none" strike="noStrike" cap="none" dirty="0">
                <a:solidFill>
                  <a:srgbClr val="D1D5DB"/>
                </a:solidFill>
                <a:latin typeface="Open Sans"/>
                <a:ea typeface="Open Sans"/>
                <a:cs typeface="Open Sans"/>
                <a:sym typeface="Open Sans"/>
              </a:rPr>
              <a:t> achieved the best performance using </a:t>
            </a:r>
            <a:r>
              <a:rPr lang="en-US" sz="885" b="1" i="0" u="none" strike="noStrike" cap="none" dirty="0">
                <a:solidFill>
                  <a:srgbClr val="60A5FA"/>
                </a:solidFill>
                <a:latin typeface="Open Sans"/>
                <a:ea typeface="Open Sans"/>
                <a:cs typeface="Open Sans"/>
                <a:sym typeface="Open Sans"/>
              </a:rPr>
              <a:t>Weighted CE + Dice (0.4 weight)</a:t>
            </a:r>
            <a:r>
              <a:rPr lang="en-US" sz="942" i="0" u="none" strike="noStrike" cap="none" dirty="0">
                <a:solidFill>
                  <a:srgbClr val="D1D5DB"/>
                </a:solidFill>
                <a:latin typeface="Open Sans"/>
                <a:ea typeface="Open Sans"/>
                <a:cs typeface="Open Sans"/>
                <a:sym typeface="Open Sans"/>
              </a:rPr>
              <a:t>, emphasizing weighted cross entropy at 60% to address class imbalance. The model showed </a:t>
            </a:r>
            <a:r>
              <a:rPr lang="en-US" sz="1085" b="1" i="0" u="sng" strike="noStrike" cap="none" dirty="0">
                <a:solidFill>
                  <a:srgbClr val="60A5FA"/>
                </a:solidFill>
                <a:latin typeface="Open Sans"/>
                <a:ea typeface="Open Sans"/>
                <a:cs typeface="Open Sans"/>
                <a:sym typeface="Open Sans"/>
              </a:rPr>
              <a:t>early convergence at epoch 6</a:t>
            </a:r>
            <a:r>
              <a:rPr lang="en-US" sz="1142" i="0" u="sng" strike="noStrike" cap="none" dirty="0">
                <a:solidFill>
                  <a:srgbClr val="D1D5DB"/>
                </a:solidFill>
                <a:latin typeface="Open Sans"/>
                <a:ea typeface="Open Sans"/>
                <a:cs typeface="Open Sans"/>
                <a:sym typeface="Open Sans"/>
              </a:rPr>
              <a:t>, </a:t>
            </a:r>
            <a:r>
              <a:rPr lang="en-US" sz="942" i="0" u="none" strike="noStrike" cap="none" dirty="0">
                <a:solidFill>
                  <a:srgbClr val="D1D5DB"/>
                </a:solidFill>
                <a:latin typeface="Open Sans"/>
                <a:ea typeface="Open Sans"/>
                <a:cs typeface="Open Sans"/>
                <a:sym typeface="Open Sans"/>
              </a:rPr>
              <a:t>indicating efficient learning without overfitting.</a:t>
            </a:r>
            <a:endParaRPr sz="885" i="0" u="none" strike="noStrike" cap="none" dirty="0">
              <a:solidFill>
                <a:srgbClr val="000000"/>
              </a:solidFill>
              <a:latin typeface="Open Sans"/>
              <a:ea typeface="Open Sans"/>
              <a:cs typeface="Open Sans"/>
              <a:sym typeface="Open Sans"/>
            </a:endParaRPr>
          </a:p>
        </p:txBody>
      </p:sp>
      <p:sp>
        <p:nvSpPr>
          <p:cNvPr id="293" name="Google Shape;293;g3a126cea2f9_0_7"/>
          <p:cNvSpPr/>
          <p:nvPr/>
        </p:nvSpPr>
        <p:spPr>
          <a:xfrm>
            <a:off x="499975" y="3566624"/>
            <a:ext cx="4635600" cy="1254300"/>
          </a:xfrm>
          <a:prstGeom prst="rect">
            <a:avLst/>
          </a:prstGeom>
          <a:solidFill>
            <a:srgbClr val="1A1A1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 name="Google Shape;294;g3a126cea2f9_0_7"/>
          <p:cNvSpPr/>
          <p:nvPr/>
        </p:nvSpPr>
        <p:spPr>
          <a:xfrm>
            <a:off x="499975" y="3566624"/>
            <a:ext cx="28500" cy="1254300"/>
          </a:xfrm>
          <a:prstGeom prst="rect">
            <a:avLst/>
          </a:prstGeom>
          <a:solidFill>
            <a:srgbClr val="60A5F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 name="Google Shape;295;g3a126cea2f9_0_7"/>
          <p:cNvSpPr/>
          <p:nvPr/>
        </p:nvSpPr>
        <p:spPr>
          <a:xfrm>
            <a:off x="628563" y="3584056"/>
            <a:ext cx="4184400" cy="235800"/>
          </a:xfrm>
          <a:prstGeom prst="rect">
            <a:avLst/>
          </a:prstGeom>
          <a:noFill/>
          <a:ln>
            <a:noFill/>
          </a:ln>
        </p:spPr>
        <p:txBody>
          <a:bodyPr spcFirstLastPara="1" wrap="square" lIns="0" tIns="0" rIns="0" bIns="0" anchor="t" anchorCtr="0">
            <a:noAutofit/>
          </a:bodyPr>
          <a:lstStyle/>
          <a:p>
            <a:pPr marL="0" marR="0" lvl="0" indent="0" algn="l" rtl="0">
              <a:lnSpc>
                <a:spcPct val="174311"/>
              </a:lnSpc>
              <a:spcBef>
                <a:spcPts val="0"/>
              </a:spcBef>
              <a:spcAft>
                <a:spcPts val="0"/>
              </a:spcAft>
              <a:buClr>
                <a:srgbClr val="000000"/>
              </a:buClr>
              <a:buSzPts val="1090"/>
              <a:buFont typeface="Arial"/>
              <a:buNone/>
            </a:pPr>
            <a:r>
              <a:rPr lang="en-US" sz="1090" b="1" i="0" u="none" strike="noStrike" cap="none">
                <a:solidFill>
                  <a:srgbClr val="60A5FA"/>
                </a:solidFill>
                <a:latin typeface="Open Sans"/>
                <a:ea typeface="Open Sans"/>
                <a:cs typeface="Open Sans"/>
                <a:sym typeface="Open Sans"/>
              </a:rPr>
              <a:t>Key Insights</a:t>
            </a:r>
            <a:endParaRPr sz="1090" i="0" u="none" strike="noStrike" cap="none">
              <a:solidFill>
                <a:srgbClr val="000000"/>
              </a:solidFill>
              <a:latin typeface="Open Sans"/>
              <a:ea typeface="Open Sans"/>
              <a:cs typeface="Open Sans"/>
              <a:sym typeface="Open Sans"/>
            </a:endParaRPr>
          </a:p>
        </p:txBody>
      </p:sp>
      <p:sp>
        <p:nvSpPr>
          <p:cNvPr id="296" name="Google Shape;296;g3a126cea2f9_0_7"/>
          <p:cNvSpPr/>
          <p:nvPr/>
        </p:nvSpPr>
        <p:spPr>
          <a:xfrm>
            <a:off x="628576" y="3876952"/>
            <a:ext cx="4473000" cy="964500"/>
          </a:xfrm>
          <a:prstGeom prst="rect">
            <a:avLst/>
          </a:prstGeom>
          <a:noFill/>
          <a:ln>
            <a:noFill/>
          </a:ln>
        </p:spPr>
        <p:txBody>
          <a:bodyPr spcFirstLastPara="1" wrap="square" lIns="0" tIns="0" rIns="0" bIns="0" anchor="t" anchorCtr="0">
            <a:noAutofit/>
          </a:bodyPr>
          <a:lstStyle/>
          <a:p>
            <a:pPr marL="0" marR="0" lvl="0" indent="0" algn="l" rtl="0">
              <a:lnSpc>
                <a:spcPct val="159235"/>
              </a:lnSpc>
              <a:spcBef>
                <a:spcPts val="0"/>
              </a:spcBef>
              <a:spcAft>
                <a:spcPts val="0"/>
              </a:spcAft>
              <a:buClr>
                <a:srgbClr val="000000"/>
              </a:buClr>
              <a:buSzPts val="885"/>
              <a:buFont typeface="Arial"/>
              <a:buNone/>
            </a:pPr>
            <a:r>
              <a:rPr lang="en-US" sz="885" b="1" i="0" u="none" strike="noStrike" cap="none">
                <a:solidFill>
                  <a:srgbClr val="60A5FA"/>
                </a:solidFill>
                <a:latin typeface="Open Sans"/>
                <a:ea typeface="Open Sans"/>
                <a:cs typeface="Open Sans"/>
                <a:sym typeface="Open Sans"/>
              </a:rPr>
              <a:t>Weighted loss functions</a:t>
            </a:r>
            <a:r>
              <a:rPr lang="en-US" sz="942" i="0" u="none" strike="noStrike" cap="none">
                <a:solidFill>
                  <a:srgbClr val="D1D5DB"/>
                </a:solidFill>
                <a:latin typeface="Open Sans"/>
                <a:ea typeface="Open Sans"/>
                <a:cs typeface="Open Sans"/>
                <a:sym typeface="Open Sans"/>
              </a:rPr>
              <a:t> are essential for handling small organ segmentation in imbalanced medical datasets. Early stopping prevents overfitting while maintaining generalization. The </a:t>
            </a:r>
            <a:r>
              <a:rPr lang="en-US" sz="885" b="1" i="0" u="none" strike="noStrike" cap="none">
                <a:solidFill>
                  <a:srgbClr val="F87171"/>
                </a:solidFill>
                <a:latin typeface="Open Sans"/>
                <a:ea typeface="Open Sans"/>
                <a:cs typeface="Open Sans"/>
                <a:sym typeface="Open Sans"/>
              </a:rPr>
              <a:t>weighting strategy</a:t>
            </a:r>
            <a:r>
              <a:rPr lang="en-US" sz="942" i="0" u="none" strike="noStrike" cap="none">
                <a:solidFill>
                  <a:srgbClr val="D1D5DB"/>
                </a:solidFill>
                <a:latin typeface="Open Sans"/>
                <a:ea typeface="Open Sans"/>
                <a:cs typeface="Open Sans"/>
                <a:sym typeface="Open Sans"/>
              </a:rPr>
              <a:t> in Run1 significantly outperforms more balanced approaches.</a:t>
            </a:r>
            <a:endParaRPr sz="885" i="0" u="none" strike="noStrike" cap="none">
              <a:solidFill>
                <a:srgbClr val="000000"/>
              </a:solidFill>
              <a:latin typeface="Open Sans"/>
              <a:ea typeface="Open Sans"/>
              <a:cs typeface="Open Sans"/>
              <a:sym typeface="Open Sans"/>
            </a:endParaRPr>
          </a:p>
        </p:txBody>
      </p:sp>
      <p:sp>
        <p:nvSpPr>
          <p:cNvPr id="297" name="Google Shape;297;g3a126cea2f9_0_7"/>
          <p:cNvSpPr/>
          <p:nvPr/>
        </p:nvSpPr>
        <p:spPr>
          <a:xfrm>
            <a:off x="5227275" y="2252710"/>
            <a:ext cx="3416700" cy="2568300"/>
          </a:xfrm>
          <a:prstGeom prst="rect">
            <a:avLst/>
          </a:prstGeom>
          <a:solidFill>
            <a:srgbClr val="1A1A1A"/>
          </a:solidFill>
          <a:ln w="1827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8" name="Google Shape;298;g3a126cea2f9_0_7"/>
          <p:cNvSpPr/>
          <p:nvPr/>
        </p:nvSpPr>
        <p:spPr>
          <a:xfrm>
            <a:off x="5298705" y="2324125"/>
            <a:ext cx="3273600" cy="171600"/>
          </a:xfrm>
          <a:prstGeom prst="rect">
            <a:avLst/>
          </a:prstGeom>
          <a:noFill/>
          <a:ln>
            <a:noFill/>
          </a:ln>
        </p:spPr>
        <p:txBody>
          <a:bodyPr spcFirstLastPara="1" wrap="square" lIns="0" tIns="0" rIns="0" bIns="0" anchor="t" anchorCtr="0">
            <a:noAutofit/>
          </a:bodyPr>
          <a:lstStyle/>
          <a:p>
            <a:pPr marL="0" marR="0" lvl="0" indent="0" algn="ctr" rtl="0">
              <a:lnSpc>
                <a:spcPct val="178571"/>
              </a:lnSpc>
              <a:spcBef>
                <a:spcPts val="0"/>
              </a:spcBef>
              <a:spcAft>
                <a:spcPts val="0"/>
              </a:spcAft>
              <a:buClr>
                <a:srgbClr val="000000"/>
              </a:buClr>
              <a:buSzPts val="784"/>
              <a:buFont typeface="Arial"/>
              <a:buNone/>
            </a:pPr>
            <a:r>
              <a:rPr lang="en-US" sz="984" b="1" i="0" u="none" strike="noStrike" cap="none">
                <a:solidFill>
                  <a:srgbClr val="60A5FA"/>
                </a:solidFill>
                <a:latin typeface="Arial"/>
                <a:ea typeface="Arial"/>
                <a:cs typeface="Arial"/>
                <a:sym typeface="Arial"/>
              </a:rPr>
              <a:t>Training Loss Convergence</a:t>
            </a:r>
            <a:endParaRPr sz="984" b="0" i="0" u="none" strike="noStrike" cap="none">
              <a:solidFill>
                <a:srgbClr val="000000"/>
              </a:solidFill>
              <a:latin typeface="Arial"/>
              <a:ea typeface="Arial"/>
              <a:cs typeface="Arial"/>
              <a:sym typeface="Arial"/>
            </a:endParaRPr>
          </a:p>
        </p:txBody>
      </p:sp>
      <p:pic>
        <p:nvPicPr>
          <p:cNvPr id="299" name="Google Shape;299;g3a126cea2f9_0_7"/>
          <p:cNvPicPr preferRelativeResize="0"/>
          <p:nvPr/>
        </p:nvPicPr>
        <p:blipFill>
          <a:blip r:embed="rId3">
            <a:alphaModFix/>
          </a:blip>
          <a:stretch>
            <a:fillRect/>
          </a:stretch>
        </p:blipFill>
        <p:spPr>
          <a:xfrm>
            <a:off x="5298825" y="2640710"/>
            <a:ext cx="3273600" cy="19641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g3a145d5a476_5_20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12</a:t>
            </a:fld>
            <a:endParaRPr/>
          </a:p>
        </p:txBody>
      </p:sp>
      <p:sp>
        <p:nvSpPr>
          <p:cNvPr id="305" name="Google Shape;305;g3a145d5a476_5_208"/>
          <p:cNvSpPr/>
          <p:nvPr/>
        </p:nvSpPr>
        <p:spPr>
          <a:xfrm>
            <a:off x="500063" y="248112"/>
            <a:ext cx="8143800" cy="428700"/>
          </a:xfrm>
          <a:prstGeom prst="rect">
            <a:avLst/>
          </a:prstGeom>
          <a:noFill/>
          <a:ln>
            <a:noFill/>
          </a:ln>
        </p:spPr>
        <p:txBody>
          <a:bodyPr spcFirstLastPara="1" wrap="square" lIns="0" tIns="0" rIns="0" bIns="0" anchor="t" anchorCtr="0">
            <a:noAutofit/>
          </a:bodyPr>
          <a:lstStyle/>
          <a:p>
            <a:pPr marL="0" marR="0" lvl="0" indent="0" algn="l" rtl="0">
              <a:lnSpc>
                <a:spcPct val="168650"/>
              </a:lnSpc>
              <a:spcBef>
                <a:spcPts val="0"/>
              </a:spcBef>
              <a:spcAft>
                <a:spcPts val="0"/>
              </a:spcAft>
              <a:buClr>
                <a:srgbClr val="000000"/>
              </a:buClr>
              <a:buSzPts val="2016"/>
              <a:buFont typeface="Arial"/>
              <a:buNone/>
            </a:pPr>
            <a:r>
              <a:rPr lang="en-US" sz="2016" b="1" i="0" u="none" strike="noStrike" cap="none" dirty="0">
                <a:solidFill>
                  <a:srgbClr val="E2E8F0"/>
                </a:solidFill>
                <a:latin typeface="Open Sans"/>
                <a:ea typeface="Open Sans"/>
                <a:cs typeface="Open Sans"/>
                <a:sym typeface="Open Sans"/>
              </a:rPr>
              <a:t>Analysis and Limitations</a:t>
            </a:r>
            <a:endParaRPr sz="2016" i="0" u="none" strike="noStrike" cap="none" dirty="0">
              <a:solidFill>
                <a:srgbClr val="000000"/>
              </a:solidFill>
              <a:latin typeface="Open Sans"/>
              <a:ea typeface="Open Sans"/>
              <a:cs typeface="Open Sans"/>
              <a:sym typeface="Open Sans"/>
            </a:endParaRPr>
          </a:p>
        </p:txBody>
      </p:sp>
      <p:sp>
        <p:nvSpPr>
          <p:cNvPr id="306" name="Google Shape;306;g3a145d5a476_5_208"/>
          <p:cNvSpPr/>
          <p:nvPr/>
        </p:nvSpPr>
        <p:spPr>
          <a:xfrm>
            <a:off x="516125" y="782976"/>
            <a:ext cx="3982500" cy="1900200"/>
          </a:xfrm>
          <a:prstGeom prst="rect">
            <a:avLst/>
          </a:prstGeom>
          <a:solidFill>
            <a:srgbClr val="1A1A1A"/>
          </a:solidFill>
          <a:ln w="1827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i="0" u="none" strike="noStrike" cap="none">
              <a:solidFill>
                <a:srgbClr val="000000"/>
              </a:solidFill>
              <a:latin typeface="Open Sans"/>
              <a:ea typeface="Open Sans"/>
              <a:cs typeface="Open Sans"/>
              <a:sym typeface="Open Sans"/>
            </a:endParaRPr>
          </a:p>
        </p:txBody>
      </p:sp>
      <p:sp>
        <p:nvSpPr>
          <p:cNvPr id="307" name="Google Shape;307;g3a145d5a476_5_208"/>
          <p:cNvSpPr/>
          <p:nvPr/>
        </p:nvSpPr>
        <p:spPr>
          <a:xfrm>
            <a:off x="616125" y="814442"/>
            <a:ext cx="3782700" cy="257100"/>
          </a:xfrm>
          <a:prstGeom prst="rect">
            <a:avLst/>
          </a:prstGeom>
          <a:noFill/>
          <a:ln>
            <a:noFill/>
          </a:ln>
        </p:spPr>
        <p:txBody>
          <a:bodyPr spcFirstLastPara="1" wrap="square" lIns="0" tIns="0" rIns="0" bIns="0" anchor="t" anchorCtr="0">
            <a:noAutofit/>
          </a:bodyPr>
          <a:lstStyle/>
          <a:p>
            <a:pPr marL="0" marR="0" lvl="0" indent="0" algn="l" rtl="0">
              <a:lnSpc>
                <a:spcPct val="167644"/>
              </a:lnSpc>
              <a:spcBef>
                <a:spcPts val="0"/>
              </a:spcBef>
              <a:spcAft>
                <a:spcPts val="0"/>
              </a:spcAft>
              <a:buClr>
                <a:srgbClr val="000000"/>
              </a:buClr>
              <a:buSzPts val="1193"/>
              <a:buFont typeface="Arial"/>
              <a:buNone/>
            </a:pPr>
            <a:r>
              <a:rPr lang="en-US" sz="1193" b="1" i="0" u="none" strike="noStrike" cap="none">
                <a:solidFill>
                  <a:srgbClr val="60A5FA"/>
                </a:solidFill>
                <a:latin typeface="Open Sans"/>
                <a:ea typeface="Open Sans"/>
                <a:cs typeface="Open Sans"/>
                <a:sym typeface="Open Sans"/>
              </a:rPr>
              <a:t>Performance Highlights (Run1)</a:t>
            </a:r>
            <a:endParaRPr sz="1193" i="0" u="none" strike="noStrike" cap="none">
              <a:solidFill>
                <a:srgbClr val="000000"/>
              </a:solidFill>
              <a:latin typeface="Open Sans"/>
              <a:ea typeface="Open Sans"/>
              <a:cs typeface="Open Sans"/>
              <a:sym typeface="Open Sans"/>
            </a:endParaRPr>
          </a:p>
        </p:txBody>
      </p:sp>
      <p:sp>
        <p:nvSpPr>
          <p:cNvPr id="308" name="Google Shape;308;g3a145d5a476_5_208"/>
          <p:cNvSpPr/>
          <p:nvPr/>
        </p:nvSpPr>
        <p:spPr>
          <a:xfrm>
            <a:off x="616125" y="1128767"/>
            <a:ext cx="3782700" cy="360000"/>
          </a:xfrm>
          <a:prstGeom prst="rect">
            <a:avLst/>
          </a:prstGeom>
          <a:noFill/>
          <a:ln>
            <a:noFill/>
          </a:ln>
        </p:spPr>
        <p:txBody>
          <a:bodyPr spcFirstLastPara="1" wrap="square" lIns="0" tIns="0" rIns="0" bIns="0" anchor="t" anchorCtr="0">
            <a:noAutofit/>
          </a:bodyPr>
          <a:lstStyle/>
          <a:p>
            <a:pPr marL="0" marR="0" lvl="0" indent="0" algn="l" rtl="0">
              <a:lnSpc>
                <a:spcPct val="148620"/>
              </a:lnSpc>
              <a:spcBef>
                <a:spcPts val="0"/>
              </a:spcBef>
              <a:spcAft>
                <a:spcPts val="0"/>
              </a:spcAft>
              <a:buClr>
                <a:srgbClr val="000000"/>
              </a:buClr>
              <a:buSzPts val="885"/>
              <a:buFont typeface="Arial"/>
              <a:buNone/>
            </a:pPr>
            <a:r>
              <a:rPr lang="en-US" sz="1085" b="1" i="0" u="sng" strike="noStrike" cap="none">
                <a:solidFill>
                  <a:srgbClr val="60A5FA"/>
                </a:solidFill>
                <a:latin typeface="Open Sans"/>
                <a:ea typeface="Open Sans"/>
                <a:cs typeface="Open Sans"/>
                <a:sym typeface="Open Sans"/>
              </a:rPr>
              <a:t>Strong on Large Organ</a:t>
            </a:r>
            <a:r>
              <a:rPr lang="en-US" sz="885" b="1" i="0" u="none" strike="noStrike" cap="none">
                <a:solidFill>
                  <a:srgbClr val="60A5FA"/>
                </a:solidFill>
                <a:latin typeface="Open Sans"/>
                <a:ea typeface="Open Sans"/>
                <a:cs typeface="Open Sans"/>
                <a:sym typeface="Open Sans"/>
              </a:rPr>
              <a:t>s:</a:t>
            </a:r>
            <a:r>
              <a:rPr lang="en-US" sz="942" i="0" u="none" strike="noStrike" cap="none">
                <a:solidFill>
                  <a:srgbClr val="D1D5DB"/>
                </a:solidFill>
                <a:latin typeface="Open Sans"/>
                <a:ea typeface="Open Sans"/>
                <a:cs typeface="Open Sans"/>
                <a:sym typeface="Open Sans"/>
              </a:rPr>
              <a:t> Liver, stomach, spleen, and kidneys achieved high DSC scores with consistent accuracy.</a:t>
            </a:r>
            <a:endParaRPr sz="885" i="0" u="none" strike="noStrike" cap="none">
              <a:solidFill>
                <a:srgbClr val="000000"/>
              </a:solidFill>
              <a:latin typeface="Open Sans"/>
              <a:ea typeface="Open Sans"/>
              <a:cs typeface="Open Sans"/>
              <a:sym typeface="Open Sans"/>
            </a:endParaRPr>
          </a:p>
        </p:txBody>
      </p:sp>
      <p:sp>
        <p:nvSpPr>
          <p:cNvPr id="309" name="Google Shape;309;g3a145d5a476_5_208"/>
          <p:cNvSpPr/>
          <p:nvPr/>
        </p:nvSpPr>
        <p:spPr>
          <a:xfrm>
            <a:off x="616125" y="1545950"/>
            <a:ext cx="3782700" cy="360000"/>
          </a:xfrm>
          <a:prstGeom prst="rect">
            <a:avLst/>
          </a:prstGeom>
          <a:noFill/>
          <a:ln>
            <a:noFill/>
          </a:ln>
        </p:spPr>
        <p:txBody>
          <a:bodyPr spcFirstLastPara="1" wrap="square" lIns="0" tIns="0" rIns="0" bIns="0" anchor="t" anchorCtr="0">
            <a:noAutofit/>
          </a:bodyPr>
          <a:lstStyle/>
          <a:p>
            <a:pPr marL="0" marR="0" lvl="0" indent="0" algn="l" rtl="0">
              <a:lnSpc>
                <a:spcPct val="148620"/>
              </a:lnSpc>
              <a:spcBef>
                <a:spcPts val="0"/>
              </a:spcBef>
              <a:spcAft>
                <a:spcPts val="0"/>
              </a:spcAft>
              <a:buClr>
                <a:srgbClr val="000000"/>
              </a:buClr>
              <a:buSzPts val="885"/>
              <a:buFont typeface="Arial"/>
              <a:buNone/>
            </a:pPr>
            <a:r>
              <a:rPr lang="en-US" sz="885" b="1" i="0" u="none" strike="noStrike" cap="none">
                <a:solidFill>
                  <a:srgbClr val="60A5FA"/>
                </a:solidFill>
                <a:latin typeface="Open Sans"/>
                <a:ea typeface="Open Sans"/>
                <a:cs typeface="Open Sans"/>
                <a:sym typeface="Open Sans"/>
              </a:rPr>
              <a:t>Tubular Structures:</a:t>
            </a:r>
            <a:r>
              <a:rPr lang="en-US" sz="942" i="0" u="none" strike="noStrike" cap="none">
                <a:solidFill>
                  <a:srgbClr val="D1D5DB"/>
                </a:solidFill>
                <a:latin typeface="Open Sans"/>
                <a:ea typeface="Open Sans"/>
                <a:cs typeface="Open Sans"/>
                <a:sym typeface="Open Sans"/>
              </a:rPr>
              <a:t> Aorta well-captured due to consistent geometry across slices.</a:t>
            </a:r>
            <a:endParaRPr sz="885" i="0" u="none" strike="noStrike" cap="none">
              <a:solidFill>
                <a:srgbClr val="000000"/>
              </a:solidFill>
              <a:latin typeface="Open Sans"/>
              <a:ea typeface="Open Sans"/>
              <a:cs typeface="Open Sans"/>
              <a:sym typeface="Open Sans"/>
            </a:endParaRPr>
          </a:p>
        </p:txBody>
      </p:sp>
      <p:sp>
        <p:nvSpPr>
          <p:cNvPr id="310" name="Google Shape;310;g3a145d5a476_5_208"/>
          <p:cNvSpPr/>
          <p:nvPr/>
        </p:nvSpPr>
        <p:spPr>
          <a:xfrm>
            <a:off x="616125" y="1963134"/>
            <a:ext cx="3782700" cy="540000"/>
          </a:xfrm>
          <a:prstGeom prst="rect">
            <a:avLst/>
          </a:prstGeom>
          <a:noFill/>
          <a:ln>
            <a:noFill/>
          </a:ln>
        </p:spPr>
        <p:txBody>
          <a:bodyPr spcFirstLastPara="1" wrap="square" lIns="0" tIns="0" rIns="0" bIns="0" anchor="t" anchorCtr="0">
            <a:noAutofit/>
          </a:bodyPr>
          <a:lstStyle/>
          <a:p>
            <a:pPr marL="0" marR="0" lvl="0" indent="0" algn="l" rtl="0">
              <a:lnSpc>
                <a:spcPct val="148620"/>
              </a:lnSpc>
              <a:spcBef>
                <a:spcPts val="0"/>
              </a:spcBef>
              <a:spcAft>
                <a:spcPts val="0"/>
              </a:spcAft>
              <a:buClr>
                <a:srgbClr val="000000"/>
              </a:buClr>
              <a:buSzPts val="885"/>
              <a:buFont typeface="Arial"/>
              <a:buNone/>
            </a:pPr>
            <a:r>
              <a:rPr lang="en-US" sz="885" b="1" i="0" u="none" strike="noStrike" cap="none">
                <a:solidFill>
                  <a:srgbClr val="60A5FA"/>
                </a:solidFill>
                <a:latin typeface="Open Sans"/>
                <a:ea typeface="Open Sans"/>
                <a:cs typeface="Open Sans"/>
                <a:sym typeface="Open Sans"/>
              </a:rPr>
              <a:t>Model Advantages:</a:t>
            </a:r>
            <a:r>
              <a:rPr lang="en-US" sz="942" i="0" u="none" strike="noStrike" cap="none">
                <a:solidFill>
                  <a:srgbClr val="D1D5DB"/>
                </a:solidFill>
                <a:latin typeface="Open Sans"/>
                <a:ea typeface="Open Sans"/>
                <a:cs typeface="Open Sans"/>
                <a:sym typeface="Open Sans"/>
              </a:rPr>
              <a:t> Fast domain adaptation with foundation model, high computational efficiency via LoRA, strong generalization on common anatomical structures.</a:t>
            </a:r>
            <a:endParaRPr sz="885" i="0" u="none" strike="noStrike" cap="none">
              <a:solidFill>
                <a:srgbClr val="000000"/>
              </a:solidFill>
              <a:latin typeface="Open Sans"/>
              <a:ea typeface="Open Sans"/>
              <a:cs typeface="Open Sans"/>
              <a:sym typeface="Open Sans"/>
            </a:endParaRPr>
          </a:p>
        </p:txBody>
      </p:sp>
      <p:sp>
        <p:nvSpPr>
          <p:cNvPr id="311" name="Google Shape;311;g3a145d5a476_5_208"/>
          <p:cNvSpPr/>
          <p:nvPr/>
        </p:nvSpPr>
        <p:spPr>
          <a:xfrm>
            <a:off x="516225" y="2806026"/>
            <a:ext cx="3982500" cy="1900200"/>
          </a:xfrm>
          <a:prstGeom prst="rect">
            <a:avLst/>
          </a:prstGeom>
          <a:solidFill>
            <a:srgbClr val="1A1A1A"/>
          </a:solidFill>
          <a:ln w="18275" cap="flat" cmpd="sng">
            <a:solidFill>
              <a:srgbClr val="4040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i="0" u="none" strike="noStrike" cap="none">
              <a:solidFill>
                <a:srgbClr val="000000"/>
              </a:solidFill>
              <a:latin typeface="Open Sans"/>
              <a:ea typeface="Open Sans"/>
              <a:cs typeface="Open Sans"/>
              <a:sym typeface="Open Sans"/>
            </a:endParaRPr>
          </a:p>
        </p:txBody>
      </p:sp>
      <p:sp>
        <p:nvSpPr>
          <p:cNvPr id="312" name="Google Shape;312;g3a145d5a476_5_208"/>
          <p:cNvSpPr/>
          <p:nvPr/>
        </p:nvSpPr>
        <p:spPr>
          <a:xfrm>
            <a:off x="616234" y="2837492"/>
            <a:ext cx="3782700" cy="257100"/>
          </a:xfrm>
          <a:prstGeom prst="rect">
            <a:avLst/>
          </a:prstGeom>
          <a:noFill/>
          <a:ln>
            <a:noFill/>
          </a:ln>
        </p:spPr>
        <p:txBody>
          <a:bodyPr spcFirstLastPara="1" wrap="square" lIns="0" tIns="0" rIns="0" bIns="0" anchor="t" anchorCtr="0">
            <a:noAutofit/>
          </a:bodyPr>
          <a:lstStyle/>
          <a:p>
            <a:pPr marL="0" marR="0" lvl="0" indent="0" algn="l" rtl="0">
              <a:lnSpc>
                <a:spcPct val="167644"/>
              </a:lnSpc>
              <a:spcBef>
                <a:spcPts val="0"/>
              </a:spcBef>
              <a:spcAft>
                <a:spcPts val="0"/>
              </a:spcAft>
              <a:buClr>
                <a:srgbClr val="000000"/>
              </a:buClr>
              <a:buSzPts val="1193"/>
              <a:buFont typeface="Arial"/>
              <a:buNone/>
            </a:pPr>
            <a:r>
              <a:rPr lang="en-US" sz="1193" b="1" i="0" u="none" strike="noStrike" cap="none">
                <a:solidFill>
                  <a:srgbClr val="F87171"/>
                </a:solidFill>
                <a:latin typeface="Open Sans"/>
                <a:ea typeface="Open Sans"/>
                <a:cs typeface="Open Sans"/>
                <a:sym typeface="Open Sans"/>
              </a:rPr>
              <a:t>Key Limitations</a:t>
            </a:r>
            <a:endParaRPr sz="1193" i="0" u="none" strike="noStrike" cap="none">
              <a:solidFill>
                <a:srgbClr val="000000"/>
              </a:solidFill>
              <a:latin typeface="Open Sans"/>
              <a:ea typeface="Open Sans"/>
              <a:cs typeface="Open Sans"/>
              <a:sym typeface="Open Sans"/>
            </a:endParaRPr>
          </a:p>
        </p:txBody>
      </p:sp>
      <p:sp>
        <p:nvSpPr>
          <p:cNvPr id="313" name="Google Shape;313;g3a145d5a476_5_208"/>
          <p:cNvSpPr/>
          <p:nvPr/>
        </p:nvSpPr>
        <p:spPr>
          <a:xfrm>
            <a:off x="616234" y="3151817"/>
            <a:ext cx="3782700" cy="540000"/>
          </a:xfrm>
          <a:prstGeom prst="rect">
            <a:avLst/>
          </a:prstGeom>
          <a:noFill/>
          <a:ln>
            <a:noFill/>
          </a:ln>
        </p:spPr>
        <p:txBody>
          <a:bodyPr spcFirstLastPara="1" wrap="square" lIns="0" tIns="0" rIns="0" bIns="0" anchor="t" anchorCtr="0">
            <a:noAutofit/>
          </a:bodyPr>
          <a:lstStyle/>
          <a:p>
            <a:pPr marL="0" marR="0" lvl="0" indent="0" algn="l" rtl="0">
              <a:lnSpc>
                <a:spcPct val="148620"/>
              </a:lnSpc>
              <a:spcBef>
                <a:spcPts val="0"/>
              </a:spcBef>
              <a:spcAft>
                <a:spcPts val="0"/>
              </a:spcAft>
              <a:buClr>
                <a:srgbClr val="000000"/>
              </a:buClr>
              <a:buSzPts val="885"/>
              <a:buFont typeface="Arial"/>
              <a:buNone/>
            </a:pPr>
            <a:r>
              <a:rPr lang="en-US" sz="1085" b="1" i="0" u="sng" strike="noStrike" cap="none">
                <a:solidFill>
                  <a:srgbClr val="F87171"/>
                </a:solidFill>
                <a:latin typeface="Open Sans"/>
                <a:ea typeface="Open Sans"/>
                <a:cs typeface="Open Sans"/>
                <a:sym typeface="Open Sans"/>
              </a:rPr>
              <a:t>Poor on Small Organs:</a:t>
            </a:r>
            <a:r>
              <a:rPr lang="en-US" sz="1142" b="1" i="0" u="sng" strike="noStrike" cap="none">
                <a:solidFill>
                  <a:srgbClr val="D1D5DB"/>
                </a:solidFill>
                <a:latin typeface="Open Sans"/>
                <a:ea typeface="Open Sans"/>
                <a:cs typeface="Open Sans"/>
                <a:sym typeface="Open Sans"/>
              </a:rPr>
              <a:t> </a:t>
            </a:r>
            <a:r>
              <a:rPr lang="en-US" sz="942" i="0" u="none" strike="noStrike" cap="none">
                <a:solidFill>
                  <a:srgbClr val="D1D5DB"/>
                </a:solidFill>
                <a:latin typeface="Open Sans"/>
                <a:ea typeface="Open Sans"/>
                <a:cs typeface="Open Sans"/>
                <a:sym typeface="Open Sans"/>
              </a:rPr>
              <a:t>Pancreas, esophagus, and adrenal glands show significantly lower DSC and NSD scores due to sparse pixels and irregular shapes.</a:t>
            </a:r>
            <a:endParaRPr sz="885" i="0" u="none" strike="noStrike" cap="none">
              <a:solidFill>
                <a:srgbClr val="000000"/>
              </a:solidFill>
              <a:latin typeface="Open Sans"/>
              <a:ea typeface="Open Sans"/>
              <a:cs typeface="Open Sans"/>
              <a:sym typeface="Open Sans"/>
            </a:endParaRPr>
          </a:p>
        </p:txBody>
      </p:sp>
      <p:sp>
        <p:nvSpPr>
          <p:cNvPr id="314" name="Google Shape;314;g3a145d5a476_5_208"/>
          <p:cNvSpPr/>
          <p:nvPr/>
        </p:nvSpPr>
        <p:spPr>
          <a:xfrm>
            <a:off x="616234" y="3749017"/>
            <a:ext cx="3782700" cy="360000"/>
          </a:xfrm>
          <a:prstGeom prst="rect">
            <a:avLst/>
          </a:prstGeom>
          <a:noFill/>
          <a:ln>
            <a:noFill/>
          </a:ln>
        </p:spPr>
        <p:txBody>
          <a:bodyPr spcFirstLastPara="1" wrap="square" lIns="0" tIns="0" rIns="0" bIns="0" anchor="t" anchorCtr="0">
            <a:noAutofit/>
          </a:bodyPr>
          <a:lstStyle/>
          <a:p>
            <a:pPr marL="0" marR="0" lvl="0" indent="0" algn="l" rtl="0">
              <a:lnSpc>
                <a:spcPct val="148620"/>
              </a:lnSpc>
              <a:spcBef>
                <a:spcPts val="0"/>
              </a:spcBef>
              <a:spcAft>
                <a:spcPts val="0"/>
              </a:spcAft>
              <a:buClr>
                <a:srgbClr val="000000"/>
              </a:buClr>
              <a:buSzPts val="885"/>
              <a:buFont typeface="Arial"/>
              <a:buNone/>
            </a:pPr>
            <a:r>
              <a:rPr lang="en-US" sz="885" b="1" i="0" u="none" strike="noStrike" cap="none" dirty="0">
                <a:solidFill>
                  <a:srgbClr val="F87171"/>
                </a:solidFill>
                <a:latin typeface="Open Sans"/>
                <a:ea typeface="Open Sans"/>
                <a:cs typeface="Open Sans"/>
                <a:sym typeface="Open Sans"/>
              </a:rPr>
              <a:t>Boundary Precision Gap:</a:t>
            </a:r>
            <a:r>
              <a:rPr lang="en-US" sz="942" i="0" u="none" strike="noStrike" cap="none" dirty="0">
                <a:solidFill>
                  <a:srgbClr val="D1D5DB"/>
                </a:solidFill>
                <a:latin typeface="Open Sans"/>
                <a:ea typeface="Open Sans"/>
                <a:cs typeface="Open Sans"/>
                <a:sym typeface="Open Sans"/>
              </a:rPr>
              <a:t> NSD scores generally lower than DSC, indicating room for improvement in edge accuracy.</a:t>
            </a:r>
            <a:endParaRPr sz="885" i="0" u="none" strike="noStrike" cap="none" dirty="0">
              <a:solidFill>
                <a:srgbClr val="000000"/>
              </a:solidFill>
              <a:latin typeface="Open Sans"/>
              <a:ea typeface="Open Sans"/>
              <a:cs typeface="Open Sans"/>
              <a:sym typeface="Open Sans"/>
            </a:endParaRPr>
          </a:p>
        </p:txBody>
      </p:sp>
      <p:sp>
        <p:nvSpPr>
          <p:cNvPr id="315" name="Google Shape;315;g3a145d5a476_5_208"/>
          <p:cNvSpPr/>
          <p:nvPr/>
        </p:nvSpPr>
        <p:spPr>
          <a:xfrm>
            <a:off x="616034" y="4166226"/>
            <a:ext cx="3782700" cy="540000"/>
          </a:xfrm>
          <a:prstGeom prst="rect">
            <a:avLst/>
          </a:prstGeom>
          <a:noFill/>
          <a:ln>
            <a:noFill/>
          </a:ln>
        </p:spPr>
        <p:txBody>
          <a:bodyPr spcFirstLastPara="1" wrap="square" lIns="0" tIns="0" rIns="0" bIns="0" anchor="t" anchorCtr="0">
            <a:noAutofit/>
          </a:bodyPr>
          <a:lstStyle/>
          <a:p>
            <a:pPr marL="0" marR="0" lvl="0" indent="0" algn="l" rtl="0">
              <a:lnSpc>
                <a:spcPct val="148620"/>
              </a:lnSpc>
              <a:spcBef>
                <a:spcPts val="0"/>
              </a:spcBef>
              <a:spcAft>
                <a:spcPts val="0"/>
              </a:spcAft>
              <a:buClr>
                <a:srgbClr val="000000"/>
              </a:buClr>
              <a:buSzPts val="885"/>
              <a:buFont typeface="Arial"/>
              <a:buNone/>
            </a:pPr>
            <a:r>
              <a:rPr lang="en-US" sz="885" b="1" i="0" u="none" strike="noStrike" cap="none">
                <a:solidFill>
                  <a:srgbClr val="F87171"/>
                </a:solidFill>
                <a:latin typeface="Open Sans"/>
                <a:ea typeface="Open Sans"/>
                <a:cs typeface="Open Sans"/>
                <a:sym typeface="Open Sans"/>
              </a:rPr>
              <a:t>Future Improvements:</a:t>
            </a:r>
            <a:r>
              <a:rPr lang="en-US" sz="942" i="0" u="none" strike="noStrike" cap="none">
                <a:solidFill>
                  <a:srgbClr val="D1D5DB"/>
                </a:solidFill>
                <a:latin typeface="Open Sans"/>
                <a:ea typeface="Open Sans"/>
                <a:cs typeface="Open Sans"/>
                <a:sym typeface="Open Sans"/>
              </a:rPr>
              <a:t> Explore targeted sampling for small organs, fine-tune LoRA rank parameters, consider 3D context integration.</a:t>
            </a:r>
            <a:endParaRPr sz="885" i="0" u="none" strike="noStrike" cap="none">
              <a:solidFill>
                <a:srgbClr val="000000"/>
              </a:solidFill>
              <a:latin typeface="Open Sans"/>
              <a:ea typeface="Open Sans"/>
              <a:cs typeface="Open Sans"/>
              <a:sym typeface="Open Sans"/>
            </a:endParaRPr>
          </a:p>
        </p:txBody>
      </p:sp>
      <p:sp>
        <p:nvSpPr>
          <p:cNvPr id="316" name="Google Shape;316;g3a145d5a476_5_208"/>
          <p:cNvSpPr/>
          <p:nvPr/>
        </p:nvSpPr>
        <p:spPr>
          <a:xfrm>
            <a:off x="4794550" y="486719"/>
            <a:ext cx="4064100" cy="42681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aphicFrame>
        <p:nvGraphicFramePr>
          <p:cNvPr id="317" name="Google Shape;317;g3a145d5a476_5_208"/>
          <p:cNvGraphicFramePr/>
          <p:nvPr>
            <p:extLst>
              <p:ext uri="{D42A27DB-BD31-4B8C-83A1-F6EECF244321}">
                <p14:modId xmlns:p14="http://schemas.microsoft.com/office/powerpoint/2010/main" val="1899464915"/>
              </p:ext>
            </p:extLst>
          </p:nvPr>
        </p:nvGraphicFramePr>
        <p:xfrm>
          <a:off x="5040123" y="565457"/>
          <a:ext cx="3572954" cy="4012586"/>
        </p:xfrm>
        <a:graphic>
          <a:graphicData uri="http://schemas.openxmlformats.org/drawingml/2006/table">
            <a:tbl>
              <a:tblPr>
                <a:noFill/>
                <a:tableStyleId>{2A7876C2-90C0-4B93-85D5-C01E0D184563}</a:tableStyleId>
              </a:tblPr>
              <a:tblGrid>
                <a:gridCol w="1589163">
                  <a:extLst>
                    <a:ext uri="{9D8B030D-6E8A-4147-A177-3AD203B41FA5}">
                      <a16:colId xmlns:a16="http://schemas.microsoft.com/office/drawing/2014/main" val="20000"/>
                    </a:ext>
                  </a:extLst>
                </a:gridCol>
                <a:gridCol w="1083371">
                  <a:extLst>
                    <a:ext uri="{9D8B030D-6E8A-4147-A177-3AD203B41FA5}">
                      <a16:colId xmlns:a16="http://schemas.microsoft.com/office/drawing/2014/main" val="20001"/>
                    </a:ext>
                  </a:extLst>
                </a:gridCol>
                <a:gridCol w="900420">
                  <a:extLst>
                    <a:ext uri="{9D8B030D-6E8A-4147-A177-3AD203B41FA5}">
                      <a16:colId xmlns:a16="http://schemas.microsoft.com/office/drawing/2014/main" val="20002"/>
                    </a:ext>
                  </a:extLst>
                </a:gridCol>
              </a:tblGrid>
              <a:tr h="294002">
                <a:tc>
                  <a:txBody>
                    <a:bodyPr/>
                    <a:lstStyle/>
                    <a:p>
                      <a:pPr marL="0" lvl="0" indent="0" algn="ctr" rtl="0">
                        <a:lnSpc>
                          <a:spcPct val="80000"/>
                        </a:lnSpc>
                        <a:spcBef>
                          <a:spcPts val="0"/>
                        </a:spcBef>
                        <a:spcAft>
                          <a:spcPts val="0"/>
                        </a:spcAft>
                        <a:buNone/>
                      </a:pPr>
                      <a:r>
                        <a:rPr lang="en-US" sz="1000" b="1" dirty="0">
                          <a:solidFill>
                            <a:schemeClr val="dk1"/>
                          </a:solidFill>
                          <a:latin typeface="Open Sans"/>
                          <a:ea typeface="Open Sans"/>
                          <a:cs typeface="Open Sans"/>
                          <a:sym typeface="Open Sans"/>
                        </a:rPr>
                        <a:t>Organ</a:t>
                      </a:r>
                      <a:endParaRPr sz="1000" b="1" dirty="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DSC</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b="1" dirty="0">
                          <a:solidFill>
                            <a:schemeClr val="dk1"/>
                          </a:solidFill>
                          <a:latin typeface="Open Sans"/>
                          <a:ea typeface="Open Sans"/>
                          <a:cs typeface="Open Sans"/>
                          <a:sym typeface="Open Sans"/>
                        </a:rPr>
                        <a:t>NSD</a:t>
                      </a:r>
                      <a:endParaRPr sz="1000" b="1" dirty="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Liver (large)</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rgbClr val="FF0000"/>
                          </a:solidFill>
                          <a:latin typeface="Open Sans"/>
                          <a:ea typeface="Open Sans"/>
                          <a:cs typeface="Open Sans"/>
                          <a:sym typeface="Open Sans"/>
                        </a:rPr>
                        <a:t>0.8847</a:t>
                      </a:r>
                      <a:endParaRPr sz="1000">
                        <a:solidFill>
                          <a:srgbClr val="FF0000"/>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0.7863</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Stomach (large)</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rgbClr val="FF0000"/>
                          </a:solidFill>
                          <a:latin typeface="Open Sans"/>
                          <a:ea typeface="Open Sans"/>
                          <a:cs typeface="Open Sans"/>
                          <a:sym typeface="Open Sans"/>
                        </a:rPr>
                        <a:t>0.7656</a:t>
                      </a:r>
                      <a:endParaRPr sz="1000">
                        <a:solidFill>
                          <a:srgbClr val="FF0000"/>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0.6509</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Spleen</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dirty="0">
                          <a:solidFill>
                            <a:srgbClr val="FF0000"/>
                          </a:solidFill>
                          <a:latin typeface="Open Sans"/>
                          <a:ea typeface="Open Sans"/>
                          <a:cs typeface="Open Sans"/>
                          <a:sym typeface="Open Sans"/>
                        </a:rPr>
                        <a:t>0.8099</a:t>
                      </a:r>
                      <a:endParaRPr sz="1000" dirty="0">
                        <a:solidFill>
                          <a:srgbClr val="FF0000"/>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0.7116</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Right Kidney</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0.7341</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0.6113</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Left Kidney</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0.7133</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0.5884</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Aorta</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0.8472</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0.7761</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Pancreas (irregular)</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0.5434</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0.5022</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Inferior Vena Cava*</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0.6108</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0.5199</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Gallbladder</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0.4702</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0.4536</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Esophagus*</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0.5499</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0.5328</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410738">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Left Adrenal Gland* (irregular)</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0.2190</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0.2757</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1"/>
                  </a:ext>
                </a:extLst>
              </a:tr>
              <a:tr h="294002">
                <a:tc>
                  <a:txBody>
                    <a:bodyPr/>
                    <a:lstStyle/>
                    <a:p>
                      <a:pPr marL="0" lvl="0" indent="0" algn="ctr" rtl="0">
                        <a:lnSpc>
                          <a:spcPct val="80000"/>
                        </a:lnSpc>
                        <a:spcBef>
                          <a:spcPts val="0"/>
                        </a:spcBef>
                        <a:spcAft>
                          <a:spcPts val="0"/>
                        </a:spcAft>
                        <a:buNone/>
                      </a:pPr>
                      <a:r>
                        <a:rPr lang="en-US" sz="1000" b="1">
                          <a:solidFill>
                            <a:schemeClr val="dk1"/>
                          </a:solidFill>
                          <a:latin typeface="Open Sans"/>
                          <a:ea typeface="Open Sans"/>
                          <a:cs typeface="Open Sans"/>
                          <a:sym typeface="Open Sans"/>
                        </a:rPr>
                        <a:t>Right Adrenal Gland*</a:t>
                      </a:r>
                      <a:endParaRPr sz="1000" b="1">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latin typeface="Open Sans"/>
                          <a:ea typeface="Open Sans"/>
                          <a:cs typeface="Open Sans"/>
                          <a:sym typeface="Open Sans"/>
                        </a:rPr>
                        <a:t>0.1951</a:t>
                      </a:r>
                      <a:endParaRPr sz="100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dirty="0">
                          <a:solidFill>
                            <a:schemeClr val="dk1"/>
                          </a:solidFill>
                          <a:latin typeface="Open Sans"/>
                          <a:ea typeface="Open Sans"/>
                          <a:cs typeface="Open Sans"/>
                          <a:sym typeface="Open Sans"/>
                        </a:rPr>
                        <a:t>0.2598</a:t>
                      </a:r>
                      <a:endParaRPr sz="1000" dirty="0">
                        <a:solidFill>
                          <a:schemeClr val="dk1"/>
                        </a:solidFill>
                        <a:latin typeface="Open Sans"/>
                        <a:ea typeface="Open Sans"/>
                        <a:cs typeface="Open Sans"/>
                        <a:sym typeface="Open Sans"/>
                      </a:endParaRPr>
                    </a:p>
                  </a:txBody>
                  <a:tcPr marL="87538" marR="87538" marT="87538" marB="8753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
        <p:nvSpPr>
          <p:cNvPr id="318" name="Google Shape;318;g3a145d5a476_5_208"/>
          <p:cNvSpPr txBox="1"/>
          <p:nvPr/>
        </p:nvSpPr>
        <p:spPr>
          <a:xfrm>
            <a:off x="4794550" y="4509219"/>
            <a:ext cx="40641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800" dirty="0">
                <a:solidFill>
                  <a:schemeClr val="accent2"/>
                </a:solidFill>
                <a:latin typeface="Open Sans"/>
                <a:ea typeface="Open Sans"/>
                <a:cs typeface="Open Sans"/>
                <a:sym typeface="Open Sans"/>
              </a:rPr>
              <a:t>Table is arranged by descending number of pixels  in training set</a:t>
            </a:r>
            <a:endParaRPr sz="800" dirty="0">
              <a:solidFill>
                <a:schemeClr val="accent2"/>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39dcdded7dd_1_132"/>
          <p:cNvSpPr/>
          <p:nvPr/>
        </p:nvSpPr>
        <p:spPr>
          <a:xfrm>
            <a:off x="4625650" y="535000"/>
            <a:ext cx="3803700" cy="4073400"/>
          </a:xfrm>
          <a:prstGeom prst="roundRect">
            <a:avLst>
              <a:gd name="adj" fmla="val 969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326" name="Google Shape;326;g39dcdded7dd_1_132"/>
          <p:cNvSpPr/>
          <p:nvPr/>
        </p:nvSpPr>
        <p:spPr>
          <a:xfrm>
            <a:off x="5254300" y="1135126"/>
            <a:ext cx="2546400" cy="8406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chemeClr val="dk1"/>
                </a:solidFill>
                <a:latin typeface="Open Sans"/>
                <a:ea typeface="Open Sans"/>
                <a:cs typeface="Open Sans"/>
                <a:sym typeface="Open Sans"/>
              </a:rPr>
              <a:t>03</a:t>
            </a:r>
            <a:endParaRPr sz="6000" b="0" i="0" u="none" strike="noStrike" cap="none">
              <a:solidFill>
                <a:schemeClr val="dk1"/>
              </a:solidFill>
              <a:latin typeface="Open Sans"/>
              <a:ea typeface="Open Sans"/>
              <a:cs typeface="Open Sans"/>
              <a:sym typeface="Open Sans"/>
            </a:endParaRPr>
          </a:p>
        </p:txBody>
      </p:sp>
      <p:sp>
        <p:nvSpPr>
          <p:cNvPr id="327" name="Google Shape;327;g39dcdded7dd_1_132"/>
          <p:cNvSpPr txBox="1">
            <a:spLocks noGrp="1"/>
          </p:cNvSpPr>
          <p:nvPr>
            <p:ph type="title"/>
          </p:nvPr>
        </p:nvSpPr>
        <p:spPr>
          <a:xfrm>
            <a:off x="5254300" y="2380101"/>
            <a:ext cx="2531100" cy="841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US"/>
              <a:t>Model 2: Total Segmentator</a:t>
            </a:r>
            <a:endParaRPr/>
          </a:p>
        </p:txBody>
      </p:sp>
      <p:grpSp>
        <p:nvGrpSpPr>
          <p:cNvPr id="328" name="Google Shape;328;g39dcdded7dd_1_132"/>
          <p:cNvGrpSpPr/>
          <p:nvPr/>
        </p:nvGrpSpPr>
        <p:grpSpPr>
          <a:xfrm>
            <a:off x="715097" y="535000"/>
            <a:ext cx="3383883" cy="4073400"/>
            <a:chOff x="715100" y="535000"/>
            <a:chExt cx="3893100" cy="4073400"/>
          </a:xfrm>
        </p:grpSpPr>
        <p:sp>
          <p:nvSpPr>
            <p:cNvPr id="329" name="Google Shape;329;g39dcdded7dd_1_132"/>
            <p:cNvSpPr/>
            <p:nvPr/>
          </p:nvSpPr>
          <p:spPr>
            <a:xfrm>
              <a:off x="715100" y="535000"/>
              <a:ext cx="3893100" cy="4073400"/>
            </a:xfrm>
            <a:prstGeom prst="roundRect">
              <a:avLst>
                <a:gd name="adj" fmla="val 1103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330" name="Google Shape;330;g39dcdded7dd_1_132"/>
            <p:cNvSpPr/>
            <p:nvPr/>
          </p:nvSpPr>
          <p:spPr>
            <a:xfrm>
              <a:off x="908299" y="710950"/>
              <a:ext cx="3506700" cy="3721500"/>
            </a:xfrm>
            <a:prstGeom prst="roundRect">
              <a:avLst>
                <a:gd name="adj" fmla="val 8465"/>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grpSp>
      <p:sp>
        <p:nvSpPr>
          <p:cNvPr id="331" name="Google Shape;331;g39dcdded7dd_1_132"/>
          <p:cNvSpPr/>
          <p:nvPr/>
        </p:nvSpPr>
        <p:spPr>
          <a:xfrm rot="-5400000">
            <a:off x="6465550" y="1041164"/>
            <a:ext cx="108600" cy="2531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332" name="Google Shape;332;g39dcdded7dd_1_132"/>
          <p:cNvGrpSpPr/>
          <p:nvPr/>
        </p:nvGrpSpPr>
        <p:grpSpPr>
          <a:xfrm>
            <a:off x="1385901" y="1481619"/>
            <a:ext cx="2042267" cy="2180168"/>
            <a:chOff x="3930951" y="3175210"/>
            <a:chExt cx="223291" cy="238369"/>
          </a:xfrm>
        </p:grpSpPr>
        <p:sp>
          <p:nvSpPr>
            <p:cNvPr id="333" name="Google Shape;333;g39dcdded7dd_1_132"/>
            <p:cNvSpPr/>
            <p:nvPr/>
          </p:nvSpPr>
          <p:spPr>
            <a:xfrm>
              <a:off x="4013551" y="3293105"/>
              <a:ext cx="103286" cy="83033"/>
            </a:xfrm>
            <a:custGeom>
              <a:avLst/>
              <a:gdLst/>
              <a:ahLst/>
              <a:cxnLst/>
              <a:rect l="l" t="t" r="r" b="b"/>
              <a:pathLst>
                <a:path w="5727" h="4604" extrusionOk="0">
                  <a:moveTo>
                    <a:pt x="4821" y="0"/>
                  </a:moveTo>
                  <a:cubicBezTo>
                    <a:pt x="3262" y="0"/>
                    <a:pt x="1" y="1122"/>
                    <a:pt x="274" y="4590"/>
                  </a:cubicBezTo>
                  <a:cubicBezTo>
                    <a:pt x="274" y="4590"/>
                    <a:pt x="370" y="4604"/>
                    <a:pt x="528" y="4604"/>
                  </a:cubicBezTo>
                  <a:cubicBezTo>
                    <a:pt x="1081" y="4604"/>
                    <a:pt x="2392" y="4431"/>
                    <a:pt x="2993" y="2873"/>
                  </a:cubicBezTo>
                  <a:cubicBezTo>
                    <a:pt x="3823" y="869"/>
                    <a:pt x="5168" y="1241"/>
                    <a:pt x="5597" y="383"/>
                  </a:cubicBezTo>
                  <a:cubicBezTo>
                    <a:pt x="5727" y="147"/>
                    <a:pt x="5385" y="0"/>
                    <a:pt x="4821" y="0"/>
                  </a:cubicBezTo>
                  <a:close/>
                </a:path>
              </a:pathLst>
            </a:custGeom>
            <a:solidFill>
              <a:srgbClr val="80801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g39dcdded7dd_1_132"/>
            <p:cNvSpPr/>
            <p:nvPr/>
          </p:nvSpPr>
          <p:spPr>
            <a:xfrm>
              <a:off x="4058747" y="3327876"/>
              <a:ext cx="21173" cy="19911"/>
            </a:xfrm>
            <a:custGeom>
              <a:avLst/>
              <a:gdLst/>
              <a:ahLst/>
              <a:cxnLst/>
              <a:rect l="l" t="t" r="r" b="b"/>
              <a:pathLst>
                <a:path w="1174" h="1104" extrusionOk="0">
                  <a:moveTo>
                    <a:pt x="229" y="0"/>
                  </a:moveTo>
                  <a:lnTo>
                    <a:pt x="0" y="315"/>
                  </a:lnTo>
                  <a:cubicBezTo>
                    <a:pt x="64" y="267"/>
                    <a:pt x="134" y="246"/>
                    <a:pt x="206" y="246"/>
                  </a:cubicBezTo>
                  <a:cubicBezTo>
                    <a:pt x="520" y="246"/>
                    <a:pt x="870" y="652"/>
                    <a:pt x="916" y="1002"/>
                  </a:cubicBezTo>
                  <a:cubicBezTo>
                    <a:pt x="967" y="1078"/>
                    <a:pt x="1023" y="1103"/>
                    <a:pt x="1070" y="1103"/>
                  </a:cubicBezTo>
                  <a:cubicBezTo>
                    <a:pt x="1129" y="1103"/>
                    <a:pt x="1174" y="1062"/>
                    <a:pt x="1174" y="1031"/>
                  </a:cubicBezTo>
                  <a:cubicBezTo>
                    <a:pt x="1174" y="945"/>
                    <a:pt x="973" y="57"/>
                    <a:pt x="229" y="0"/>
                  </a:cubicBezTo>
                  <a:close/>
                </a:path>
              </a:pathLst>
            </a:custGeom>
            <a:solidFill>
              <a:srgbClr val="80801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g39dcdded7dd_1_132"/>
            <p:cNvSpPr/>
            <p:nvPr/>
          </p:nvSpPr>
          <p:spPr>
            <a:xfrm>
              <a:off x="4068558" y="3175210"/>
              <a:ext cx="85684" cy="127219"/>
            </a:xfrm>
            <a:custGeom>
              <a:avLst/>
              <a:gdLst/>
              <a:ahLst/>
              <a:cxnLst/>
              <a:rect l="l" t="t" r="r" b="b"/>
              <a:pathLst>
                <a:path w="4751" h="7054" extrusionOk="0">
                  <a:moveTo>
                    <a:pt x="3115" y="1"/>
                  </a:moveTo>
                  <a:cubicBezTo>
                    <a:pt x="2881" y="1"/>
                    <a:pt x="2613" y="59"/>
                    <a:pt x="2261" y="194"/>
                  </a:cubicBezTo>
                  <a:cubicBezTo>
                    <a:pt x="1546" y="480"/>
                    <a:pt x="143" y="1225"/>
                    <a:pt x="57" y="2026"/>
                  </a:cubicBezTo>
                  <a:cubicBezTo>
                    <a:pt x="0" y="2341"/>
                    <a:pt x="115" y="3257"/>
                    <a:pt x="286" y="4201"/>
                  </a:cubicBezTo>
                  <a:cubicBezTo>
                    <a:pt x="544" y="5460"/>
                    <a:pt x="916" y="6777"/>
                    <a:pt x="1145" y="6948"/>
                  </a:cubicBezTo>
                  <a:cubicBezTo>
                    <a:pt x="1258" y="7022"/>
                    <a:pt x="1382" y="7053"/>
                    <a:pt x="1510" y="7053"/>
                  </a:cubicBezTo>
                  <a:cubicBezTo>
                    <a:pt x="1933" y="7053"/>
                    <a:pt x="2398" y="6712"/>
                    <a:pt x="2662" y="6405"/>
                  </a:cubicBezTo>
                  <a:cubicBezTo>
                    <a:pt x="3206" y="5804"/>
                    <a:pt x="3807" y="4916"/>
                    <a:pt x="4236" y="3915"/>
                  </a:cubicBezTo>
                  <a:cubicBezTo>
                    <a:pt x="4408" y="3514"/>
                    <a:pt x="4551" y="3113"/>
                    <a:pt x="4636" y="2684"/>
                  </a:cubicBezTo>
                  <a:cubicBezTo>
                    <a:pt x="4694" y="2341"/>
                    <a:pt x="4751" y="1969"/>
                    <a:pt x="4751" y="1654"/>
                  </a:cubicBezTo>
                  <a:lnTo>
                    <a:pt x="4751" y="1511"/>
                  </a:lnTo>
                  <a:cubicBezTo>
                    <a:pt x="4694" y="681"/>
                    <a:pt x="4322" y="395"/>
                    <a:pt x="3835" y="194"/>
                  </a:cubicBezTo>
                  <a:cubicBezTo>
                    <a:pt x="3594" y="74"/>
                    <a:pt x="3376" y="1"/>
                    <a:pt x="3115" y="1"/>
                  </a:cubicBezTo>
                  <a:close/>
                </a:path>
              </a:pathLst>
            </a:custGeom>
            <a:solidFill>
              <a:srgbClr val="99564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g39dcdded7dd_1_132"/>
            <p:cNvSpPr/>
            <p:nvPr/>
          </p:nvSpPr>
          <p:spPr>
            <a:xfrm>
              <a:off x="4073716" y="3215771"/>
              <a:ext cx="71238" cy="87380"/>
            </a:xfrm>
            <a:custGeom>
              <a:avLst/>
              <a:gdLst/>
              <a:ahLst/>
              <a:cxnLst/>
              <a:rect l="l" t="t" r="r" b="b"/>
              <a:pathLst>
                <a:path w="3950" h="4845" extrusionOk="0">
                  <a:moveTo>
                    <a:pt x="3950" y="1694"/>
                  </a:moveTo>
                  <a:lnTo>
                    <a:pt x="3950" y="1694"/>
                  </a:lnTo>
                  <a:cubicBezTo>
                    <a:pt x="3905" y="1800"/>
                    <a:pt x="3857" y="1905"/>
                    <a:pt x="3808" y="2008"/>
                  </a:cubicBezTo>
                  <a:lnTo>
                    <a:pt x="3808" y="2008"/>
                  </a:lnTo>
                  <a:cubicBezTo>
                    <a:pt x="3859" y="1910"/>
                    <a:pt x="3906" y="1806"/>
                    <a:pt x="3950" y="1694"/>
                  </a:cubicBezTo>
                  <a:close/>
                  <a:moveTo>
                    <a:pt x="1004" y="0"/>
                  </a:moveTo>
                  <a:cubicBezTo>
                    <a:pt x="403" y="0"/>
                    <a:pt x="110" y="886"/>
                    <a:pt x="0" y="1981"/>
                  </a:cubicBezTo>
                  <a:cubicBezTo>
                    <a:pt x="258" y="3240"/>
                    <a:pt x="630" y="4556"/>
                    <a:pt x="859" y="4728"/>
                  </a:cubicBezTo>
                  <a:cubicBezTo>
                    <a:pt x="975" y="4810"/>
                    <a:pt x="1104" y="4845"/>
                    <a:pt x="1236" y="4845"/>
                  </a:cubicBezTo>
                  <a:cubicBezTo>
                    <a:pt x="1655" y="4845"/>
                    <a:pt x="2115" y="4496"/>
                    <a:pt x="2376" y="4213"/>
                  </a:cubicBezTo>
                  <a:cubicBezTo>
                    <a:pt x="2862" y="3650"/>
                    <a:pt x="3394" y="2880"/>
                    <a:pt x="3808" y="2008"/>
                  </a:cubicBezTo>
                  <a:lnTo>
                    <a:pt x="3808" y="2008"/>
                  </a:lnTo>
                  <a:cubicBezTo>
                    <a:pt x="3628" y="2358"/>
                    <a:pt x="3414" y="2621"/>
                    <a:pt x="3234" y="2868"/>
                  </a:cubicBezTo>
                  <a:cubicBezTo>
                    <a:pt x="2748" y="3583"/>
                    <a:pt x="2204" y="3955"/>
                    <a:pt x="2004" y="3984"/>
                  </a:cubicBezTo>
                  <a:cubicBezTo>
                    <a:pt x="1861" y="3984"/>
                    <a:pt x="1775" y="3984"/>
                    <a:pt x="1918" y="2439"/>
                  </a:cubicBezTo>
                  <a:cubicBezTo>
                    <a:pt x="2061" y="922"/>
                    <a:pt x="1517" y="92"/>
                    <a:pt x="1088" y="6"/>
                  </a:cubicBezTo>
                  <a:cubicBezTo>
                    <a:pt x="1059" y="2"/>
                    <a:pt x="1031" y="0"/>
                    <a:pt x="1004" y="0"/>
                  </a:cubicBezTo>
                  <a:close/>
                </a:path>
              </a:pathLst>
            </a:custGeom>
            <a:solidFill>
              <a:srgbClr val="7D453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g39dcdded7dd_1_132"/>
            <p:cNvSpPr/>
            <p:nvPr/>
          </p:nvSpPr>
          <p:spPr>
            <a:xfrm>
              <a:off x="4069063" y="3205184"/>
              <a:ext cx="39767" cy="101194"/>
            </a:xfrm>
            <a:custGeom>
              <a:avLst/>
              <a:gdLst/>
              <a:ahLst/>
              <a:cxnLst/>
              <a:rect l="l" t="t" r="r" b="b"/>
              <a:pathLst>
                <a:path w="2205" h="5611" extrusionOk="0">
                  <a:moveTo>
                    <a:pt x="332" y="0"/>
                  </a:moveTo>
                  <a:cubicBezTo>
                    <a:pt x="209" y="0"/>
                    <a:pt x="96" y="33"/>
                    <a:pt x="1" y="106"/>
                  </a:cubicBezTo>
                  <a:cubicBezTo>
                    <a:pt x="1" y="106"/>
                    <a:pt x="444" y="5611"/>
                    <a:pt x="1232" y="5611"/>
                  </a:cubicBezTo>
                  <a:cubicBezTo>
                    <a:pt x="1269" y="5611"/>
                    <a:pt x="1307" y="5599"/>
                    <a:pt x="1346" y="5573"/>
                  </a:cubicBezTo>
                  <a:cubicBezTo>
                    <a:pt x="2204" y="5029"/>
                    <a:pt x="2176" y="2081"/>
                    <a:pt x="1804" y="1251"/>
                  </a:cubicBezTo>
                  <a:cubicBezTo>
                    <a:pt x="1505" y="561"/>
                    <a:pt x="836" y="0"/>
                    <a:pt x="332" y="0"/>
                  </a:cubicBezTo>
                  <a:close/>
                </a:path>
              </a:pathLst>
            </a:custGeom>
            <a:solidFill>
              <a:srgbClr val="C9A69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g39dcdded7dd_1_132"/>
            <p:cNvSpPr/>
            <p:nvPr/>
          </p:nvSpPr>
          <p:spPr>
            <a:xfrm>
              <a:off x="3935910" y="3205292"/>
              <a:ext cx="165688" cy="208286"/>
            </a:xfrm>
            <a:custGeom>
              <a:avLst/>
              <a:gdLst/>
              <a:ahLst/>
              <a:cxnLst/>
              <a:rect l="l" t="t" r="r" b="b"/>
              <a:pathLst>
                <a:path w="9187" h="11549" extrusionOk="0">
                  <a:moveTo>
                    <a:pt x="7305" y="0"/>
                  </a:moveTo>
                  <a:cubicBezTo>
                    <a:pt x="7159" y="0"/>
                    <a:pt x="6992" y="30"/>
                    <a:pt x="6754" y="72"/>
                  </a:cubicBezTo>
                  <a:cubicBezTo>
                    <a:pt x="6382" y="129"/>
                    <a:pt x="2976" y="1159"/>
                    <a:pt x="1088" y="2962"/>
                  </a:cubicBezTo>
                  <a:lnTo>
                    <a:pt x="1002" y="3020"/>
                  </a:lnTo>
                  <a:lnTo>
                    <a:pt x="973" y="3077"/>
                  </a:lnTo>
                  <a:cubicBezTo>
                    <a:pt x="429" y="3592"/>
                    <a:pt x="143" y="4136"/>
                    <a:pt x="86" y="4937"/>
                  </a:cubicBezTo>
                  <a:cubicBezTo>
                    <a:pt x="0" y="5424"/>
                    <a:pt x="29" y="5996"/>
                    <a:pt x="143" y="6740"/>
                  </a:cubicBezTo>
                  <a:cubicBezTo>
                    <a:pt x="286" y="7856"/>
                    <a:pt x="887" y="11548"/>
                    <a:pt x="2290" y="11548"/>
                  </a:cubicBezTo>
                  <a:cubicBezTo>
                    <a:pt x="2862" y="11548"/>
                    <a:pt x="4293" y="10861"/>
                    <a:pt x="5037" y="9545"/>
                  </a:cubicBezTo>
                  <a:cubicBezTo>
                    <a:pt x="5953" y="7885"/>
                    <a:pt x="6296" y="7971"/>
                    <a:pt x="7269" y="6998"/>
                  </a:cubicBezTo>
                  <a:cubicBezTo>
                    <a:pt x="8128" y="6110"/>
                    <a:pt x="8443" y="6225"/>
                    <a:pt x="8815" y="5395"/>
                  </a:cubicBezTo>
                  <a:cubicBezTo>
                    <a:pt x="8986" y="4994"/>
                    <a:pt x="9130" y="4250"/>
                    <a:pt x="9158" y="3449"/>
                  </a:cubicBezTo>
                  <a:lnTo>
                    <a:pt x="9158" y="3420"/>
                  </a:lnTo>
                  <a:cubicBezTo>
                    <a:pt x="9187" y="2590"/>
                    <a:pt x="9130" y="1732"/>
                    <a:pt x="8901" y="1159"/>
                  </a:cubicBezTo>
                  <a:cubicBezTo>
                    <a:pt x="8901" y="1159"/>
                    <a:pt x="8872" y="1131"/>
                    <a:pt x="8815" y="1016"/>
                  </a:cubicBezTo>
                  <a:cubicBezTo>
                    <a:pt x="8700" y="873"/>
                    <a:pt x="8471" y="644"/>
                    <a:pt x="8157" y="387"/>
                  </a:cubicBezTo>
                  <a:cubicBezTo>
                    <a:pt x="7755" y="94"/>
                    <a:pt x="7563" y="0"/>
                    <a:pt x="7305" y="0"/>
                  </a:cubicBezTo>
                  <a:close/>
                </a:path>
              </a:pathLst>
            </a:custGeom>
            <a:solidFill>
              <a:srgbClr val="99564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g39dcdded7dd_1_132"/>
            <p:cNvSpPr/>
            <p:nvPr/>
          </p:nvSpPr>
          <p:spPr>
            <a:xfrm>
              <a:off x="3935910" y="3223093"/>
              <a:ext cx="171892" cy="190486"/>
            </a:xfrm>
            <a:custGeom>
              <a:avLst/>
              <a:gdLst/>
              <a:ahLst/>
              <a:cxnLst/>
              <a:rect l="l" t="t" r="r" b="b"/>
              <a:pathLst>
                <a:path w="9531" h="10562" extrusionOk="0">
                  <a:moveTo>
                    <a:pt x="8815" y="1"/>
                  </a:moveTo>
                  <a:lnTo>
                    <a:pt x="8815" y="1"/>
                  </a:lnTo>
                  <a:cubicBezTo>
                    <a:pt x="8843" y="258"/>
                    <a:pt x="9530" y="1432"/>
                    <a:pt x="8099" y="2977"/>
                  </a:cubicBezTo>
                  <a:cubicBezTo>
                    <a:pt x="6697" y="4522"/>
                    <a:pt x="5695" y="4608"/>
                    <a:pt x="4551" y="6325"/>
                  </a:cubicBezTo>
                  <a:cubicBezTo>
                    <a:pt x="3925" y="7264"/>
                    <a:pt x="3299" y="7621"/>
                    <a:pt x="2683" y="7621"/>
                  </a:cubicBezTo>
                  <a:cubicBezTo>
                    <a:pt x="2171" y="7621"/>
                    <a:pt x="1667" y="7376"/>
                    <a:pt x="1173" y="7012"/>
                  </a:cubicBezTo>
                  <a:cubicBezTo>
                    <a:pt x="401" y="6440"/>
                    <a:pt x="258" y="4179"/>
                    <a:pt x="258" y="4179"/>
                  </a:cubicBezTo>
                  <a:cubicBezTo>
                    <a:pt x="229" y="4036"/>
                    <a:pt x="143" y="3979"/>
                    <a:pt x="86" y="3950"/>
                  </a:cubicBezTo>
                  <a:lnTo>
                    <a:pt x="86" y="3950"/>
                  </a:lnTo>
                  <a:cubicBezTo>
                    <a:pt x="0" y="4437"/>
                    <a:pt x="29" y="5009"/>
                    <a:pt x="143" y="5753"/>
                  </a:cubicBezTo>
                  <a:cubicBezTo>
                    <a:pt x="286" y="6869"/>
                    <a:pt x="887" y="10561"/>
                    <a:pt x="2290" y="10561"/>
                  </a:cubicBezTo>
                  <a:cubicBezTo>
                    <a:pt x="2862" y="10561"/>
                    <a:pt x="4293" y="9874"/>
                    <a:pt x="5037" y="8558"/>
                  </a:cubicBezTo>
                  <a:cubicBezTo>
                    <a:pt x="5953" y="6898"/>
                    <a:pt x="6296" y="6984"/>
                    <a:pt x="7269" y="6011"/>
                  </a:cubicBezTo>
                  <a:cubicBezTo>
                    <a:pt x="8128" y="5123"/>
                    <a:pt x="8443" y="5238"/>
                    <a:pt x="8815" y="4408"/>
                  </a:cubicBezTo>
                  <a:cubicBezTo>
                    <a:pt x="8986" y="4007"/>
                    <a:pt x="9130" y="3263"/>
                    <a:pt x="9158" y="2462"/>
                  </a:cubicBezTo>
                  <a:lnTo>
                    <a:pt x="9158" y="2433"/>
                  </a:lnTo>
                  <a:cubicBezTo>
                    <a:pt x="9187" y="1603"/>
                    <a:pt x="9130" y="745"/>
                    <a:pt x="8901" y="144"/>
                  </a:cubicBezTo>
                  <a:cubicBezTo>
                    <a:pt x="8901" y="144"/>
                    <a:pt x="8872" y="115"/>
                    <a:pt x="8815" y="1"/>
                  </a:cubicBezTo>
                  <a:close/>
                </a:path>
              </a:pathLst>
            </a:custGeom>
            <a:solidFill>
              <a:srgbClr val="884A4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g39dcdded7dd_1_132"/>
            <p:cNvSpPr/>
            <p:nvPr/>
          </p:nvSpPr>
          <p:spPr>
            <a:xfrm>
              <a:off x="3944152" y="3209098"/>
              <a:ext cx="141972" cy="91365"/>
            </a:xfrm>
            <a:custGeom>
              <a:avLst/>
              <a:gdLst/>
              <a:ahLst/>
              <a:cxnLst/>
              <a:rect l="l" t="t" r="r" b="b"/>
              <a:pathLst>
                <a:path w="7872" h="5066" extrusionOk="0">
                  <a:moveTo>
                    <a:pt x="6746" y="1"/>
                  </a:moveTo>
                  <a:cubicBezTo>
                    <a:pt x="5542" y="1"/>
                    <a:pt x="3744" y="788"/>
                    <a:pt x="1918" y="1950"/>
                  </a:cubicBezTo>
                  <a:cubicBezTo>
                    <a:pt x="1" y="3181"/>
                    <a:pt x="87" y="4497"/>
                    <a:pt x="430" y="4869"/>
                  </a:cubicBezTo>
                  <a:cubicBezTo>
                    <a:pt x="549" y="4979"/>
                    <a:pt x="730" y="5066"/>
                    <a:pt x="968" y="5066"/>
                  </a:cubicBezTo>
                  <a:cubicBezTo>
                    <a:pt x="1473" y="5066"/>
                    <a:pt x="2234" y="4676"/>
                    <a:pt x="3206" y="3295"/>
                  </a:cubicBezTo>
                  <a:cubicBezTo>
                    <a:pt x="4637" y="1234"/>
                    <a:pt x="7070" y="1063"/>
                    <a:pt x="7556" y="519"/>
                  </a:cubicBezTo>
                  <a:cubicBezTo>
                    <a:pt x="7871" y="147"/>
                    <a:pt x="6870" y="4"/>
                    <a:pt x="6870" y="4"/>
                  </a:cubicBezTo>
                  <a:cubicBezTo>
                    <a:pt x="6829" y="2"/>
                    <a:pt x="6788" y="1"/>
                    <a:pt x="6746" y="1"/>
                  </a:cubicBezTo>
                  <a:close/>
                </a:path>
              </a:pathLst>
            </a:custGeom>
            <a:solidFill>
              <a:srgbClr val="A3655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g39dcdded7dd_1_132"/>
            <p:cNvSpPr/>
            <p:nvPr/>
          </p:nvSpPr>
          <p:spPr>
            <a:xfrm>
              <a:off x="4076295" y="3177987"/>
              <a:ext cx="65575" cy="33239"/>
            </a:xfrm>
            <a:custGeom>
              <a:avLst/>
              <a:gdLst/>
              <a:ahLst/>
              <a:cxnLst/>
              <a:rect l="l" t="t" r="r" b="b"/>
              <a:pathLst>
                <a:path w="3636" h="1843" extrusionOk="0">
                  <a:moveTo>
                    <a:pt x="2625" y="1"/>
                  </a:moveTo>
                  <a:cubicBezTo>
                    <a:pt x="2062" y="1"/>
                    <a:pt x="1179" y="395"/>
                    <a:pt x="630" y="813"/>
                  </a:cubicBezTo>
                  <a:cubicBezTo>
                    <a:pt x="0" y="1300"/>
                    <a:pt x="373" y="1185"/>
                    <a:pt x="1117" y="1643"/>
                  </a:cubicBezTo>
                  <a:cubicBezTo>
                    <a:pt x="1353" y="1787"/>
                    <a:pt x="1559" y="1842"/>
                    <a:pt x="1746" y="1842"/>
                  </a:cubicBezTo>
                  <a:cubicBezTo>
                    <a:pt x="2079" y="1842"/>
                    <a:pt x="2348" y="1665"/>
                    <a:pt x="2605" y="1500"/>
                  </a:cubicBezTo>
                  <a:cubicBezTo>
                    <a:pt x="3034" y="1242"/>
                    <a:pt x="3635" y="727"/>
                    <a:pt x="3492" y="441"/>
                  </a:cubicBezTo>
                  <a:cubicBezTo>
                    <a:pt x="3378" y="98"/>
                    <a:pt x="2777" y="12"/>
                    <a:pt x="2777" y="12"/>
                  </a:cubicBezTo>
                  <a:cubicBezTo>
                    <a:pt x="2729" y="4"/>
                    <a:pt x="2679" y="1"/>
                    <a:pt x="2625" y="1"/>
                  </a:cubicBezTo>
                  <a:close/>
                </a:path>
              </a:pathLst>
            </a:custGeom>
            <a:solidFill>
              <a:srgbClr val="A3655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g39dcdded7dd_1_132"/>
            <p:cNvSpPr/>
            <p:nvPr/>
          </p:nvSpPr>
          <p:spPr>
            <a:xfrm>
              <a:off x="3930951" y="3260768"/>
              <a:ext cx="170142" cy="152811"/>
            </a:xfrm>
            <a:custGeom>
              <a:avLst/>
              <a:gdLst/>
              <a:ahLst/>
              <a:cxnLst/>
              <a:rect l="l" t="t" r="r" b="b"/>
              <a:pathLst>
                <a:path w="9434" h="8473" extrusionOk="0">
                  <a:moveTo>
                    <a:pt x="1248" y="1"/>
                  </a:moveTo>
                  <a:cubicBezTo>
                    <a:pt x="1218" y="27"/>
                    <a:pt x="1177" y="68"/>
                    <a:pt x="1129" y="123"/>
                  </a:cubicBezTo>
                  <a:lnTo>
                    <a:pt x="1129" y="123"/>
                  </a:lnTo>
                  <a:cubicBezTo>
                    <a:pt x="1168" y="82"/>
                    <a:pt x="1207" y="42"/>
                    <a:pt x="1248" y="1"/>
                  </a:cubicBezTo>
                  <a:close/>
                  <a:moveTo>
                    <a:pt x="1129" y="123"/>
                  </a:moveTo>
                  <a:cubicBezTo>
                    <a:pt x="328" y="967"/>
                    <a:pt x="1" y="1806"/>
                    <a:pt x="246" y="3635"/>
                  </a:cubicBezTo>
                  <a:cubicBezTo>
                    <a:pt x="304" y="4093"/>
                    <a:pt x="361" y="4523"/>
                    <a:pt x="590" y="5925"/>
                  </a:cubicBezTo>
                  <a:cubicBezTo>
                    <a:pt x="816" y="7227"/>
                    <a:pt x="1546" y="8473"/>
                    <a:pt x="2531" y="8473"/>
                  </a:cubicBezTo>
                  <a:cubicBezTo>
                    <a:pt x="2542" y="8473"/>
                    <a:pt x="2553" y="8472"/>
                    <a:pt x="2565" y="8472"/>
                  </a:cubicBezTo>
                  <a:cubicBezTo>
                    <a:pt x="3137" y="8443"/>
                    <a:pt x="4568" y="7785"/>
                    <a:pt x="5312" y="6469"/>
                  </a:cubicBezTo>
                  <a:cubicBezTo>
                    <a:pt x="6228" y="4809"/>
                    <a:pt x="6571" y="4895"/>
                    <a:pt x="7544" y="3922"/>
                  </a:cubicBezTo>
                  <a:cubicBezTo>
                    <a:pt x="8403" y="3034"/>
                    <a:pt x="8718" y="3149"/>
                    <a:pt x="9090" y="2319"/>
                  </a:cubicBezTo>
                  <a:cubicBezTo>
                    <a:pt x="9261" y="1918"/>
                    <a:pt x="9405" y="1174"/>
                    <a:pt x="9433" y="373"/>
                  </a:cubicBezTo>
                  <a:lnTo>
                    <a:pt x="9433" y="373"/>
                  </a:lnTo>
                  <a:cubicBezTo>
                    <a:pt x="9405" y="659"/>
                    <a:pt x="9176" y="2204"/>
                    <a:pt x="8260" y="2662"/>
                  </a:cubicBezTo>
                  <a:cubicBezTo>
                    <a:pt x="7230" y="3177"/>
                    <a:pt x="5369" y="4866"/>
                    <a:pt x="4997" y="5639"/>
                  </a:cubicBezTo>
                  <a:cubicBezTo>
                    <a:pt x="4730" y="6320"/>
                    <a:pt x="3656" y="7249"/>
                    <a:pt x="2672" y="7249"/>
                  </a:cubicBezTo>
                  <a:cubicBezTo>
                    <a:pt x="2498" y="7249"/>
                    <a:pt x="2327" y="7220"/>
                    <a:pt x="2164" y="7156"/>
                  </a:cubicBezTo>
                  <a:cubicBezTo>
                    <a:pt x="1076" y="6726"/>
                    <a:pt x="733" y="5181"/>
                    <a:pt x="418" y="3063"/>
                  </a:cubicBezTo>
                  <a:cubicBezTo>
                    <a:pt x="195" y="1472"/>
                    <a:pt x="812" y="486"/>
                    <a:pt x="1129" y="123"/>
                  </a:cubicBezTo>
                  <a:close/>
                </a:path>
              </a:pathLst>
            </a:custGeom>
            <a:solidFill>
              <a:srgbClr val="7D453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3" name="Google Shape;343;g39dcdded7dd_1_1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7"/>
        <p:cNvGrpSpPr/>
        <p:nvPr/>
      </p:nvGrpSpPr>
      <p:grpSpPr>
        <a:xfrm>
          <a:off x="0" y="0"/>
          <a:ext cx="0" cy="0"/>
          <a:chOff x="0" y="0"/>
          <a:chExt cx="0" cy="0"/>
        </a:xfrm>
      </p:grpSpPr>
      <p:sp>
        <p:nvSpPr>
          <p:cNvPr id="348" name="Google Shape;348;g39dcdded7dd_1_153"/>
          <p:cNvSpPr/>
          <p:nvPr/>
        </p:nvSpPr>
        <p:spPr>
          <a:xfrm>
            <a:off x="480300" y="1122100"/>
            <a:ext cx="8183400" cy="35514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sp>
        <p:nvSpPr>
          <p:cNvPr id="349" name="Google Shape;349;g39dcdded7dd_1_15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000"/>
              <a:buNone/>
            </a:pPr>
            <a:r>
              <a:rPr lang="en-US"/>
              <a:t>Total Segmentator (nnU-Net)</a:t>
            </a:r>
            <a:endParaRPr/>
          </a:p>
        </p:txBody>
      </p:sp>
      <p:sp>
        <p:nvSpPr>
          <p:cNvPr id="350" name="Google Shape;350;g39dcdded7dd_1_15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14</a:t>
            </a:fld>
            <a:endParaRPr/>
          </a:p>
        </p:txBody>
      </p:sp>
      <p:graphicFrame>
        <p:nvGraphicFramePr>
          <p:cNvPr id="351" name="Google Shape;351;g39dcdded7dd_1_153"/>
          <p:cNvGraphicFramePr/>
          <p:nvPr/>
        </p:nvGraphicFramePr>
        <p:xfrm>
          <a:off x="787562" y="1258450"/>
          <a:ext cx="5065000" cy="3360360"/>
        </p:xfrm>
        <a:graphic>
          <a:graphicData uri="http://schemas.openxmlformats.org/drawingml/2006/table">
            <a:tbl>
              <a:tblPr>
                <a:noFill/>
                <a:tableStyleId>{2ED0191E-08E3-481A-83CA-989CE56C45E3}</a:tableStyleId>
              </a:tblPr>
              <a:tblGrid>
                <a:gridCol w="2702400">
                  <a:extLst>
                    <a:ext uri="{9D8B030D-6E8A-4147-A177-3AD203B41FA5}">
                      <a16:colId xmlns:a16="http://schemas.microsoft.com/office/drawing/2014/main" val="20000"/>
                    </a:ext>
                  </a:extLst>
                </a:gridCol>
                <a:gridCol w="2362600">
                  <a:extLst>
                    <a:ext uri="{9D8B030D-6E8A-4147-A177-3AD203B41FA5}">
                      <a16:colId xmlns:a16="http://schemas.microsoft.com/office/drawing/2014/main" val="20001"/>
                    </a:ext>
                  </a:extLst>
                </a:gridCol>
              </a:tblGrid>
              <a:tr h="345150">
                <a:tc>
                  <a:txBody>
                    <a:bodyPr/>
                    <a:lstStyle/>
                    <a:p>
                      <a:pPr marL="0" lvl="0" indent="0" algn="ctr" rtl="0">
                        <a:spcBef>
                          <a:spcPts val="0"/>
                        </a:spcBef>
                        <a:spcAft>
                          <a:spcPts val="0"/>
                        </a:spcAft>
                        <a:buNone/>
                      </a:pPr>
                      <a:r>
                        <a:rPr lang="en-US" b="1">
                          <a:solidFill>
                            <a:schemeClr val="dk1"/>
                          </a:solidFill>
                          <a:latin typeface="Open Sans"/>
                          <a:ea typeface="Open Sans"/>
                          <a:cs typeface="Open Sans"/>
                          <a:sym typeface="Open Sans"/>
                        </a:rPr>
                        <a:t>nnU-Net</a:t>
                      </a:r>
                      <a:endParaRPr b="1">
                        <a:solidFill>
                          <a:schemeClr val="dk1"/>
                        </a:solidFill>
                        <a:latin typeface="Open Sans"/>
                        <a:ea typeface="Open Sans"/>
                        <a:cs typeface="Open Sans"/>
                        <a:sym typeface="Open Sans"/>
                      </a:endParaRPr>
                    </a:p>
                  </a:txBody>
                  <a:tcPr marL="91425" marR="91425" marT="91425" marB="91425"/>
                </a:tc>
                <a:tc>
                  <a:txBody>
                    <a:bodyPr/>
                    <a:lstStyle/>
                    <a:p>
                      <a:pPr marL="0" lvl="0" indent="0" algn="ctr" rtl="0">
                        <a:spcBef>
                          <a:spcPts val="0"/>
                        </a:spcBef>
                        <a:spcAft>
                          <a:spcPts val="0"/>
                        </a:spcAft>
                        <a:buNone/>
                      </a:pPr>
                      <a:r>
                        <a:rPr lang="en-US" b="1">
                          <a:solidFill>
                            <a:schemeClr val="dk1"/>
                          </a:solidFill>
                          <a:latin typeface="Open Sans"/>
                          <a:ea typeface="Open Sans"/>
                          <a:cs typeface="Open Sans"/>
                          <a:sym typeface="Open Sans"/>
                        </a:rPr>
                        <a:t>Total Segmentator</a:t>
                      </a:r>
                      <a:endParaRPr b="1">
                        <a:solidFill>
                          <a:schemeClr val="dk1"/>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0"/>
                  </a:ext>
                </a:extLst>
              </a:tr>
              <a:tr h="2582125">
                <a:tc>
                  <a:txBody>
                    <a:bodyPr/>
                    <a:lstStyle/>
                    <a:p>
                      <a:pPr marL="457200" marR="0" lvl="0" indent="-292100" algn="l" rtl="0">
                        <a:lnSpc>
                          <a:spcPct val="115000"/>
                        </a:lnSpc>
                        <a:spcBef>
                          <a:spcPts val="0"/>
                        </a:spcBef>
                        <a:spcAft>
                          <a:spcPts val="0"/>
                        </a:spcAft>
                        <a:buClr>
                          <a:schemeClr val="accent1"/>
                        </a:buClr>
                        <a:buSzPts val="1000"/>
                        <a:buFont typeface="Open Sans"/>
                        <a:buChar char="●"/>
                      </a:pPr>
                      <a:r>
                        <a:rPr lang="en-US" sz="1000">
                          <a:solidFill>
                            <a:schemeClr val="dk1"/>
                          </a:solidFill>
                          <a:latin typeface="Open Sans"/>
                          <a:ea typeface="Open Sans"/>
                          <a:cs typeface="Open Sans"/>
                          <a:sym typeface="Open Sans"/>
                        </a:rPr>
                        <a:t>U-Net variant for automated biomedical image segmentation</a:t>
                      </a:r>
                      <a:endParaRPr sz="1000">
                        <a:solidFill>
                          <a:schemeClr val="dk1"/>
                        </a:solidFill>
                        <a:latin typeface="Open Sans"/>
                        <a:ea typeface="Open Sans"/>
                        <a:cs typeface="Open Sans"/>
                        <a:sym typeface="Open Sans"/>
                      </a:endParaRPr>
                    </a:p>
                    <a:p>
                      <a:pPr marL="914400" marR="0" lvl="1" indent="-292100" algn="l" rtl="0">
                        <a:lnSpc>
                          <a:spcPct val="115000"/>
                        </a:lnSpc>
                        <a:spcBef>
                          <a:spcPts val="0"/>
                        </a:spcBef>
                        <a:spcAft>
                          <a:spcPts val="0"/>
                        </a:spcAft>
                        <a:buClr>
                          <a:schemeClr val="dk1"/>
                        </a:buClr>
                        <a:buSzPts val="1000"/>
                        <a:buFont typeface="Open Sans"/>
                        <a:buChar char="○"/>
                      </a:pPr>
                      <a:r>
                        <a:rPr lang="en-US" sz="1000">
                          <a:solidFill>
                            <a:schemeClr val="dk1"/>
                          </a:solidFill>
                          <a:latin typeface="Open Sans"/>
                          <a:ea typeface="Open Sans"/>
                          <a:cs typeface="Open Sans"/>
                          <a:sym typeface="Open Sans"/>
                        </a:rPr>
                        <a:t>Skip connections connect encoder to decoder to capture fine details</a:t>
                      </a:r>
                      <a:endParaRPr sz="1000">
                        <a:solidFill>
                          <a:schemeClr val="dk1"/>
                        </a:solidFill>
                        <a:latin typeface="Open Sans"/>
                        <a:ea typeface="Open Sans"/>
                        <a:cs typeface="Open Sans"/>
                        <a:sym typeface="Open Sans"/>
                      </a:endParaRPr>
                    </a:p>
                    <a:p>
                      <a:pPr marL="457200" marR="0" lvl="0" indent="-292100" algn="l" rtl="0">
                        <a:lnSpc>
                          <a:spcPct val="115000"/>
                        </a:lnSpc>
                        <a:spcBef>
                          <a:spcPts val="0"/>
                        </a:spcBef>
                        <a:spcAft>
                          <a:spcPts val="0"/>
                        </a:spcAft>
                        <a:buClr>
                          <a:schemeClr val="accent1"/>
                        </a:buClr>
                        <a:buSzPts val="1000"/>
                        <a:buFont typeface="Open Sans"/>
                        <a:buChar char="●"/>
                      </a:pPr>
                      <a:r>
                        <a:rPr lang="en-US" sz="1000">
                          <a:solidFill>
                            <a:schemeClr val="dk1"/>
                          </a:solidFill>
                          <a:latin typeface="Open Sans"/>
                          <a:ea typeface="Open Sans"/>
                          <a:cs typeface="Open Sans"/>
                          <a:sym typeface="Open Sans"/>
                        </a:rPr>
                        <a:t>Fully self-configuring framework:</a:t>
                      </a:r>
                      <a:endParaRPr sz="1000">
                        <a:solidFill>
                          <a:schemeClr val="dk1"/>
                        </a:solidFill>
                        <a:latin typeface="Open Sans"/>
                        <a:ea typeface="Open Sans"/>
                        <a:cs typeface="Open Sans"/>
                        <a:sym typeface="Open Sans"/>
                      </a:endParaRPr>
                    </a:p>
                    <a:p>
                      <a:pPr marL="914400" marR="0" lvl="1" indent="-292100" algn="l" rtl="0">
                        <a:lnSpc>
                          <a:spcPct val="115000"/>
                        </a:lnSpc>
                        <a:spcBef>
                          <a:spcPts val="0"/>
                        </a:spcBef>
                        <a:spcAft>
                          <a:spcPts val="0"/>
                        </a:spcAft>
                        <a:buClr>
                          <a:schemeClr val="dk1"/>
                        </a:buClr>
                        <a:buSzPts val="1000"/>
                        <a:buFont typeface="Open Sans"/>
                        <a:buChar char="○"/>
                      </a:pPr>
                      <a:r>
                        <a:rPr lang="en-US" sz="1000">
                          <a:solidFill>
                            <a:schemeClr val="dk1"/>
                          </a:solidFill>
                          <a:latin typeface="Open Sans"/>
                          <a:ea typeface="Open Sans"/>
                          <a:cs typeface="Open Sans"/>
                          <a:sym typeface="Open Sans"/>
                        </a:rPr>
                        <a:t>Preprocessing</a:t>
                      </a:r>
                      <a:endParaRPr sz="1000">
                        <a:solidFill>
                          <a:schemeClr val="dk1"/>
                        </a:solidFill>
                        <a:latin typeface="Open Sans"/>
                        <a:ea typeface="Open Sans"/>
                        <a:cs typeface="Open Sans"/>
                        <a:sym typeface="Open Sans"/>
                      </a:endParaRPr>
                    </a:p>
                    <a:p>
                      <a:pPr marL="914400" marR="0" lvl="1" indent="-292100" algn="l" rtl="0">
                        <a:lnSpc>
                          <a:spcPct val="115000"/>
                        </a:lnSpc>
                        <a:spcBef>
                          <a:spcPts val="0"/>
                        </a:spcBef>
                        <a:spcAft>
                          <a:spcPts val="0"/>
                        </a:spcAft>
                        <a:buClr>
                          <a:schemeClr val="dk1"/>
                        </a:buClr>
                        <a:buSzPts val="1000"/>
                        <a:buFont typeface="Open Sans"/>
                        <a:buChar char="○"/>
                      </a:pPr>
                      <a:r>
                        <a:rPr lang="en-US" sz="1000">
                          <a:solidFill>
                            <a:schemeClr val="dk1"/>
                          </a:solidFill>
                          <a:latin typeface="Open Sans"/>
                          <a:ea typeface="Open Sans"/>
                          <a:cs typeface="Open Sans"/>
                          <a:sym typeface="Open Sans"/>
                        </a:rPr>
                        <a:t>Architecture setup</a:t>
                      </a:r>
                      <a:endParaRPr sz="1000">
                        <a:solidFill>
                          <a:schemeClr val="dk1"/>
                        </a:solidFill>
                        <a:latin typeface="Open Sans"/>
                        <a:ea typeface="Open Sans"/>
                        <a:cs typeface="Open Sans"/>
                        <a:sym typeface="Open Sans"/>
                      </a:endParaRPr>
                    </a:p>
                    <a:p>
                      <a:pPr marL="914400" marR="0" lvl="1" indent="-292100" algn="l" rtl="0">
                        <a:lnSpc>
                          <a:spcPct val="115000"/>
                        </a:lnSpc>
                        <a:spcBef>
                          <a:spcPts val="0"/>
                        </a:spcBef>
                        <a:spcAft>
                          <a:spcPts val="0"/>
                        </a:spcAft>
                        <a:buClr>
                          <a:schemeClr val="dk1"/>
                        </a:buClr>
                        <a:buSzPts val="1000"/>
                        <a:buFont typeface="Open Sans"/>
                        <a:buChar char="○"/>
                      </a:pPr>
                      <a:r>
                        <a:rPr lang="en-US" sz="1000">
                          <a:solidFill>
                            <a:schemeClr val="dk1"/>
                          </a:solidFill>
                          <a:latin typeface="Open Sans"/>
                          <a:ea typeface="Open Sans"/>
                          <a:cs typeface="Open Sans"/>
                          <a:sym typeface="Open Sans"/>
                        </a:rPr>
                        <a:t>Training and postprocessing</a:t>
                      </a:r>
                      <a:endParaRPr sz="1000">
                        <a:solidFill>
                          <a:schemeClr val="dk1"/>
                        </a:solidFill>
                        <a:latin typeface="Open Sans"/>
                        <a:ea typeface="Open Sans"/>
                        <a:cs typeface="Open Sans"/>
                        <a:sym typeface="Open Sans"/>
                      </a:endParaRPr>
                    </a:p>
                    <a:p>
                      <a:pPr marL="457200" marR="0" lvl="0" indent="-292100" algn="l" rtl="0">
                        <a:lnSpc>
                          <a:spcPct val="115000"/>
                        </a:lnSpc>
                        <a:spcBef>
                          <a:spcPts val="0"/>
                        </a:spcBef>
                        <a:spcAft>
                          <a:spcPts val="0"/>
                        </a:spcAft>
                        <a:buClr>
                          <a:schemeClr val="accent1"/>
                        </a:buClr>
                        <a:buSzPts val="1000"/>
                        <a:buFont typeface="Open Sans"/>
                        <a:buChar char="●"/>
                      </a:pPr>
                      <a:r>
                        <a:rPr lang="en-US" sz="1000">
                          <a:solidFill>
                            <a:schemeClr val="dk1"/>
                          </a:solidFill>
                          <a:latin typeface="Open Sans"/>
                          <a:ea typeface="Open Sans"/>
                          <a:cs typeface="Open Sans"/>
                          <a:sym typeface="Open Sans"/>
                        </a:rPr>
                        <a:t>Achieves near-optimal performance with minimal manual tuning</a:t>
                      </a:r>
                      <a:endParaRPr sz="1000">
                        <a:solidFill>
                          <a:schemeClr val="dk1"/>
                        </a:solidFill>
                        <a:latin typeface="Open Sans"/>
                        <a:ea typeface="Open Sans"/>
                        <a:cs typeface="Open Sans"/>
                        <a:sym typeface="Open Sans"/>
                      </a:endParaRPr>
                    </a:p>
                    <a:p>
                      <a:pPr marL="457200" marR="0" lvl="0" indent="-292100" algn="l" rtl="0">
                        <a:lnSpc>
                          <a:spcPct val="115000"/>
                        </a:lnSpc>
                        <a:spcBef>
                          <a:spcPts val="0"/>
                        </a:spcBef>
                        <a:spcAft>
                          <a:spcPts val="0"/>
                        </a:spcAft>
                        <a:buClr>
                          <a:schemeClr val="accent1"/>
                        </a:buClr>
                        <a:buSzPts val="1000"/>
                        <a:buFont typeface="Open Sans"/>
                        <a:buChar char="●"/>
                      </a:pPr>
                      <a:r>
                        <a:rPr lang="en-US" sz="1000">
                          <a:solidFill>
                            <a:schemeClr val="dk1"/>
                          </a:solidFill>
                          <a:latin typeface="Open Sans"/>
                          <a:ea typeface="Open Sans"/>
                          <a:cs typeface="Open Sans"/>
                          <a:sym typeface="Open Sans"/>
                        </a:rPr>
                        <a:t>Backbone of TotalSegmentator’s segmentation accuracy</a:t>
                      </a:r>
                      <a:endParaRPr sz="1000">
                        <a:solidFill>
                          <a:schemeClr val="dk1"/>
                        </a:solidFill>
                        <a:latin typeface="Open Sans"/>
                        <a:ea typeface="Open Sans"/>
                        <a:cs typeface="Open Sans"/>
                        <a:sym typeface="Open Sans"/>
                      </a:endParaRPr>
                    </a:p>
                    <a:p>
                      <a:pPr marL="0" lvl="0" indent="0" algn="l" rtl="0">
                        <a:spcBef>
                          <a:spcPts val="0"/>
                        </a:spcBef>
                        <a:spcAft>
                          <a:spcPts val="0"/>
                        </a:spcAft>
                        <a:buNone/>
                      </a:pPr>
                      <a:endParaRPr sz="1000">
                        <a:solidFill>
                          <a:schemeClr val="dk1"/>
                        </a:solidFill>
                        <a:latin typeface="Open Sans"/>
                        <a:ea typeface="Open Sans"/>
                        <a:cs typeface="Open Sans"/>
                        <a:sym typeface="Open Sans"/>
                      </a:endParaRPr>
                    </a:p>
                  </a:txBody>
                  <a:tcPr marL="91425" marR="91425" marT="91425" marB="91425"/>
                </a:tc>
                <a:tc>
                  <a:txBody>
                    <a:bodyPr/>
                    <a:lstStyle/>
                    <a:p>
                      <a:pPr marL="457200" marR="0" lvl="0" indent="-292100" algn="l" rtl="0">
                        <a:lnSpc>
                          <a:spcPct val="115000"/>
                        </a:lnSpc>
                        <a:spcBef>
                          <a:spcPts val="0"/>
                        </a:spcBef>
                        <a:spcAft>
                          <a:spcPts val="0"/>
                        </a:spcAft>
                        <a:buClr>
                          <a:schemeClr val="accent1"/>
                        </a:buClr>
                        <a:buSzPts val="1000"/>
                        <a:buFont typeface="Open Sans"/>
                        <a:buChar char="●"/>
                      </a:pPr>
                      <a:r>
                        <a:rPr lang="en-US" sz="1000">
                          <a:solidFill>
                            <a:schemeClr val="dk1"/>
                          </a:solidFill>
                          <a:latin typeface="Open Sans"/>
                          <a:ea typeface="Open Sans"/>
                          <a:cs typeface="Open Sans"/>
                          <a:sym typeface="Open Sans"/>
                        </a:rPr>
                        <a:t>Built on nnU-Net as a whole-body CT segmentation foundation model</a:t>
                      </a:r>
                      <a:endParaRPr sz="1000">
                        <a:solidFill>
                          <a:schemeClr val="dk1"/>
                        </a:solidFill>
                        <a:latin typeface="Open Sans"/>
                        <a:ea typeface="Open Sans"/>
                        <a:cs typeface="Open Sans"/>
                        <a:sym typeface="Open Sans"/>
                      </a:endParaRPr>
                    </a:p>
                    <a:p>
                      <a:pPr marL="457200" marR="0" lvl="0" indent="-292100" algn="l" rtl="0">
                        <a:lnSpc>
                          <a:spcPct val="115000"/>
                        </a:lnSpc>
                        <a:spcBef>
                          <a:spcPts val="0"/>
                        </a:spcBef>
                        <a:spcAft>
                          <a:spcPts val="0"/>
                        </a:spcAft>
                        <a:buClr>
                          <a:schemeClr val="accent1"/>
                        </a:buClr>
                        <a:buSzPts val="1000"/>
                        <a:buFont typeface="Open Sans"/>
                        <a:buChar char="●"/>
                      </a:pPr>
                      <a:r>
                        <a:rPr lang="en-US" sz="1000">
                          <a:solidFill>
                            <a:schemeClr val="dk1"/>
                          </a:solidFill>
                          <a:latin typeface="Open Sans"/>
                          <a:ea typeface="Open Sans"/>
                          <a:cs typeface="Open Sans"/>
                          <a:sym typeface="Open Sans"/>
                        </a:rPr>
                        <a:t>Pretrained on thousands of CT scans (104 anatomical structures)</a:t>
                      </a:r>
                      <a:endParaRPr sz="1000">
                        <a:solidFill>
                          <a:schemeClr val="dk1"/>
                        </a:solidFill>
                        <a:latin typeface="Open Sans"/>
                        <a:ea typeface="Open Sans"/>
                        <a:cs typeface="Open Sans"/>
                        <a:sym typeface="Open Sans"/>
                      </a:endParaRPr>
                    </a:p>
                    <a:p>
                      <a:pPr marL="457200" marR="0" lvl="0" indent="-292100" algn="l" rtl="0">
                        <a:lnSpc>
                          <a:spcPct val="115000"/>
                        </a:lnSpc>
                        <a:spcBef>
                          <a:spcPts val="0"/>
                        </a:spcBef>
                        <a:spcAft>
                          <a:spcPts val="0"/>
                        </a:spcAft>
                        <a:buClr>
                          <a:schemeClr val="accent1"/>
                        </a:buClr>
                        <a:buSzPts val="1000"/>
                        <a:buFont typeface="Open Sans"/>
                        <a:buChar char="●"/>
                      </a:pPr>
                      <a:r>
                        <a:rPr lang="en-US" sz="1000">
                          <a:solidFill>
                            <a:schemeClr val="dk1"/>
                          </a:solidFill>
                          <a:latin typeface="Open Sans"/>
                          <a:ea typeface="Open Sans"/>
                          <a:cs typeface="Open Sans"/>
                          <a:sym typeface="Open Sans"/>
                        </a:rPr>
                        <a:t>Strong generalization across:</a:t>
                      </a:r>
                      <a:endParaRPr sz="1000">
                        <a:solidFill>
                          <a:schemeClr val="dk1"/>
                        </a:solidFill>
                        <a:latin typeface="Open Sans"/>
                        <a:ea typeface="Open Sans"/>
                        <a:cs typeface="Open Sans"/>
                        <a:sym typeface="Open Sans"/>
                      </a:endParaRPr>
                    </a:p>
                    <a:p>
                      <a:pPr marL="914400" marR="0" lvl="1" indent="-292100" algn="l" rtl="0">
                        <a:lnSpc>
                          <a:spcPct val="115000"/>
                        </a:lnSpc>
                        <a:spcBef>
                          <a:spcPts val="0"/>
                        </a:spcBef>
                        <a:spcAft>
                          <a:spcPts val="0"/>
                        </a:spcAft>
                        <a:buClr>
                          <a:schemeClr val="dk1"/>
                        </a:buClr>
                        <a:buSzPts val="1000"/>
                        <a:buFont typeface="Open Sans"/>
                        <a:buChar char="○"/>
                      </a:pPr>
                      <a:r>
                        <a:rPr lang="en-US" sz="1000">
                          <a:solidFill>
                            <a:schemeClr val="dk1"/>
                          </a:solidFill>
                          <a:latin typeface="Open Sans"/>
                          <a:ea typeface="Open Sans"/>
                          <a:cs typeface="Open Sans"/>
                          <a:sym typeface="Open Sans"/>
                        </a:rPr>
                        <a:t>Organs and tissues</a:t>
                      </a:r>
                      <a:endParaRPr sz="1000">
                        <a:solidFill>
                          <a:schemeClr val="dk1"/>
                        </a:solidFill>
                        <a:latin typeface="Open Sans"/>
                        <a:ea typeface="Open Sans"/>
                        <a:cs typeface="Open Sans"/>
                        <a:sym typeface="Open Sans"/>
                      </a:endParaRPr>
                    </a:p>
                    <a:p>
                      <a:pPr marL="914400" marR="0" lvl="1" indent="-292100" algn="l" rtl="0">
                        <a:lnSpc>
                          <a:spcPct val="115000"/>
                        </a:lnSpc>
                        <a:spcBef>
                          <a:spcPts val="0"/>
                        </a:spcBef>
                        <a:spcAft>
                          <a:spcPts val="0"/>
                        </a:spcAft>
                        <a:buClr>
                          <a:schemeClr val="dk1"/>
                        </a:buClr>
                        <a:buSzPts val="1000"/>
                        <a:buFont typeface="Open Sans"/>
                        <a:buChar char="○"/>
                      </a:pPr>
                      <a:r>
                        <a:rPr lang="en-US" sz="1000">
                          <a:solidFill>
                            <a:schemeClr val="dk1"/>
                          </a:solidFill>
                          <a:latin typeface="Open Sans"/>
                          <a:ea typeface="Open Sans"/>
                          <a:cs typeface="Open Sans"/>
                          <a:sym typeface="Open Sans"/>
                        </a:rPr>
                        <a:t>Scanners and imaging protocols</a:t>
                      </a:r>
                      <a:endParaRPr sz="1000">
                        <a:solidFill>
                          <a:schemeClr val="dk1"/>
                        </a:solidFill>
                        <a:latin typeface="Open Sans"/>
                        <a:ea typeface="Open Sans"/>
                        <a:cs typeface="Open Sans"/>
                        <a:sym typeface="Open Sans"/>
                      </a:endParaRPr>
                    </a:p>
                    <a:p>
                      <a:pPr marL="457200" marR="0" lvl="0" indent="-292100" algn="l" rtl="0">
                        <a:lnSpc>
                          <a:spcPct val="115000"/>
                        </a:lnSpc>
                        <a:spcBef>
                          <a:spcPts val="0"/>
                        </a:spcBef>
                        <a:spcAft>
                          <a:spcPts val="0"/>
                        </a:spcAft>
                        <a:buClr>
                          <a:schemeClr val="accent1"/>
                        </a:buClr>
                        <a:buSzPts val="1000"/>
                        <a:buFont typeface="Open Sans"/>
                        <a:buChar char="●"/>
                      </a:pPr>
                      <a:r>
                        <a:rPr lang="en-US" sz="1000">
                          <a:solidFill>
                            <a:schemeClr val="dk1"/>
                          </a:solidFill>
                          <a:latin typeface="Open Sans"/>
                          <a:ea typeface="Open Sans"/>
                          <a:cs typeface="Open Sans"/>
                          <a:sym typeface="Open Sans"/>
                        </a:rPr>
                        <a:t>Native 3D understanding → superior spatial context vs. 2D models</a:t>
                      </a:r>
                      <a:endParaRPr sz="1000">
                        <a:solidFill>
                          <a:schemeClr val="dk1"/>
                        </a:solidFill>
                        <a:latin typeface="Open Sans"/>
                        <a:ea typeface="Open Sans"/>
                        <a:cs typeface="Open Sans"/>
                        <a:sym typeface="Open Sans"/>
                      </a:endParaRPr>
                    </a:p>
                    <a:p>
                      <a:pPr marL="0" lvl="0" indent="0" algn="l" rtl="0">
                        <a:spcBef>
                          <a:spcPts val="0"/>
                        </a:spcBef>
                        <a:spcAft>
                          <a:spcPts val="0"/>
                        </a:spcAft>
                        <a:buNone/>
                      </a:pPr>
                      <a:endParaRPr sz="1000">
                        <a:solidFill>
                          <a:schemeClr val="dk1"/>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bl>
          </a:graphicData>
        </a:graphic>
      </p:graphicFrame>
      <p:pic>
        <p:nvPicPr>
          <p:cNvPr id="352" name="Google Shape;352;g39dcdded7dd_1_153"/>
          <p:cNvPicPr preferRelativeResize="0"/>
          <p:nvPr/>
        </p:nvPicPr>
        <p:blipFill>
          <a:blip r:embed="rId3">
            <a:alphaModFix/>
          </a:blip>
          <a:stretch>
            <a:fillRect/>
          </a:stretch>
        </p:blipFill>
        <p:spPr>
          <a:xfrm>
            <a:off x="5984661" y="1820608"/>
            <a:ext cx="2567969" cy="22007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398c53b899c_0_1"/>
          <p:cNvSpPr/>
          <p:nvPr/>
        </p:nvSpPr>
        <p:spPr>
          <a:xfrm>
            <a:off x="755400" y="1480125"/>
            <a:ext cx="7633200" cy="27594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sp>
        <p:nvSpPr>
          <p:cNvPr id="358" name="Google Shape;358;g398c53b899c_0_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nnU-net vs Total Segmentator</a:t>
            </a:r>
            <a:endParaRPr/>
          </a:p>
        </p:txBody>
      </p:sp>
      <p:sp>
        <p:nvSpPr>
          <p:cNvPr id="359" name="Google Shape;359;g398c53b899c_0_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15</a:t>
            </a:fld>
            <a:endParaRPr/>
          </a:p>
        </p:txBody>
      </p:sp>
      <p:graphicFrame>
        <p:nvGraphicFramePr>
          <p:cNvPr id="360" name="Google Shape;360;g398c53b899c_0_1"/>
          <p:cNvGraphicFramePr/>
          <p:nvPr/>
        </p:nvGraphicFramePr>
        <p:xfrm>
          <a:off x="987900" y="1659625"/>
          <a:ext cx="7239000" cy="2411970"/>
        </p:xfrm>
        <a:graphic>
          <a:graphicData uri="http://schemas.openxmlformats.org/drawingml/2006/table">
            <a:tbl>
              <a:tblPr>
                <a:noFill/>
                <a:tableStyleId>{2ED0191E-08E3-481A-83CA-989CE56C45E3}</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442100">
                <a:tc>
                  <a:txBody>
                    <a:bodyPr/>
                    <a:lstStyle/>
                    <a:p>
                      <a:pPr marL="0" lvl="0" indent="0" algn="l" rtl="0">
                        <a:spcBef>
                          <a:spcPts val="0"/>
                        </a:spcBef>
                        <a:spcAft>
                          <a:spcPts val="0"/>
                        </a:spcAft>
                        <a:buNone/>
                      </a:pPr>
                      <a:endParaRPr>
                        <a:solidFill>
                          <a:schemeClr val="dk1"/>
                        </a:solidFill>
                        <a:latin typeface="Open Sans"/>
                        <a:ea typeface="Open Sans"/>
                        <a:cs typeface="Open Sans"/>
                        <a:sym typeface="Open Sans"/>
                      </a:endParaRPr>
                    </a:p>
                  </a:txBody>
                  <a:tcPr marL="91425" marR="91425" marT="91425" marB="91425"/>
                </a:tc>
                <a:tc>
                  <a:txBody>
                    <a:bodyPr/>
                    <a:lstStyle/>
                    <a:p>
                      <a:pPr marL="0" lvl="0" indent="0" algn="ctr" rtl="0">
                        <a:spcBef>
                          <a:spcPts val="0"/>
                        </a:spcBef>
                        <a:spcAft>
                          <a:spcPts val="0"/>
                        </a:spcAft>
                        <a:buNone/>
                      </a:pPr>
                      <a:r>
                        <a:rPr lang="en-US" b="1">
                          <a:solidFill>
                            <a:schemeClr val="dk1"/>
                          </a:solidFill>
                          <a:latin typeface="Open Sans"/>
                          <a:ea typeface="Open Sans"/>
                          <a:cs typeface="Open Sans"/>
                          <a:sym typeface="Open Sans"/>
                        </a:rPr>
                        <a:t>nnU-net</a:t>
                      </a:r>
                      <a:endParaRPr b="1">
                        <a:solidFill>
                          <a:schemeClr val="dk1"/>
                        </a:solidFill>
                        <a:latin typeface="Open Sans"/>
                        <a:ea typeface="Open Sans"/>
                        <a:cs typeface="Open Sans"/>
                        <a:sym typeface="Open Sans"/>
                      </a:endParaRPr>
                    </a:p>
                  </a:txBody>
                  <a:tcPr marL="91425" marR="91425" marT="91425" marB="91425"/>
                </a:tc>
                <a:tc>
                  <a:txBody>
                    <a:bodyPr/>
                    <a:lstStyle/>
                    <a:p>
                      <a:pPr marL="0" lvl="0" indent="0" algn="ctr" rtl="0">
                        <a:spcBef>
                          <a:spcPts val="0"/>
                        </a:spcBef>
                        <a:spcAft>
                          <a:spcPts val="0"/>
                        </a:spcAft>
                        <a:buNone/>
                      </a:pPr>
                      <a:r>
                        <a:rPr lang="en-US" b="1">
                          <a:solidFill>
                            <a:schemeClr val="dk1"/>
                          </a:solidFill>
                          <a:latin typeface="Open Sans"/>
                          <a:ea typeface="Open Sans"/>
                          <a:cs typeface="Open Sans"/>
                          <a:sym typeface="Open Sans"/>
                        </a:rPr>
                        <a:t>Total Segmentator</a:t>
                      </a:r>
                      <a:endParaRPr b="1">
                        <a:solidFill>
                          <a:schemeClr val="dk1"/>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0"/>
                  </a:ext>
                </a:extLst>
              </a:tr>
              <a:tr h="680150">
                <a:tc>
                  <a:txBody>
                    <a:bodyPr/>
                    <a:lstStyle/>
                    <a:p>
                      <a:pPr marL="0" lvl="0" indent="0" algn="l" rtl="0">
                        <a:spcBef>
                          <a:spcPts val="0"/>
                        </a:spcBef>
                        <a:spcAft>
                          <a:spcPts val="0"/>
                        </a:spcAft>
                        <a:buNone/>
                      </a:pPr>
                      <a:r>
                        <a:rPr lang="en-US" b="1">
                          <a:solidFill>
                            <a:schemeClr val="dk1"/>
                          </a:solidFill>
                          <a:latin typeface="Open Sans"/>
                          <a:ea typeface="Open Sans"/>
                          <a:cs typeface="Open Sans"/>
                          <a:sym typeface="Open Sans"/>
                        </a:rPr>
                        <a:t>Core design </a:t>
                      </a:r>
                      <a:endParaRPr b="1">
                        <a:solidFill>
                          <a:schemeClr val="dk1"/>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a:solidFill>
                            <a:schemeClr val="dk1"/>
                          </a:solidFill>
                          <a:latin typeface="Open Sans"/>
                          <a:ea typeface="Open Sans"/>
                          <a:cs typeface="Open Sans"/>
                          <a:sym typeface="Open Sans"/>
                        </a:rPr>
                        <a:t>Auto adapts to dataset</a:t>
                      </a:r>
                      <a:endParaRPr>
                        <a:solidFill>
                          <a:schemeClr val="dk1"/>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a:solidFill>
                            <a:schemeClr val="dk1"/>
                          </a:solidFill>
                          <a:latin typeface="Open Sans"/>
                          <a:ea typeface="Open Sans"/>
                          <a:cs typeface="Open Sans"/>
                          <a:sym typeface="Open Sans"/>
                        </a:rPr>
                        <a:t>Built on nnU-net, 3D, multi-organ</a:t>
                      </a:r>
                      <a:endParaRPr>
                        <a:solidFill>
                          <a:schemeClr val="dk1"/>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r h="442100">
                <a:tc>
                  <a:txBody>
                    <a:bodyPr/>
                    <a:lstStyle/>
                    <a:p>
                      <a:pPr marL="0" lvl="0" indent="0" algn="l" rtl="0">
                        <a:spcBef>
                          <a:spcPts val="0"/>
                        </a:spcBef>
                        <a:spcAft>
                          <a:spcPts val="0"/>
                        </a:spcAft>
                        <a:buNone/>
                      </a:pPr>
                      <a:r>
                        <a:rPr lang="en-US" b="1">
                          <a:solidFill>
                            <a:schemeClr val="dk1"/>
                          </a:solidFill>
                          <a:latin typeface="Open Sans"/>
                          <a:ea typeface="Open Sans"/>
                          <a:cs typeface="Open Sans"/>
                          <a:sym typeface="Open Sans"/>
                        </a:rPr>
                        <a:t>Strength</a:t>
                      </a:r>
                      <a:endParaRPr b="1">
                        <a:solidFill>
                          <a:schemeClr val="dk1"/>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a:solidFill>
                            <a:schemeClr val="dk1"/>
                          </a:solidFill>
                          <a:latin typeface="Open Sans"/>
                          <a:ea typeface="Open Sans"/>
                          <a:cs typeface="Open Sans"/>
                          <a:sym typeface="Open Sans"/>
                        </a:rPr>
                        <a:t>Consistent, high accuracy</a:t>
                      </a:r>
                      <a:endParaRPr>
                        <a:solidFill>
                          <a:schemeClr val="dk1"/>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a:solidFill>
                            <a:schemeClr val="dk1"/>
                          </a:solidFill>
                          <a:latin typeface="Open Sans"/>
                          <a:ea typeface="Open Sans"/>
                          <a:cs typeface="Open Sans"/>
                          <a:sym typeface="Open Sans"/>
                        </a:rPr>
                        <a:t>Robust for many structures </a:t>
                      </a:r>
                      <a:endParaRPr>
                        <a:solidFill>
                          <a:schemeClr val="dk1"/>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r h="680150">
                <a:tc>
                  <a:txBody>
                    <a:bodyPr/>
                    <a:lstStyle/>
                    <a:p>
                      <a:pPr marL="0" lvl="0" indent="0" algn="l" rtl="0">
                        <a:spcBef>
                          <a:spcPts val="0"/>
                        </a:spcBef>
                        <a:spcAft>
                          <a:spcPts val="0"/>
                        </a:spcAft>
                        <a:buNone/>
                      </a:pPr>
                      <a:r>
                        <a:rPr lang="en-US" b="1">
                          <a:solidFill>
                            <a:schemeClr val="dk1"/>
                          </a:solidFill>
                          <a:latin typeface="Open Sans"/>
                          <a:ea typeface="Open Sans"/>
                          <a:cs typeface="Open Sans"/>
                          <a:sym typeface="Open Sans"/>
                        </a:rPr>
                        <a:t>Weakness </a:t>
                      </a:r>
                      <a:endParaRPr b="1">
                        <a:solidFill>
                          <a:schemeClr val="dk1"/>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a:solidFill>
                            <a:schemeClr val="dk1"/>
                          </a:solidFill>
                          <a:latin typeface="Open Sans"/>
                          <a:ea typeface="Open Sans"/>
                          <a:cs typeface="Open Sans"/>
                          <a:sym typeface="Open Sans"/>
                        </a:rPr>
                        <a:t>Needs tuning for rare cases </a:t>
                      </a:r>
                      <a:endParaRPr>
                        <a:solidFill>
                          <a:schemeClr val="dk1"/>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a:solidFill>
                            <a:schemeClr val="dk1"/>
                          </a:solidFill>
                          <a:latin typeface="Open Sans"/>
                          <a:ea typeface="Open Sans"/>
                          <a:cs typeface="Open Sans"/>
                          <a:sym typeface="Open Sans"/>
                        </a:rPr>
                        <a:t>Lower accuracy for smaller organs</a:t>
                      </a:r>
                      <a:endParaRPr>
                        <a:solidFill>
                          <a:schemeClr val="dk1"/>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39dcdded7dd_1_1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Training Configurations</a:t>
            </a:r>
            <a:endParaRPr/>
          </a:p>
        </p:txBody>
      </p:sp>
      <p:sp>
        <p:nvSpPr>
          <p:cNvPr id="366" name="Google Shape;366;g39dcdded7dd_1_158"/>
          <p:cNvSpPr txBox="1">
            <a:spLocks noGrp="1"/>
          </p:cNvSpPr>
          <p:nvPr>
            <p:ph type="body" idx="1"/>
          </p:nvPr>
        </p:nvSpPr>
        <p:spPr>
          <a:xfrm>
            <a:off x="720000" y="1257300"/>
            <a:ext cx="7704000" cy="3492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b="1"/>
              <a:t>Training Setup</a:t>
            </a:r>
            <a:endParaRPr b="1"/>
          </a:p>
          <a:p>
            <a:pPr marL="457200" marR="0" lvl="0" indent="-317500" algn="l" rtl="0">
              <a:lnSpc>
                <a:spcPct val="115000"/>
              </a:lnSpc>
              <a:spcBef>
                <a:spcPts val="600"/>
              </a:spcBef>
              <a:spcAft>
                <a:spcPts val="0"/>
              </a:spcAft>
              <a:buSzPts val="1400"/>
              <a:buChar char="●"/>
            </a:pPr>
            <a:r>
              <a:rPr lang="en-US"/>
              <a:t>Transferred weights (all 12 classes)</a:t>
            </a:r>
            <a:endParaRPr/>
          </a:p>
          <a:p>
            <a:pPr marL="457200" marR="0" lvl="0" indent="-317500" algn="l" rtl="0">
              <a:lnSpc>
                <a:spcPct val="115000"/>
              </a:lnSpc>
              <a:spcBef>
                <a:spcPts val="0"/>
              </a:spcBef>
              <a:spcAft>
                <a:spcPts val="0"/>
              </a:spcAft>
              <a:buSzPts val="1400"/>
              <a:buChar char="●"/>
            </a:pPr>
            <a:r>
              <a:rPr lang="en-US"/>
              <a:t>Loss: 50% Cross-entropy + 50% Soft Dice (continuous probabilities for stable gradients)</a:t>
            </a:r>
            <a:endParaRPr/>
          </a:p>
          <a:p>
            <a:pPr marL="457200" marR="0" lvl="0" indent="-317500" algn="l" rtl="0">
              <a:lnSpc>
                <a:spcPct val="115000"/>
              </a:lnSpc>
              <a:spcBef>
                <a:spcPts val="0"/>
              </a:spcBef>
              <a:spcAft>
                <a:spcPts val="0"/>
              </a:spcAft>
              <a:buSzPts val="1400"/>
              <a:buChar char="●"/>
            </a:pPr>
            <a:r>
              <a:rPr lang="en-US"/>
              <a:t>Deep supervision: Intermediate decoder losses weighted exponentially for stability and feature learning</a:t>
            </a:r>
            <a:endParaRPr/>
          </a:p>
          <a:p>
            <a:pPr marL="0" lvl="0" indent="0" algn="l" rtl="0">
              <a:spcBef>
                <a:spcPts val="600"/>
              </a:spcBef>
              <a:spcAft>
                <a:spcPts val="0"/>
              </a:spcAft>
              <a:buNone/>
            </a:pPr>
            <a:r>
              <a:rPr lang="en-US" b="1"/>
              <a:t>Testing Pipeline</a:t>
            </a:r>
            <a:endParaRPr b="1"/>
          </a:p>
          <a:p>
            <a:pPr marL="457200" marR="0" lvl="0" indent="-317500" algn="l" rtl="0">
              <a:lnSpc>
                <a:spcPct val="115000"/>
              </a:lnSpc>
              <a:spcBef>
                <a:spcPts val="600"/>
              </a:spcBef>
              <a:spcAft>
                <a:spcPts val="0"/>
              </a:spcAft>
              <a:buSzPts val="1400"/>
              <a:buChar char="●"/>
            </a:pPr>
            <a:r>
              <a:rPr lang="en-US"/>
              <a:t>Low-res 3D model (5-fold) captures global structure efficiently</a:t>
            </a:r>
            <a:endParaRPr/>
          </a:p>
          <a:p>
            <a:pPr marL="457200" marR="0" lvl="0" indent="-317500" algn="l" rtl="0">
              <a:lnSpc>
                <a:spcPct val="115000"/>
              </a:lnSpc>
              <a:spcBef>
                <a:spcPts val="0"/>
              </a:spcBef>
              <a:spcAft>
                <a:spcPts val="0"/>
              </a:spcAft>
              <a:buSzPts val="1400"/>
              <a:buChar char="●"/>
            </a:pPr>
            <a:r>
              <a:rPr lang="en-US"/>
              <a:t>One high-res fold refines local details</a:t>
            </a:r>
            <a:endParaRPr/>
          </a:p>
          <a:p>
            <a:pPr marL="457200" marR="0" lvl="0" indent="-317500" algn="l" rtl="0">
              <a:lnSpc>
                <a:spcPct val="115000"/>
              </a:lnSpc>
              <a:spcBef>
                <a:spcPts val="0"/>
              </a:spcBef>
              <a:spcAft>
                <a:spcPts val="0"/>
              </a:spcAft>
              <a:buSzPts val="1400"/>
              <a:buChar char="●"/>
            </a:pPr>
            <a:r>
              <a:rPr lang="en-US"/>
              <a:t>Ensembled outputs deliver optimal segmentation</a:t>
            </a:r>
            <a:endParaRPr/>
          </a:p>
          <a:p>
            <a:pPr marL="457200" marR="0" lvl="0" indent="-317500" algn="l" rtl="0">
              <a:lnSpc>
                <a:spcPct val="115000"/>
              </a:lnSpc>
              <a:spcBef>
                <a:spcPts val="0"/>
              </a:spcBef>
              <a:spcAft>
                <a:spcPts val="0"/>
              </a:spcAft>
              <a:buSzPts val="1400"/>
              <a:buChar char="●"/>
            </a:pPr>
            <a:r>
              <a:rPr lang="en-US"/>
              <a:t>Balanced pipeline combining low/high-res stages for speed, resource efficiency, and accuracy</a:t>
            </a:r>
            <a:endParaRPr b="1"/>
          </a:p>
        </p:txBody>
      </p:sp>
      <p:sp>
        <p:nvSpPr>
          <p:cNvPr id="367" name="Google Shape;367;g39dcdded7dd_1_15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g398c6dbd69e_0_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Ensemble and U-Net Cascade approach</a:t>
            </a:r>
            <a:endParaRPr/>
          </a:p>
        </p:txBody>
      </p:sp>
      <p:sp>
        <p:nvSpPr>
          <p:cNvPr id="373" name="Google Shape;373;g398c6dbd69e_0_0"/>
          <p:cNvSpPr txBox="1">
            <a:spLocks noGrp="1"/>
          </p:cNvSpPr>
          <p:nvPr>
            <p:ph type="body" idx="1"/>
          </p:nvPr>
        </p:nvSpPr>
        <p:spPr>
          <a:xfrm>
            <a:off x="720000" y="1251788"/>
            <a:ext cx="7954500" cy="326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US" sz="1200"/>
              <a:t>This method combines model ensembling with a two-stage U-Net cascade for robust 3D image segmentation.​</a:t>
            </a:r>
            <a:endParaRPr sz="1200"/>
          </a:p>
          <a:p>
            <a:pPr marL="0" lvl="0" indent="0" algn="l" rtl="0">
              <a:spcBef>
                <a:spcPts val="600"/>
              </a:spcBef>
              <a:spcAft>
                <a:spcPts val="0"/>
              </a:spcAft>
              <a:buClr>
                <a:schemeClr val="lt1"/>
              </a:buClr>
              <a:buSzPts val="1100"/>
              <a:buFont typeface="Arial"/>
              <a:buNone/>
            </a:pPr>
            <a:r>
              <a:rPr lang="en-US" b="1"/>
              <a:t>Ensemble Averaging</a:t>
            </a:r>
            <a:endParaRPr b="1"/>
          </a:p>
          <a:p>
            <a:pPr marL="457200" marR="0" lvl="0" indent="-304800" algn="l" rtl="0">
              <a:lnSpc>
                <a:spcPct val="115000"/>
              </a:lnSpc>
              <a:spcBef>
                <a:spcPts val="0"/>
              </a:spcBef>
              <a:spcAft>
                <a:spcPts val="0"/>
              </a:spcAft>
              <a:buSzPts val="1200"/>
              <a:buChar char="●"/>
            </a:pPr>
            <a:r>
              <a:rPr lang="en-US" sz="1200"/>
              <a:t>Multiple models produce softmax probability maps; these are averaged voxel-wise for each class.</a:t>
            </a:r>
            <a:endParaRPr sz="1200"/>
          </a:p>
          <a:p>
            <a:pPr marL="457200" marR="0" lvl="0" indent="-304800" algn="l" rtl="0">
              <a:lnSpc>
                <a:spcPct val="115000"/>
              </a:lnSpc>
              <a:spcBef>
                <a:spcPts val="0"/>
              </a:spcBef>
              <a:spcAft>
                <a:spcPts val="0"/>
              </a:spcAft>
              <a:buSzPts val="1200"/>
              <a:buChar char="●"/>
            </a:pPr>
            <a:r>
              <a:rPr lang="en-US" sz="1200"/>
              <a:t>The final segmentation assigns each voxel to the class with the highest average probability.</a:t>
            </a:r>
            <a:endParaRPr sz="1000"/>
          </a:p>
          <a:p>
            <a:pPr marL="457200" lvl="0" indent="0" algn="l" rtl="0">
              <a:spcBef>
                <a:spcPts val="0"/>
              </a:spcBef>
              <a:spcAft>
                <a:spcPts val="0"/>
              </a:spcAft>
              <a:buNone/>
            </a:pPr>
            <a:endParaRPr sz="1200"/>
          </a:p>
          <a:p>
            <a:pPr marL="0" lvl="0" indent="0" algn="l" rtl="0">
              <a:spcBef>
                <a:spcPts val="0"/>
              </a:spcBef>
              <a:spcAft>
                <a:spcPts val="0"/>
              </a:spcAft>
              <a:buClr>
                <a:schemeClr val="lt1"/>
              </a:buClr>
              <a:buSzPts val="1100"/>
              <a:buFont typeface="Arial"/>
              <a:buNone/>
            </a:pPr>
            <a:r>
              <a:rPr lang="en-US" b="1"/>
              <a:t>Two-Stage Cascade</a:t>
            </a:r>
            <a:endParaRPr b="1"/>
          </a:p>
          <a:p>
            <a:pPr marL="457200" marR="0" lvl="0" indent="-304800" algn="l" rtl="0">
              <a:lnSpc>
                <a:spcPct val="115000"/>
              </a:lnSpc>
              <a:spcBef>
                <a:spcPts val="0"/>
              </a:spcBef>
              <a:spcAft>
                <a:spcPts val="0"/>
              </a:spcAft>
              <a:buSzPts val="1200"/>
              <a:buChar char="●"/>
            </a:pPr>
            <a:r>
              <a:rPr lang="en-US" sz="1200"/>
              <a:t>Stage 1: A low-resolution U-Net segments the coarse structure from a downsampled image.</a:t>
            </a:r>
            <a:endParaRPr sz="1200"/>
          </a:p>
          <a:p>
            <a:pPr marL="457200" marR="0" lvl="0" indent="-304800" algn="l" rtl="0">
              <a:lnSpc>
                <a:spcPct val="115000"/>
              </a:lnSpc>
              <a:spcBef>
                <a:spcPts val="0"/>
              </a:spcBef>
              <a:spcAft>
                <a:spcPts val="0"/>
              </a:spcAft>
              <a:buSzPts val="1200"/>
              <a:buChar char="●"/>
            </a:pPr>
            <a:r>
              <a:rPr lang="en-US" sz="1200"/>
              <a:t>Stage 2: A full-resolution U-Net refines this using both the original image and the upsampled coarse map, achieving high accuracy.</a:t>
            </a:r>
            <a:endParaRPr sz="1200"/>
          </a:p>
          <a:p>
            <a:pPr marL="0" lvl="0" indent="0" algn="l" rtl="0">
              <a:spcBef>
                <a:spcPts val="0"/>
              </a:spcBef>
              <a:spcAft>
                <a:spcPts val="0"/>
              </a:spcAft>
              <a:buNone/>
            </a:pPr>
            <a:endParaRPr sz="1200"/>
          </a:p>
          <a:p>
            <a:pPr marL="0" lvl="0" indent="0" algn="l" rtl="0">
              <a:spcBef>
                <a:spcPts val="600"/>
              </a:spcBef>
              <a:spcAft>
                <a:spcPts val="0"/>
              </a:spcAft>
              <a:buClr>
                <a:schemeClr val="lt1"/>
              </a:buClr>
              <a:buSzPts val="1100"/>
              <a:buFont typeface="Arial"/>
              <a:buNone/>
            </a:pPr>
            <a:r>
              <a:rPr lang="en-US" sz="1200"/>
              <a:t>This approach ensures both robustness (ensemble) and fine detail (cascade) in medical image segmentation.​</a:t>
            </a:r>
            <a:endParaRPr sz="1200"/>
          </a:p>
          <a:p>
            <a:pPr marL="0" lvl="0" indent="0" algn="l" rtl="0">
              <a:spcBef>
                <a:spcPts val="600"/>
              </a:spcBef>
              <a:spcAft>
                <a:spcPts val="0"/>
              </a:spcAft>
              <a:buNone/>
            </a:pPr>
            <a:endParaRPr/>
          </a:p>
        </p:txBody>
      </p:sp>
      <p:sp>
        <p:nvSpPr>
          <p:cNvPr id="374" name="Google Shape;374;g398c6dbd69e_0_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g39dcdded7dd_1_163"/>
          <p:cNvSpPr/>
          <p:nvPr/>
        </p:nvSpPr>
        <p:spPr>
          <a:xfrm>
            <a:off x="4794550" y="372525"/>
            <a:ext cx="4064100" cy="43542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sp>
        <p:nvSpPr>
          <p:cNvPr id="380" name="Google Shape;380;g39dcdded7dd_1_16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100"/>
              <a:t>Best Training (3D lowres fold 2)</a:t>
            </a:r>
            <a:endParaRPr sz="2100"/>
          </a:p>
        </p:txBody>
      </p:sp>
      <p:sp>
        <p:nvSpPr>
          <p:cNvPr id="381" name="Google Shape;381;g39dcdded7dd_1_163"/>
          <p:cNvSpPr txBox="1">
            <a:spLocks noGrp="1"/>
          </p:cNvSpPr>
          <p:nvPr>
            <p:ph type="body" idx="1"/>
          </p:nvPr>
        </p:nvSpPr>
        <p:spPr>
          <a:xfrm>
            <a:off x="720000" y="1032638"/>
            <a:ext cx="3731700" cy="11550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US" sz="1200"/>
              <a:t>More balanced than SAMed, although smaller organs / rare classes still performed slightly worse </a:t>
            </a:r>
            <a:endParaRPr sz="1200"/>
          </a:p>
        </p:txBody>
      </p:sp>
      <p:graphicFrame>
        <p:nvGraphicFramePr>
          <p:cNvPr id="382" name="Google Shape;382;g39dcdded7dd_1_163"/>
          <p:cNvGraphicFramePr/>
          <p:nvPr>
            <p:extLst>
              <p:ext uri="{D42A27DB-BD31-4B8C-83A1-F6EECF244321}">
                <p14:modId xmlns:p14="http://schemas.microsoft.com/office/powerpoint/2010/main" val="2250004162"/>
              </p:ext>
            </p:extLst>
          </p:nvPr>
        </p:nvGraphicFramePr>
        <p:xfrm>
          <a:off x="4999719" y="555871"/>
          <a:ext cx="3653762" cy="3912428"/>
        </p:xfrm>
        <a:graphic>
          <a:graphicData uri="http://schemas.openxmlformats.org/drawingml/2006/table">
            <a:tbl>
              <a:tblPr>
                <a:noFill/>
                <a:tableStyleId>{2A7876C2-90C0-4B93-85D5-C01E0D184563}</a:tableStyleId>
              </a:tblPr>
              <a:tblGrid>
                <a:gridCol w="1625105">
                  <a:extLst>
                    <a:ext uri="{9D8B030D-6E8A-4147-A177-3AD203B41FA5}">
                      <a16:colId xmlns:a16="http://schemas.microsoft.com/office/drawing/2014/main" val="20000"/>
                    </a:ext>
                  </a:extLst>
                </a:gridCol>
                <a:gridCol w="1107873">
                  <a:extLst>
                    <a:ext uri="{9D8B030D-6E8A-4147-A177-3AD203B41FA5}">
                      <a16:colId xmlns:a16="http://schemas.microsoft.com/office/drawing/2014/main" val="20001"/>
                    </a:ext>
                  </a:extLst>
                </a:gridCol>
                <a:gridCol w="920784">
                  <a:extLst>
                    <a:ext uri="{9D8B030D-6E8A-4147-A177-3AD203B41FA5}">
                      <a16:colId xmlns:a16="http://schemas.microsoft.com/office/drawing/2014/main" val="20002"/>
                    </a:ext>
                  </a:extLst>
                </a:gridCol>
              </a:tblGrid>
              <a:tr h="300254">
                <a:tc>
                  <a:txBody>
                    <a:bodyPr/>
                    <a:lstStyle/>
                    <a:p>
                      <a:pPr marL="0" lvl="0" indent="0" algn="ctr" rtl="0">
                        <a:lnSpc>
                          <a:spcPct val="80000"/>
                        </a:lnSpc>
                        <a:spcBef>
                          <a:spcPts val="0"/>
                        </a:spcBef>
                        <a:spcAft>
                          <a:spcPts val="0"/>
                        </a:spcAft>
                        <a:buNone/>
                      </a:pPr>
                      <a:r>
                        <a:rPr lang="en-US" sz="1000" b="1">
                          <a:solidFill>
                            <a:schemeClr val="dk1"/>
                          </a:solidFill>
                        </a:rPr>
                        <a:t>Organ</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b="1">
                          <a:solidFill>
                            <a:schemeClr val="dk1"/>
                          </a:solidFill>
                        </a:rPr>
                        <a:t>DSC</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b="1">
                          <a:solidFill>
                            <a:schemeClr val="dk1"/>
                          </a:solidFill>
                        </a:rPr>
                        <a:t>NSD</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00254">
                <a:tc>
                  <a:txBody>
                    <a:bodyPr/>
                    <a:lstStyle/>
                    <a:p>
                      <a:pPr marL="0" lvl="0" indent="0" algn="ctr" rtl="0">
                        <a:lnSpc>
                          <a:spcPct val="80000"/>
                        </a:lnSpc>
                        <a:spcBef>
                          <a:spcPts val="0"/>
                        </a:spcBef>
                        <a:spcAft>
                          <a:spcPts val="0"/>
                        </a:spcAft>
                        <a:buNone/>
                      </a:pPr>
                      <a:r>
                        <a:rPr lang="en-US" sz="1000" b="1">
                          <a:solidFill>
                            <a:schemeClr val="dk1"/>
                          </a:solidFill>
                        </a:rPr>
                        <a:t>Liver</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0.9724</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0.9703</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00254">
                <a:tc>
                  <a:txBody>
                    <a:bodyPr/>
                    <a:lstStyle/>
                    <a:p>
                      <a:pPr marL="0" lvl="0" indent="0" algn="ctr" rtl="0">
                        <a:lnSpc>
                          <a:spcPct val="80000"/>
                        </a:lnSpc>
                        <a:spcBef>
                          <a:spcPts val="0"/>
                        </a:spcBef>
                        <a:spcAft>
                          <a:spcPts val="0"/>
                        </a:spcAft>
                        <a:buNone/>
                      </a:pPr>
                      <a:r>
                        <a:rPr lang="en-US" sz="1000" b="1">
                          <a:solidFill>
                            <a:schemeClr val="dk1"/>
                          </a:solidFill>
                        </a:rPr>
                        <a:t>Stomach</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0.9328</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0.9336</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00254">
                <a:tc>
                  <a:txBody>
                    <a:bodyPr/>
                    <a:lstStyle/>
                    <a:p>
                      <a:pPr marL="0" lvl="0" indent="0" algn="ctr" rtl="0">
                        <a:lnSpc>
                          <a:spcPct val="80000"/>
                        </a:lnSpc>
                        <a:spcBef>
                          <a:spcPts val="0"/>
                        </a:spcBef>
                        <a:spcAft>
                          <a:spcPts val="0"/>
                        </a:spcAft>
                        <a:buNone/>
                      </a:pPr>
                      <a:r>
                        <a:rPr lang="en-US" sz="1000" b="1">
                          <a:solidFill>
                            <a:schemeClr val="dk1"/>
                          </a:solidFill>
                        </a:rPr>
                        <a:t>Spleen</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0.9544</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0.9638</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00254">
                <a:tc>
                  <a:txBody>
                    <a:bodyPr/>
                    <a:lstStyle/>
                    <a:p>
                      <a:pPr marL="0" lvl="0" indent="0" algn="ctr" rtl="0">
                        <a:lnSpc>
                          <a:spcPct val="80000"/>
                        </a:lnSpc>
                        <a:spcBef>
                          <a:spcPts val="0"/>
                        </a:spcBef>
                        <a:spcAft>
                          <a:spcPts val="0"/>
                        </a:spcAft>
                        <a:buNone/>
                      </a:pPr>
                      <a:r>
                        <a:rPr lang="en-US" sz="1000" b="1">
                          <a:solidFill>
                            <a:schemeClr val="dk1"/>
                          </a:solidFill>
                        </a:rPr>
                        <a:t>Right Kidney</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0.9199</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0.9245</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00254">
                <a:tc>
                  <a:txBody>
                    <a:bodyPr/>
                    <a:lstStyle/>
                    <a:p>
                      <a:pPr marL="0" lvl="0" indent="0" algn="ctr" rtl="0">
                        <a:lnSpc>
                          <a:spcPct val="80000"/>
                        </a:lnSpc>
                        <a:spcBef>
                          <a:spcPts val="0"/>
                        </a:spcBef>
                        <a:spcAft>
                          <a:spcPts val="0"/>
                        </a:spcAft>
                        <a:buNone/>
                      </a:pPr>
                      <a:r>
                        <a:rPr lang="en-US" sz="1000" b="1">
                          <a:solidFill>
                            <a:schemeClr val="dk1"/>
                          </a:solidFill>
                        </a:rPr>
                        <a:t>Left Kidney</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0.9095</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0.9283</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00254">
                <a:tc>
                  <a:txBody>
                    <a:bodyPr/>
                    <a:lstStyle/>
                    <a:p>
                      <a:pPr marL="0" lvl="0" indent="0" algn="ctr" rtl="0">
                        <a:lnSpc>
                          <a:spcPct val="80000"/>
                        </a:lnSpc>
                        <a:spcBef>
                          <a:spcPts val="0"/>
                        </a:spcBef>
                        <a:spcAft>
                          <a:spcPts val="0"/>
                        </a:spcAft>
                        <a:buNone/>
                      </a:pPr>
                      <a:r>
                        <a:rPr lang="en-US" sz="1000" b="1">
                          <a:solidFill>
                            <a:schemeClr val="dk1"/>
                          </a:solidFill>
                        </a:rPr>
                        <a:t>Aorta</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0.9478</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0.9568</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00254">
                <a:tc>
                  <a:txBody>
                    <a:bodyPr/>
                    <a:lstStyle/>
                    <a:p>
                      <a:pPr marL="0" lvl="0" indent="0" algn="ctr" rtl="0">
                        <a:lnSpc>
                          <a:spcPct val="80000"/>
                        </a:lnSpc>
                        <a:spcBef>
                          <a:spcPts val="0"/>
                        </a:spcBef>
                        <a:spcAft>
                          <a:spcPts val="0"/>
                        </a:spcAft>
                        <a:buNone/>
                      </a:pPr>
                      <a:r>
                        <a:rPr lang="en-US" sz="1000" b="1">
                          <a:solidFill>
                            <a:schemeClr val="dk1"/>
                          </a:solidFill>
                        </a:rPr>
                        <a:t>Pancreas</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0.7772</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0.7806</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00254">
                <a:tc>
                  <a:txBody>
                    <a:bodyPr/>
                    <a:lstStyle/>
                    <a:p>
                      <a:pPr marL="0" lvl="0" indent="0" algn="ctr" rtl="0">
                        <a:lnSpc>
                          <a:spcPct val="80000"/>
                        </a:lnSpc>
                        <a:spcBef>
                          <a:spcPts val="0"/>
                        </a:spcBef>
                        <a:spcAft>
                          <a:spcPts val="0"/>
                        </a:spcAft>
                        <a:buNone/>
                      </a:pPr>
                      <a:r>
                        <a:rPr lang="en-US" sz="1000" b="1">
                          <a:solidFill>
                            <a:schemeClr val="dk1"/>
                          </a:solidFill>
                        </a:rPr>
                        <a:t>Inferior Vena Cava</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0.8953</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0.8851</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300254">
                <a:tc>
                  <a:txBody>
                    <a:bodyPr/>
                    <a:lstStyle/>
                    <a:p>
                      <a:pPr marL="0" lvl="0" indent="0" algn="ctr" rtl="0">
                        <a:lnSpc>
                          <a:spcPct val="80000"/>
                        </a:lnSpc>
                        <a:spcBef>
                          <a:spcPts val="0"/>
                        </a:spcBef>
                        <a:spcAft>
                          <a:spcPts val="0"/>
                        </a:spcAft>
                        <a:buNone/>
                      </a:pPr>
                      <a:r>
                        <a:rPr lang="en-US" sz="1000" b="1">
                          <a:solidFill>
                            <a:schemeClr val="dk1"/>
                          </a:solidFill>
                        </a:rPr>
                        <a:t>Gallbladder</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0.7701</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0.8220</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300254">
                <a:tc>
                  <a:txBody>
                    <a:bodyPr/>
                    <a:lstStyle/>
                    <a:p>
                      <a:pPr marL="0" lvl="0" indent="0" algn="ctr" rtl="0">
                        <a:lnSpc>
                          <a:spcPct val="80000"/>
                        </a:lnSpc>
                        <a:spcBef>
                          <a:spcPts val="0"/>
                        </a:spcBef>
                        <a:spcAft>
                          <a:spcPts val="0"/>
                        </a:spcAft>
                        <a:buNone/>
                      </a:pPr>
                      <a:r>
                        <a:rPr lang="en-US" sz="1000" b="1">
                          <a:solidFill>
                            <a:schemeClr val="dk1"/>
                          </a:solidFill>
                        </a:rPr>
                        <a:t>Esophagus</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0.8221</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0.8585</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300254">
                <a:tc>
                  <a:txBody>
                    <a:bodyPr/>
                    <a:lstStyle/>
                    <a:p>
                      <a:pPr marL="0" lvl="0" indent="0" algn="ctr" rtl="0">
                        <a:lnSpc>
                          <a:spcPct val="80000"/>
                        </a:lnSpc>
                        <a:spcBef>
                          <a:spcPts val="0"/>
                        </a:spcBef>
                        <a:spcAft>
                          <a:spcPts val="0"/>
                        </a:spcAft>
                        <a:buNone/>
                      </a:pPr>
                      <a:r>
                        <a:rPr lang="en-US" sz="1000" b="1">
                          <a:solidFill>
                            <a:schemeClr val="dk1"/>
                          </a:solidFill>
                        </a:rPr>
                        <a:t>Left Adrenal Gland</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0.7603</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0.8723</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1"/>
                  </a:ext>
                </a:extLst>
              </a:tr>
              <a:tr h="300254">
                <a:tc>
                  <a:txBody>
                    <a:bodyPr/>
                    <a:lstStyle/>
                    <a:p>
                      <a:pPr marL="0" lvl="0" indent="0" algn="ctr" rtl="0">
                        <a:lnSpc>
                          <a:spcPct val="80000"/>
                        </a:lnSpc>
                        <a:spcBef>
                          <a:spcPts val="0"/>
                        </a:spcBef>
                        <a:spcAft>
                          <a:spcPts val="0"/>
                        </a:spcAft>
                        <a:buNone/>
                      </a:pPr>
                      <a:r>
                        <a:rPr lang="en-US" sz="1000" b="1">
                          <a:solidFill>
                            <a:schemeClr val="dk1"/>
                          </a:solidFill>
                        </a:rPr>
                        <a:t>Right Adrenal Gland</a:t>
                      </a:r>
                      <a:endParaRPr sz="1000" b="1">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a:solidFill>
                            <a:schemeClr val="dk1"/>
                          </a:solidFill>
                        </a:rPr>
                        <a:t>0.7133</a:t>
                      </a:r>
                      <a:endParaRPr sz="100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80000"/>
                        </a:lnSpc>
                        <a:spcBef>
                          <a:spcPts val="0"/>
                        </a:spcBef>
                        <a:spcAft>
                          <a:spcPts val="0"/>
                        </a:spcAft>
                        <a:buNone/>
                      </a:pPr>
                      <a:r>
                        <a:rPr lang="en-US" sz="1000" dirty="0">
                          <a:solidFill>
                            <a:schemeClr val="dk1"/>
                          </a:solidFill>
                        </a:rPr>
                        <a:t>0.8442</a:t>
                      </a:r>
                      <a:endParaRPr sz="1000" dirty="0">
                        <a:solidFill>
                          <a:schemeClr val="dk1"/>
                        </a:solidFill>
                      </a:endParaRPr>
                    </a:p>
                  </a:txBody>
                  <a:tcPr marL="89518" marR="89518" marT="89518" marB="89518">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pic>
        <p:nvPicPr>
          <p:cNvPr id="383" name="Google Shape;383;g39dcdded7dd_1_163"/>
          <p:cNvPicPr preferRelativeResize="0"/>
          <p:nvPr/>
        </p:nvPicPr>
        <p:blipFill>
          <a:blip r:embed="rId3">
            <a:alphaModFix/>
          </a:blip>
          <a:stretch>
            <a:fillRect/>
          </a:stretch>
        </p:blipFill>
        <p:spPr>
          <a:xfrm>
            <a:off x="553800" y="2089619"/>
            <a:ext cx="4064099" cy="2524189"/>
          </a:xfrm>
          <a:prstGeom prst="rect">
            <a:avLst/>
          </a:prstGeom>
          <a:noFill/>
          <a:ln>
            <a:noFill/>
          </a:ln>
        </p:spPr>
      </p:pic>
      <p:sp>
        <p:nvSpPr>
          <p:cNvPr id="384" name="Google Shape;384;g39dcdded7dd_1_16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18</a:t>
            </a:fld>
            <a:endParaRPr/>
          </a:p>
        </p:txBody>
      </p:sp>
      <p:sp>
        <p:nvSpPr>
          <p:cNvPr id="3" name="Google Shape;318;g3a145d5a476_5_208">
            <a:extLst>
              <a:ext uri="{FF2B5EF4-FFF2-40B4-BE49-F238E27FC236}">
                <a16:creationId xmlns:a16="http://schemas.microsoft.com/office/drawing/2014/main" id="{A410A512-9458-9FDC-23A3-983DB99322B7}"/>
              </a:ext>
            </a:extLst>
          </p:cNvPr>
          <p:cNvSpPr txBox="1"/>
          <p:nvPr/>
        </p:nvSpPr>
        <p:spPr>
          <a:xfrm>
            <a:off x="4794550" y="4491425"/>
            <a:ext cx="4064099"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800" dirty="0">
                <a:solidFill>
                  <a:schemeClr val="accent2"/>
                </a:solidFill>
                <a:latin typeface="Open Sans"/>
                <a:ea typeface="Open Sans"/>
                <a:cs typeface="Open Sans"/>
                <a:sym typeface="Open Sans"/>
              </a:rPr>
              <a:t>Table is arranged by descending number of pixels  in training set</a:t>
            </a:r>
            <a:endParaRPr sz="800" dirty="0">
              <a:solidFill>
                <a:schemeClr val="accent2"/>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g39dcdded7dd_1_171"/>
          <p:cNvSpPr/>
          <p:nvPr/>
        </p:nvSpPr>
        <p:spPr>
          <a:xfrm>
            <a:off x="715097" y="535000"/>
            <a:ext cx="3803700" cy="4073400"/>
          </a:xfrm>
          <a:prstGeom prst="roundRect">
            <a:avLst>
              <a:gd name="adj" fmla="val 969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391" name="Google Shape;391;g39dcdded7dd_1_171"/>
          <p:cNvSpPr/>
          <p:nvPr/>
        </p:nvSpPr>
        <p:spPr>
          <a:xfrm>
            <a:off x="1343747" y="1528650"/>
            <a:ext cx="2546400" cy="8406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chemeClr val="dk1"/>
                </a:solidFill>
                <a:latin typeface="Open Sans"/>
                <a:ea typeface="Open Sans"/>
                <a:cs typeface="Open Sans"/>
                <a:sym typeface="Open Sans"/>
              </a:rPr>
              <a:t>04</a:t>
            </a:r>
            <a:endParaRPr sz="6000" b="0" i="0" u="none" strike="noStrike" cap="none">
              <a:solidFill>
                <a:schemeClr val="dk1"/>
              </a:solidFill>
              <a:latin typeface="Open Sans"/>
              <a:ea typeface="Open Sans"/>
              <a:cs typeface="Open Sans"/>
              <a:sym typeface="Open Sans"/>
            </a:endParaRPr>
          </a:p>
        </p:txBody>
      </p:sp>
      <p:sp>
        <p:nvSpPr>
          <p:cNvPr id="392" name="Google Shape;392;g39dcdded7dd_1_171"/>
          <p:cNvSpPr txBox="1">
            <a:spLocks noGrp="1"/>
          </p:cNvSpPr>
          <p:nvPr>
            <p:ph type="title"/>
          </p:nvPr>
        </p:nvSpPr>
        <p:spPr>
          <a:xfrm>
            <a:off x="1343747" y="2773625"/>
            <a:ext cx="2531100" cy="841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US"/>
              <a:t>Evaluation </a:t>
            </a:r>
            <a:endParaRPr/>
          </a:p>
        </p:txBody>
      </p:sp>
      <p:grpSp>
        <p:nvGrpSpPr>
          <p:cNvPr id="393" name="Google Shape;393;g39dcdded7dd_1_171"/>
          <p:cNvGrpSpPr/>
          <p:nvPr/>
        </p:nvGrpSpPr>
        <p:grpSpPr>
          <a:xfrm>
            <a:off x="5045020" y="535000"/>
            <a:ext cx="3383883" cy="4073400"/>
            <a:chOff x="715100" y="535000"/>
            <a:chExt cx="3893100" cy="4073400"/>
          </a:xfrm>
        </p:grpSpPr>
        <p:sp>
          <p:nvSpPr>
            <p:cNvPr id="394" name="Google Shape;394;g39dcdded7dd_1_171"/>
            <p:cNvSpPr/>
            <p:nvPr/>
          </p:nvSpPr>
          <p:spPr>
            <a:xfrm>
              <a:off x="715100" y="535000"/>
              <a:ext cx="3893100" cy="4073400"/>
            </a:xfrm>
            <a:prstGeom prst="roundRect">
              <a:avLst>
                <a:gd name="adj" fmla="val 11031"/>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sp>
          <p:nvSpPr>
            <p:cNvPr id="395" name="Google Shape;395;g39dcdded7dd_1_171"/>
            <p:cNvSpPr/>
            <p:nvPr/>
          </p:nvSpPr>
          <p:spPr>
            <a:xfrm>
              <a:off x="908299" y="710950"/>
              <a:ext cx="3506700" cy="3721500"/>
            </a:xfrm>
            <a:prstGeom prst="roundRect">
              <a:avLst>
                <a:gd name="adj" fmla="val 8465"/>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naheim"/>
                <a:ea typeface="Anaheim"/>
                <a:cs typeface="Anaheim"/>
                <a:sym typeface="Anaheim"/>
              </a:endParaRPr>
            </a:p>
          </p:txBody>
        </p:sp>
      </p:grpSp>
      <p:sp>
        <p:nvSpPr>
          <p:cNvPr id="396" name="Google Shape;396;g39dcdded7dd_1_171"/>
          <p:cNvSpPr/>
          <p:nvPr/>
        </p:nvSpPr>
        <p:spPr>
          <a:xfrm rot="-5400000">
            <a:off x="2554997" y="1434688"/>
            <a:ext cx="108600" cy="2531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pic>
        <p:nvPicPr>
          <p:cNvPr id="397" name="Google Shape;397;g39dcdded7dd_1_171"/>
          <p:cNvPicPr preferRelativeResize="0"/>
          <p:nvPr/>
        </p:nvPicPr>
        <p:blipFill rotWithShape="1">
          <a:blip r:embed="rId3">
            <a:alphaModFix/>
          </a:blip>
          <a:srcRect/>
          <a:stretch/>
        </p:blipFill>
        <p:spPr>
          <a:xfrm>
            <a:off x="5606490" y="1390209"/>
            <a:ext cx="2260946" cy="2363081"/>
          </a:xfrm>
          <a:prstGeom prst="rect">
            <a:avLst/>
          </a:prstGeom>
          <a:noFill/>
          <a:ln>
            <a:noFill/>
          </a:ln>
        </p:spPr>
      </p:pic>
      <p:sp>
        <p:nvSpPr>
          <p:cNvPr id="398" name="Google Shape;398;g39dcdded7dd_1_17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39dcdded7dd_1_18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US"/>
              <a:t>Results - </a:t>
            </a:r>
            <a:r>
              <a:rPr lang="en-US" sz="2600"/>
              <a:t>Model Performance Overview</a:t>
            </a:r>
            <a:endParaRPr sz="2600"/>
          </a:p>
        </p:txBody>
      </p:sp>
      <p:sp>
        <p:nvSpPr>
          <p:cNvPr id="404" name="Google Shape;404;g39dcdded7dd_1_182"/>
          <p:cNvSpPr txBox="1">
            <a:spLocks noGrp="1"/>
          </p:cNvSpPr>
          <p:nvPr>
            <p:ph type="body" idx="1"/>
          </p:nvPr>
        </p:nvSpPr>
        <p:spPr>
          <a:xfrm>
            <a:off x="720000" y="1090350"/>
            <a:ext cx="7054800" cy="383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a:t>SAMed Models (LoRA-enhanced SAM)</a:t>
            </a:r>
            <a:endParaRPr sz="1200" b="1"/>
          </a:p>
          <a:p>
            <a:pPr marL="457200" lvl="0" indent="-304800" algn="l" rtl="0">
              <a:spcBef>
                <a:spcPts val="0"/>
              </a:spcBef>
              <a:spcAft>
                <a:spcPts val="0"/>
              </a:spcAft>
              <a:buSzPts val="1200"/>
              <a:buChar char="●"/>
            </a:pPr>
            <a:r>
              <a:rPr lang="en-US" sz="1200"/>
              <a:t>Performance: Moderate across 4 runs</a:t>
            </a:r>
            <a:endParaRPr sz="1200"/>
          </a:p>
          <a:p>
            <a:pPr marL="914400" lvl="1" indent="-304800" algn="l" rtl="0">
              <a:spcBef>
                <a:spcPts val="0"/>
              </a:spcBef>
              <a:spcAft>
                <a:spcPts val="0"/>
              </a:spcAft>
              <a:buSzPts val="1200"/>
              <a:buChar char="○"/>
            </a:pPr>
            <a:r>
              <a:rPr lang="en-US" sz="1200"/>
              <a:t>Validation DSC: 0.54 - 0.61</a:t>
            </a:r>
            <a:endParaRPr sz="1200"/>
          </a:p>
          <a:p>
            <a:pPr marL="914400" lvl="1" indent="-304800" algn="l" rtl="0">
              <a:spcBef>
                <a:spcPts val="0"/>
              </a:spcBef>
              <a:spcAft>
                <a:spcPts val="0"/>
              </a:spcAft>
              <a:buSzPts val="1200"/>
              <a:buChar char="○"/>
            </a:pPr>
            <a:r>
              <a:rPr lang="en-US" sz="1200"/>
              <a:t>Validation NSD: 0.50 - 0.55</a:t>
            </a:r>
            <a:endParaRPr sz="1200"/>
          </a:p>
          <a:p>
            <a:pPr marL="914400" lvl="1" indent="-304800" algn="l" rtl="0">
              <a:spcBef>
                <a:spcPts val="0"/>
              </a:spcBef>
              <a:spcAft>
                <a:spcPts val="0"/>
              </a:spcAft>
              <a:buSzPts val="1200"/>
              <a:buChar char="○"/>
            </a:pPr>
            <a:r>
              <a:rPr lang="en-US" sz="1200"/>
              <a:t>Test1 Leaderboard: 0.62 - 0.68</a:t>
            </a:r>
            <a:endParaRPr sz="1200"/>
          </a:p>
          <a:p>
            <a:pPr marL="457200" lvl="0" indent="-304800" algn="l" rtl="0">
              <a:spcBef>
                <a:spcPts val="0"/>
              </a:spcBef>
              <a:spcAft>
                <a:spcPts val="0"/>
              </a:spcAft>
              <a:buSzPts val="1200"/>
              <a:buChar char="●"/>
            </a:pPr>
            <a:r>
              <a:rPr lang="en-US" sz="1200"/>
              <a:t>Best: Run 1 (DSC: 0.6119, NSD: 0.5557)</a:t>
            </a:r>
            <a:endParaRPr sz="1000" i="1"/>
          </a:p>
          <a:p>
            <a:pPr marL="0" lvl="0" indent="0" algn="l" rtl="0">
              <a:spcBef>
                <a:spcPts val="0"/>
              </a:spcBef>
              <a:spcAft>
                <a:spcPts val="0"/>
              </a:spcAft>
              <a:buNone/>
            </a:pPr>
            <a:endParaRPr sz="1200"/>
          </a:p>
          <a:p>
            <a:pPr marL="0" lvl="0" indent="0" algn="l" rtl="0">
              <a:spcBef>
                <a:spcPts val="0"/>
              </a:spcBef>
              <a:spcAft>
                <a:spcPts val="0"/>
              </a:spcAft>
              <a:buNone/>
            </a:pPr>
            <a:r>
              <a:rPr lang="en-US" sz="1200" b="1"/>
              <a:t>TotalSegmentator Models (TS_3d_lowres)</a:t>
            </a:r>
            <a:endParaRPr sz="1200" b="1"/>
          </a:p>
          <a:p>
            <a:pPr marL="457200" lvl="0" indent="-304800" algn="l" rtl="0">
              <a:spcBef>
                <a:spcPts val="0"/>
              </a:spcBef>
              <a:spcAft>
                <a:spcPts val="0"/>
              </a:spcAft>
              <a:buSzPts val="1200"/>
              <a:buChar char="●"/>
            </a:pPr>
            <a:r>
              <a:rPr lang="en-US" sz="1200"/>
              <a:t>Performance: Higher and consistent across 5 folds</a:t>
            </a:r>
            <a:endParaRPr sz="1200"/>
          </a:p>
          <a:p>
            <a:pPr marL="914400" lvl="1" indent="-304800" algn="l" rtl="0">
              <a:spcBef>
                <a:spcPts val="0"/>
              </a:spcBef>
              <a:spcAft>
                <a:spcPts val="0"/>
              </a:spcAft>
              <a:buSzPts val="1200"/>
              <a:buChar char="○"/>
            </a:pPr>
            <a:r>
              <a:rPr lang="en-US"/>
              <a:t>Validation DSC: 0.86 - 0.87</a:t>
            </a:r>
            <a:endParaRPr/>
          </a:p>
          <a:p>
            <a:pPr marL="914400" lvl="1" indent="-304800" algn="l" rtl="0">
              <a:spcBef>
                <a:spcPts val="0"/>
              </a:spcBef>
              <a:spcAft>
                <a:spcPts val="0"/>
              </a:spcAft>
              <a:buSzPts val="1200"/>
              <a:buChar char="○"/>
            </a:pPr>
            <a:r>
              <a:rPr lang="en-US"/>
              <a:t>Validation NSD: 0.88 - 0.90</a:t>
            </a:r>
            <a:endParaRPr/>
          </a:p>
          <a:p>
            <a:pPr marL="914400" lvl="1" indent="-304800" algn="l" rtl="0">
              <a:spcBef>
                <a:spcPts val="0"/>
              </a:spcBef>
              <a:spcAft>
                <a:spcPts val="0"/>
              </a:spcAft>
              <a:buSzPts val="1200"/>
              <a:buChar char="○"/>
            </a:pPr>
            <a:r>
              <a:rPr lang="en-US"/>
              <a:t>Test1 Leaderboard: 0.88 - 0.89</a:t>
            </a:r>
            <a:endParaRPr/>
          </a:p>
          <a:p>
            <a:pPr marL="457200" lvl="0" indent="-304800" algn="l" rtl="0">
              <a:spcBef>
                <a:spcPts val="0"/>
              </a:spcBef>
              <a:spcAft>
                <a:spcPts val="0"/>
              </a:spcAft>
              <a:buSzPts val="1200"/>
              <a:buChar char="●"/>
            </a:pPr>
            <a:r>
              <a:rPr lang="en-US" sz="1200"/>
              <a:t>Best: Fold 4 (DSC: 0.8725, NSD: 0.9008)</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US" b="1"/>
              <a:t>Conclusion</a:t>
            </a:r>
            <a:endParaRPr b="1"/>
          </a:p>
          <a:p>
            <a:pPr marL="457200" lvl="0" indent="-304800" algn="l" rtl="0">
              <a:spcBef>
                <a:spcPts val="0"/>
              </a:spcBef>
              <a:spcAft>
                <a:spcPts val="0"/>
              </a:spcAft>
              <a:buSzPts val="1200"/>
              <a:buChar char="●"/>
            </a:pPr>
            <a:r>
              <a:rPr lang="en-US" sz="1200"/>
              <a:t>TotalSegmentator significantly outperforms SAMed </a:t>
            </a:r>
            <a:endParaRPr sz="1200"/>
          </a:p>
          <a:p>
            <a:pPr marL="457200" lvl="0" indent="457200" algn="l" rtl="0">
              <a:spcBef>
                <a:spcPts val="0"/>
              </a:spcBef>
              <a:spcAft>
                <a:spcPts val="0"/>
              </a:spcAft>
              <a:buNone/>
            </a:pPr>
            <a:r>
              <a:rPr lang="en-US" sz="1100" b="1" i="1"/>
              <a:t>~44%</a:t>
            </a:r>
            <a:r>
              <a:rPr lang="en-US" sz="1100" i="1"/>
              <a:t> improvement in DSC, </a:t>
            </a:r>
            <a:r>
              <a:rPr lang="en-US" sz="1100" b="1" i="1"/>
              <a:t>~62.7%</a:t>
            </a:r>
            <a:r>
              <a:rPr lang="en-US" sz="1100" i="1"/>
              <a:t> improvement in NSD</a:t>
            </a:r>
            <a:endParaRPr sz="1100" i="1"/>
          </a:p>
          <a:p>
            <a:pPr marL="457200" lvl="0" indent="0" algn="l" rtl="0">
              <a:spcBef>
                <a:spcPts val="0"/>
              </a:spcBef>
              <a:spcAft>
                <a:spcPts val="0"/>
              </a:spcAft>
              <a:buNone/>
            </a:pPr>
            <a:endParaRPr sz="1200"/>
          </a:p>
        </p:txBody>
      </p:sp>
      <p:sp>
        <p:nvSpPr>
          <p:cNvPr id="405" name="Google Shape;405;g39dcdded7dd_1_18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406" name="Google Shape;406;g39dcdded7dd_1_182"/>
          <p:cNvGrpSpPr/>
          <p:nvPr/>
        </p:nvGrpSpPr>
        <p:grpSpPr>
          <a:xfrm>
            <a:off x="5095329" y="1213182"/>
            <a:ext cx="3663377" cy="2318999"/>
            <a:chOff x="5049811" y="1213182"/>
            <a:chExt cx="3663377" cy="2318999"/>
          </a:xfrm>
        </p:grpSpPr>
        <p:pic>
          <p:nvPicPr>
            <p:cNvPr id="407" name="Google Shape;407;g39dcdded7dd_1_182"/>
            <p:cNvPicPr preferRelativeResize="0"/>
            <p:nvPr/>
          </p:nvPicPr>
          <p:blipFill>
            <a:blip r:embed="rId3">
              <a:alphaModFix/>
            </a:blip>
            <a:stretch>
              <a:fillRect/>
            </a:stretch>
          </p:blipFill>
          <p:spPr>
            <a:xfrm>
              <a:off x="5049811" y="1213182"/>
              <a:ext cx="3663377" cy="2318999"/>
            </a:xfrm>
            <a:prstGeom prst="rect">
              <a:avLst/>
            </a:prstGeom>
            <a:noFill/>
            <a:ln>
              <a:noFill/>
            </a:ln>
          </p:spPr>
        </p:pic>
        <p:sp>
          <p:nvSpPr>
            <p:cNvPr id="408" name="Google Shape;408;g39dcdded7dd_1_182"/>
            <p:cNvSpPr/>
            <p:nvPr/>
          </p:nvSpPr>
          <p:spPr>
            <a:xfrm>
              <a:off x="5061582" y="1401950"/>
              <a:ext cx="2658300" cy="1580100"/>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grpSp>
      <p:cxnSp>
        <p:nvCxnSpPr>
          <p:cNvPr id="409" name="Google Shape;409;g39dcdded7dd_1_182"/>
          <p:cNvCxnSpPr/>
          <p:nvPr/>
        </p:nvCxnSpPr>
        <p:spPr>
          <a:xfrm>
            <a:off x="6690075" y="3906225"/>
            <a:ext cx="9000" cy="4155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g39f16969047_2_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US"/>
              <a:t>Results - </a:t>
            </a:r>
            <a:r>
              <a:rPr lang="en-US" sz="2600"/>
              <a:t>Top Performers (Ensemble Methods)</a:t>
            </a:r>
            <a:endParaRPr sz="2600"/>
          </a:p>
        </p:txBody>
      </p:sp>
      <p:sp>
        <p:nvSpPr>
          <p:cNvPr id="415" name="Google Shape;415;g39f16969047_2_1"/>
          <p:cNvSpPr txBox="1">
            <a:spLocks noGrp="1"/>
          </p:cNvSpPr>
          <p:nvPr>
            <p:ph type="body" idx="1"/>
          </p:nvPr>
        </p:nvSpPr>
        <p:spPr>
          <a:xfrm>
            <a:off x="720000" y="1017725"/>
            <a:ext cx="8028600" cy="40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p>
          <a:p>
            <a:pPr marL="457200" lvl="0" indent="-304800" algn="l" rtl="0">
              <a:spcBef>
                <a:spcPts val="0"/>
              </a:spcBef>
              <a:spcAft>
                <a:spcPts val="0"/>
              </a:spcAft>
              <a:buSzPts val="1200"/>
              <a:buChar char="●"/>
            </a:pPr>
            <a:r>
              <a:rPr lang="en-US" sz="1200" b="1"/>
              <a:t>TS ensemble lowres (5 models) </a:t>
            </a:r>
            <a:endParaRPr sz="1200" b="1"/>
          </a:p>
          <a:p>
            <a:pPr marL="914400" lvl="1" indent="-304800" algn="l" rtl="0">
              <a:spcBef>
                <a:spcPts val="0"/>
              </a:spcBef>
              <a:spcAft>
                <a:spcPts val="0"/>
              </a:spcAft>
              <a:buSzPts val="1200"/>
              <a:buChar char="○"/>
            </a:pPr>
            <a:r>
              <a:rPr lang="en-US"/>
              <a:t>Val DSC: 0.877</a:t>
            </a:r>
            <a:endParaRPr/>
          </a:p>
          <a:p>
            <a:pPr marL="914400" lvl="1" indent="-304800" algn="l" rtl="0">
              <a:spcBef>
                <a:spcPts val="0"/>
              </a:spcBef>
              <a:spcAft>
                <a:spcPts val="0"/>
              </a:spcAft>
              <a:buSzPts val="1200"/>
              <a:buChar char="○"/>
            </a:pPr>
            <a:r>
              <a:rPr lang="en-US"/>
              <a:t>Val NSD: 0.905</a:t>
            </a:r>
            <a:endParaRPr/>
          </a:p>
          <a:p>
            <a:pPr marL="914400" lvl="1" indent="-304800" algn="l" rtl="0">
              <a:spcBef>
                <a:spcPts val="0"/>
              </a:spcBef>
              <a:spcAft>
                <a:spcPts val="0"/>
              </a:spcAft>
              <a:buSzPts val="1200"/>
              <a:buChar char="○"/>
            </a:pPr>
            <a:r>
              <a:rPr lang="en-US"/>
              <a:t>Test1 Leaderboard: 0.900</a:t>
            </a:r>
            <a:endParaRPr/>
          </a:p>
          <a:p>
            <a:pPr marL="914400" lvl="1" indent="-304800" algn="l" rtl="0">
              <a:spcBef>
                <a:spcPts val="0"/>
              </a:spcBef>
              <a:spcAft>
                <a:spcPts val="0"/>
              </a:spcAft>
              <a:buSzPts val="1200"/>
              <a:buChar char="○"/>
            </a:pPr>
            <a:r>
              <a:rPr lang="en-US"/>
              <a:t>Test2 Leaderboard: 0.887</a:t>
            </a:r>
            <a:endParaRPr/>
          </a:p>
          <a:p>
            <a:pPr marL="457200" lvl="0" indent="-304800" algn="l" rtl="0">
              <a:spcBef>
                <a:spcPts val="0"/>
              </a:spcBef>
              <a:spcAft>
                <a:spcPts val="0"/>
              </a:spcAft>
              <a:buSzPts val="1200"/>
              <a:buChar char="●"/>
            </a:pPr>
            <a:r>
              <a:rPr lang="en-US" sz="1200" b="1"/>
              <a:t>TS ensemble all (6 models) </a:t>
            </a:r>
            <a:r>
              <a:rPr lang="en-US" sz="1200"/>
              <a:t>⭐</a:t>
            </a:r>
            <a:endParaRPr sz="1200"/>
          </a:p>
          <a:p>
            <a:pPr marL="914400" lvl="1" indent="-304800" algn="l" rtl="0">
              <a:spcBef>
                <a:spcPts val="0"/>
              </a:spcBef>
              <a:spcAft>
                <a:spcPts val="0"/>
              </a:spcAft>
              <a:buSzPts val="1200"/>
              <a:buChar char="○"/>
            </a:pPr>
            <a:r>
              <a:rPr lang="en-US"/>
              <a:t>Val DSC: 0.876</a:t>
            </a:r>
            <a:endParaRPr/>
          </a:p>
          <a:p>
            <a:pPr marL="914400" lvl="1" indent="-304800" algn="l" rtl="0">
              <a:spcBef>
                <a:spcPts val="0"/>
              </a:spcBef>
              <a:spcAft>
                <a:spcPts val="0"/>
              </a:spcAft>
              <a:buSzPts val="1200"/>
              <a:buChar char="○"/>
            </a:pPr>
            <a:r>
              <a:rPr lang="en-US"/>
              <a:t>Val NSD: 0.903</a:t>
            </a:r>
            <a:endParaRPr/>
          </a:p>
          <a:p>
            <a:pPr marL="914400" lvl="1" indent="-304800" algn="l" rtl="0">
              <a:spcBef>
                <a:spcPts val="0"/>
              </a:spcBef>
              <a:spcAft>
                <a:spcPts val="0"/>
              </a:spcAft>
              <a:buSzPts val="1200"/>
              <a:buChar char="○"/>
            </a:pPr>
            <a:r>
              <a:rPr lang="en-US"/>
              <a:t>Test1 Leaderboard: 0.901</a:t>
            </a:r>
            <a:endParaRPr/>
          </a:p>
          <a:p>
            <a:pPr marL="914400" lvl="1" indent="-304800" algn="l" rtl="0">
              <a:spcBef>
                <a:spcPts val="0"/>
              </a:spcBef>
              <a:spcAft>
                <a:spcPts val="0"/>
              </a:spcAft>
              <a:buSzPts val="1200"/>
              <a:buChar char="○"/>
            </a:pPr>
            <a:r>
              <a:rPr lang="en-US"/>
              <a:t>Test2 Leaderboard: 0.890</a:t>
            </a:r>
            <a:endParaRPr/>
          </a:p>
          <a:p>
            <a:pPr marL="0" lvl="0" indent="0" algn="l" rtl="0">
              <a:spcBef>
                <a:spcPts val="0"/>
              </a:spcBef>
              <a:spcAft>
                <a:spcPts val="0"/>
              </a:spcAft>
              <a:buNone/>
            </a:pPr>
            <a:r>
              <a:rPr lang="en-US"/>
              <a:t>	</a:t>
            </a:r>
            <a:r>
              <a:rPr lang="en-US" sz="1200"/>
              <a:t>			</a:t>
            </a:r>
            <a:r>
              <a:rPr lang="en-US" sz="1100" b="1" i="1"/>
              <a:t>+0.23% </a:t>
            </a:r>
            <a:r>
              <a:rPr lang="en-US" sz="1100" i="1"/>
              <a:t>unseen data</a:t>
            </a:r>
            <a:endParaRPr sz="1300" i="1"/>
          </a:p>
          <a:p>
            <a:pPr marL="0" lvl="0" indent="0" algn="l" rtl="0">
              <a:spcBef>
                <a:spcPts val="0"/>
              </a:spcBef>
              <a:spcAft>
                <a:spcPts val="0"/>
              </a:spcAft>
              <a:buNone/>
            </a:pPr>
            <a:endParaRPr b="1"/>
          </a:p>
          <a:p>
            <a:pPr marL="0" lvl="0" indent="0" algn="l" rtl="0">
              <a:spcBef>
                <a:spcPts val="0"/>
              </a:spcBef>
              <a:spcAft>
                <a:spcPts val="0"/>
              </a:spcAft>
              <a:buNone/>
            </a:pPr>
            <a:r>
              <a:rPr lang="en-US" b="1"/>
              <a:t>Conclusion</a:t>
            </a:r>
            <a:endParaRPr sz="1200"/>
          </a:p>
          <a:p>
            <a:pPr marL="457200" lvl="0" indent="-304800" algn="l" rtl="0">
              <a:spcBef>
                <a:spcPts val="0"/>
              </a:spcBef>
              <a:spcAft>
                <a:spcPts val="0"/>
              </a:spcAft>
              <a:buSzPts val="1200"/>
              <a:buChar char="●"/>
            </a:pPr>
            <a:r>
              <a:rPr lang="en-US" sz="1200"/>
              <a:t>Both ensemble methods show only marginal improvements over individual folds</a:t>
            </a:r>
            <a:endParaRPr sz="1200"/>
          </a:p>
          <a:p>
            <a:pPr marL="457200" lvl="0" indent="-304800" algn="l" rtl="0">
              <a:spcBef>
                <a:spcPts val="0"/>
              </a:spcBef>
              <a:spcAft>
                <a:spcPts val="0"/>
              </a:spcAft>
              <a:buSzPts val="1200"/>
              <a:buChar char="●"/>
            </a:pPr>
            <a:r>
              <a:rPr lang="en-US" sz="1200"/>
              <a:t>TS ensemble all method delivers better performance on the actual test sets</a:t>
            </a:r>
            <a:endParaRPr/>
          </a:p>
        </p:txBody>
      </p:sp>
      <p:sp>
        <p:nvSpPr>
          <p:cNvPr id="416" name="Google Shape;416;g39f16969047_2_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417" name="Google Shape;417;g39f16969047_2_1"/>
          <p:cNvGrpSpPr/>
          <p:nvPr/>
        </p:nvGrpSpPr>
        <p:grpSpPr>
          <a:xfrm>
            <a:off x="4597923" y="1322395"/>
            <a:ext cx="4004360" cy="2534770"/>
            <a:chOff x="4419500" y="1131275"/>
            <a:chExt cx="4301600" cy="2722925"/>
          </a:xfrm>
        </p:grpSpPr>
        <p:pic>
          <p:nvPicPr>
            <p:cNvPr id="418" name="Google Shape;418;g39f16969047_2_1"/>
            <p:cNvPicPr preferRelativeResize="0"/>
            <p:nvPr/>
          </p:nvPicPr>
          <p:blipFill>
            <a:blip r:embed="rId3">
              <a:alphaModFix/>
            </a:blip>
            <a:stretch>
              <a:fillRect/>
            </a:stretch>
          </p:blipFill>
          <p:spPr>
            <a:xfrm>
              <a:off x="4419500" y="1131275"/>
              <a:ext cx="4301451" cy="2722925"/>
            </a:xfrm>
            <a:prstGeom prst="rect">
              <a:avLst/>
            </a:prstGeom>
            <a:noFill/>
            <a:ln>
              <a:noFill/>
            </a:ln>
          </p:spPr>
        </p:pic>
        <p:sp>
          <p:nvSpPr>
            <p:cNvPr id="419" name="Google Shape;419;g39f16969047_2_1"/>
            <p:cNvSpPr/>
            <p:nvPr/>
          </p:nvSpPr>
          <p:spPr>
            <a:xfrm>
              <a:off x="4437700" y="3439150"/>
              <a:ext cx="4283400" cy="393600"/>
            </a:xfrm>
            <a:prstGeom prst="rect">
              <a:avLst/>
            </a:prstGeom>
            <a:noFill/>
            <a:ln w="17725" cap="flat" cmpd="sng">
              <a:solidFill>
                <a:srgbClr val="0000FF"/>
              </a:solidFill>
              <a:prstDash val="solid"/>
              <a:round/>
              <a:headEnd type="none" w="sm" len="sm"/>
              <a:tailEnd type="none" w="sm" len="sm"/>
            </a:ln>
          </p:spPr>
          <p:txBody>
            <a:bodyPr spcFirstLastPara="1" wrap="square" lIns="85100" tIns="85100" rIns="85100" bIns="85100" anchor="ctr" anchorCtr="0">
              <a:noAutofit/>
            </a:bodyPr>
            <a:lstStyle/>
            <a:p>
              <a:pPr marL="0" lvl="0" indent="0" algn="ctr" rtl="0">
                <a:spcBef>
                  <a:spcPts val="0"/>
                </a:spcBef>
                <a:spcAft>
                  <a:spcPts val="0"/>
                </a:spcAft>
                <a:buNone/>
              </a:pPr>
              <a:endParaRPr sz="1303">
                <a:solidFill>
                  <a:schemeClr val="dk1"/>
                </a:solidFill>
                <a:latin typeface="Open Sans"/>
                <a:ea typeface="Open Sans"/>
                <a:cs typeface="Open Sans"/>
                <a:sym typeface="Open Sans"/>
              </a:endParaRPr>
            </a:p>
          </p:txBody>
        </p:sp>
      </p:grpSp>
      <p:sp>
        <p:nvSpPr>
          <p:cNvPr id="420" name="Google Shape;420;g39f16969047_2_1"/>
          <p:cNvSpPr/>
          <p:nvPr/>
        </p:nvSpPr>
        <p:spPr>
          <a:xfrm>
            <a:off x="5782964" y="2937405"/>
            <a:ext cx="222300" cy="500700"/>
          </a:xfrm>
          <a:prstGeom prst="downArrow">
            <a:avLst>
              <a:gd name="adj1" fmla="val 50000"/>
              <a:gd name="adj2" fmla="val 50000"/>
            </a:avLst>
          </a:prstGeom>
          <a:solidFill>
            <a:schemeClr val="lt2"/>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g398c53b899c_1_3"/>
          <p:cNvSpPr/>
          <p:nvPr/>
        </p:nvSpPr>
        <p:spPr>
          <a:xfrm>
            <a:off x="662425" y="1393025"/>
            <a:ext cx="8036700" cy="3479700"/>
          </a:xfrm>
          <a:prstGeom prst="roundRect">
            <a:avLst>
              <a:gd name="adj" fmla="val 9596"/>
            </a:avLst>
          </a:prstGeom>
          <a:solidFill>
            <a:srgbClr val="2628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sp>
        <p:nvSpPr>
          <p:cNvPr id="426" name="Google Shape;426;g398c53b899c_1_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US"/>
              <a:t>Discussion</a:t>
            </a:r>
            <a:endParaRPr/>
          </a:p>
        </p:txBody>
      </p:sp>
      <p:sp>
        <p:nvSpPr>
          <p:cNvPr id="427" name="Google Shape;427;g398c53b899c_1_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22</a:t>
            </a:fld>
            <a:endParaRPr/>
          </a:p>
        </p:txBody>
      </p:sp>
      <p:graphicFrame>
        <p:nvGraphicFramePr>
          <p:cNvPr id="428" name="Google Shape;428;g398c53b899c_1_3"/>
          <p:cNvGraphicFramePr/>
          <p:nvPr/>
        </p:nvGraphicFramePr>
        <p:xfrm>
          <a:off x="841468" y="1523197"/>
          <a:ext cx="7674775" cy="3238326"/>
        </p:xfrm>
        <a:graphic>
          <a:graphicData uri="http://schemas.openxmlformats.org/drawingml/2006/table">
            <a:tbl>
              <a:tblPr>
                <a:noFill/>
                <a:tableStyleId>{2A7876C2-90C0-4B93-85D5-C01E0D184563}</a:tableStyleId>
              </a:tblPr>
              <a:tblGrid>
                <a:gridCol w="1574725">
                  <a:extLst>
                    <a:ext uri="{9D8B030D-6E8A-4147-A177-3AD203B41FA5}">
                      <a16:colId xmlns:a16="http://schemas.microsoft.com/office/drawing/2014/main" val="20000"/>
                    </a:ext>
                  </a:extLst>
                </a:gridCol>
                <a:gridCol w="3391300">
                  <a:extLst>
                    <a:ext uri="{9D8B030D-6E8A-4147-A177-3AD203B41FA5}">
                      <a16:colId xmlns:a16="http://schemas.microsoft.com/office/drawing/2014/main" val="20001"/>
                    </a:ext>
                  </a:extLst>
                </a:gridCol>
                <a:gridCol w="2708750">
                  <a:extLst>
                    <a:ext uri="{9D8B030D-6E8A-4147-A177-3AD203B41FA5}">
                      <a16:colId xmlns:a16="http://schemas.microsoft.com/office/drawing/2014/main" val="20002"/>
                    </a:ext>
                  </a:extLst>
                </a:gridCol>
              </a:tblGrid>
              <a:tr h="428800">
                <a:tc>
                  <a:txBody>
                    <a:bodyPr/>
                    <a:lstStyle/>
                    <a:p>
                      <a:pPr marL="0" lvl="0" indent="0" algn="ctr" rtl="0">
                        <a:lnSpc>
                          <a:spcPct val="80000"/>
                        </a:lnSpc>
                        <a:spcBef>
                          <a:spcPts val="0"/>
                        </a:spcBef>
                        <a:spcAft>
                          <a:spcPts val="0"/>
                        </a:spcAft>
                        <a:buNone/>
                      </a:pPr>
                      <a:endParaRPr sz="1000"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lt1"/>
                        </a:buClr>
                        <a:buSzPts val="1100"/>
                        <a:buFont typeface="Arial"/>
                        <a:buNone/>
                      </a:pPr>
                      <a:r>
                        <a:rPr lang="en-US" sz="1500" b="1">
                          <a:solidFill>
                            <a:schemeClr val="dk1"/>
                          </a:solidFill>
                          <a:latin typeface="Open Sans"/>
                          <a:ea typeface="Open Sans"/>
                          <a:cs typeface="Open Sans"/>
                          <a:sym typeface="Open Sans"/>
                        </a:rPr>
                        <a:t>TotalSegmentator</a:t>
                      </a:r>
                      <a:endParaRPr sz="1000"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lt1"/>
                        </a:buClr>
                        <a:buSzPts val="1100"/>
                        <a:buFont typeface="Arial"/>
                        <a:buNone/>
                      </a:pPr>
                      <a:r>
                        <a:rPr lang="en-US" sz="1500" b="1">
                          <a:solidFill>
                            <a:schemeClr val="dk1"/>
                          </a:solidFill>
                          <a:latin typeface="Open Sans"/>
                          <a:ea typeface="Open Sans"/>
                          <a:cs typeface="Open Sans"/>
                          <a:sym typeface="Open Sans"/>
                        </a:rPr>
                        <a:t>SAMed</a:t>
                      </a:r>
                      <a:endParaRPr sz="1000"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01500">
                <a:tc>
                  <a:txBody>
                    <a:bodyPr/>
                    <a:lstStyle/>
                    <a:p>
                      <a:pPr marL="0" lvl="0" indent="0" algn="l" rtl="0">
                        <a:lnSpc>
                          <a:spcPct val="115000"/>
                        </a:lnSpc>
                        <a:spcBef>
                          <a:spcPts val="0"/>
                        </a:spcBef>
                        <a:spcAft>
                          <a:spcPts val="0"/>
                        </a:spcAft>
                        <a:buNone/>
                      </a:pPr>
                      <a:r>
                        <a:rPr lang="en-US" b="1">
                          <a:solidFill>
                            <a:schemeClr val="dk1"/>
                          </a:solidFill>
                          <a:latin typeface="Open Sans"/>
                          <a:ea typeface="Open Sans"/>
                          <a:cs typeface="Open Sans"/>
                          <a:sym typeface="Open Sans"/>
                        </a:rPr>
                        <a:t>Training Data </a:t>
                      </a:r>
                      <a:endParaRPr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200">
                          <a:solidFill>
                            <a:schemeClr val="dk1"/>
                          </a:solidFill>
                          <a:latin typeface="Open Sans"/>
                          <a:ea typeface="Open Sans"/>
                          <a:cs typeface="Open Sans"/>
                          <a:sym typeface="Open Sans"/>
                        </a:rPr>
                        <a:t>Thousands of full-body CT scans</a:t>
                      </a:r>
                      <a:endParaRPr sz="1200">
                        <a:solidFill>
                          <a:schemeClr val="dk1"/>
                        </a:solidFill>
                        <a:latin typeface="Open Sans"/>
                        <a:ea typeface="Open Sans"/>
                        <a:cs typeface="Open Sans"/>
                        <a:sym typeface="Open Sans"/>
                      </a:endParaRPr>
                    </a:p>
                    <a:p>
                      <a:pPr marL="0" lvl="0" indent="0" algn="l" rtl="0">
                        <a:spcBef>
                          <a:spcPts val="0"/>
                        </a:spcBef>
                        <a:spcAft>
                          <a:spcPts val="0"/>
                        </a:spcAft>
                        <a:buNone/>
                      </a:pPr>
                      <a:r>
                        <a:rPr lang="en-US" sz="1200">
                          <a:solidFill>
                            <a:schemeClr val="dk1"/>
                          </a:solidFill>
                          <a:latin typeface="Open Sans"/>
                          <a:ea typeface="Open Sans"/>
                          <a:cs typeface="Open Sans"/>
                          <a:sym typeface="Open Sans"/>
                        </a:rPr>
                        <a:t>All 12 target classes pretrained</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200">
                          <a:solidFill>
                            <a:schemeClr val="dk1"/>
                          </a:solidFill>
                          <a:latin typeface="Open Sans"/>
                          <a:ea typeface="Open Sans"/>
                          <a:cs typeface="Open Sans"/>
                          <a:sym typeface="Open Sans"/>
                        </a:rPr>
                        <a:t>Small mixed-modality dataset</a:t>
                      </a:r>
                      <a:endParaRPr sz="1200">
                        <a:solidFill>
                          <a:schemeClr val="dk1"/>
                        </a:solidFill>
                        <a:latin typeface="Open Sans"/>
                        <a:ea typeface="Open Sans"/>
                        <a:cs typeface="Open Sans"/>
                        <a:sym typeface="Open Sans"/>
                      </a:endParaRPr>
                    </a:p>
                    <a:p>
                      <a:pPr marL="0" lvl="0" indent="0" algn="l" rtl="0">
                        <a:spcBef>
                          <a:spcPts val="0"/>
                        </a:spcBef>
                        <a:spcAft>
                          <a:spcPts val="0"/>
                        </a:spcAft>
                        <a:buNone/>
                      </a:pPr>
                      <a:r>
                        <a:rPr lang="en-US" sz="1200">
                          <a:solidFill>
                            <a:schemeClr val="dk1"/>
                          </a:solidFill>
                          <a:latin typeface="Open Sans"/>
                          <a:ea typeface="Open Sans"/>
                          <a:cs typeface="Open Sans"/>
                          <a:sym typeface="Open Sans"/>
                        </a:rPr>
                        <a:t>Only 8 classes</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37825">
                <a:tc>
                  <a:txBody>
                    <a:bodyPr/>
                    <a:lstStyle/>
                    <a:p>
                      <a:pPr marL="0" lvl="0" indent="0" algn="l" rtl="0">
                        <a:lnSpc>
                          <a:spcPct val="115000"/>
                        </a:lnSpc>
                        <a:spcBef>
                          <a:spcPts val="0"/>
                        </a:spcBef>
                        <a:spcAft>
                          <a:spcPts val="0"/>
                        </a:spcAft>
                        <a:buNone/>
                      </a:pPr>
                      <a:r>
                        <a:rPr lang="en-US" b="1">
                          <a:solidFill>
                            <a:schemeClr val="dk1"/>
                          </a:solidFill>
                          <a:latin typeface="Open Sans"/>
                          <a:ea typeface="Open Sans"/>
                          <a:cs typeface="Open Sans"/>
                          <a:sym typeface="Open Sans"/>
                        </a:rPr>
                        <a:t>Architecture</a:t>
                      </a:r>
                      <a:endParaRPr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chemeClr val="dk1"/>
                          </a:solidFill>
                          <a:latin typeface="Open Sans"/>
                          <a:ea typeface="Open Sans"/>
                          <a:cs typeface="Open Sans"/>
                          <a:sym typeface="Open Sans"/>
                        </a:rPr>
                        <a:t>nnU-Net: Fully convolutional</a:t>
                      </a:r>
                      <a:endParaRPr sz="1200">
                        <a:solidFill>
                          <a:schemeClr val="dk1"/>
                        </a:solidFill>
                        <a:latin typeface="Open Sans"/>
                        <a:ea typeface="Open Sans"/>
                        <a:cs typeface="Open Sans"/>
                        <a:sym typeface="Open Sans"/>
                      </a:endParaRPr>
                    </a:p>
                    <a:p>
                      <a:pPr marL="0" lvl="0" indent="0" algn="l" rtl="0">
                        <a:lnSpc>
                          <a:spcPct val="115000"/>
                        </a:lnSpc>
                        <a:spcBef>
                          <a:spcPts val="0"/>
                        </a:spcBef>
                        <a:spcAft>
                          <a:spcPts val="0"/>
                        </a:spcAft>
                        <a:buNone/>
                      </a:pPr>
                      <a:r>
                        <a:rPr lang="en-US" sz="1200">
                          <a:solidFill>
                            <a:schemeClr val="dk1"/>
                          </a:solidFill>
                          <a:latin typeface="Open Sans"/>
                          <a:ea typeface="Open Sans"/>
                          <a:cs typeface="Open Sans"/>
                          <a:sym typeface="Open Sans"/>
                        </a:rPr>
                        <a:t>Purpose-built for 3D medical imaging</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80000"/>
                        </a:lnSpc>
                        <a:spcBef>
                          <a:spcPts val="0"/>
                        </a:spcBef>
                        <a:spcAft>
                          <a:spcPts val="0"/>
                        </a:spcAft>
                        <a:buNone/>
                      </a:pPr>
                      <a:r>
                        <a:rPr lang="en-US" sz="1200">
                          <a:solidFill>
                            <a:schemeClr val="dk1"/>
                          </a:solidFill>
                          <a:latin typeface="Open Sans"/>
                          <a:ea typeface="Open Sans"/>
                          <a:cs typeface="Open Sans"/>
                          <a:sym typeface="Open Sans"/>
                        </a:rPr>
                        <a:t>2D ViT adapted from SAM</a:t>
                      </a:r>
                      <a:endParaRPr sz="1200">
                        <a:solidFill>
                          <a:schemeClr val="dk1"/>
                        </a:solidFill>
                        <a:latin typeface="Open Sans"/>
                        <a:ea typeface="Open Sans"/>
                        <a:cs typeface="Open Sans"/>
                        <a:sym typeface="Open Sans"/>
                      </a:endParaRPr>
                    </a:p>
                    <a:p>
                      <a:pPr marL="0" lvl="0" indent="0" algn="l" rtl="0">
                        <a:lnSpc>
                          <a:spcPct val="80000"/>
                        </a:lnSpc>
                        <a:spcBef>
                          <a:spcPts val="0"/>
                        </a:spcBef>
                        <a:spcAft>
                          <a:spcPts val="0"/>
                        </a:spcAft>
                        <a:buNone/>
                      </a:pPr>
                      <a:r>
                        <a:rPr lang="en-US" sz="1200">
                          <a:solidFill>
                            <a:schemeClr val="dk1"/>
                          </a:solidFill>
                          <a:latin typeface="Open Sans"/>
                          <a:ea typeface="Open Sans"/>
                          <a:cs typeface="Open Sans"/>
                          <a:sym typeface="Open Sans"/>
                        </a:rPr>
                        <a:t>Designed for natural images</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28800">
                <a:tc>
                  <a:txBody>
                    <a:bodyPr/>
                    <a:lstStyle/>
                    <a:p>
                      <a:pPr marL="0" lvl="0" indent="0" algn="l" rtl="0">
                        <a:lnSpc>
                          <a:spcPct val="115000"/>
                        </a:lnSpc>
                        <a:spcBef>
                          <a:spcPts val="0"/>
                        </a:spcBef>
                        <a:spcAft>
                          <a:spcPts val="0"/>
                        </a:spcAft>
                        <a:buClr>
                          <a:schemeClr val="lt1"/>
                        </a:buClr>
                        <a:buSzPts val="1100"/>
                        <a:buFont typeface="Arial"/>
                        <a:buNone/>
                      </a:pPr>
                      <a:r>
                        <a:rPr lang="en-US" b="1">
                          <a:solidFill>
                            <a:schemeClr val="dk1"/>
                          </a:solidFill>
                          <a:latin typeface="Open Sans"/>
                          <a:ea typeface="Open Sans"/>
                          <a:cs typeface="Open Sans"/>
                          <a:sym typeface="Open Sans"/>
                        </a:rPr>
                        <a:t>Processing</a:t>
                      </a:r>
                      <a:endParaRPr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80000"/>
                        </a:lnSpc>
                        <a:spcBef>
                          <a:spcPts val="0"/>
                        </a:spcBef>
                        <a:spcAft>
                          <a:spcPts val="0"/>
                        </a:spcAft>
                        <a:buClr>
                          <a:schemeClr val="lt1"/>
                        </a:buClr>
                        <a:buSzPts val="1100"/>
                        <a:buFont typeface="Arial"/>
                        <a:buNone/>
                      </a:pPr>
                      <a:r>
                        <a:rPr lang="en-US" sz="1200">
                          <a:solidFill>
                            <a:schemeClr val="dk1"/>
                          </a:solidFill>
                          <a:latin typeface="Open Sans"/>
                          <a:ea typeface="Open Sans"/>
                          <a:cs typeface="Open Sans"/>
                          <a:sym typeface="Open Sans"/>
                        </a:rPr>
                        <a:t>Native 3D pipeline + post-processing filters </a:t>
                      </a:r>
                      <a:endParaRPr sz="1200">
                        <a:solidFill>
                          <a:schemeClr val="dk1"/>
                        </a:solidFill>
                        <a:latin typeface="Open Sans"/>
                        <a:ea typeface="Open Sans"/>
                        <a:cs typeface="Open Sans"/>
                        <a:sym typeface="Open Sans"/>
                      </a:endParaRPr>
                    </a:p>
                    <a:p>
                      <a:pPr marL="0" lvl="0" indent="0" algn="l" rtl="0">
                        <a:lnSpc>
                          <a:spcPct val="80000"/>
                        </a:lnSpc>
                        <a:spcBef>
                          <a:spcPts val="0"/>
                        </a:spcBef>
                        <a:spcAft>
                          <a:spcPts val="0"/>
                        </a:spcAft>
                        <a:buClr>
                          <a:schemeClr val="lt1"/>
                        </a:buClr>
                        <a:buSzPts val="1100"/>
                        <a:buFont typeface="Arial"/>
                        <a:buNone/>
                      </a:pPr>
                      <a:r>
                        <a:rPr lang="en-US" sz="1200">
                          <a:solidFill>
                            <a:schemeClr val="dk1"/>
                          </a:solidFill>
                          <a:latin typeface="Open Sans"/>
                          <a:ea typeface="Open Sans"/>
                          <a:cs typeface="Open Sans"/>
                          <a:sym typeface="Open Sans"/>
                        </a:rPr>
                        <a:t>Better spatial consistency</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80000"/>
                        </a:lnSpc>
                        <a:spcBef>
                          <a:spcPts val="0"/>
                        </a:spcBef>
                        <a:spcAft>
                          <a:spcPts val="0"/>
                        </a:spcAft>
                        <a:buClr>
                          <a:schemeClr val="lt1"/>
                        </a:buClr>
                        <a:buSzPts val="1100"/>
                        <a:buFont typeface="Arial"/>
                        <a:buNone/>
                      </a:pPr>
                      <a:r>
                        <a:rPr lang="en-US" sz="1200">
                          <a:solidFill>
                            <a:schemeClr val="dk1"/>
                          </a:solidFill>
                          <a:latin typeface="Open Sans"/>
                          <a:ea typeface="Open Sans"/>
                          <a:cs typeface="Open Sans"/>
                          <a:sym typeface="Open Sans"/>
                        </a:rPr>
                        <a:t>2D slice-by-slice</a:t>
                      </a:r>
                      <a:endParaRPr sz="1200">
                        <a:solidFill>
                          <a:schemeClr val="dk1"/>
                        </a:solidFill>
                        <a:latin typeface="Open Sans"/>
                        <a:ea typeface="Open Sans"/>
                        <a:cs typeface="Open Sans"/>
                        <a:sym typeface="Open Sans"/>
                      </a:endParaRPr>
                    </a:p>
                    <a:p>
                      <a:pPr marL="0" lvl="0" indent="0" algn="l" rtl="0">
                        <a:lnSpc>
                          <a:spcPct val="80000"/>
                        </a:lnSpc>
                        <a:spcBef>
                          <a:spcPts val="0"/>
                        </a:spcBef>
                        <a:spcAft>
                          <a:spcPts val="0"/>
                        </a:spcAft>
                        <a:buClr>
                          <a:schemeClr val="lt1"/>
                        </a:buClr>
                        <a:buSzPts val="1100"/>
                        <a:buFont typeface="Arial"/>
                        <a:buNone/>
                      </a:pPr>
                      <a:r>
                        <a:rPr lang="en-US" sz="1200">
                          <a:solidFill>
                            <a:schemeClr val="dk1"/>
                          </a:solidFill>
                          <a:latin typeface="Open Sans"/>
                          <a:ea typeface="Open Sans"/>
                          <a:cs typeface="Open Sans"/>
                          <a:sym typeface="Open Sans"/>
                        </a:rPr>
                        <a:t>Less coherent across slices</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56000">
                <a:tc>
                  <a:txBody>
                    <a:bodyPr/>
                    <a:lstStyle/>
                    <a:p>
                      <a:pPr marL="0" lvl="0" indent="0" algn="l" rtl="0">
                        <a:lnSpc>
                          <a:spcPct val="115000"/>
                        </a:lnSpc>
                        <a:spcBef>
                          <a:spcPts val="0"/>
                        </a:spcBef>
                        <a:spcAft>
                          <a:spcPts val="0"/>
                        </a:spcAft>
                        <a:buClr>
                          <a:schemeClr val="lt1"/>
                        </a:buClr>
                        <a:buSzPts val="1100"/>
                        <a:buFont typeface="Arial"/>
                        <a:buNone/>
                      </a:pPr>
                      <a:r>
                        <a:rPr lang="en-US" b="1">
                          <a:solidFill>
                            <a:schemeClr val="dk1"/>
                          </a:solidFill>
                          <a:latin typeface="Open Sans"/>
                          <a:ea typeface="Open Sans"/>
                          <a:cs typeface="Open Sans"/>
                          <a:sym typeface="Open Sans"/>
                        </a:rPr>
                        <a:t>CT Opt. </a:t>
                      </a:r>
                      <a:endParaRPr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80000"/>
                        </a:lnSpc>
                        <a:spcBef>
                          <a:spcPts val="0"/>
                        </a:spcBef>
                        <a:spcAft>
                          <a:spcPts val="0"/>
                        </a:spcAft>
                        <a:buNone/>
                      </a:pPr>
                      <a:r>
                        <a:rPr lang="en-US" sz="1200">
                          <a:solidFill>
                            <a:schemeClr val="dk1"/>
                          </a:solidFill>
                          <a:latin typeface="Open Sans"/>
                          <a:ea typeface="Open Sans"/>
                          <a:cs typeface="Open Sans"/>
                          <a:sym typeface="Open Sans"/>
                        </a:rPr>
                        <a:t>Medical-grade preprocessing:</a:t>
                      </a:r>
                      <a:endParaRPr sz="1200">
                        <a:solidFill>
                          <a:schemeClr val="dk1"/>
                        </a:solidFill>
                        <a:latin typeface="Open Sans"/>
                        <a:ea typeface="Open Sans"/>
                        <a:cs typeface="Open Sans"/>
                        <a:sym typeface="Open Sans"/>
                      </a:endParaRPr>
                    </a:p>
                    <a:p>
                      <a:pPr marL="0" lvl="0" indent="0" algn="l" rtl="0">
                        <a:lnSpc>
                          <a:spcPct val="80000"/>
                        </a:lnSpc>
                        <a:spcBef>
                          <a:spcPts val="0"/>
                        </a:spcBef>
                        <a:spcAft>
                          <a:spcPts val="0"/>
                        </a:spcAft>
                        <a:buNone/>
                      </a:pPr>
                      <a:r>
                        <a:rPr lang="en-US" sz="1200">
                          <a:solidFill>
                            <a:schemeClr val="dk1"/>
                          </a:solidFill>
                          <a:latin typeface="Open Sans"/>
                          <a:ea typeface="Open Sans"/>
                          <a:cs typeface="Open Sans"/>
                          <a:sym typeface="Open Sans"/>
                        </a:rPr>
                        <a:t>Hounsfield unit clipping,</a:t>
                      </a:r>
                      <a:endParaRPr sz="1200">
                        <a:solidFill>
                          <a:schemeClr val="dk1"/>
                        </a:solidFill>
                        <a:latin typeface="Open Sans"/>
                        <a:ea typeface="Open Sans"/>
                        <a:cs typeface="Open Sans"/>
                        <a:sym typeface="Open Sans"/>
                      </a:endParaRPr>
                    </a:p>
                    <a:p>
                      <a:pPr marL="0" lvl="0" indent="0" algn="l" rtl="0">
                        <a:lnSpc>
                          <a:spcPct val="80000"/>
                        </a:lnSpc>
                        <a:spcBef>
                          <a:spcPts val="0"/>
                        </a:spcBef>
                        <a:spcAft>
                          <a:spcPts val="0"/>
                        </a:spcAft>
                        <a:buNone/>
                      </a:pPr>
                      <a:r>
                        <a:rPr lang="en-US" sz="1200">
                          <a:solidFill>
                            <a:schemeClr val="dk1"/>
                          </a:solidFill>
                          <a:latin typeface="Open Sans"/>
                          <a:ea typeface="Open Sans"/>
                          <a:cs typeface="Open Sans"/>
                          <a:sym typeface="Open Sans"/>
                        </a:rPr>
                        <a:t>Intensity normalization, Isotropic resampling</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80000"/>
                        </a:lnSpc>
                        <a:spcBef>
                          <a:spcPts val="0"/>
                        </a:spcBef>
                        <a:spcAft>
                          <a:spcPts val="0"/>
                        </a:spcAft>
                        <a:buClr>
                          <a:schemeClr val="lt1"/>
                        </a:buClr>
                        <a:buSzPts val="1100"/>
                        <a:buFont typeface="Arial"/>
                        <a:buNone/>
                      </a:pPr>
                      <a:r>
                        <a:rPr lang="en-US" sz="1200">
                          <a:solidFill>
                            <a:schemeClr val="dk1"/>
                          </a:solidFill>
                          <a:latin typeface="Open Sans"/>
                          <a:ea typeface="Open Sans"/>
                          <a:cs typeface="Open Sans"/>
                          <a:sym typeface="Open Sans"/>
                        </a:rPr>
                        <a:t>Generic RGB pipeline</a:t>
                      </a:r>
                      <a:endParaRPr sz="1200">
                        <a:solidFill>
                          <a:schemeClr val="dk1"/>
                        </a:solidFill>
                        <a:latin typeface="Open Sans"/>
                        <a:ea typeface="Open Sans"/>
                        <a:cs typeface="Open Sans"/>
                        <a:sym typeface="Open Sans"/>
                      </a:endParaRPr>
                    </a:p>
                    <a:p>
                      <a:pPr marL="0" lvl="0" indent="0" algn="l" rtl="0">
                        <a:lnSpc>
                          <a:spcPct val="80000"/>
                        </a:lnSpc>
                        <a:spcBef>
                          <a:spcPts val="0"/>
                        </a:spcBef>
                        <a:spcAft>
                          <a:spcPts val="0"/>
                        </a:spcAft>
                        <a:buClr>
                          <a:schemeClr val="lt1"/>
                        </a:buClr>
                        <a:buSzPts val="1100"/>
                        <a:buFont typeface="Arial"/>
                        <a:buNone/>
                      </a:pPr>
                      <a:r>
                        <a:rPr lang="en-US" sz="1200">
                          <a:solidFill>
                            <a:schemeClr val="dk1"/>
                          </a:solidFill>
                          <a:latin typeface="Open Sans"/>
                          <a:ea typeface="Open Sans"/>
                          <a:cs typeface="Open Sans"/>
                          <a:sym typeface="Open Sans"/>
                        </a:rPr>
                        <a:t>Not CT-optimized</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67475">
                <a:tc>
                  <a:txBody>
                    <a:bodyPr/>
                    <a:lstStyle/>
                    <a:p>
                      <a:pPr marL="0" lvl="0" indent="0" algn="l" rtl="0">
                        <a:lnSpc>
                          <a:spcPct val="115000"/>
                        </a:lnSpc>
                        <a:spcBef>
                          <a:spcPts val="0"/>
                        </a:spcBef>
                        <a:spcAft>
                          <a:spcPts val="0"/>
                        </a:spcAft>
                        <a:buClr>
                          <a:schemeClr val="lt1"/>
                        </a:buClr>
                        <a:buSzPts val="1100"/>
                        <a:buFont typeface="Arial"/>
                        <a:buNone/>
                      </a:pPr>
                      <a:r>
                        <a:rPr lang="en-US" b="1">
                          <a:solidFill>
                            <a:schemeClr val="dk1"/>
                          </a:solidFill>
                          <a:latin typeface="Open Sans"/>
                          <a:ea typeface="Open Sans"/>
                          <a:cs typeface="Open Sans"/>
                          <a:sym typeface="Open Sans"/>
                        </a:rPr>
                        <a:t>Class Balancing</a:t>
                      </a:r>
                      <a:endParaRPr b="1">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80000"/>
                        </a:lnSpc>
                        <a:spcBef>
                          <a:spcPts val="0"/>
                        </a:spcBef>
                        <a:spcAft>
                          <a:spcPts val="0"/>
                        </a:spcAft>
                        <a:buClr>
                          <a:schemeClr val="lt1"/>
                        </a:buClr>
                        <a:buSzPts val="1100"/>
                        <a:buFont typeface="Arial"/>
                        <a:buNone/>
                      </a:pPr>
                      <a:r>
                        <a:rPr lang="en-US" sz="1200">
                          <a:solidFill>
                            <a:schemeClr val="dk1"/>
                          </a:solidFill>
                          <a:latin typeface="Open Sans"/>
                          <a:ea typeface="Open Sans"/>
                          <a:cs typeface="Open Sans"/>
                          <a:sym typeface="Open Sans"/>
                        </a:rPr>
                        <a:t>Auto-balances</a:t>
                      </a:r>
                      <a:endParaRPr sz="1200">
                        <a:solidFill>
                          <a:schemeClr val="dk1"/>
                        </a:solidFill>
                        <a:latin typeface="Open Sans"/>
                        <a:ea typeface="Open Sans"/>
                        <a:cs typeface="Open Sans"/>
                        <a:sym typeface="Open Sans"/>
                      </a:endParaRPr>
                    </a:p>
                    <a:p>
                      <a:pPr marL="0" lvl="0" indent="0" algn="l" rtl="0">
                        <a:lnSpc>
                          <a:spcPct val="80000"/>
                        </a:lnSpc>
                        <a:spcBef>
                          <a:spcPts val="0"/>
                        </a:spcBef>
                        <a:spcAft>
                          <a:spcPts val="0"/>
                        </a:spcAft>
                        <a:buClr>
                          <a:schemeClr val="lt1"/>
                        </a:buClr>
                        <a:buSzPts val="1100"/>
                        <a:buFont typeface="Arial"/>
                        <a:buNone/>
                      </a:pPr>
                      <a:r>
                        <a:rPr lang="en-US" sz="1200">
                          <a:solidFill>
                            <a:schemeClr val="dk1"/>
                          </a:solidFill>
                          <a:latin typeface="Open Sans"/>
                          <a:ea typeface="Open Sans"/>
                          <a:cs typeface="Open Sans"/>
                          <a:sym typeface="Open Sans"/>
                        </a:rPr>
                        <a:t>Focuses on small organs</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80000"/>
                        </a:lnSpc>
                        <a:spcBef>
                          <a:spcPts val="0"/>
                        </a:spcBef>
                        <a:spcAft>
                          <a:spcPts val="0"/>
                        </a:spcAft>
                        <a:buClr>
                          <a:schemeClr val="lt1"/>
                        </a:buClr>
                        <a:buSzPts val="1100"/>
                        <a:buFont typeface="Arial"/>
                        <a:buNone/>
                      </a:pPr>
                      <a:r>
                        <a:rPr lang="en-US" sz="1200">
                          <a:solidFill>
                            <a:schemeClr val="dk1"/>
                          </a:solidFill>
                          <a:latin typeface="Open Sans"/>
                          <a:ea typeface="Open Sans"/>
                          <a:cs typeface="Open Sans"/>
                          <a:sym typeface="Open Sans"/>
                        </a:rPr>
                        <a:t>Uniform sampling</a:t>
                      </a:r>
                      <a:endParaRPr sz="1200">
                        <a:solidFill>
                          <a:schemeClr val="dk1"/>
                        </a:solidFill>
                        <a:latin typeface="Open Sans"/>
                        <a:ea typeface="Open Sans"/>
                        <a:cs typeface="Open Sans"/>
                        <a:sym typeface="Open Sans"/>
                      </a:endParaRPr>
                    </a:p>
                    <a:p>
                      <a:pPr marL="0" lvl="0" indent="0" algn="l" rtl="0">
                        <a:lnSpc>
                          <a:spcPct val="80000"/>
                        </a:lnSpc>
                        <a:spcBef>
                          <a:spcPts val="0"/>
                        </a:spcBef>
                        <a:spcAft>
                          <a:spcPts val="0"/>
                        </a:spcAft>
                        <a:buClr>
                          <a:schemeClr val="lt1"/>
                        </a:buClr>
                        <a:buSzPts val="1100"/>
                        <a:buFont typeface="Arial"/>
                        <a:buNone/>
                      </a:pPr>
                      <a:r>
                        <a:rPr lang="en-US" sz="1200">
                          <a:solidFill>
                            <a:schemeClr val="dk1"/>
                          </a:solidFill>
                          <a:latin typeface="Open Sans"/>
                          <a:ea typeface="Open Sans"/>
                          <a:cs typeface="Open Sans"/>
                          <a:sym typeface="Open Sans"/>
                        </a:rPr>
                        <a:t>Miss small structures</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29" name="Google Shape;429;g398c53b899c_1_3"/>
          <p:cNvSpPr txBox="1"/>
          <p:nvPr/>
        </p:nvSpPr>
        <p:spPr>
          <a:xfrm>
            <a:off x="764568" y="1017725"/>
            <a:ext cx="8556900" cy="41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500" b="1">
                <a:solidFill>
                  <a:schemeClr val="dk1"/>
                </a:solidFill>
                <a:latin typeface="Open Sans"/>
                <a:ea typeface="Open Sans"/>
                <a:cs typeface="Open Sans"/>
                <a:sym typeface="Open Sans"/>
              </a:rPr>
              <a:t>Why did TotalSegmentator perform better than SAMed?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g398c6dbd69e_0_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Further Work</a:t>
            </a:r>
            <a:endParaRPr/>
          </a:p>
        </p:txBody>
      </p:sp>
      <p:sp>
        <p:nvSpPr>
          <p:cNvPr id="435" name="Google Shape;435;g398c6dbd69e_0_7"/>
          <p:cNvSpPr txBox="1">
            <a:spLocks noGrp="1"/>
          </p:cNvSpPr>
          <p:nvPr>
            <p:ph type="body" idx="1"/>
          </p:nvPr>
        </p:nvSpPr>
        <p:spPr>
          <a:xfrm>
            <a:off x="720000" y="1257300"/>
            <a:ext cx="7704000" cy="32763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US"/>
              <a:t>Pre-segmentation bbox cropping</a:t>
            </a:r>
            <a:br>
              <a:rPr lang="en-US"/>
            </a:br>
            <a:endParaRPr/>
          </a:p>
          <a:p>
            <a:pPr marL="457200" lvl="0" indent="-317500" algn="l" rtl="0">
              <a:spcBef>
                <a:spcPts val="0"/>
              </a:spcBef>
              <a:spcAft>
                <a:spcPts val="0"/>
              </a:spcAft>
              <a:buSzPts val="1400"/>
              <a:buChar char="●"/>
            </a:pPr>
            <a:r>
              <a:rPr lang="en-US"/>
              <a:t>SAMed</a:t>
            </a:r>
            <a:endParaRPr/>
          </a:p>
          <a:p>
            <a:pPr marL="914400" lvl="1" indent="-304800" algn="l" rtl="0">
              <a:spcBef>
                <a:spcPts val="0"/>
              </a:spcBef>
              <a:spcAft>
                <a:spcPts val="0"/>
              </a:spcAft>
              <a:buSzPts val="1200"/>
              <a:buChar char="○"/>
            </a:pPr>
            <a:r>
              <a:rPr lang="en-US"/>
              <a:t>Explore targeted sampling for small organs</a:t>
            </a:r>
            <a:endParaRPr/>
          </a:p>
          <a:p>
            <a:pPr marL="914400" lvl="1" indent="-304800" algn="l" rtl="0">
              <a:spcBef>
                <a:spcPts val="0"/>
              </a:spcBef>
              <a:spcAft>
                <a:spcPts val="0"/>
              </a:spcAft>
              <a:buSzPts val="1200"/>
              <a:buChar char="○"/>
            </a:pPr>
            <a:r>
              <a:rPr lang="en-US"/>
              <a:t>Fine-tune LoRA rank parameter</a:t>
            </a:r>
            <a:endParaRPr/>
          </a:p>
          <a:p>
            <a:pPr marL="914400" lvl="1" indent="-304800" algn="l" rtl="0">
              <a:spcBef>
                <a:spcPts val="0"/>
              </a:spcBef>
              <a:spcAft>
                <a:spcPts val="0"/>
              </a:spcAft>
              <a:buSzPts val="1200"/>
              <a:buChar char="○"/>
            </a:pPr>
            <a:r>
              <a:rPr lang="en-US"/>
              <a:t>Consider 3D context integration</a:t>
            </a:r>
            <a:br>
              <a:rPr lang="en-US"/>
            </a:br>
            <a:endParaRPr/>
          </a:p>
          <a:p>
            <a:pPr marL="457200" lvl="0" indent="-317500" algn="l" rtl="0">
              <a:spcBef>
                <a:spcPts val="0"/>
              </a:spcBef>
              <a:spcAft>
                <a:spcPts val="0"/>
              </a:spcAft>
              <a:buSzPts val="1400"/>
              <a:buChar char="●"/>
            </a:pPr>
            <a:r>
              <a:rPr lang="en-US"/>
              <a:t>Total Segmentator</a:t>
            </a:r>
            <a:endParaRPr/>
          </a:p>
          <a:p>
            <a:pPr marL="914400" lvl="1" indent="-304800" algn="l" rtl="0">
              <a:spcBef>
                <a:spcPts val="0"/>
              </a:spcBef>
              <a:spcAft>
                <a:spcPts val="0"/>
              </a:spcAft>
              <a:buSzPts val="1200"/>
              <a:buChar char="○"/>
            </a:pPr>
            <a:r>
              <a:rPr lang="en-US"/>
              <a:t>Examine the automated processing and tune hyperparameters</a:t>
            </a:r>
            <a:endParaRPr/>
          </a:p>
          <a:p>
            <a:pPr marL="914400" lvl="1" indent="-304800" algn="l" rtl="0">
              <a:spcBef>
                <a:spcPts val="0"/>
              </a:spcBef>
              <a:spcAft>
                <a:spcPts val="0"/>
              </a:spcAft>
              <a:buSzPts val="1200"/>
              <a:buChar char="○"/>
            </a:pPr>
            <a:r>
              <a:rPr lang="en-US"/>
              <a:t>Use transfer learning and cross-validation with other data sets</a:t>
            </a:r>
            <a:endParaRPr/>
          </a:p>
        </p:txBody>
      </p:sp>
      <p:sp>
        <p:nvSpPr>
          <p:cNvPr id="436" name="Google Shape;436;g398c6dbd69e_0_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theme/theme1.xml><?xml version="1.0" encoding="utf-8"?>
<a:theme xmlns:a="http://schemas.openxmlformats.org/drawingml/2006/main" name="Digestive System Case Study by Slidesgo">
  <a:themeElements>
    <a:clrScheme name="Simple Light">
      <a:dk1>
        <a:srgbClr val="FFFFFF"/>
      </a:dk1>
      <a:lt1>
        <a:srgbClr val="000000"/>
      </a:lt1>
      <a:dk2>
        <a:srgbClr val="15151B"/>
      </a:dk2>
      <a:lt2>
        <a:srgbClr val="26282C"/>
      </a:lt2>
      <a:accent1>
        <a:srgbClr val="84AFFC"/>
      </a:accent1>
      <a:accent2>
        <a:srgbClr val="C9C9C9"/>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3102</Words>
  <Application>Microsoft Office PowerPoint</Application>
  <PresentationFormat>On-screen Show (16:9)</PresentationFormat>
  <Paragraphs>490</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Open Sans</vt:lpstr>
      <vt:lpstr>Arial</vt:lpstr>
      <vt:lpstr>Anaheim</vt:lpstr>
      <vt:lpstr>Roboto</vt:lpstr>
      <vt:lpstr>Digestive System Case Study by Slidesgo</vt:lpstr>
      <vt:lpstr>PowerPoint Presentation</vt:lpstr>
      <vt:lpstr>01</vt:lpstr>
      <vt:lpstr>Introduction</vt:lpstr>
      <vt:lpstr>Introduction</vt:lpstr>
      <vt:lpstr>General Pipeline</vt:lpstr>
      <vt:lpstr>Automated Processing</vt:lpstr>
      <vt:lpstr>Evaluation Metrics</vt:lpstr>
      <vt:lpstr>Model 1: SAMed</vt:lpstr>
      <vt:lpstr>PowerPoint Presentation</vt:lpstr>
      <vt:lpstr>PowerPoint Presentation</vt:lpstr>
      <vt:lpstr>PowerPoint Presentation</vt:lpstr>
      <vt:lpstr>PowerPoint Presentation</vt:lpstr>
      <vt:lpstr>Model 2: Total Segmentator</vt:lpstr>
      <vt:lpstr>Total Segmentator (nnU-Net)</vt:lpstr>
      <vt:lpstr>nnU-net vs Total Segmentator</vt:lpstr>
      <vt:lpstr>Training Configurations</vt:lpstr>
      <vt:lpstr>Ensemble and U-Net Cascade approach</vt:lpstr>
      <vt:lpstr>Best Training (3D lowres fold 2)</vt:lpstr>
      <vt:lpstr>Evaluation </vt:lpstr>
      <vt:lpstr>Results - Model Performance Overview</vt:lpstr>
      <vt:lpstr>Results - Top Performers (Ensemble Methods)</vt:lpstr>
      <vt:lpstr>Discussion</vt:lpstr>
      <vt:lpstr>Further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YS Goh</cp:lastModifiedBy>
  <cp:revision>6</cp:revision>
  <dcterms:modified xsi:type="dcterms:W3CDTF">2026-09-02T15:41:32Z</dcterms:modified>
</cp:coreProperties>
</file>