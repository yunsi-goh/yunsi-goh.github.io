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18"/>
      <p:bold r:id="rId19"/>
      <p:italic r:id="rId20"/>
      <p:boldItalic r:id="rId21"/>
    </p:embeddedFont>
    <p:embeddedFont>
      <p:font typeface="Barlow Semi Condensed Medium" panose="00000606000000000000" pitchFamily="2" charset="0"/>
      <p:regular r:id="rId22"/>
      <p:bold r:id="rId23"/>
      <p:italic r:id="rId24"/>
      <p:boldItalic r:id="rId25"/>
    </p:embeddedFont>
    <p:embeddedFont>
      <p:font typeface="Fjalla One" panose="02000506040000020004" pitchFamily="2" charset="0"/>
      <p:regular r:id="rId26"/>
    </p:embeddedFont>
    <p:embeddedFont>
      <p:font typeface="Lato" panose="020F0502020204030203" pitchFamily="34" charset="0"/>
      <p:regular r:id="rId27"/>
    </p:embeddedFont>
    <p:embeddedFont>
      <p:font typeface="Roboto Condensed Light" panose="02000000000000000000" pitchFamily="2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10923B-A08B-4540-BE09-3D198DEE7BC9}">
  <a:tblStyle styleId="{2A10923B-A08B-4540-BE09-3D198DEE7B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2" autoAdjust="0"/>
    <p:restoredTop sz="94660"/>
  </p:normalViewPr>
  <p:slideViewPr>
    <p:cSldViewPr snapToGrid="0">
      <p:cViewPr varScale="1">
        <p:scale>
          <a:sx n="93" d="100"/>
          <a:sy n="93" d="100"/>
        </p:scale>
        <p:origin x="6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g36afcfacc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5" name="Google Shape;2045;g36afcfacc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5" name="Google Shape;2315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g36b234dc04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5" name="Google Shape;2335;g36b234dc04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g36afcfacc43_0_1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6" name="Google Shape;2366;g36afcfacc43_0_1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g36afcfacc43_0_19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2" name="Google Shape;2382;g36afcfacc43_0_19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g36b234dc04a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2" name="Google Shape;2392;g36b234dc04a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36afcfacc43_0_1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36afcfacc43_0_19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g36afcfacc43_0_19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6" name="Google Shape;2446;g36afcfacc43_0_19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g36afcfacc43_0_1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9" name="Google Shape;2459;g36afcfacc43_0_1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g36afcfacc43_0_19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3" name="Google Shape;2473;g36afcfacc43_0_19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36afcfacc43_0_2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36afcfacc43_0_20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g36afcfacc43_0_2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7" name="Google Shape;2497;g36afcfacc43_0_2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g36afcfacc43_0_2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4" name="Google Shape;2504;g36afcfacc43_0_2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g36afcfacc43_0_20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0" name="Google Shape;2520;g36afcfacc43_0_20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16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5" name="Google Shape;755;p16"/>
          <p:cNvSpPr txBox="1">
            <a:spLocks noGrp="1"/>
          </p:cNvSpPr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6" name="Google Shape;756;p16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7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3" name="Google Shape;763;p17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4" name="Google Shape;764;p17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5" name="Google Shape;765;p17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6" name="Google Shape;766;p17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7" name="Google Shape;767;p17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8" name="Google Shape;768;p17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9" name="Google Shape;769;p17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0" name="Google Shape;770;p17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1" name="Google Shape;771;p17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2" name="Google Shape;772;p17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3" name="Google Shape;773;p17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>
            <a:spLocks noGrp="1"/>
          </p:cNvSpPr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22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093" name="Google Shape;1093;p22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3" name="Google Shape;1133;p22"/>
          <p:cNvSpPr txBox="1">
            <a:spLocks noGrp="1"/>
          </p:cNvSpPr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4" name="Google Shape;1134;p22"/>
          <p:cNvSpPr txBox="1">
            <a:spLocks noGrp="1"/>
          </p:cNvSpPr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5" name="Google Shape;1135;p22"/>
          <p:cNvSpPr txBox="1">
            <a:spLocks noGrp="1"/>
          </p:cNvSpPr>
          <p:nvPr>
            <p:ph type="subTitle" idx="3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6" name="Google Shape;1136;p22"/>
          <p:cNvSpPr txBox="1">
            <a:spLocks noGrp="1"/>
          </p:cNvSpPr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7" name="Google Shape;1137;p22"/>
          <p:cNvSpPr txBox="1">
            <a:spLocks noGrp="1"/>
          </p:cNvSpPr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8" name="Google Shape;1138;p22"/>
          <p:cNvSpPr txBox="1">
            <a:spLocks noGrp="1"/>
          </p:cNvSpPr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>
            <a:spLocks noGrp="1"/>
          </p:cNvSpPr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0" name="Google Shape;1550;p31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8" name="Google Shape;1618;p31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"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>
            <a:spLocks noGrp="1"/>
          </p:cNvSpPr>
          <p:nvPr>
            <p:ph type="body" idx="1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21" name="Google Shape;1621;p32"/>
          <p:cNvSpPr txBox="1">
            <a:spLocks noGrp="1"/>
          </p:cNvSpPr>
          <p:nvPr>
            <p:ph type="body" idx="2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22" name="Google Shape;1622;p32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1">
  <p:cSld name="CUSTOM_8_1"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84" name="Google Shape;1684;p33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685" name="Google Shape;1685;p33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86" name="Google Shape;1686;p33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687" name="Google Shape;1687;p33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88" name="Google Shape;1688;p33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689" name="Google Shape;1689;p33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90" name="Google Shape;1690;p33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691" name="Google Shape;1691;p33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92" name="Google Shape;1692;p33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693" name="Google Shape;1693;p33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94" name="Google Shape;1694;p33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695" name="Google Shape;1695;p33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696" name="Google Shape;1696;p33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7" name="Google Shape;1697;p33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8" name="Google Shape;1698;p33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9" name="Google Shape;1699;p33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00" name="Google Shape;1700;p33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1701" name="Google Shape;1701;p3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7" name="Google Shape;1707;p33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1708" name="Google Shape;1708;p3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2" name="Google Shape;1712;p33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1713" name="Google Shape;1713;p3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7" name="Google Shape;1717;p33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1718" name="Google Shape;1718;p3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3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3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3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3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3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4" name="Google Shape;1724;p33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1725" name="Google Shape;1725;p3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28" name="Google Shape;1728;p33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9" name="Google Shape;1729;p33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0" name="Google Shape;1730;p33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31" name="Google Shape;1731;p33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1732" name="Google Shape;1732;p3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8" name="Google Shape;1738;p33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1739" name="Google Shape;1739;p3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3" name="Google Shape;1743;p33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1744" name="Google Shape;1744;p3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8" name="Google Shape;1748;p33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33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33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33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33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33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4" name="Google Shape;1754;p3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755" name="Google Shape;1755;p3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8" name="Google Shape;1758;p33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1759" name="Google Shape;1759;p3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2">
  <p:cSld name="CUSTOM_8_2">
    <p:spTree>
      <p:nvGrpSpPr>
        <p:cNvPr id="1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34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64" name="Google Shape;1764;p34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765" name="Google Shape;1765;p34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66" name="Google Shape;1766;p34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767" name="Google Shape;1767;p34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68" name="Google Shape;1768;p34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769" name="Google Shape;1769;p34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70" name="Google Shape;1770;p34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771" name="Google Shape;1771;p34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72" name="Google Shape;1772;p34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773" name="Google Shape;1773;p34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74" name="Google Shape;1774;p34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775" name="Google Shape;1775;p34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776" name="Google Shape;1776;p34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7" name="Google Shape;1777;p34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8" name="Google Shape;1778;p34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9" name="Google Shape;1779;p34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80" name="Google Shape;1780;p34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1781" name="Google Shape;1781;p3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7" name="Google Shape;1787;p34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1788" name="Google Shape;1788;p3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3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2" name="Google Shape;1792;p34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1793" name="Google Shape;1793;p3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7" name="Google Shape;1797;p34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1798" name="Google Shape;1798;p3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3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3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3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3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3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4" name="Google Shape;1804;p34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1805" name="Google Shape;1805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08" name="Google Shape;1808;p34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09" name="Google Shape;1809;p34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10" name="Google Shape;1810;p34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811" name="Google Shape;1811;p34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1812" name="Google Shape;1812;p3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3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3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3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3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3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8" name="Google Shape;1818;p34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1819" name="Google Shape;1819;p3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3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3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3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3" name="Google Shape;1823;p34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1824" name="Google Shape;1824;p3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3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3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3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8" name="Google Shape;1828;p34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34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34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34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34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34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4" name="Google Shape;1834;p3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835" name="Google Shape;1835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8" name="Google Shape;1838;p34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1839" name="Google Shape;1839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nikolasgegenava/sneakers-classific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4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.gif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devgenius.io/resnet50-6b42934db43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7.png"/><Relationship Id="rId4" Type="http://schemas.openxmlformats.org/officeDocument/2006/relationships/hyperlink" Target="https://medium.com/@nitishkundu1993/exploring-resnet50-an-in-depth-look-at-the-model-architecture-and-code-implementation-d8d8fa67e46f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6" name="Google Shape;1846;p35"/>
          <p:cNvGrpSpPr/>
          <p:nvPr/>
        </p:nvGrpSpPr>
        <p:grpSpPr>
          <a:xfrm>
            <a:off x="500770" y="2306793"/>
            <a:ext cx="3366430" cy="2726713"/>
            <a:chOff x="469775" y="238125"/>
            <a:chExt cx="6679425" cy="5229600"/>
          </a:xfrm>
        </p:grpSpPr>
        <p:sp>
          <p:nvSpPr>
            <p:cNvPr id="1847" name="Google Shape;1847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84" name="Google Shape;1884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85" name="Google Shape;1885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86" name="Google Shape;1886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87" name="Google Shape;1887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88" name="Google Shape;1888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89" name="Google Shape;1889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90" name="Google Shape;1890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91" name="Google Shape;1891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92" name="Google Shape;1892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93" name="Google Shape;1893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94" name="Google Shape;1894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95" name="Google Shape;1895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96" name="Google Shape;1896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97" name="Google Shape;1897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98" name="Google Shape;1898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899" name="Google Shape;1899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00" name="Google Shape;1900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01" name="Google Shape;1901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02" name="Google Shape;1902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03" name="Google Shape;1903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04" name="Google Shape;1904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05" name="Google Shape;1905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06" name="Google Shape;1906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07" name="Google Shape;1907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08" name="Google Shape;1908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09" name="Google Shape;1909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10" name="Google Shape;1910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11" name="Google Shape;1911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12" name="Google Shape;1912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13" name="Google Shape;1913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14" name="Google Shape;1914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15" name="Google Shape;1915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16" name="Google Shape;1916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17" name="Google Shape;1917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18" name="Google Shape;1918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19" name="Google Shape;1919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20" name="Google Shape;1920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21" name="Google Shape;1921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22" name="Google Shape;1922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23" name="Google Shape;1923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24" name="Google Shape;1924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25" name="Google Shape;1925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26" name="Google Shape;1926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27" name="Google Shape;1927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28" name="Google Shape;1928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29" name="Google Shape;1929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30" name="Google Shape;1930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35" name="Google Shape;1935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36" name="Google Shape;1936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37" name="Google Shape;1937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38" name="Google Shape;1938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39" name="Google Shape;1939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40" name="Google Shape;1940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41" name="Google Shape;1941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42" name="Google Shape;1942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43" name="Google Shape;1943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44" name="Google Shape;1944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45" name="Google Shape;1945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46" name="Google Shape;1946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47" name="Google Shape;1947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48" name="Google Shape;1948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49" name="Google Shape;1949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50" name="Google Shape;1950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51" name="Google Shape;1951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52" name="Google Shape;1952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53" name="Google Shape;1953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54" name="Google Shape;1954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55" name="Google Shape;1955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56" name="Google Shape;1956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57" name="Google Shape;1957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58" name="Google Shape;1958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59" name="Google Shape;1959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60" name="Google Shape;1960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61" name="Google Shape;1961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62" name="Google Shape;1962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63" name="Google Shape;1963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64" name="Google Shape;1964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65" name="Google Shape;1965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66" name="Google Shape;1966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67" name="Google Shape;1967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68" name="Google Shape;1968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69" name="Google Shape;1969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70" name="Google Shape;1970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71" name="Google Shape;1971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72" name="Google Shape;1972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73" name="Google Shape;1973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74" name="Google Shape;1974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75" name="Google Shape;1975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76" name="Google Shape;1976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77" name="Google Shape;1977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78" name="Google Shape;1978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79" name="Google Shape;1979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80" name="Google Shape;1980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81" name="Google Shape;1981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82" name="Google Shape;1982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83" name="Google Shape;1983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84" name="Google Shape;1984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85" name="Google Shape;1985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86" name="Google Shape;1986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87" name="Google Shape;1987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88" name="Google Shape;1988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89" name="Google Shape;1989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90" name="Google Shape;1990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91" name="Google Shape;1991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92" name="Google Shape;1992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93" name="Google Shape;1993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94" name="Google Shape;1994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95" name="Google Shape;1995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96" name="Google Shape;1996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97" name="Google Shape;1997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98" name="Google Shape;1998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999" name="Google Shape;1999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00" name="Google Shape;2000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01" name="Google Shape;2001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02" name="Google Shape;2002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03" name="Google Shape;2003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04" name="Google Shape;2004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05" name="Google Shape;2005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06" name="Google Shape;2006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07" name="Google Shape;2007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08" name="Google Shape;2008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09" name="Google Shape;2009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10" name="Google Shape;2010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11" name="Google Shape;2011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12" name="Google Shape;2012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13" name="Google Shape;2013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14" name="Google Shape;2014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15" name="Google Shape;2015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16" name="Google Shape;2016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</p:grpSp>
      <p:sp>
        <p:nvSpPr>
          <p:cNvPr id="2040" name="Google Shape;2040;p35"/>
          <p:cNvSpPr txBox="1">
            <a:spLocks noGrp="1"/>
          </p:cNvSpPr>
          <p:nvPr>
            <p:ph type="ctrTitle"/>
          </p:nvPr>
        </p:nvSpPr>
        <p:spPr>
          <a:xfrm>
            <a:off x="76050" y="624515"/>
            <a:ext cx="7871100" cy="10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Beyond Manual Tags: Enhancing User Experience with AI-Powered Item Classification</a:t>
            </a:r>
            <a:endParaRPr sz="28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2041" name="Google Shape;2041;p35"/>
          <p:cNvSpPr txBox="1">
            <a:spLocks noGrp="1"/>
          </p:cNvSpPr>
          <p:nvPr>
            <p:ph type="subTitle" idx="1"/>
          </p:nvPr>
        </p:nvSpPr>
        <p:spPr>
          <a:xfrm>
            <a:off x="5321975" y="2916019"/>
            <a:ext cx="3264300" cy="18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rgbClr val="5F8195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Cedric KOH Bo Xiang</a:t>
            </a:r>
            <a:endParaRPr sz="1600" dirty="0">
              <a:solidFill>
                <a:srgbClr val="5F8195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rgbClr val="5F8195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GAN Seng Zhan</a:t>
            </a:r>
            <a:endParaRPr sz="1600" dirty="0">
              <a:solidFill>
                <a:srgbClr val="5F8195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rgbClr val="5F8195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GOH Yun Si</a:t>
            </a:r>
            <a:endParaRPr sz="1600" dirty="0">
              <a:solidFill>
                <a:srgbClr val="5F8195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rgbClr val="5F8195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HUANG Mochen</a:t>
            </a:r>
            <a:endParaRPr sz="1600" dirty="0">
              <a:solidFill>
                <a:srgbClr val="5F8195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rgbClr val="5F8195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WU Junqi</a:t>
            </a:r>
            <a:endParaRPr sz="1600" dirty="0">
              <a:solidFill>
                <a:srgbClr val="5F8195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042" name="Google Shape;2042;p35"/>
          <p:cNvSpPr txBox="1">
            <a:spLocks noGrp="1"/>
          </p:cNvSpPr>
          <p:nvPr>
            <p:ph type="ctrTitle"/>
          </p:nvPr>
        </p:nvSpPr>
        <p:spPr>
          <a:xfrm>
            <a:off x="2596050" y="1749910"/>
            <a:ext cx="5739300" cy="8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latin typeface="Barlow Semi Condensed" panose="00000506000000000000" pitchFamily="2" charset="0"/>
              </a:rPr>
              <a:t>Applied Machine Learning</a:t>
            </a:r>
            <a:endParaRPr sz="3600" i="1" dirty="0">
              <a:solidFill>
                <a:schemeClr val="dk2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7" name="Google Shape;2047;p36"/>
          <p:cNvGrpSpPr/>
          <p:nvPr/>
        </p:nvGrpSpPr>
        <p:grpSpPr>
          <a:xfrm>
            <a:off x="4554914" y="1771598"/>
            <a:ext cx="4430405" cy="3106404"/>
            <a:chOff x="862950" y="825025"/>
            <a:chExt cx="5862650" cy="4111175"/>
          </a:xfrm>
        </p:grpSpPr>
        <p:sp>
          <p:nvSpPr>
            <p:cNvPr id="2048" name="Google Shape;2048;p36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49" name="Google Shape;2049;p36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50" name="Google Shape;2050;p36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51" name="Google Shape;2051;p36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52" name="Google Shape;2052;p36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53" name="Google Shape;2053;p36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54" name="Google Shape;2054;p36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55" name="Google Shape;2055;p36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56" name="Google Shape;2056;p36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57" name="Google Shape;2057;p36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58" name="Google Shape;2058;p36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59" name="Google Shape;2059;p36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60" name="Google Shape;2060;p36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61" name="Google Shape;2061;p36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62" name="Google Shape;2062;p36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63" name="Google Shape;2063;p36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64" name="Google Shape;2064;p36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65" name="Google Shape;2065;p36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66" name="Google Shape;2066;p36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79" name="Google Shape;2079;p36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80" name="Google Shape;2080;p36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93" name="Google Shape;2093;p36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94" name="Google Shape;2094;p36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95" name="Google Shape;2095;p36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96" name="Google Shape;2096;p36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97" name="Google Shape;2097;p36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17" name="Google Shape;2117;p36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18" name="Google Shape;2118;p36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38" name="Google Shape;2138;p36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39" name="Google Shape;2139;p36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40" name="Google Shape;2140;p36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41" name="Google Shape;2141;p36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42" name="Google Shape;2142;p36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43" name="Google Shape;2143;p36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44" name="Google Shape;2144;p36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45" name="Google Shape;2145;p36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46" name="Google Shape;2146;p36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47" name="Google Shape;2147;p36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48" name="Google Shape;2148;p36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49" name="Google Shape;2149;p36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50" name="Google Shape;2150;p36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51" name="Google Shape;2151;p36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52" name="Google Shape;2152;p36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53" name="Google Shape;2153;p36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54" name="Google Shape;2154;p36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55" name="Google Shape;2155;p36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56" name="Google Shape;2156;p36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57" name="Google Shape;2157;p36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58" name="Google Shape;2158;p36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59" name="Google Shape;2159;p36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60" name="Google Shape;2160;p36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61" name="Google Shape;2161;p36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62" name="Google Shape;2162;p36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63" name="Google Shape;2163;p36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64" name="Google Shape;2164;p36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65" name="Google Shape;2165;p36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66" name="Google Shape;2166;p36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67" name="Google Shape;2167;p36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68" name="Google Shape;2168;p36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69" name="Google Shape;2169;p36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70" name="Google Shape;2170;p36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71" name="Google Shape;2171;p36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72" name="Google Shape;2172;p36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73" name="Google Shape;2173;p36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74" name="Google Shape;2174;p36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75" name="Google Shape;2175;p36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76" name="Google Shape;2176;p36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77" name="Google Shape;2177;p36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78" name="Google Shape;2178;p36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79" name="Google Shape;2179;p36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80" name="Google Shape;2180;p36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81" name="Google Shape;2181;p36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82" name="Google Shape;2182;p36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83" name="Google Shape;2183;p36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84" name="Google Shape;2184;p36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85" name="Google Shape;2185;p36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86" name="Google Shape;2186;p36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87" name="Google Shape;2187;p36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88" name="Google Shape;2188;p36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89" name="Google Shape;2189;p36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90" name="Google Shape;2190;p36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91" name="Google Shape;2191;p36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92" name="Google Shape;2192;p36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93" name="Google Shape;2193;p36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94" name="Google Shape;2194;p36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95" name="Google Shape;2195;p36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96" name="Google Shape;2196;p36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97" name="Google Shape;2197;p36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98" name="Google Shape;2198;p36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199" name="Google Shape;2199;p36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00" name="Google Shape;2200;p36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01" name="Google Shape;2201;p36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02" name="Google Shape;2202;p36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03" name="Google Shape;2203;p36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04" name="Google Shape;2204;p36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05" name="Google Shape;2205;p36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06" name="Google Shape;2206;p36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07" name="Google Shape;2207;p36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08" name="Google Shape;2208;p36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09" name="Google Shape;2209;p36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10" name="Google Shape;2210;p36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11" name="Google Shape;2211;p36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12" name="Google Shape;2212;p36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13" name="Google Shape;2213;p36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14" name="Google Shape;2214;p36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15" name="Google Shape;2215;p36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16" name="Google Shape;2216;p36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17" name="Google Shape;2217;p36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18" name="Google Shape;2218;p36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19" name="Google Shape;2219;p36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20" name="Google Shape;2220;p36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21" name="Google Shape;2221;p36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22" name="Google Shape;2222;p36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23" name="Google Shape;2223;p36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24" name="Google Shape;2224;p36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25" name="Google Shape;2225;p36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26" name="Google Shape;2226;p36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27" name="Google Shape;2227;p36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28" name="Google Shape;2228;p36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29" name="Google Shape;2229;p36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30" name="Google Shape;2230;p36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31" name="Google Shape;2231;p36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32" name="Google Shape;2232;p36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33" name="Google Shape;2233;p36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34" name="Google Shape;2234;p36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35" name="Google Shape;2235;p36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36" name="Google Shape;2236;p36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37" name="Google Shape;2237;p36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38" name="Google Shape;2238;p36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39" name="Google Shape;2239;p36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40" name="Google Shape;2240;p36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41" name="Google Shape;2241;p36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42" name="Google Shape;2242;p36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43" name="Google Shape;2243;p36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44" name="Google Shape;2244;p36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45" name="Google Shape;2245;p36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46" name="Google Shape;2246;p36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47" name="Google Shape;2247;p36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48" name="Google Shape;2248;p36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49" name="Google Shape;2249;p36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50" name="Google Shape;2250;p36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51" name="Google Shape;2251;p36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52" name="Google Shape;2252;p36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53" name="Google Shape;2253;p36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54" name="Google Shape;2254;p36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55" name="Google Shape;2255;p36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2256" name="Google Shape;2256;p36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</p:grpSp>
      <p:grpSp>
        <p:nvGrpSpPr>
          <p:cNvPr id="2257" name="Google Shape;2257;p36"/>
          <p:cNvGrpSpPr/>
          <p:nvPr/>
        </p:nvGrpSpPr>
        <p:grpSpPr>
          <a:xfrm>
            <a:off x="625022" y="91698"/>
            <a:ext cx="635100" cy="734640"/>
            <a:chOff x="731647" y="573573"/>
            <a:chExt cx="635100" cy="734640"/>
          </a:xfrm>
        </p:grpSpPr>
        <p:grpSp>
          <p:nvGrpSpPr>
            <p:cNvPr id="2258" name="Google Shape;2258;p36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259" name="Google Shape;2259;p36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260" name="Google Shape;2260;p36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</p:grpSp>
        <p:grpSp>
          <p:nvGrpSpPr>
            <p:cNvPr id="2261" name="Google Shape;2261;p36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262" name="Google Shape;2262;p3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263" name="Google Shape;2263;p3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264" name="Google Shape;2264;p3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</p:grpSp>
      </p:grpSp>
      <p:grpSp>
        <p:nvGrpSpPr>
          <p:cNvPr id="2265" name="Google Shape;2265;p36"/>
          <p:cNvGrpSpPr/>
          <p:nvPr/>
        </p:nvGrpSpPr>
        <p:grpSpPr>
          <a:xfrm>
            <a:off x="625022" y="1168585"/>
            <a:ext cx="635100" cy="733490"/>
            <a:chOff x="731647" y="1650460"/>
            <a:chExt cx="635100" cy="733490"/>
          </a:xfrm>
        </p:grpSpPr>
        <p:grpSp>
          <p:nvGrpSpPr>
            <p:cNvPr id="2266" name="Google Shape;2266;p36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267" name="Google Shape;2267;p36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268" name="Google Shape;2268;p36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</p:grpSp>
        <p:grpSp>
          <p:nvGrpSpPr>
            <p:cNvPr id="2269" name="Google Shape;2269;p36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270" name="Google Shape;2270;p3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271" name="Google Shape;2271;p3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272" name="Google Shape;2272;p3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</p:grpSp>
      </p:grpSp>
      <p:grpSp>
        <p:nvGrpSpPr>
          <p:cNvPr id="2273" name="Google Shape;2273;p36"/>
          <p:cNvGrpSpPr/>
          <p:nvPr/>
        </p:nvGrpSpPr>
        <p:grpSpPr>
          <a:xfrm>
            <a:off x="625022" y="2246402"/>
            <a:ext cx="635100" cy="734984"/>
            <a:chOff x="731647" y="2728277"/>
            <a:chExt cx="635100" cy="734984"/>
          </a:xfrm>
        </p:grpSpPr>
        <p:grpSp>
          <p:nvGrpSpPr>
            <p:cNvPr id="2274" name="Google Shape;2274;p36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275" name="Google Shape;2275;p36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276" name="Google Shape;2276;p36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</p:grpSp>
        <p:grpSp>
          <p:nvGrpSpPr>
            <p:cNvPr id="2277" name="Google Shape;2277;p36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278" name="Google Shape;2278;p3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279" name="Google Shape;2279;p3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280" name="Google Shape;2280;p3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</p:grpSp>
      </p:grpSp>
      <p:grpSp>
        <p:nvGrpSpPr>
          <p:cNvPr id="2281" name="Google Shape;2281;p36"/>
          <p:cNvGrpSpPr/>
          <p:nvPr/>
        </p:nvGrpSpPr>
        <p:grpSpPr>
          <a:xfrm>
            <a:off x="625022" y="3324800"/>
            <a:ext cx="635100" cy="734704"/>
            <a:chOff x="731647" y="3806675"/>
            <a:chExt cx="635100" cy="734704"/>
          </a:xfrm>
        </p:grpSpPr>
        <p:grpSp>
          <p:nvGrpSpPr>
            <p:cNvPr id="2282" name="Google Shape;2282;p36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283" name="Google Shape;2283;p36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284" name="Google Shape;2284;p36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</p:grpSp>
        <p:grpSp>
          <p:nvGrpSpPr>
            <p:cNvPr id="2285" name="Google Shape;2285;p36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286" name="Google Shape;2286;p3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287" name="Google Shape;2287;p3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288" name="Google Shape;2288;p3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</p:grpSp>
      </p:grpSp>
      <p:sp>
        <p:nvSpPr>
          <p:cNvPr id="2290" name="Google Shape;2290;p36"/>
          <p:cNvSpPr txBox="1">
            <a:spLocks noGrp="1"/>
          </p:cNvSpPr>
          <p:nvPr>
            <p:ph type="subTitle" idx="2"/>
          </p:nvPr>
        </p:nvSpPr>
        <p:spPr>
          <a:xfrm>
            <a:off x="1385126" y="342050"/>
            <a:ext cx="5505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 panose="00000506000000000000" pitchFamily="2" charset="0"/>
              </a:rPr>
              <a:t>Business Background, Technical Solutions, Project Pipeline</a:t>
            </a:r>
            <a:endParaRPr>
              <a:latin typeface="Barlow Semi Condensed" panose="00000506000000000000" pitchFamily="2" charset="0"/>
            </a:endParaRPr>
          </a:p>
        </p:txBody>
      </p:sp>
      <p:sp>
        <p:nvSpPr>
          <p:cNvPr id="2291" name="Google Shape;2291;p36"/>
          <p:cNvSpPr txBox="1">
            <a:spLocks noGrp="1"/>
          </p:cNvSpPr>
          <p:nvPr>
            <p:ph type="subTitle" idx="1"/>
          </p:nvPr>
        </p:nvSpPr>
        <p:spPr>
          <a:xfrm>
            <a:off x="1385125" y="58600"/>
            <a:ext cx="4091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</a:rPr>
              <a:t>Business </a:t>
            </a:r>
            <a:r>
              <a:rPr lang="en" sz="1800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</a:rPr>
              <a:t>Problem</a:t>
            </a:r>
            <a:r>
              <a:rPr lang="en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</a:rPr>
              <a:t>, </a:t>
            </a:r>
            <a:r>
              <a:rPr lang="en" sz="1800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</a:rPr>
              <a:t>Solutions &amp; Pipeline</a:t>
            </a:r>
            <a:endParaRPr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2292" name="Google Shape;2292;p36"/>
          <p:cNvSpPr txBox="1">
            <a:spLocks noGrp="1"/>
          </p:cNvSpPr>
          <p:nvPr>
            <p:ph type="subTitle" idx="3"/>
          </p:nvPr>
        </p:nvSpPr>
        <p:spPr>
          <a:xfrm>
            <a:off x="1385122" y="1170675"/>
            <a:ext cx="35403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</a:rPr>
              <a:t>Data Source, EDA and Processing</a:t>
            </a:r>
            <a:endParaRPr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2293" name="Google Shape;2293;p36"/>
          <p:cNvSpPr txBox="1">
            <a:spLocks noGrp="1"/>
          </p:cNvSpPr>
          <p:nvPr>
            <p:ph type="subTitle" idx="4"/>
          </p:nvPr>
        </p:nvSpPr>
        <p:spPr>
          <a:xfrm>
            <a:off x="1385123" y="1421025"/>
            <a:ext cx="3120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Barlow Semi Condensed" panose="00000506000000000000" pitchFamily="2" charset="0"/>
              </a:rPr>
              <a:t>Data from Kaggle and online scraping</a:t>
            </a:r>
            <a:endParaRPr dirty="0">
              <a:latin typeface="Barlow Semi Condensed" panose="00000506000000000000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Barlow Semi Condensed" panose="00000506000000000000" pitchFamily="2" charset="0"/>
              </a:rPr>
              <a:t>EDA, Processing</a:t>
            </a:r>
            <a:endParaRPr dirty="0">
              <a:latin typeface="Barlow Semi Condensed" panose="00000506000000000000" pitchFamily="2" charset="0"/>
            </a:endParaRPr>
          </a:p>
        </p:txBody>
      </p:sp>
      <p:sp>
        <p:nvSpPr>
          <p:cNvPr id="2294" name="Google Shape;2294;p36"/>
          <p:cNvSpPr txBox="1">
            <a:spLocks noGrp="1"/>
          </p:cNvSpPr>
          <p:nvPr>
            <p:ph type="subTitle" idx="5"/>
          </p:nvPr>
        </p:nvSpPr>
        <p:spPr>
          <a:xfrm>
            <a:off x="1385133" y="2216565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</a:rPr>
              <a:t>Modelling</a:t>
            </a:r>
            <a:endParaRPr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2295" name="Google Shape;2295;p36"/>
          <p:cNvSpPr txBox="1">
            <a:spLocks noGrp="1"/>
          </p:cNvSpPr>
          <p:nvPr>
            <p:ph type="subTitle" idx="6"/>
          </p:nvPr>
        </p:nvSpPr>
        <p:spPr>
          <a:xfrm>
            <a:off x="1385133" y="2500029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 Semi Condensed" panose="00000506000000000000" pitchFamily="2" charset="0"/>
              </a:rPr>
              <a:t>RF, KNN, XGBoost, CNN </a:t>
            </a:r>
            <a:endParaRPr>
              <a:latin typeface="Barlow Semi Condensed" panose="00000506000000000000" pitchFamily="2" charset="0"/>
            </a:endParaRPr>
          </a:p>
        </p:txBody>
      </p:sp>
      <p:sp>
        <p:nvSpPr>
          <p:cNvPr id="2296" name="Google Shape;2296;p36"/>
          <p:cNvSpPr txBox="1">
            <a:spLocks noGrp="1"/>
          </p:cNvSpPr>
          <p:nvPr>
            <p:ph type="subTitle" idx="7"/>
          </p:nvPr>
        </p:nvSpPr>
        <p:spPr>
          <a:xfrm>
            <a:off x="1385133" y="3295557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</a:rPr>
              <a:t>Conclusion</a:t>
            </a:r>
            <a:endParaRPr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2297" name="Google Shape;2297;p36"/>
          <p:cNvSpPr txBox="1">
            <a:spLocks noGrp="1"/>
          </p:cNvSpPr>
          <p:nvPr>
            <p:ph type="subTitle" idx="8"/>
          </p:nvPr>
        </p:nvSpPr>
        <p:spPr>
          <a:xfrm>
            <a:off x="1385133" y="3579021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Barlow Semi Condensed" panose="00000506000000000000" pitchFamily="2" charset="0"/>
              </a:rPr>
              <a:t>Evaluation</a:t>
            </a:r>
            <a:endParaRPr dirty="0">
              <a:latin typeface="Barlow Semi Condensed" panose="00000506000000000000" pitchFamily="2" charset="0"/>
            </a:endParaRPr>
          </a:p>
        </p:txBody>
      </p:sp>
      <p:sp>
        <p:nvSpPr>
          <p:cNvPr id="2298" name="Google Shape;2298;p36"/>
          <p:cNvSpPr txBox="1">
            <a:spLocks noGrp="1"/>
          </p:cNvSpPr>
          <p:nvPr>
            <p:ph type="title" idx="9"/>
          </p:nvPr>
        </p:nvSpPr>
        <p:spPr>
          <a:xfrm>
            <a:off x="707191" y="240501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 panose="00000506000000000000" pitchFamily="2" charset="0"/>
              </a:rPr>
              <a:t>01</a:t>
            </a:r>
            <a:endParaRPr>
              <a:latin typeface="Barlow Semi Condensed" panose="00000506000000000000" pitchFamily="2" charset="0"/>
            </a:endParaRPr>
          </a:p>
        </p:txBody>
      </p:sp>
      <p:sp>
        <p:nvSpPr>
          <p:cNvPr id="2299" name="Google Shape;2299;p36"/>
          <p:cNvSpPr txBox="1">
            <a:spLocks noGrp="1"/>
          </p:cNvSpPr>
          <p:nvPr>
            <p:ph type="title" idx="13"/>
          </p:nvPr>
        </p:nvSpPr>
        <p:spPr>
          <a:xfrm>
            <a:off x="707191" y="1319493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 panose="00000506000000000000" pitchFamily="2" charset="0"/>
              </a:rPr>
              <a:t>02</a:t>
            </a:r>
            <a:endParaRPr>
              <a:latin typeface="Barlow Semi Condensed" panose="00000506000000000000" pitchFamily="2" charset="0"/>
            </a:endParaRPr>
          </a:p>
        </p:txBody>
      </p:sp>
      <p:sp>
        <p:nvSpPr>
          <p:cNvPr id="2300" name="Google Shape;2300;p36"/>
          <p:cNvSpPr txBox="1">
            <a:spLocks noGrp="1"/>
          </p:cNvSpPr>
          <p:nvPr>
            <p:ph type="title" idx="14"/>
          </p:nvPr>
        </p:nvSpPr>
        <p:spPr>
          <a:xfrm>
            <a:off x="707191" y="2398485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 panose="00000506000000000000" pitchFamily="2" charset="0"/>
              </a:rPr>
              <a:t>03</a:t>
            </a:r>
            <a:endParaRPr>
              <a:latin typeface="Barlow Semi Condensed" panose="00000506000000000000" pitchFamily="2" charset="0"/>
            </a:endParaRPr>
          </a:p>
        </p:txBody>
      </p:sp>
      <p:sp>
        <p:nvSpPr>
          <p:cNvPr id="2301" name="Google Shape;2301;p36"/>
          <p:cNvSpPr txBox="1">
            <a:spLocks noGrp="1"/>
          </p:cNvSpPr>
          <p:nvPr>
            <p:ph type="title" idx="15"/>
          </p:nvPr>
        </p:nvSpPr>
        <p:spPr>
          <a:xfrm>
            <a:off x="707191" y="3477477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 panose="00000506000000000000" pitchFamily="2" charset="0"/>
              </a:rPr>
              <a:t>04</a:t>
            </a:r>
            <a:endParaRPr>
              <a:latin typeface="Barlow Semi Condensed" panose="00000506000000000000" pitchFamily="2" charset="0"/>
            </a:endParaRPr>
          </a:p>
        </p:txBody>
      </p:sp>
      <p:sp>
        <p:nvSpPr>
          <p:cNvPr id="2302" name="Google Shape;2302;p36"/>
          <p:cNvSpPr txBox="1">
            <a:spLocks noGrp="1"/>
          </p:cNvSpPr>
          <p:nvPr>
            <p:ph type="subTitle" idx="7"/>
          </p:nvPr>
        </p:nvSpPr>
        <p:spPr>
          <a:xfrm>
            <a:off x="1385124" y="4225463"/>
            <a:ext cx="28707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</a:rPr>
              <a:t>Limitations and Future Work</a:t>
            </a:r>
            <a:endParaRPr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2303" name="Google Shape;2303;p36"/>
          <p:cNvSpPr txBox="1">
            <a:spLocks noGrp="1"/>
          </p:cNvSpPr>
          <p:nvPr>
            <p:ph type="subTitle" idx="8"/>
          </p:nvPr>
        </p:nvSpPr>
        <p:spPr>
          <a:xfrm>
            <a:off x="1385133" y="4508921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 Semi Condensed" panose="00000506000000000000" pitchFamily="2" charset="0"/>
              </a:rPr>
              <a:t>Limitations, Prospects</a:t>
            </a:r>
            <a:endParaRPr>
              <a:latin typeface="Barlow Semi Condensed" panose="00000506000000000000" pitchFamily="2" charset="0"/>
            </a:endParaRPr>
          </a:p>
        </p:txBody>
      </p:sp>
      <p:grpSp>
        <p:nvGrpSpPr>
          <p:cNvPr id="2304" name="Google Shape;2304;p36"/>
          <p:cNvGrpSpPr/>
          <p:nvPr/>
        </p:nvGrpSpPr>
        <p:grpSpPr>
          <a:xfrm>
            <a:off x="618247" y="4320973"/>
            <a:ext cx="635100" cy="734640"/>
            <a:chOff x="731647" y="573573"/>
            <a:chExt cx="635100" cy="734640"/>
          </a:xfrm>
        </p:grpSpPr>
        <p:grpSp>
          <p:nvGrpSpPr>
            <p:cNvPr id="2305" name="Google Shape;2305;p36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306" name="Google Shape;2306;p3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307" name="Google Shape;2307;p3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308" name="Google Shape;2308;p3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  <a:latin typeface="Barlow Semi Condensed" panose="00000506000000000000" pitchFamily="2" charset="0"/>
                </a:endParaRPr>
              </a:p>
            </p:txBody>
          </p:sp>
        </p:grpSp>
        <p:grpSp>
          <p:nvGrpSpPr>
            <p:cNvPr id="2309" name="Google Shape;2309;p36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310" name="Google Shape;2310;p36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  <p:sp>
            <p:nvSpPr>
              <p:cNvPr id="2311" name="Google Shape;2311;p36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 Semi Condensed" panose="00000506000000000000" pitchFamily="2" charset="0"/>
                </a:endParaRPr>
              </a:p>
            </p:txBody>
          </p:sp>
        </p:grpSp>
      </p:grpSp>
      <p:sp>
        <p:nvSpPr>
          <p:cNvPr id="2312" name="Google Shape;2312;p36"/>
          <p:cNvSpPr txBox="1">
            <a:spLocks noGrp="1"/>
          </p:cNvSpPr>
          <p:nvPr>
            <p:ph type="title" idx="15"/>
          </p:nvPr>
        </p:nvSpPr>
        <p:spPr>
          <a:xfrm>
            <a:off x="707191" y="44820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 panose="00000506000000000000" pitchFamily="2" charset="0"/>
              </a:rPr>
              <a:t>05</a:t>
            </a:r>
            <a:endParaRPr>
              <a:latin typeface="Barlow Semi Condensed" panose="00000506000000000000" pitchFamily="2" charset="0"/>
            </a:endParaRPr>
          </a:p>
        </p:txBody>
      </p:sp>
      <p:sp>
        <p:nvSpPr>
          <p:cNvPr id="7" name="Google Shape;2317;p37">
            <a:extLst>
              <a:ext uri="{FF2B5EF4-FFF2-40B4-BE49-F238E27FC236}">
                <a16:creationId xmlns:a16="http://schemas.microsoft.com/office/drawing/2014/main" id="{9F245053-0BFC-C163-B4BE-859AD003C7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58874" y="110065"/>
            <a:ext cx="115137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Agenda</a:t>
            </a:r>
            <a:endParaRPr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37"/>
          <p:cNvSpPr txBox="1">
            <a:spLocks noGrp="1"/>
          </p:cNvSpPr>
          <p:nvPr>
            <p:ph type="title"/>
          </p:nvPr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Business Statement &amp; Technical Solutions</a:t>
            </a:r>
            <a:endParaRPr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2320" name="Google Shape;2320;p37"/>
          <p:cNvSpPr/>
          <p:nvPr/>
        </p:nvSpPr>
        <p:spPr>
          <a:xfrm>
            <a:off x="670888" y="694394"/>
            <a:ext cx="3653188" cy="428255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3"/>
              </a:highlight>
              <a:latin typeface="Barlow Semi Condensed" panose="00000506000000000000" pitchFamily="2" charset="0"/>
            </a:endParaRPr>
          </a:p>
        </p:txBody>
      </p:sp>
      <p:sp>
        <p:nvSpPr>
          <p:cNvPr id="2321" name="Google Shape;2321;p37"/>
          <p:cNvSpPr/>
          <p:nvPr/>
        </p:nvSpPr>
        <p:spPr>
          <a:xfrm>
            <a:off x="4713500" y="694394"/>
            <a:ext cx="3653187" cy="428255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3"/>
              </a:highlight>
              <a:latin typeface="Barlow Semi Condensed" panose="00000506000000000000" pitchFamily="2" charset="0"/>
            </a:endParaRPr>
          </a:p>
        </p:txBody>
      </p:sp>
      <p:sp>
        <p:nvSpPr>
          <p:cNvPr id="2326" name="Google Shape;2326;p37"/>
          <p:cNvSpPr txBox="1"/>
          <p:nvPr/>
        </p:nvSpPr>
        <p:spPr>
          <a:xfrm>
            <a:off x="812388" y="1343255"/>
            <a:ext cx="3385471" cy="344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●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SautyFash, the popular second-hand sneaks trading platform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●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Two Recurring Feedbacks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○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Tricky Posting Flow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○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Irrelevant Items Recommended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pic>
        <p:nvPicPr>
          <p:cNvPr id="2327" name="Google Shape;23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7653" y="3027896"/>
            <a:ext cx="2272766" cy="16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8" name="Google Shape;2328;p37"/>
          <p:cNvSpPr txBox="1"/>
          <p:nvPr/>
        </p:nvSpPr>
        <p:spPr>
          <a:xfrm>
            <a:off x="938230" y="3027896"/>
            <a:ext cx="1150500" cy="35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Nike Dunk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pic>
        <p:nvPicPr>
          <p:cNvPr id="2329" name="Google Shape;232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7668" y="3027896"/>
            <a:ext cx="351900" cy="35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37"/>
          <p:cNvSpPr txBox="1"/>
          <p:nvPr/>
        </p:nvSpPr>
        <p:spPr>
          <a:xfrm>
            <a:off x="2173343" y="3027896"/>
            <a:ext cx="1810500" cy="35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Nike Air Force 1 Low</a:t>
            </a:r>
            <a:endParaRPr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pic>
        <p:nvPicPr>
          <p:cNvPr id="2331" name="Google Shape;233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3427" y="3027896"/>
            <a:ext cx="351902" cy="351902"/>
          </a:xfrm>
          <a:prstGeom prst="rect">
            <a:avLst/>
          </a:prstGeom>
          <a:noFill/>
          <a:ln>
            <a:noFill/>
          </a:ln>
        </p:spPr>
      </p:pic>
      <p:sp>
        <p:nvSpPr>
          <p:cNvPr id="2332" name="Google Shape;2332;p37"/>
          <p:cNvSpPr txBox="1"/>
          <p:nvPr/>
        </p:nvSpPr>
        <p:spPr>
          <a:xfrm>
            <a:off x="4908693" y="1343255"/>
            <a:ext cx="3262800" cy="363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●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Image Classification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○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Image Processing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○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Machine Learning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■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Data Augmentation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■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HOG Feature Extraction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■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CNN Feature Extraction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■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Modelling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●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Random Forest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●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KNN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●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XGBoost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○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Deep Learning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■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CNN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●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ResNet50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C25E3-0F76-6AAC-66A8-27098B265989}"/>
              </a:ext>
            </a:extLst>
          </p:cNvPr>
          <p:cNvSpPr txBox="1"/>
          <p:nvPr/>
        </p:nvSpPr>
        <p:spPr>
          <a:xfrm>
            <a:off x="110561" y="864936"/>
            <a:ext cx="4602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00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Business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76BDF-8B72-1D4E-822D-B42DB7B4679E}"/>
              </a:ext>
            </a:extLst>
          </p:cNvPr>
          <p:cNvSpPr txBox="1"/>
          <p:nvPr/>
        </p:nvSpPr>
        <p:spPr>
          <a:xfrm>
            <a:off x="4238624" y="864936"/>
            <a:ext cx="4602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00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Technical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p38"/>
          <p:cNvSpPr/>
          <p:nvPr/>
        </p:nvSpPr>
        <p:spPr>
          <a:xfrm>
            <a:off x="3452718" y="1998219"/>
            <a:ext cx="15381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Manual Data Augmentation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38" name="Google Shape;2338;p38"/>
          <p:cNvSpPr/>
          <p:nvPr/>
        </p:nvSpPr>
        <p:spPr>
          <a:xfrm>
            <a:off x="5594140" y="2863550"/>
            <a:ext cx="15381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CNN Feature Extraction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39" name="Google Shape;2339;p38"/>
          <p:cNvSpPr/>
          <p:nvPr/>
        </p:nvSpPr>
        <p:spPr>
          <a:xfrm>
            <a:off x="1395722" y="2863539"/>
            <a:ext cx="15381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HOG Feature Extraction  + PCA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40" name="Google Shape;2340;p38"/>
          <p:cNvSpPr/>
          <p:nvPr/>
        </p:nvSpPr>
        <p:spPr>
          <a:xfrm>
            <a:off x="435400" y="3693450"/>
            <a:ext cx="10620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KNN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41" name="Google Shape;2341;p38"/>
          <p:cNvSpPr/>
          <p:nvPr/>
        </p:nvSpPr>
        <p:spPr>
          <a:xfrm>
            <a:off x="1633771" y="3693450"/>
            <a:ext cx="10620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XGB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42" name="Google Shape;2342;p38"/>
          <p:cNvSpPr/>
          <p:nvPr/>
        </p:nvSpPr>
        <p:spPr>
          <a:xfrm>
            <a:off x="2832142" y="3693450"/>
            <a:ext cx="10620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RF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cxnSp>
        <p:nvCxnSpPr>
          <p:cNvPr id="2343" name="Google Shape;2343;p38"/>
          <p:cNvCxnSpPr>
            <a:stCxn id="2337" idx="2"/>
            <a:endCxn id="2338" idx="0"/>
          </p:cNvCxnSpPr>
          <p:nvPr/>
        </p:nvCxnSpPr>
        <p:spPr>
          <a:xfrm rot="-5400000" flipH="1">
            <a:off x="5081118" y="1581369"/>
            <a:ext cx="422700" cy="2141400"/>
          </a:xfrm>
          <a:prstGeom prst="bentConnector3">
            <a:avLst>
              <a:gd name="adj1" fmla="val 5001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344" name="Google Shape;2344;p38"/>
          <p:cNvCxnSpPr>
            <a:stCxn id="2339" idx="0"/>
            <a:endCxn id="2337" idx="2"/>
          </p:cNvCxnSpPr>
          <p:nvPr/>
        </p:nvCxnSpPr>
        <p:spPr>
          <a:xfrm rot="-5400000">
            <a:off x="2981972" y="1623639"/>
            <a:ext cx="422700" cy="2057100"/>
          </a:xfrm>
          <a:prstGeom prst="bentConnector3">
            <a:avLst>
              <a:gd name="adj1" fmla="val 5001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sm" len="sm"/>
            <a:tailEnd type="none" w="sm" len="sm"/>
          </a:ln>
        </p:spPr>
      </p:cxnSp>
      <p:cxnSp>
        <p:nvCxnSpPr>
          <p:cNvPr id="2345" name="Google Shape;2345;p38"/>
          <p:cNvCxnSpPr>
            <a:stCxn id="2339" idx="2"/>
            <a:endCxn id="2341" idx="0"/>
          </p:cNvCxnSpPr>
          <p:nvPr/>
        </p:nvCxnSpPr>
        <p:spPr>
          <a:xfrm rot="-5400000" flipH="1">
            <a:off x="1971422" y="3499389"/>
            <a:ext cx="387300" cy="600"/>
          </a:xfrm>
          <a:prstGeom prst="bentConnector3">
            <a:avLst>
              <a:gd name="adj1" fmla="val 5001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346" name="Google Shape;2346;p38"/>
          <p:cNvCxnSpPr>
            <a:stCxn id="2340" idx="0"/>
            <a:endCxn id="2339" idx="2"/>
          </p:cNvCxnSpPr>
          <p:nvPr/>
        </p:nvCxnSpPr>
        <p:spPr>
          <a:xfrm rot="-5400000">
            <a:off x="1372000" y="2900550"/>
            <a:ext cx="387300" cy="1198500"/>
          </a:xfrm>
          <a:prstGeom prst="bentConnector3">
            <a:avLst>
              <a:gd name="adj1" fmla="val 5001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sm" len="sm"/>
            <a:tailEnd type="none" w="sm" len="sm"/>
          </a:ln>
        </p:spPr>
      </p:cxnSp>
      <p:sp>
        <p:nvSpPr>
          <p:cNvPr id="2347" name="Google Shape;2347;p38"/>
          <p:cNvSpPr/>
          <p:nvPr/>
        </p:nvSpPr>
        <p:spPr>
          <a:xfrm>
            <a:off x="4968868" y="593288"/>
            <a:ext cx="15381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Sneakers Images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cxnSp>
        <p:nvCxnSpPr>
          <p:cNvPr id="2348" name="Google Shape;2348;p38"/>
          <p:cNvCxnSpPr>
            <a:stCxn id="2339" idx="2"/>
            <a:endCxn id="2342" idx="0"/>
          </p:cNvCxnSpPr>
          <p:nvPr/>
        </p:nvCxnSpPr>
        <p:spPr>
          <a:xfrm rot="-5400000" flipH="1">
            <a:off x="2570372" y="2900439"/>
            <a:ext cx="387300" cy="1198500"/>
          </a:xfrm>
          <a:prstGeom prst="bentConnector3">
            <a:avLst>
              <a:gd name="adj1" fmla="val 5001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2349" name="Google Shape;2349;p38"/>
          <p:cNvSpPr/>
          <p:nvPr/>
        </p:nvSpPr>
        <p:spPr>
          <a:xfrm>
            <a:off x="4030513" y="3693450"/>
            <a:ext cx="10620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KNN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50" name="Google Shape;2350;p38"/>
          <p:cNvSpPr/>
          <p:nvPr/>
        </p:nvSpPr>
        <p:spPr>
          <a:xfrm>
            <a:off x="5228883" y="3693456"/>
            <a:ext cx="10620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XGB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51" name="Google Shape;2351;p38"/>
          <p:cNvSpPr/>
          <p:nvPr/>
        </p:nvSpPr>
        <p:spPr>
          <a:xfrm>
            <a:off x="6427254" y="3693450"/>
            <a:ext cx="10620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RF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cxnSp>
        <p:nvCxnSpPr>
          <p:cNvPr id="2352" name="Google Shape;2352;p38"/>
          <p:cNvCxnSpPr>
            <a:stCxn id="2338" idx="2"/>
            <a:endCxn id="2350" idx="0"/>
          </p:cNvCxnSpPr>
          <p:nvPr/>
        </p:nvCxnSpPr>
        <p:spPr>
          <a:xfrm rot="5400000">
            <a:off x="5867890" y="3198050"/>
            <a:ext cx="387300" cy="603300"/>
          </a:xfrm>
          <a:prstGeom prst="bentConnector3">
            <a:avLst>
              <a:gd name="adj1" fmla="val 5001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353" name="Google Shape;2353;p38"/>
          <p:cNvCxnSpPr>
            <a:stCxn id="2349" idx="0"/>
            <a:endCxn id="2338" idx="2"/>
          </p:cNvCxnSpPr>
          <p:nvPr/>
        </p:nvCxnSpPr>
        <p:spPr>
          <a:xfrm rot="-5400000">
            <a:off x="5268763" y="2598900"/>
            <a:ext cx="387300" cy="1801800"/>
          </a:xfrm>
          <a:prstGeom prst="bentConnector3">
            <a:avLst>
              <a:gd name="adj1" fmla="val 5001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sm" len="sm"/>
            <a:tailEnd type="none" w="sm" len="sm"/>
          </a:ln>
        </p:spPr>
      </p:cxnSp>
      <p:cxnSp>
        <p:nvCxnSpPr>
          <p:cNvPr id="2354" name="Google Shape;2354;p38"/>
          <p:cNvCxnSpPr>
            <a:stCxn id="2338" idx="2"/>
            <a:endCxn id="2351" idx="0"/>
          </p:cNvCxnSpPr>
          <p:nvPr/>
        </p:nvCxnSpPr>
        <p:spPr>
          <a:xfrm rot="-5400000" flipH="1">
            <a:off x="6467140" y="3202100"/>
            <a:ext cx="387300" cy="595200"/>
          </a:xfrm>
          <a:prstGeom prst="bentConnector3">
            <a:avLst>
              <a:gd name="adj1" fmla="val 5001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2355" name="Google Shape;2355;p38"/>
          <p:cNvSpPr txBox="1"/>
          <p:nvPr/>
        </p:nvSpPr>
        <p:spPr>
          <a:xfrm>
            <a:off x="182420" y="530250"/>
            <a:ext cx="34839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To explore how classical models performs on sneaker classification with extracted features, and compare its results with deep learning models (CNN).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57" name="Google Shape;2357;p38"/>
          <p:cNvSpPr/>
          <p:nvPr/>
        </p:nvSpPr>
        <p:spPr>
          <a:xfrm>
            <a:off x="4968868" y="1230181"/>
            <a:ext cx="15381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Image Processing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58" name="Google Shape;2358;p38"/>
          <p:cNvSpPr/>
          <p:nvPr/>
        </p:nvSpPr>
        <p:spPr>
          <a:xfrm>
            <a:off x="7102226" y="1998200"/>
            <a:ext cx="18018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CNN-Auto Data Processing and Augmentation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59" name="Google Shape;2359;p38"/>
          <p:cNvSpPr/>
          <p:nvPr/>
        </p:nvSpPr>
        <p:spPr>
          <a:xfrm>
            <a:off x="7234065" y="2845825"/>
            <a:ext cx="15381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CNN</a:t>
            </a:r>
            <a:endParaRPr sz="11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cxnSp>
        <p:nvCxnSpPr>
          <p:cNvPr id="2360" name="Google Shape;2360;p38"/>
          <p:cNvCxnSpPr>
            <a:stCxn id="2357" idx="2"/>
            <a:endCxn id="2337" idx="0"/>
          </p:cNvCxnSpPr>
          <p:nvPr/>
        </p:nvCxnSpPr>
        <p:spPr>
          <a:xfrm rot="5400000">
            <a:off x="4817068" y="1077331"/>
            <a:ext cx="325500" cy="15162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361" name="Google Shape;2361;p38"/>
          <p:cNvCxnSpPr>
            <a:stCxn id="2357" idx="2"/>
            <a:endCxn id="2358" idx="0"/>
          </p:cNvCxnSpPr>
          <p:nvPr/>
        </p:nvCxnSpPr>
        <p:spPr>
          <a:xfrm rot="-5400000" flipH="1">
            <a:off x="6707818" y="702781"/>
            <a:ext cx="325500" cy="22653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362" name="Google Shape;2362;p38"/>
          <p:cNvCxnSpPr>
            <a:stCxn id="2347" idx="2"/>
            <a:endCxn id="2357" idx="0"/>
          </p:cNvCxnSpPr>
          <p:nvPr/>
        </p:nvCxnSpPr>
        <p:spPr>
          <a:xfrm>
            <a:off x="5737918" y="1035788"/>
            <a:ext cx="0" cy="1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3" name="Google Shape;2363;p38"/>
          <p:cNvCxnSpPr>
            <a:stCxn id="2358" idx="2"/>
            <a:endCxn id="2359" idx="0"/>
          </p:cNvCxnSpPr>
          <p:nvPr/>
        </p:nvCxnSpPr>
        <p:spPr>
          <a:xfrm>
            <a:off x="8003126" y="2440700"/>
            <a:ext cx="0" cy="40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317;p37">
            <a:extLst>
              <a:ext uri="{FF2B5EF4-FFF2-40B4-BE49-F238E27FC236}">
                <a16:creationId xmlns:a16="http://schemas.microsoft.com/office/drawing/2014/main" id="{D76BBA23-A982-4726-D122-EDFD08C9B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Pipeline</a:t>
            </a:r>
            <a:endParaRPr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p39"/>
          <p:cNvSpPr txBox="1"/>
          <p:nvPr/>
        </p:nvSpPr>
        <p:spPr>
          <a:xfrm>
            <a:off x="199382" y="505849"/>
            <a:ext cx="7071600" cy="11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Main Data Set</a:t>
            </a:r>
            <a:endParaRPr sz="1200" b="1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3D3D3D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Popular Sneakers Classification Dataset: </a:t>
            </a:r>
            <a:r>
              <a:rPr lang="en" sz="1000" i="1" u="sng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https://www.kaggle.com/datasets/nikolasgegenava/sneakers-classification</a:t>
            </a:r>
            <a:endParaRPr sz="1000" i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Supplementary Data Set</a:t>
            </a:r>
            <a:endParaRPr sz="1200" b="1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Scrapping Online (batch scraping with IP rotation &amp; random delays)</a:t>
            </a:r>
            <a:endParaRPr sz="1000" i="1" dirty="0">
              <a:solidFill>
                <a:schemeClr val="dk1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 dirty="0">
              <a:solidFill>
                <a:schemeClr val="dk1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71" name="Google Shape;2371;p39"/>
          <p:cNvSpPr txBox="1"/>
          <p:nvPr/>
        </p:nvSpPr>
        <p:spPr>
          <a:xfrm>
            <a:off x="4589100" y="4588200"/>
            <a:ext cx="4554900" cy="5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D3D3D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pic>
        <p:nvPicPr>
          <p:cNvPr id="2373" name="Google Shape;2373;p39" title="变色NIKE鞋_爱给网_aigei_com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3495" y="168506"/>
            <a:ext cx="798352" cy="5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4" name="Google Shape;2374;p39"/>
          <p:cNvSpPr/>
          <p:nvPr/>
        </p:nvSpPr>
        <p:spPr>
          <a:xfrm>
            <a:off x="1214608" y="1560530"/>
            <a:ext cx="3116700" cy="338810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Brands Summary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75" name="Google Shape;2375;p39"/>
          <p:cNvSpPr/>
          <p:nvPr/>
        </p:nvSpPr>
        <p:spPr>
          <a:xfrm>
            <a:off x="4649683" y="1560530"/>
            <a:ext cx="3116700" cy="338810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Sneaker Summary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pic>
        <p:nvPicPr>
          <p:cNvPr id="2376" name="Google Shape;237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4608" y="1998489"/>
            <a:ext cx="3116699" cy="180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7" name="Google Shape;2377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9683" y="1995477"/>
            <a:ext cx="3116699" cy="180866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317;p37">
            <a:extLst>
              <a:ext uri="{FF2B5EF4-FFF2-40B4-BE49-F238E27FC236}">
                <a16:creationId xmlns:a16="http://schemas.microsoft.com/office/drawing/2014/main" id="{5E2BED0A-75AA-6C7B-4A1B-8F0136EF69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Data Briefing</a:t>
            </a:r>
            <a:endParaRPr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2372" name="Google Shape;2372;p39"/>
          <p:cNvSpPr txBox="1"/>
          <p:nvPr/>
        </p:nvSpPr>
        <p:spPr>
          <a:xfrm>
            <a:off x="1305158" y="3837490"/>
            <a:ext cx="2865300" cy="11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3D3D3D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Brands:</a:t>
            </a:r>
            <a:endParaRPr sz="1200" b="1" dirty="0">
              <a:solidFill>
                <a:srgbClr val="3D3D3D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3D3D3D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Popular Brands: Nike, Adidas, New Balance, Vans, Salomon, Yeezy …</a:t>
            </a:r>
            <a:endParaRPr sz="1200" dirty="0">
              <a:solidFill>
                <a:srgbClr val="3D3D3D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3D3D3D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50 Popular Sneaker Models: Air Force 1, Dunk, Air Jordan 1</a:t>
            </a:r>
            <a:endParaRPr sz="1200" dirty="0">
              <a:solidFill>
                <a:srgbClr val="3D3D3D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79" name="Google Shape;2379;p39"/>
          <p:cNvSpPr txBox="1"/>
          <p:nvPr/>
        </p:nvSpPr>
        <p:spPr>
          <a:xfrm>
            <a:off x="4767908" y="3840440"/>
            <a:ext cx="2444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Image Classes:</a:t>
            </a:r>
            <a:endParaRPr sz="1200" b="1">
              <a:solidFill>
                <a:schemeClr val="dk1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jalla One"/>
              <a:buChar char="●"/>
            </a:pPr>
            <a:r>
              <a:rPr lang="en" sz="1200">
                <a:solidFill>
                  <a:schemeClr val="dk1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Max #Samples: 150</a:t>
            </a:r>
            <a:endParaRPr sz="1200">
              <a:solidFill>
                <a:schemeClr val="dk1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jalla One"/>
              <a:buChar char="●"/>
            </a:pPr>
            <a:r>
              <a:rPr lang="en" sz="1200">
                <a:solidFill>
                  <a:schemeClr val="dk1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Min #Samples: 91</a:t>
            </a:r>
            <a:endParaRPr sz="1200">
              <a:solidFill>
                <a:schemeClr val="dk1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jalla One"/>
              <a:buChar char="●"/>
            </a:pPr>
            <a:r>
              <a:rPr lang="en" sz="1200">
                <a:solidFill>
                  <a:schemeClr val="dk1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Mean #Samples: 130</a:t>
            </a:r>
            <a:endParaRPr sz="1200">
              <a:solidFill>
                <a:schemeClr val="dk1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jalla One"/>
              <a:buChar char="●"/>
            </a:pPr>
            <a:r>
              <a:rPr lang="en" sz="1200">
                <a:solidFill>
                  <a:schemeClr val="dk1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Median #Samples: 115</a:t>
            </a:r>
            <a:endParaRPr sz="1200">
              <a:solidFill>
                <a:schemeClr val="dk1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5" name="Google Shape;238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225" y="2447212"/>
            <a:ext cx="7249275" cy="2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6" name="Google Shape;2386;p40"/>
          <p:cNvSpPr/>
          <p:nvPr/>
        </p:nvSpPr>
        <p:spPr>
          <a:xfrm>
            <a:off x="766225" y="2158300"/>
            <a:ext cx="7249274" cy="28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Width X Height X Channel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88" name="Google Shape;2388;p40"/>
          <p:cNvSpPr/>
          <p:nvPr/>
        </p:nvSpPr>
        <p:spPr>
          <a:xfrm>
            <a:off x="766225" y="713699"/>
            <a:ext cx="3857400" cy="13638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Fjalla One"/>
              <a:buChar char="●"/>
            </a:pPr>
            <a:r>
              <a:rPr lang="en" sz="11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Checked image dimensions</a:t>
            </a:r>
            <a:endParaRPr sz="1100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Width and height distributions</a:t>
            </a:r>
            <a:endParaRPr sz="1100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Most images within 120–140 pixels height. </a:t>
            </a:r>
            <a:endParaRPr sz="1100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Decided to resize to 224×224 for consistency.</a:t>
            </a:r>
            <a:endParaRPr sz="1100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Verified all images are RGB, 3 channels per image</a:t>
            </a:r>
            <a:endParaRPr sz="1100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pic>
        <p:nvPicPr>
          <p:cNvPr id="2389" name="Google Shape;2389;p40" title="变色NIKE鞋_爱给网_aigei_com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924" y="896779"/>
            <a:ext cx="1630946" cy="1104287"/>
          </a:xfrm>
          <a:prstGeom prst="rect">
            <a:avLst/>
          </a:prstGeom>
          <a:noFill/>
          <a:ln>
            <a:noFill/>
          </a:ln>
        </p:spPr>
      </p:pic>
      <p:sp>
        <p:nvSpPr>
          <p:cNvPr id="2387" name="Google Shape;2387;p40"/>
          <p:cNvSpPr/>
          <p:nvPr/>
        </p:nvSpPr>
        <p:spPr>
          <a:xfrm>
            <a:off x="1136575" y="713687"/>
            <a:ext cx="3116700" cy="288900"/>
          </a:xfrm>
          <a:prstGeom prst="rect">
            <a:avLst/>
          </a:prstGeom>
          <a:noFill/>
          <a:ln w="9525" cap="flat" cmpd="sng">
            <a:noFill/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Summary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" name="Google Shape;2317;p37">
            <a:extLst>
              <a:ext uri="{FF2B5EF4-FFF2-40B4-BE49-F238E27FC236}">
                <a16:creationId xmlns:a16="http://schemas.microsoft.com/office/drawing/2014/main" id="{DBCC78E5-4E57-7EE7-7102-8E10C22F03B8}"/>
              </a:ext>
            </a:extLst>
          </p:cNvPr>
          <p:cNvSpPr txBox="1">
            <a:spLocks/>
          </p:cNvSpPr>
          <p:nvPr/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l"/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Exploratory Data Analysis, EDA: Image Attribute Analysis</a:t>
            </a:r>
            <a:endParaRPr lang="en-SG"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p41"/>
          <p:cNvSpPr/>
          <p:nvPr/>
        </p:nvSpPr>
        <p:spPr>
          <a:xfrm>
            <a:off x="611601" y="2318925"/>
            <a:ext cx="3789749" cy="28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Full Pixel Intensity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396" name="Google Shape;2396;p41"/>
          <p:cNvSpPr/>
          <p:nvPr/>
        </p:nvSpPr>
        <p:spPr>
          <a:xfrm>
            <a:off x="663875" y="704775"/>
            <a:ext cx="4882800" cy="1469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●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Analysed pixel intensity distribution across all images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●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Observed high concentration near maximum brightness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●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One peak: very bright</a:t>
            </a:r>
            <a:endParaRPr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Fjalla One"/>
              <a:buChar char="●"/>
            </a:pPr>
            <a:r>
              <a:rPr lang="en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Confirmed consistent RGB channel behavior</a:t>
            </a:r>
            <a:endParaRPr dirty="0">
              <a:highlight>
                <a:schemeClr val="accent3"/>
              </a:highlight>
              <a:latin typeface="Barlow Semi Condensed" panose="00000506000000000000" pitchFamily="2" charset="0"/>
            </a:endParaRPr>
          </a:p>
        </p:txBody>
      </p:sp>
      <p:pic>
        <p:nvPicPr>
          <p:cNvPr id="2397" name="Google Shape;239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053" y="2607825"/>
            <a:ext cx="3746298" cy="2199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8" name="Google Shape;239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9274" y="2607825"/>
            <a:ext cx="3789750" cy="219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9" name="Google Shape;2399;p41"/>
          <p:cNvSpPr/>
          <p:nvPr/>
        </p:nvSpPr>
        <p:spPr>
          <a:xfrm>
            <a:off x="1546925" y="797815"/>
            <a:ext cx="3116700" cy="288900"/>
          </a:xfrm>
          <a:prstGeom prst="rect">
            <a:avLst/>
          </a:prstGeom>
          <a:noFill/>
          <a:ln w="9525" cap="flat" cmpd="sng">
            <a:noFill/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Summary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00" name="Google Shape;2400;p41"/>
          <p:cNvSpPr/>
          <p:nvPr/>
        </p:nvSpPr>
        <p:spPr>
          <a:xfrm>
            <a:off x="4559274" y="2318925"/>
            <a:ext cx="3789750" cy="28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Normalised Pixel Intensity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pic>
        <p:nvPicPr>
          <p:cNvPr id="2401" name="Google Shape;2401;p41" title="变色NIKE鞋_爱给网_aigei_com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727" y="797179"/>
            <a:ext cx="1575700" cy="10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317;p37">
            <a:extLst>
              <a:ext uri="{FF2B5EF4-FFF2-40B4-BE49-F238E27FC236}">
                <a16:creationId xmlns:a16="http://schemas.microsoft.com/office/drawing/2014/main" id="{F4B2EEDE-E816-62DF-DF6D-D461A237AD52}"/>
              </a:ext>
            </a:extLst>
          </p:cNvPr>
          <p:cNvSpPr txBox="1">
            <a:spLocks/>
          </p:cNvSpPr>
          <p:nvPr/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l"/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Exploratory Data Analysis, EDA: Pixel Analysis</a:t>
            </a:r>
            <a:endParaRPr lang="en-SG"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42"/>
          <p:cNvSpPr/>
          <p:nvPr/>
        </p:nvSpPr>
        <p:spPr>
          <a:xfrm>
            <a:off x="1435300" y="664138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Original Images</a:t>
            </a:r>
            <a:endParaRPr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08" name="Google Shape;2408;p42"/>
          <p:cNvSpPr/>
          <p:nvPr/>
        </p:nvSpPr>
        <p:spPr>
          <a:xfrm>
            <a:off x="1435300" y="1291200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Resized Images (224, 224)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09" name="Google Shape;2409;p42"/>
          <p:cNvSpPr/>
          <p:nvPr/>
        </p:nvSpPr>
        <p:spPr>
          <a:xfrm>
            <a:off x="2594100" y="2020575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Gray Scaled Images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10" name="Google Shape;2410;p42"/>
          <p:cNvSpPr/>
          <p:nvPr/>
        </p:nvSpPr>
        <p:spPr>
          <a:xfrm>
            <a:off x="2594100" y="2630700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Data Augmentation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11" name="Google Shape;2411;p42"/>
          <p:cNvSpPr/>
          <p:nvPr/>
        </p:nvSpPr>
        <p:spPr>
          <a:xfrm>
            <a:off x="2594100" y="3240850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HOG Feature Extraction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12" name="Google Shape;2412;p42"/>
          <p:cNvSpPr/>
          <p:nvPr/>
        </p:nvSpPr>
        <p:spPr>
          <a:xfrm>
            <a:off x="2594100" y="3834075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PCA Dimensionality Reduction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13" name="Google Shape;2413;p42"/>
          <p:cNvSpPr/>
          <p:nvPr/>
        </p:nvSpPr>
        <p:spPr>
          <a:xfrm>
            <a:off x="2594100" y="4427300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Input X for Non-CNN Models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14" name="Google Shape;2414;p42"/>
          <p:cNvSpPr/>
          <p:nvPr/>
        </p:nvSpPr>
        <p:spPr>
          <a:xfrm>
            <a:off x="328200" y="2020575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ResNet 50 Feature Extractor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15" name="Google Shape;2415;p42"/>
          <p:cNvSpPr/>
          <p:nvPr/>
        </p:nvSpPr>
        <p:spPr>
          <a:xfrm>
            <a:off x="5072400" y="2043000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Horizontally Flipping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16" name="Google Shape;2416;p42"/>
          <p:cNvSpPr/>
          <p:nvPr/>
        </p:nvSpPr>
        <p:spPr>
          <a:xfrm>
            <a:off x="5072400" y="2630700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Randomly Rotated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17" name="Google Shape;2417;p42"/>
          <p:cNvSpPr/>
          <p:nvPr/>
        </p:nvSpPr>
        <p:spPr>
          <a:xfrm>
            <a:off x="5072400" y="3218400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Brightness Adjusted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cxnSp>
        <p:nvCxnSpPr>
          <p:cNvPr id="2418" name="Google Shape;2418;p42"/>
          <p:cNvCxnSpPr>
            <a:stCxn id="2407" idx="2"/>
            <a:endCxn id="2408" idx="0"/>
          </p:cNvCxnSpPr>
          <p:nvPr/>
        </p:nvCxnSpPr>
        <p:spPr>
          <a:xfrm>
            <a:off x="2332750" y="1026238"/>
            <a:ext cx="0" cy="26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9" name="Google Shape;2419;p42"/>
          <p:cNvCxnSpPr>
            <a:stCxn id="2408" idx="2"/>
            <a:endCxn id="2414" idx="0"/>
          </p:cNvCxnSpPr>
          <p:nvPr/>
        </p:nvCxnSpPr>
        <p:spPr>
          <a:xfrm rot="5400000">
            <a:off x="1595650" y="1283400"/>
            <a:ext cx="367200" cy="1107000"/>
          </a:xfrm>
          <a:prstGeom prst="bentConnector3">
            <a:avLst>
              <a:gd name="adj1" fmla="val 5001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0" name="Google Shape;2420;p42"/>
          <p:cNvCxnSpPr>
            <a:stCxn id="2408" idx="2"/>
            <a:endCxn id="2409" idx="0"/>
          </p:cNvCxnSpPr>
          <p:nvPr/>
        </p:nvCxnSpPr>
        <p:spPr>
          <a:xfrm rot="-5400000" flipH="1">
            <a:off x="2728600" y="1257450"/>
            <a:ext cx="367200" cy="1158900"/>
          </a:xfrm>
          <a:prstGeom prst="bentConnector3">
            <a:avLst>
              <a:gd name="adj1" fmla="val 5001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1" name="Google Shape;2421;p42"/>
          <p:cNvCxnSpPr>
            <a:stCxn id="2410" idx="3"/>
            <a:endCxn id="2415" idx="1"/>
          </p:cNvCxnSpPr>
          <p:nvPr/>
        </p:nvCxnSpPr>
        <p:spPr>
          <a:xfrm rot="10800000" flipH="1">
            <a:off x="4389000" y="2224050"/>
            <a:ext cx="683400" cy="5877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22" name="Google Shape;2422;p42"/>
          <p:cNvCxnSpPr>
            <a:stCxn id="2410" idx="3"/>
            <a:endCxn id="2416" idx="1"/>
          </p:cNvCxnSpPr>
          <p:nvPr/>
        </p:nvCxnSpPr>
        <p:spPr>
          <a:xfrm>
            <a:off x="4389000" y="2811750"/>
            <a:ext cx="683400" cy="6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23" name="Google Shape;2423;p42"/>
          <p:cNvCxnSpPr>
            <a:stCxn id="2410" idx="3"/>
            <a:endCxn id="2417" idx="1"/>
          </p:cNvCxnSpPr>
          <p:nvPr/>
        </p:nvCxnSpPr>
        <p:spPr>
          <a:xfrm>
            <a:off x="4389000" y="2811750"/>
            <a:ext cx="683400" cy="5877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24" name="Google Shape;2424;p42"/>
          <p:cNvCxnSpPr>
            <a:stCxn id="2409" idx="2"/>
            <a:endCxn id="2410" idx="0"/>
          </p:cNvCxnSpPr>
          <p:nvPr/>
        </p:nvCxnSpPr>
        <p:spPr>
          <a:xfrm>
            <a:off x="3491550" y="2382675"/>
            <a:ext cx="0" cy="24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5" name="Google Shape;2425;p42"/>
          <p:cNvCxnSpPr>
            <a:stCxn id="2410" idx="2"/>
            <a:endCxn id="2411" idx="0"/>
          </p:cNvCxnSpPr>
          <p:nvPr/>
        </p:nvCxnSpPr>
        <p:spPr>
          <a:xfrm>
            <a:off x="3491550" y="2992800"/>
            <a:ext cx="0" cy="24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6" name="Google Shape;2426;p42"/>
          <p:cNvCxnSpPr>
            <a:stCxn id="2411" idx="2"/>
            <a:endCxn id="2412" idx="0"/>
          </p:cNvCxnSpPr>
          <p:nvPr/>
        </p:nvCxnSpPr>
        <p:spPr>
          <a:xfrm>
            <a:off x="3491550" y="3602950"/>
            <a:ext cx="0" cy="23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7" name="Google Shape;2427;p42"/>
          <p:cNvCxnSpPr>
            <a:stCxn id="2412" idx="2"/>
            <a:endCxn id="2413" idx="0"/>
          </p:cNvCxnSpPr>
          <p:nvPr/>
        </p:nvCxnSpPr>
        <p:spPr>
          <a:xfrm>
            <a:off x="3491550" y="4196175"/>
            <a:ext cx="0" cy="23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428" name="Google Shape;242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5825" y="3666686"/>
            <a:ext cx="4043326" cy="12899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pic>
      <p:sp>
        <p:nvSpPr>
          <p:cNvPr id="2429" name="Google Shape;2429;p42"/>
          <p:cNvSpPr/>
          <p:nvPr/>
        </p:nvSpPr>
        <p:spPr>
          <a:xfrm>
            <a:off x="7258025" y="2647800"/>
            <a:ext cx="1267500" cy="32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(-15, +15)</a:t>
            </a:r>
            <a:endParaRPr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30" name="Google Shape;2430;p42"/>
          <p:cNvSpPr/>
          <p:nvPr/>
        </p:nvSpPr>
        <p:spPr>
          <a:xfrm>
            <a:off x="7258025" y="3235500"/>
            <a:ext cx="1267500" cy="32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(0.7, 1.3)</a:t>
            </a:r>
            <a:endParaRPr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cxnSp>
        <p:nvCxnSpPr>
          <p:cNvPr id="2431" name="Google Shape;2431;p42"/>
          <p:cNvCxnSpPr>
            <a:stCxn id="2416" idx="3"/>
            <a:endCxn id="2429" idx="1"/>
          </p:cNvCxnSpPr>
          <p:nvPr/>
        </p:nvCxnSpPr>
        <p:spPr>
          <a:xfrm>
            <a:off x="6867300" y="2811750"/>
            <a:ext cx="390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2432" name="Google Shape;2432;p42"/>
          <p:cNvCxnSpPr>
            <a:stCxn id="2417" idx="3"/>
            <a:endCxn id="2430" idx="1"/>
          </p:cNvCxnSpPr>
          <p:nvPr/>
        </p:nvCxnSpPr>
        <p:spPr>
          <a:xfrm>
            <a:off x="6867300" y="3399450"/>
            <a:ext cx="390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2433" name="Google Shape;2433;p42"/>
          <p:cNvSpPr/>
          <p:nvPr/>
        </p:nvSpPr>
        <p:spPr>
          <a:xfrm>
            <a:off x="328200" y="2814950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Weights &amp; Bias Frozen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cxnSp>
        <p:nvCxnSpPr>
          <p:cNvPr id="2434" name="Google Shape;2434;p42"/>
          <p:cNvCxnSpPr>
            <a:stCxn id="2414" idx="2"/>
            <a:endCxn id="2433" idx="0"/>
          </p:cNvCxnSpPr>
          <p:nvPr/>
        </p:nvCxnSpPr>
        <p:spPr>
          <a:xfrm>
            <a:off x="1225650" y="2382675"/>
            <a:ext cx="0" cy="43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5" name="Google Shape;2435;p42"/>
          <p:cNvSpPr/>
          <p:nvPr/>
        </p:nvSpPr>
        <p:spPr>
          <a:xfrm>
            <a:off x="328200" y="3609325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Feature Extraction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cxnSp>
        <p:nvCxnSpPr>
          <p:cNvPr id="2436" name="Google Shape;2436;p42"/>
          <p:cNvCxnSpPr>
            <a:stCxn id="2433" idx="2"/>
            <a:endCxn id="2437" idx="0"/>
          </p:cNvCxnSpPr>
          <p:nvPr/>
        </p:nvCxnSpPr>
        <p:spPr>
          <a:xfrm>
            <a:off x="1225650" y="3177050"/>
            <a:ext cx="0" cy="43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8" name="Google Shape;2438;p42"/>
          <p:cNvSpPr/>
          <p:nvPr/>
        </p:nvSpPr>
        <p:spPr>
          <a:xfrm>
            <a:off x="328200" y="4403700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Input X for Non-CNN Models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cxnSp>
        <p:nvCxnSpPr>
          <p:cNvPr id="2439" name="Google Shape;2439;p42"/>
          <p:cNvCxnSpPr>
            <a:endCxn id="2438" idx="0"/>
          </p:cNvCxnSpPr>
          <p:nvPr/>
        </p:nvCxnSpPr>
        <p:spPr>
          <a:xfrm>
            <a:off x="1225650" y="3855000"/>
            <a:ext cx="0" cy="54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0" name="Google Shape;2440;p42"/>
          <p:cNvSpPr/>
          <p:nvPr/>
        </p:nvSpPr>
        <p:spPr>
          <a:xfrm>
            <a:off x="3674550" y="1291200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CNN Automatic Image Processing Pipeline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cxnSp>
        <p:nvCxnSpPr>
          <p:cNvPr id="2441" name="Google Shape;2441;p42"/>
          <p:cNvCxnSpPr>
            <a:stCxn id="2408" idx="3"/>
            <a:endCxn id="2440" idx="1"/>
          </p:cNvCxnSpPr>
          <p:nvPr/>
        </p:nvCxnSpPr>
        <p:spPr>
          <a:xfrm>
            <a:off x="3230200" y="1472250"/>
            <a:ext cx="444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2" name="Google Shape;2442;p42"/>
          <p:cNvSpPr/>
          <p:nvPr/>
        </p:nvSpPr>
        <p:spPr>
          <a:xfrm>
            <a:off x="6041325" y="1291200"/>
            <a:ext cx="1794900" cy="36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Input X for CNN</a:t>
            </a:r>
            <a:endParaRPr sz="120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cxnSp>
        <p:nvCxnSpPr>
          <p:cNvPr id="2443" name="Google Shape;2443;p42"/>
          <p:cNvCxnSpPr>
            <a:stCxn id="2440" idx="3"/>
            <a:endCxn id="2442" idx="1"/>
          </p:cNvCxnSpPr>
          <p:nvPr/>
        </p:nvCxnSpPr>
        <p:spPr>
          <a:xfrm>
            <a:off x="5469450" y="1472250"/>
            <a:ext cx="57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Google Shape;2317;p37">
            <a:extLst>
              <a:ext uri="{FF2B5EF4-FFF2-40B4-BE49-F238E27FC236}">
                <a16:creationId xmlns:a16="http://schemas.microsoft.com/office/drawing/2014/main" id="{8B673B08-0D2E-FED7-56D7-4B49AE8D2C66}"/>
              </a:ext>
            </a:extLst>
          </p:cNvPr>
          <p:cNvSpPr txBox="1">
            <a:spLocks/>
          </p:cNvSpPr>
          <p:nvPr/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l"/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Image Processing</a:t>
            </a:r>
            <a:endParaRPr lang="en-SG"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p43"/>
          <p:cNvSpPr txBox="1">
            <a:spLocks noGrp="1"/>
          </p:cNvSpPr>
          <p:nvPr>
            <p:ph type="subTitle" idx="1"/>
          </p:nvPr>
        </p:nvSpPr>
        <p:spPr>
          <a:xfrm>
            <a:off x="174770" y="522600"/>
            <a:ext cx="8817480" cy="20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Reasoning to use this model: </a:t>
            </a:r>
            <a:r>
              <a:rPr lang="en" sz="1200" dirty="0">
                <a:solidFill>
                  <a:schemeClr val="dk2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A traditional identification method used before the advent of deep learning, it stands out for its ability to handle high-dimensional data, its robustness against overfitting, and its efficiency through parallelism.</a:t>
            </a:r>
            <a:endParaRPr sz="1200" dirty="0">
              <a:solidFill>
                <a:schemeClr val="dk2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Risks of using this model:</a:t>
            </a:r>
            <a:endParaRPr sz="1200" b="1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Replying on manually feature extraction which has limited feature representation capability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Computationally intensive and memory-hungry when dealing with large datasets or features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May still overfit in high-dimensional and non-diverse data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49" name="Google Shape;2449;p43"/>
          <p:cNvSpPr txBox="1">
            <a:spLocks noGrp="1"/>
          </p:cNvSpPr>
          <p:nvPr>
            <p:ph type="subTitle" idx="2"/>
          </p:nvPr>
        </p:nvSpPr>
        <p:spPr>
          <a:xfrm>
            <a:off x="5543150" y="2665200"/>
            <a:ext cx="3449100" cy="19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Randomized Search Hyperparameter Tuning </a:t>
            </a:r>
            <a:b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</a:b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(cv=3, n_iter=10):</a:t>
            </a:r>
            <a:endParaRPr sz="1200" b="1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n_estimators</a:t>
            </a:r>
            <a:r>
              <a:rPr lang="en" sz="12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 </a:t>
            </a:r>
            <a:r>
              <a:rPr lang="en" sz="1200" dirty="0">
                <a:solidFill>
                  <a:srgbClr val="59595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(50 to 200): more trees generalizes better but slower</a:t>
            </a:r>
            <a:endParaRPr sz="1200" dirty="0">
              <a:solidFill>
                <a:srgbClr val="59595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max_depth</a:t>
            </a:r>
            <a:r>
              <a:rPr lang="en" sz="12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 </a:t>
            </a:r>
            <a:r>
              <a:rPr lang="en" sz="1200" dirty="0">
                <a:solidFill>
                  <a:srgbClr val="59595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(10 to 40): larger depth fit better but may overfit</a:t>
            </a:r>
            <a:endParaRPr sz="1200" dirty="0">
              <a:solidFill>
                <a:srgbClr val="59595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max_features</a:t>
            </a:r>
            <a:r>
              <a:rPr lang="en" sz="12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 </a:t>
            </a:r>
            <a:r>
              <a:rPr lang="en" sz="1200" dirty="0">
                <a:solidFill>
                  <a:srgbClr val="59595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(sqrt, log2, 0.5 to 1.0): lower values uses smaller fraction of features, reducing overfitting by adding randomness</a:t>
            </a:r>
            <a:endParaRPr sz="1200" dirty="0">
              <a:solidFill>
                <a:srgbClr val="59595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52" name="Google Shape;2452;p43"/>
          <p:cNvSpPr/>
          <p:nvPr/>
        </p:nvSpPr>
        <p:spPr>
          <a:xfrm>
            <a:off x="174770" y="2589330"/>
            <a:ext cx="2361600" cy="28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HOG Feature Extraction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53" name="Google Shape;2453;p43"/>
          <p:cNvSpPr/>
          <p:nvPr/>
        </p:nvSpPr>
        <p:spPr>
          <a:xfrm>
            <a:off x="2677995" y="2589330"/>
            <a:ext cx="2444100" cy="28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CNN Feature Extraction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54" name="Google Shape;2454;p43"/>
          <p:cNvSpPr txBox="1">
            <a:spLocks noGrp="1"/>
          </p:cNvSpPr>
          <p:nvPr>
            <p:ph type="subTitle" idx="3"/>
          </p:nvPr>
        </p:nvSpPr>
        <p:spPr>
          <a:xfrm>
            <a:off x="217220" y="4017673"/>
            <a:ext cx="34491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3D3D3D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HOG VS CNN Extraction</a:t>
            </a:r>
            <a:endParaRPr sz="1200" b="1" dirty="0">
              <a:solidFill>
                <a:srgbClr val="3D3D3D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59595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Both not satisfying</a:t>
            </a:r>
            <a:endParaRPr sz="1200" dirty="0">
              <a:solidFill>
                <a:srgbClr val="59595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59595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CNN Extraction Slightly Better</a:t>
            </a:r>
            <a:endParaRPr sz="1200" dirty="0">
              <a:solidFill>
                <a:srgbClr val="59595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pic>
        <p:nvPicPr>
          <p:cNvPr id="2455" name="Google Shape;24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70" y="2878230"/>
            <a:ext cx="2361600" cy="900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6" name="Google Shape;245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7995" y="2878230"/>
            <a:ext cx="2444218" cy="9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317;p37">
            <a:extLst>
              <a:ext uri="{FF2B5EF4-FFF2-40B4-BE49-F238E27FC236}">
                <a16:creationId xmlns:a16="http://schemas.microsoft.com/office/drawing/2014/main" id="{95568CC1-3D7E-CF45-A9F9-6A579F9E1994}"/>
              </a:ext>
            </a:extLst>
          </p:cNvPr>
          <p:cNvSpPr txBox="1">
            <a:spLocks/>
          </p:cNvSpPr>
          <p:nvPr/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l"/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Modelling: Random Forest</a:t>
            </a:r>
            <a:endParaRPr lang="en-SG"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44"/>
          <p:cNvSpPr txBox="1">
            <a:spLocks noGrp="1"/>
          </p:cNvSpPr>
          <p:nvPr>
            <p:ph type="subTitle" idx="1"/>
          </p:nvPr>
        </p:nvSpPr>
        <p:spPr>
          <a:xfrm>
            <a:off x="174770" y="502575"/>
            <a:ext cx="5794805" cy="19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Reasoning to use this model: </a:t>
            </a:r>
            <a:endParaRPr sz="1200" b="1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Robustness to Overfitting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Flexibility and Hyperparameter Tuning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chemeClr val="dk2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Handles Imbalanced Data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Risks of using this model:</a:t>
            </a:r>
            <a:endParaRPr sz="1200" b="1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Heavily relies on hyperparameter tuning and prone to overfitting if not properly tuned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Sensitive to noise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High computation cost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63" name="Google Shape;2463;p44"/>
          <p:cNvSpPr txBox="1">
            <a:spLocks noGrp="1"/>
          </p:cNvSpPr>
          <p:nvPr>
            <p:ph type="subTitle" idx="2"/>
          </p:nvPr>
        </p:nvSpPr>
        <p:spPr>
          <a:xfrm>
            <a:off x="3985800" y="2268030"/>
            <a:ext cx="5025000" cy="19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Randomized Search Hyperparameter Tuning (cv=3, n_iter=10):</a:t>
            </a:r>
            <a:endParaRPr sz="1200" b="1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n_estimators</a:t>
            </a: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 (50 to 500): </a:t>
            </a:r>
            <a:r>
              <a:rPr lang="en" sz="120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more trees fit better but may overfit</a:t>
            </a:r>
            <a:endParaRPr sz="120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max_depth</a:t>
            </a: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 (3 to 12): </a:t>
            </a:r>
            <a:r>
              <a:rPr lang="en" sz="120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larger depth fit better but may overfit (especially with boosting)</a:t>
            </a:r>
            <a:endParaRPr sz="120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learning_rate </a:t>
            </a: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(0.01 to 0.2): </a:t>
            </a:r>
            <a:r>
              <a:rPr lang="en" sz="120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lower rate generalizes better but slower and requires more trees</a:t>
            </a:r>
            <a:endParaRPr sz="120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subsample</a:t>
            </a: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 (0.7 to 1.0): l</a:t>
            </a:r>
            <a:r>
              <a:rPr lang="en" sz="120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ower values uses smaller fraction of training data, reducing overfitting by adding randomness</a:t>
            </a:r>
            <a:endParaRPr sz="120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colsample_bytree</a:t>
            </a: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 (0.7 to 1.0): </a:t>
            </a:r>
            <a:r>
              <a:rPr lang="en" sz="120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lower values uses smaller fraction of features, reducing overfitting by adding randomness</a:t>
            </a:r>
            <a:endParaRPr sz="120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66" name="Google Shape;2466;p44"/>
          <p:cNvSpPr/>
          <p:nvPr/>
        </p:nvSpPr>
        <p:spPr>
          <a:xfrm>
            <a:off x="1059979" y="2484975"/>
            <a:ext cx="2723700" cy="24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HOG Feature Extraction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67" name="Google Shape;2467;p44"/>
          <p:cNvSpPr/>
          <p:nvPr/>
        </p:nvSpPr>
        <p:spPr>
          <a:xfrm>
            <a:off x="1059979" y="3762129"/>
            <a:ext cx="2723700" cy="24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CNN Feature Extraction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pic>
        <p:nvPicPr>
          <p:cNvPr id="2468" name="Google Shape;24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976" y="2727376"/>
            <a:ext cx="2727003" cy="103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9" name="Google Shape;246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9975" y="4004524"/>
            <a:ext cx="2727000" cy="103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0" name="Google Shape;2470;p44"/>
          <p:cNvSpPr txBox="1">
            <a:spLocks noGrp="1"/>
          </p:cNvSpPr>
          <p:nvPr>
            <p:ph type="subTitle" idx="3"/>
          </p:nvPr>
        </p:nvSpPr>
        <p:spPr>
          <a:xfrm>
            <a:off x="4102625" y="4228743"/>
            <a:ext cx="43464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HOG VS CNN Extraction</a:t>
            </a:r>
            <a:endParaRPr sz="1200" b="1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59595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Both not satisfying</a:t>
            </a:r>
            <a:endParaRPr sz="1200" dirty="0">
              <a:solidFill>
                <a:srgbClr val="59595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59595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CNN Feature Extraction Much better</a:t>
            </a:r>
            <a:endParaRPr sz="1200" dirty="0">
              <a:solidFill>
                <a:srgbClr val="59595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5" name="Google Shape;2317;p37">
            <a:extLst>
              <a:ext uri="{FF2B5EF4-FFF2-40B4-BE49-F238E27FC236}">
                <a16:creationId xmlns:a16="http://schemas.microsoft.com/office/drawing/2014/main" id="{2B96770A-7C07-8326-07A9-DE0FB582EDB7}"/>
              </a:ext>
            </a:extLst>
          </p:cNvPr>
          <p:cNvSpPr txBox="1">
            <a:spLocks/>
          </p:cNvSpPr>
          <p:nvPr/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l"/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Modelling: XGBoost</a:t>
            </a:r>
            <a:endParaRPr lang="en-SG"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p45"/>
          <p:cNvSpPr txBox="1">
            <a:spLocks noGrp="1"/>
          </p:cNvSpPr>
          <p:nvPr>
            <p:ph type="subTitle" idx="1"/>
          </p:nvPr>
        </p:nvSpPr>
        <p:spPr>
          <a:xfrm>
            <a:off x="174770" y="512164"/>
            <a:ext cx="8853981" cy="15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Reasoning to use this model: </a:t>
            </a:r>
            <a:endParaRPr sz="1200" b="1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“Lazy Learner”: Simplicity and Interpretability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Risks of using this model:</a:t>
            </a:r>
            <a:endParaRPr sz="1200" b="1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Long inference time and computationally and memory expensive for large datasets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Sensitive to noise, class imbalance, and curse of dimensionality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Manual feature extraction needed, it cannot automatically learn hierarchical, robust, and abstract features directly from raw image pixels.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76" name="Google Shape;2476;p45"/>
          <p:cNvSpPr txBox="1">
            <a:spLocks noGrp="1"/>
          </p:cNvSpPr>
          <p:nvPr>
            <p:ph type="subTitle" idx="2"/>
          </p:nvPr>
        </p:nvSpPr>
        <p:spPr>
          <a:xfrm>
            <a:off x="3977925" y="2127837"/>
            <a:ext cx="4884300" cy="1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Randomized Search Hyperparameter Tuning (cv=3, n_iter=10):</a:t>
            </a:r>
            <a:endParaRPr sz="1200" b="1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n_neighbors</a:t>
            </a: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 (1 to 30): </a:t>
            </a:r>
            <a:r>
              <a:rPr lang="en" sz="120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smaller captures local pattern, larger generalizes better</a:t>
            </a:r>
            <a:endParaRPr sz="120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weights </a:t>
            </a: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(uniform, distance): </a:t>
            </a:r>
            <a:r>
              <a:rPr lang="en" sz="120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equal weights, or higher weights for closer neighbours</a:t>
            </a:r>
            <a:endParaRPr sz="120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metric </a:t>
            </a:r>
            <a:r>
              <a:rPr lang="en" sz="120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(euclidean, manhattan, cosine): </a:t>
            </a:r>
            <a:r>
              <a:rPr lang="en" sz="120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cosine calculates angles between vectors (expected to be better for image)</a:t>
            </a:r>
            <a:endParaRPr sz="120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79" name="Google Shape;2479;p45"/>
          <p:cNvSpPr/>
          <p:nvPr/>
        </p:nvSpPr>
        <p:spPr>
          <a:xfrm>
            <a:off x="781950" y="2204037"/>
            <a:ext cx="3080100" cy="28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HOG Feature Extraction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80" name="Google Shape;2480;p45"/>
          <p:cNvSpPr/>
          <p:nvPr/>
        </p:nvSpPr>
        <p:spPr>
          <a:xfrm>
            <a:off x="781950" y="3650262"/>
            <a:ext cx="3080100" cy="28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CNN Feature Extraction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pic>
        <p:nvPicPr>
          <p:cNvPr id="2481" name="Google Shape;248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963" y="2487825"/>
            <a:ext cx="3080073" cy="116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2" name="Google Shape;248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945" y="3939173"/>
            <a:ext cx="3080099" cy="1200039"/>
          </a:xfrm>
          <a:prstGeom prst="rect">
            <a:avLst/>
          </a:prstGeom>
          <a:noFill/>
          <a:ln>
            <a:noFill/>
          </a:ln>
        </p:spPr>
      </p:pic>
      <p:sp>
        <p:nvSpPr>
          <p:cNvPr id="2483" name="Google Shape;2483;p45"/>
          <p:cNvSpPr txBox="1">
            <a:spLocks noGrp="1"/>
          </p:cNvSpPr>
          <p:nvPr>
            <p:ph type="subTitle" idx="3"/>
          </p:nvPr>
        </p:nvSpPr>
        <p:spPr>
          <a:xfrm>
            <a:off x="4071150" y="3866887"/>
            <a:ext cx="43464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HOG VS CNN Extraction</a:t>
            </a:r>
            <a:endParaRPr sz="1200" b="1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Fjalla One"/>
              <a:buChar char="●"/>
            </a:pPr>
            <a:r>
              <a:rPr lang="en" sz="1200">
                <a:solidFill>
                  <a:srgbClr val="59595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Both not satisfying</a:t>
            </a:r>
            <a:endParaRPr sz="1200">
              <a:solidFill>
                <a:srgbClr val="59595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Fjalla One"/>
              <a:buChar char="●"/>
            </a:pPr>
            <a:r>
              <a:rPr lang="en" sz="1200">
                <a:solidFill>
                  <a:srgbClr val="59595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The performances for Two methods are similar</a:t>
            </a:r>
            <a:endParaRPr sz="1200">
              <a:solidFill>
                <a:srgbClr val="59595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3" name="Google Shape;2317;p37">
            <a:extLst>
              <a:ext uri="{FF2B5EF4-FFF2-40B4-BE49-F238E27FC236}">
                <a16:creationId xmlns:a16="http://schemas.microsoft.com/office/drawing/2014/main" id="{C4BE1EFE-FC4F-C8BC-9959-1340A330D302}"/>
              </a:ext>
            </a:extLst>
          </p:cNvPr>
          <p:cNvSpPr txBox="1">
            <a:spLocks/>
          </p:cNvSpPr>
          <p:nvPr/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l"/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Modelling: K-Nearest Neighbour Classifier</a:t>
            </a:r>
            <a:endParaRPr lang="en-SG"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46"/>
          <p:cNvSpPr txBox="1">
            <a:spLocks noGrp="1"/>
          </p:cNvSpPr>
          <p:nvPr>
            <p:ph type="subTitle" idx="1"/>
          </p:nvPr>
        </p:nvSpPr>
        <p:spPr>
          <a:xfrm>
            <a:off x="2538175" y="386075"/>
            <a:ext cx="5795700" cy="27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Model Utilized: </a:t>
            </a: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Residual Networks 50 Model (ResNet50) (50 layers)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Reasoning to use pre-trained model - trained on larger dataset so model should be able to identify features better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-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Model commonly used for many computer vision tasks </a:t>
            </a:r>
            <a:r>
              <a:rPr lang="en" sz="1200" baseline="300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[1]</a:t>
            </a:r>
            <a:endParaRPr sz="1200" baseline="300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-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Avoid Vanishing Gradient Problem → by Residual Connection</a:t>
            </a:r>
            <a:r>
              <a:rPr lang="en" sz="1200" baseline="300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 [2]</a:t>
            </a:r>
            <a:endParaRPr sz="1200" baseline="300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Methodology: </a:t>
            </a:r>
            <a:endParaRPr sz="1200" dirty="0"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Fjalla One"/>
              <a:buAutoNum type="arabicParenR"/>
            </a:pPr>
            <a:r>
              <a:rPr lang="en" sz="12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I</a:t>
            </a: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nitialise DataLoader for Train, Validation and Test Data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-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Data transformation done differently for Training and Validation/Test dataset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AutoNum type="arabicParenR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Initialise and freeze weights for all layers of pretrained model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AutoNum type="arabicParenR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Replace the Fully Connected Layer → Transfer Learning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AutoNum type="arabicParenR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Epoch training and Tuning by validation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AutoNum type="arabicParenR"/>
            </a:pP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Model Evaluation using test data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89" name="Google Shape;2489;p46"/>
          <p:cNvSpPr txBox="1"/>
          <p:nvPr/>
        </p:nvSpPr>
        <p:spPr>
          <a:xfrm>
            <a:off x="440475" y="4905450"/>
            <a:ext cx="6983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Source: (1</a:t>
            </a:r>
            <a:r>
              <a:rPr lang="en" sz="600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) </a:t>
            </a:r>
            <a:r>
              <a:rPr lang="en" sz="600" u="sng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https://blog.devgenius.io/resnet50-6b42934db431</a:t>
            </a:r>
            <a:r>
              <a:rPr lang="en" sz="600" dirty="0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, (2) </a:t>
            </a:r>
            <a:r>
              <a:rPr lang="en" sz="600" u="sng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https://medium.com/@nitishkundu1993/exploring-resnet50-an-in-depth-look-at-the-model-architecture-and-code-implementation-d8d8fa67e46f</a:t>
            </a:r>
            <a:endParaRPr sz="600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492" name="Google Shape;2492;p46"/>
          <p:cNvSpPr/>
          <p:nvPr/>
        </p:nvSpPr>
        <p:spPr>
          <a:xfrm>
            <a:off x="2690575" y="3067775"/>
            <a:ext cx="4415700" cy="24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Evaluation Metrics</a:t>
            </a:r>
            <a:endParaRPr b="1" dirty="0">
              <a:solidFill>
                <a:schemeClr val="accent1">
                  <a:lumMod val="50000"/>
                </a:schemeClr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graphicFrame>
        <p:nvGraphicFramePr>
          <p:cNvPr id="2493" name="Google Shape;2493;p46"/>
          <p:cNvGraphicFramePr/>
          <p:nvPr>
            <p:extLst>
              <p:ext uri="{D42A27DB-BD31-4B8C-83A1-F6EECF244321}">
                <p14:modId xmlns:p14="http://schemas.microsoft.com/office/powerpoint/2010/main" val="701485131"/>
              </p:ext>
            </p:extLst>
          </p:nvPr>
        </p:nvGraphicFramePr>
        <p:xfrm>
          <a:off x="2690575" y="3310175"/>
          <a:ext cx="4415800" cy="1645800"/>
        </p:xfrm>
        <a:graphic>
          <a:graphicData uri="http://schemas.openxmlformats.org/drawingml/2006/table">
            <a:tbl>
              <a:tblPr>
                <a:noFill/>
                <a:tableStyleId>{2A10923B-A08B-4540-BE09-3D198DEE7BC9}</a:tableStyleId>
              </a:tblPr>
              <a:tblGrid>
                <a:gridCol w="84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7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Dataset</a:t>
                      </a:r>
                      <a:endParaRPr sz="12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Accuracy</a:t>
                      </a:r>
                      <a:endParaRPr sz="12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Precision (Macro)</a:t>
                      </a:r>
                      <a:endParaRPr sz="1200" dirty="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Recall (Macro)</a:t>
                      </a:r>
                      <a:endParaRPr sz="12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F-0.5-Score (Macro)</a:t>
                      </a:r>
                      <a:endParaRPr sz="12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Training</a:t>
                      </a:r>
                      <a:endParaRPr sz="12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94949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0.9843</a:t>
                      </a:r>
                      <a:endParaRPr sz="1200">
                        <a:solidFill>
                          <a:srgbClr val="494949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94949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0.9843</a:t>
                      </a:r>
                      <a:endParaRPr sz="1200">
                        <a:solidFill>
                          <a:srgbClr val="494949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494949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0.9842</a:t>
                      </a:r>
                      <a:endParaRPr sz="1200" dirty="0">
                        <a:solidFill>
                          <a:srgbClr val="494949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94949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0.9841</a:t>
                      </a:r>
                      <a:endParaRPr sz="1200">
                        <a:solidFill>
                          <a:srgbClr val="494949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Validation</a:t>
                      </a:r>
                      <a:endParaRPr sz="12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94949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0.8194</a:t>
                      </a:r>
                      <a:endParaRPr sz="1200">
                        <a:solidFill>
                          <a:srgbClr val="494949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94949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0.8335</a:t>
                      </a:r>
                      <a:endParaRPr sz="1200">
                        <a:solidFill>
                          <a:srgbClr val="494949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94949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0.8183</a:t>
                      </a:r>
                      <a:endParaRPr sz="1200">
                        <a:solidFill>
                          <a:srgbClr val="494949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94949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0.8247</a:t>
                      </a:r>
                      <a:endParaRPr sz="1200">
                        <a:solidFill>
                          <a:srgbClr val="494949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Testing</a:t>
                      </a:r>
                      <a:endParaRPr sz="12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94949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0.7901</a:t>
                      </a:r>
                      <a:endParaRPr sz="1200">
                        <a:solidFill>
                          <a:srgbClr val="494949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494949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0.8087</a:t>
                      </a:r>
                      <a:endParaRPr sz="1200" dirty="0">
                        <a:solidFill>
                          <a:srgbClr val="494949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494949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0.7859</a:t>
                      </a:r>
                      <a:endParaRPr sz="1200" dirty="0">
                        <a:solidFill>
                          <a:srgbClr val="494949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494949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0.7969</a:t>
                      </a:r>
                      <a:endParaRPr sz="1200" dirty="0">
                        <a:solidFill>
                          <a:srgbClr val="494949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494" name="Google Shape;2494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-967635" y="1976521"/>
            <a:ext cx="4255581" cy="160227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317;p37">
            <a:extLst>
              <a:ext uri="{FF2B5EF4-FFF2-40B4-BE49-F238E27FC236}">
                <a16:creationId xmlns:a16="http://schemas.microsoft.com/office/drawing/2014/main" id="{722FDDEF-19D9-ED4A-230B-38179B2588E1}"/>
              </a:ext>
            </a:extLst>
          </p:cNvPr>
          <p:cNvSpPr txBox="1">
            <a:spLocks/>
          </p:cNvSpPr>
          <p:nvPr/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l"/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Modelling: CNN – ResNet50</a:t>
            </a:r>
            <a:endParaRPr lang="en-SG"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99" name="Google Shape;2499;p47"/>
          <p:cNvGraphicFramePr/>
          <p:nvPr>
            <p:extLst>
              <p:ext uri="{D42A27DB-BD31-4B8C-83A1-F6EECF244321}">
                <p14:modId xmlns:p14="http://schemas.microsoft.com/office/powerpoint/2010/main" val="586059713"/>
              </p:ext>
            </p:extLst>
          </p:nvPr>
        </p:nvGraphicFramePr>
        <p:xfrm>
          <a:off x="251200" y="620450"/>
          <a:ext cx="8586850" cy="2863950"/>
        </p:xfrm>
        <a:graphic>
          <a:graphicData uri="http://schemas.openxmlformats.org/drawingml/2006/table">
            <a:tbl>
              <a:tblPr>
                <a:noFill/>
                <a:tableStyleId>{2A10923B-A08B-4540-BE09-3D198DEE7BC9}</a:tableStyleId>
              </a:tblPr>
              <a:tblGrid>
                <a:gridCol w="103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50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Model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solidFill>
                      <a:srgbClr val="43434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Training Time (Minutes)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Accuracy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Precision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Recall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F0.5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Train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Test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Train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Test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Train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Test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Train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Test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HOG_KNN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0.0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0.3688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0.3796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0.9988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0.3675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0.9988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0.3713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HOG_XGB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48.2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0.9990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0.3418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0.3539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0.3378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0.3460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HOG_RF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26.8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0.9990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0.3071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0.9990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0.3283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0.3013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0.3136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CNN_KNN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0.2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0.9981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0.3673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0.9980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0.3895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0.9978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0.3619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0.9979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0.3771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CNN_XGB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216.4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0.9975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0.4846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0.9973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0.4869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0.9972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0.4798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0.9973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0.4807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CNN_RF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49.2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0.9981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0.3688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0.9980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0.3914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0.9978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0.3578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0.9979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0.3569</a:t>
                      </a:r>
                      <a:endParaRPr sz="1000" dirty="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501" name="Google Shape;2501;p47"/>
          <p:cNvGraphicFramePr/>
          <p:nvPr>
            <p:extLst>
              <p:ext uri="{D42A27DB-BD31-4B8C-83A1-F6EECF244321}">
                <p14:modId xmlns:p14="http://schemas.microsoft.com/office/powerpoint/2010/main" val="2937691269"/>
              </p:ext>
            </p:extLst>
          </p:nvPr>
        </p:nvGraphicFramePr>
        <p:xfrm>
          <a:off x="251200" y="3658450"/>
          <a:ext cx="8613975" cy="1005750"/>
        </p:xfrm>
        <a:graphic>
          <a:graphicData uri="http://schemas.openxmlformats.org/drawingml/2006/table">
            <a:tbl>
              <a:tblPr>
                <a:noFill/>
                <a:tableStyleId>{2A10923B-A08B-4540-BE09-3D198DEE7BC9}</a:tableStyleId>
              </a:tblPr>
              <a:tblGrid>
                <a:gridCol w="6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3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0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3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3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30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30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30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350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Model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solidFill>
                      <a:srgbClr val="43434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Training Time (Minutes)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Accuracy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Precision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Recall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F0.5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Train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Valid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Test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Train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Valid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Test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Train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Valid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Test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Train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Valid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Test</a:t>
                      </a:r>
                      <a:endParaRPr sz="1000" b="1">
                        <a:solidFill>
                          <a:schemeClr val="lt1"/>
                        </a:solidFill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CNN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10.5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0.9843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0.8194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0.7901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0.9843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0.8335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0.8087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0.9842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0.8183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0.7859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0.9841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0.8247</a:t>
                      </a:r>
                      <a:endParaRPr sz="100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Barlow Semi Condensed" panose="00000506000000000000" pitchFamily="2" charset="0"/>
                          <a:ea typeface="Fjalla One"/>
                          <a:cs typeface="Fjalla One"/>
                          <a:sym typeface="Fjalla One"/>
                        </a:rPr>
                        <a:t>0.7969</a:t>
                      </a:r>
                      <a:endParaRPr sz="1000" dirty="0">
                        <a:latin typeface="Barlow Semi Condensed" panose="00000506000000000000" pitchFamily="2" charset="0"/>
                        <a:ea typeface="Fjalla One"/>
                        <a:cs typeface="Fjalla One"/>
                        <a:sym typeface="Fjalla One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Google Shape;2317;p37">
            <a:extLst>
              <a:ext uri="{FF2B5EF4-FFF2-40B4-BE49-F238E27FC236}">
                <a16:creationId xmlns:a16="http://schemas.microsoft.com/office/drawing/2014/main" id="{AB69C3C4-B446-0E2E-8A5B-5D2B2888457E}"/>
              </a:ext>
            </a:extLst>
          </p:cNvPr>
          <p:cNvSpPr txBox="1">
            <a:spLocks/>
          </p:cNvSpPr>
          <p:nvPr/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l"/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Evaluations</a:t>
            </a:r>
            <a:endParaRPr lang="en-SG"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48"/>
          <p:cNvSpPr txBox="1"/>
          <p:nvPr/>
        </p:nvSpPr>
        <p:spPr>
          <a:xfrm>
            <a:off x="910655" y="1877414"/>
            <a:ext cx="726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CNN Feature Extraction &gt; HOG Feature Extraction</a:t>
            </a:r>
            <a:endParaRPr sz="180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508" name="Google Shape;2508;p48"/>
          <p:cNvSpPr txBox="1"/>
          <p:nvPr/>
        </p:nvSpPr>
        <p:spPr>
          <a:xfrm>
            <a:off x="808155" y="3094394"/>
            <a:ext cx="768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Convolutional NN &gt; XGBoost &gt; Random Forest &gt; K-Nearest Neighbour</a:t>
            </a:r>
            <a:endParaRPr sz="180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grpSp>
        <p:nvGrpSpPr>
          <p:cNvPr id="2509" name="Google Shape;2509;p48"/>
          <p:cNvGrpSpPr/>
          <p:nvPr/>
        </p:nvGrpSpPr>
        <p:grpSpPr>
          <a:xfrm>
            <a:off x="323805" y="1457552"/>
            <a:ext cx="3787900" cy="461700"/>
            <a:chOff x="354550" y="1207688"/>
            <a:chExt cx="3787900" cy="461700"/>
          </a:xfrm>
        </p:grpSpPr>
        <p:sp>
          <p:nvSpPr>
            <p:cNvPr id="2510" name="Google Shape;2510;p48"/>
            <p:cNvSpPr txBox="1"/>
            <p:nvPr/>
          </p:nvSpPr>
          <p:spPr>
            <a:xfrm>
              <a:off x="899150" y="1222975"/>
              <a:ext cx="3243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accent1">
                      <a:lumMod val="50000"/>
                    </a:schemeClr>
                  </a:solidFill>
                  <a:latin typeface="Barlow Semi Condensed" panose="00000506000000000000" pitchFamily="2" charset="0"/>
                  <a:ea typeface="Fjalla One"/>
                  <a:cs typeface="Fjalla One"/>
                  <a:sym typeface="Fjalla One"/>
                </a:rPr>
                <a:t>For Feature Extraction:</a:t>
              </a:r>
              <a:endParaRPr sz="1600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2511" name="Google Shape;2511;p48"/>
            <p:cNvSpPr/>
            <p:nvPr/>
          </p:nvSpPr>
          <p:spPr>
            <a:xfrm>
              <a:off x="354550" y="1207688"/>
              <a:ext cx="469500" cy="461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Barlow Semi Condensed" panose="00000506000000000000" pitchFamily="2" charset="0"/>
                  <a:ea typeface="Fjalla One"/>
                  <a:cs typeface="Fjalla One"/>
                  <a:sym typeface="Fjalla One"/>
                </a:rPr>
                <a:t>1</a:t>
              </a:r>
              <a:endParaRPr sz="16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2512" name="Google Shape;2512;p48"/>
          <p:cNvGrpSpPr/>
          <p:nvPr/>
        </p:nvGrpSpPr>
        <p:grpSpPr>
          <a:xfrm>
            <a:off x="323805" y="2632682"/>
            <a:ext cx="3787900" cy="461700"/>
            <a:chOff x="354550" y="1207688"/>
            <a:chExt cx="3787900" cy="461700"/>
          </a:xfrm>
        </p:grpSpPr>
        <p:sp>
          <p:nvSpPr>
            <p:cNvPr id="2513" name="Google Shape;2513;p48"/>
            <p:cNvSpPr txBox="1"/>
            <p:nvPr/>
          </p:nvSpPr>
          <p:spPr>
            <a:xfrm>
              <a:off x="899150" y="1222975"/>
              <a:ext cx="3243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accent1">
                      <a:lumMod val="50000"/>
                    </a:schemeClr>
                  </a:solidFill>
                  <a:latin typeface="Barlow Semi Condensed" panose="00000506000000000000" pitchFamily="2" charset="0"/>
                  <a:ea typeface="Fjalla One"/>
                  <a:cs typeface="Fjalla One"/>
                  <a:sym typeface="Fjalla One"/>
                </a:rPr>
                <a:t>For Overall Model Performance</a:t>
              </a:r>
              <a:endParaRPr sz="1600" b="1" dirty="0">
                <a:solidFill>
                  <a:schemeClr val="accent1">
                    <a:lumMod val="50000"/>
                  </a:schemeClr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2514" name="Google Shape;2514;p48"/>
            <p:cNvSpPr/>
            <p:nvPr/>
          </p:nvSpPr>
          <p:spPr>
            <a:xfrm>
              <a:off x="354550" y="1207688"/>
              <a:ext cx="469500" cy="461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Barlow Semi Condensed" panose="00000506000000000000" pitchFamily="2" charset="0"/>
                  <a:ea typeface="Fjalla One"/>
                  <a:cs typeface="Fjalla One"/>
                  <a:sym typeface="Fjalla One"/>
                </a:rPr>
                <a:t>2</a:t>
              </a:r>
              <a:endParaRPr sz="1600" b="1">
                <a:latin typeface="Barlow Semi Condensed" panose="00000506000000000000" pitchFamily="2" charset="0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5" name="Google Shape;2317;p37">
            <a:extLst>
              <a:ext uri="{FF2B5EF4-FFF2-40B4-BE49-F238E27FC236}">
                <a16:creationId xmlns:a16="http://schemas.microsoft.com/office/drawing/2014/main" id="{A3096616-01B1-9384-60EA-0A1DBFE9BA1E}"/>
              </a:ext>
            </a:extLst>
          </p:cNvPr>
          <p:cNvSpPr txBox="1">
            <a:spLocks/>
          </p:cNvSpPr>
          <p:nvPr/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l"/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Conclusions</a:t>
            </a:r>
            <a:endParaRPr lang="en-SG"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49"/>
          <p:cNvSpPr txBox="1"/>
          <p:nvPr/>
        </p:nvSpPr>
        <p:spPr>
          <a:xfrm>
            <a:off x="1273469" y="3526654"/>
            <a:ext cx="75345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jalla One"/>
              <a:buChar char="●"/>
            </a:pPr>
            <a:r>
              <a:rPr lang="en" dirty="0">
                <a:solidFill>
                  <a:schemeClr val="dk2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Enlarge the datasets to improve accuracy by continuous data collection and diversified data sources</a:t>
            </a:r>
            <a:endParaRPr dirty="0">
              <a:solidFill>
                <a:schemeClr val="dk2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jalla One"/>
              <a:buChar char="●"/>
            </a:pPr>
            <a:r>
              <a:rPr lang="en" dirty="0">
                <a:solidFill>
                  <a:schemeClr val="dk2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Train the models on more types and more angles of sneakers to improve the generalisability</a:t>
            </a:r>
            <a:endParaRPr dirty="0">
              <a:solidFill>
                <a:schemeClr val="dk2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jalla One"/>
              <a:buChar char="●"/>
            </a:pPr>
            <a:r>
              <a:rPr lang="en" dirty="0">
                <a:solidFill>
                  <a:schemeClr val="dk2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Apply more data augmentation techniques and adjust the order of the pipeline</a:t>
            </a:r>
            <a:endParaRPr dirty="0">
              <a:solidFill>
                <a:schemeClr val="dk2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jalla One"/>
              <a:buChar char="●"/>
            </a:pPr>
            <a:r>
              <a:rPr lang="en" dirty="0">
                <a:solidFill>
                  <a:schemeClr val="dk2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Add new capabilities to models such as check authenticity of shoes, resale price prediction</a:t>
            </a:r>
            <a:endParaRPr dirty="0">
              <a:solidFill>
                <a:schemeClr val="dk2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400"/>
              <a:buFont typeface="Fjalla One"/>
              <a:buChar char="●"/>
            </a:pPr>
            <a:r>
              <a:rPr lang="en" dirty="0">
                <a:solidFill>
                  <a:schemeClr val="dk2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Fu</a:t>
            </a:r>
            <a:r>
              <a:rPr lang="en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ture versions can integrate with Large Language Models (e.g. GPT)</a:t>
            </a:r>
            <a:endParaRPr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523" name="Google Shape;2523;p49"/>
          <p:cNvSpPr txBox="1"/>
          <p:nvPr/>
        </p:nvSpPr>
        <p:spPr>
          <a:xfrm>
            <a:off x="438150" y="751329"/>
            <a:ext cx="125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sng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Limitations</a:t>
            </a:r>
            <a:endParaRPr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525" name="Google Shape;2525;p49"/>
          <p:cNvSpPr txBox="1"/>
          <p:nvPr/>
        </p:nvSpPr>
        <p:spPr>
          <a:xfrm>
            <a:off x="514350" y="1106229"/>
            <a:ext cx="76521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Limited sneaker model coverage</a:t>
            </a: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: the current model is limited to specific sneaker brands and models included in the dataset, which may lead to the model may not accurately classify new or niche sneakers 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b="1" dirty="0">
                <a:solidFill>
                  <a:schemeClr val="dk2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Limited data augmentation: </a:t>
            </a:r>
            <a:r>
              <a:rPr lang="en" sz="1200" dirty="0">
                <a:solidFill>
                  <a:schemeClr val="dk2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the current data augmentation should be included more operations, and when introducing more operations, the order between gray scaled and data augmentation should be changed.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Sensitive to image capture angles</a:t>
            </a: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: the model may not function correctly if users take photos from angles that deviate from the requirements, which restricts the flexibility and may lead to classification inaccuracies or failures.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Limited training resources:</a:t>
            </a: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 due to the large number of training data and limited computing resources, hyperparameter tuning was not very comprehensive.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200"/>
              <a:buFont typeface="Fjalla One"/>
              <a:buChar char="●"/>
            </a:pPr>
            <a:r>
              <a:rPr lang="en" sz="1200" b="1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Overfitting Problem</a:t>
            </a:r>
            <a:r>
              <a:rPr lang="en" sz="1200" dirty="0">
                <a:solidFill>
                  <a:srgbClr val="494949"/>
                </a:solidFill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: The performance gap between training and testing is around 20%, indicating that the model is overfitted.</a:t>
            </a:r>
            <a:endParaRPr sz="1200" dirty="0">
              <a:solidFill>
                <a:srgbClr val="494949"/>
              </a:solidFill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2527" name="Google Shape;2527;p49"/>
          <p:cNvSpPr txBox="1"/>
          <p:nvPr/>
        </p:nvSpPr>
        <p:spPr>
          <a:xfrm>
            <a:off x="1178444" y="3171754"/>
            <a:ext cx="187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sng">
                <a:latin typeface="Barlow Semi Condensed" panose="00000506000000000000" pitchFamily="2" charset="0"/>
                <a:ea typeface="Fjalla One"/>
                <a:cs typeface="Fjalla One"/>
                <a:sym typeface="Fjalla One"/>
              </a:rPr>
              <a:t>Future Work</a:t>
            </a:r>
            <a:endParaRPr>
              <a:latin typeface="Barlow Semi Condensed" panose="00000506000000000000" pitchFamily="2" charset="0"/>
              <a:ea typeface="Fjalla One"/>
              <a:cs typeface="Fjalla One"/>
              <a:sym typeface="Fjalla One"/>
            </a:endParaRPr>
          </a:p>
        </p:txBody>
      </p:sp>
      <p:sp>
        <p:nvSpPr>
          <p:cNvPr id="5" name="Google Shape;2317;p37">
            <a:extLst>
              <a:ext uri="{FF2B5EF4-FFF2-40B4-BE49-F238E27FC236}">
                <a16:creationId xmlns:a16="http://schemas.microsoft.com/office/drawing/2014/main" id="{1605C19B-8322-AED9-81C7-271BF4B11154}"/>
              </a:ext>
            </a:extLst>
          </p:cNvPr>
          <p:cNvSpPr txBox="1">
            <a:spLocks/>
          </p:cNvSpPr>
          <p:nvPr/>
        </p:nvSpPr>
        <p:spPr>
          <a:xfrm>
            <a:off x="174770" y="110065"/>
            <a:ext cx="6983100" cy="446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l"/>
            <a:r>
              <a:rPr lang="en" sz="2000" b="1" dirty="0">
                <a:solidFill>
                  <a:srgbClr val="000000"/>
                </a:solidFill>
                <a:latin typeface="Barlow Semi Condensed" panose="00000506000000000000" pitchFamily="2" charset="0"/>
              </a:rPr>
              <a:t>Limitations &amp; Future Work</a:t>
            </a:r>
            <a:endParaRPr lang="en-SG" sz="2000" b="1" dirty="0">
              <a:solidFill>
                <a:srgbClr val="000000"/>
              </a:solidFill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1482</Words>
  <Application>Microsoft Office PowerPoint</Application>
  <PresentationFormat>On-screen Show (16:9)</PresentationFormat>
  <Paragraphs>329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Lato</vt:lpstr>
      <vt:lpstr>Roboto Condensed Light</vt:lpstr>
      <vt:lpstr>Barlow Semi Condensed</vt:lpstr>
      <vt:lpstr>Fjalla One</vt:lpstr>
      <vt:lpstr>Barlow Semi Condensed Medium</vt:lpstr>
      <vt:lpstr>Technology Consulting by Slidesgo</vt:lpstr>
      <vt:lpstr>Beyond Manual Tags: Enhancing User Experience with AI-Powered Item Classification</vt:lpstr>
      <vt:lpstr>01</vt:lpstr>
      <vt:lpstr>Business Statement &amp; Technical Solutions</vt:lpstr>
      <vt:lpstr>Pipeline</vt:lpstr>
      <vt:lpstr>Data Briefing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YS Goh</dc:creator>
  <cp:lastModifiedBy>YS Goh</cp:lastModifiedBy>
  <cp:revision>30</cp:revision>
  <dcterms:modified xsi:type="dcterms:W3CDTF">2026-09-04T10:04:42Z</dcterms:modified>
</cp:coreProperties>
</file>